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8624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718592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898769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5693510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648778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05874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257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57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400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542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594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3295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303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346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3182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99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283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212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91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8230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4442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734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03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788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934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702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95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73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230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421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8583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14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823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478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437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6730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442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239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8735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11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374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2897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7997713" name="Image 0" descr="https://kimi-web-img.moonshot.cn/img/weiss-na.com/15f55361c8d74293a9efe67219472749e4b780a3.jpg"/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l="35" t="0" r="34" b="0"/>
          <a:stretch/>
        </p:blipFill>
        <p:spPr bwMode="auto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78199279" name="Shape 0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088903753" name="Shape 1"/>
          <p:cNvSpPr/>
          <p:nvPr/>
        </p:nvSpPr>
        <p:spPr bwMode="auto">
          <a:xfrm>
            <a:off x="385762" y="1023938"/>
            <a:ext cx="4391025" cy="390525"/>
          </a:xfrm>
          <a:custGeom>
            <a:avLst/>
            <a:gdLst/>
            <a:ahLst/>
            <a:cxnLst/>
            <a:rect l="l" t="t" r="r" b="b"/>
            <a:pathLst>
              <a:path w="4391025" h="390525" fill="norm" stroke="1" extrusionOk="0">
                <a:moveTo>
                  <a:pt x="38100" y="0"/>
                </a:moveTo>
                <a:lnTo>
                  <a:pt x="4352925" y="0"/>
                </a:lnTo>
                <a:cubicBezTo>
                  <a:pt x="4373967" y="0"/>
                  <a:pt x="4391025" y="17058"/>
                  <a:pt x="4391025" y="38100"/>
                </a:cubicBezTo>
                <a:lnTo>
                  <a:pt x="4391025" y="352425"/>
                </a:lnTo>
                <a:cubicBezTo>
                  <a:pt x="4391025" y="373467"/>
                  <a:pt x="4373967" y="390525"/>
                  <a:pt x="43529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C0A062"/>
            </a:solidFill>
            <a:prstDash val="solid"/>
          </a:ln>
        </p:spPr>
      </p:sp>
      <p:sp>
        <p:nvSpPr>
          <p:cNvPr id="568456838" name="Text 2"/>
          <p:cNvSpPr/>
          <p:nvPr/>
        </p:nvSpPr>
        <p:spPr bwMode="auto">
          <a:xfrm>
            <a:off x="619125" y="1114425"/>
            <a:ext cx="40039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 spc="360">
                <a:solidFill>
                  <a:srgbClr val="C0A062"/>
                </a:solidFill>
                <a:latin typeface="Liter"/>
                <a:ea typeface="Liter"/>
                <a:cs typeface="Liter"/>
              </a:rPr>
              <a:t>INFRASTRUCTURE PLATFORM v3.1.2</a:t>
            </a:r>
            <a:endParaRPr lang="en-US" sz="1600"/>
          </a:p>
        </p:txBody>
      </p:sp>
      <p:sp>
        <p:nvSpPr>
          <p:cNvPr id="1618980100" name="Text 3"/>
          <p:cNvSpPr/>
          <p:nvPr/>
        </p:nvSpPr>
        <p:spPr bwMode="auto">
          <a:xfrm>
            <a:off x="381000" y="2028825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7200" b="1" spc="-180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REVENANT</a:t>
            </a:r>
            <a:endParaRPr lang="en-US" sz="1600"/>
          </a:p>
        </p:txBody>
      </p:sp>
      <p:sp>
        <p:nvSpPr>
          <p:cNvPr id="194683445" name="Shape 4"/>
          <p:cNvSpPr/>
          <p:nvPr/>
        </p:nvSpPr>
        <p:spPr bwMode="auto">
          <a:xfrm>
            <a:off x="381000" y="30956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 fill="norm" stroke="1" extrusionOk="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36481019" name="Text 5"/>
          <p:cNvSpPr/>
          <p:nvPr/>
        </p:nvSpPr>
        <p:spPr bwMode="auto">
          <a:xfrm>
            <a:off x="381000" y="3438525"/>
            <a:ext cx="8705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700" b="1">
                <a:solidFill>
                  <a:srgbClr val="8D99AE"/>
                </a:solidFill>
                <a:latin typeface="Liter"/>
                <a:ea typeface="Liter"/>
                <a:cs typeface="Liter"/>
              </a:rPr>
              <a:t>Pre-Authorization Deterministic</a:t>
            </a:r>
            <a:endParaRPr lang="en-US" sz="1600"/>
          </a:p>
          <a:p>
            <a:pPr>
              <a:lnSpc>
                <a:spcPct val="100000"/>
              </a:lnSpc>
              <a:defRPr/>
            </a:pPr>
            <a:r>
              <a:rPr lang="en-US" sz="2700" b="1">
                <a:solidFill>
                  <a:srgbClr val="8D99AE"/>
                </a:solidFill>
                <a:latin typeface="Liter"/>
                <a:ea typeface="Liter"/>
                <a:cs typeface="Liter"/>
              </a:rPr>
              <a:t>Risk &amp; Security Infrastructure</a:t>
            </a:r>
            <a:endParaRPr lang="en-US" sz="1600"/>
          </a:p>
        </p:txBody>
      </p:sp>
      <p:sp>
        <p:nvSpPr>
          <p:cNvPr id="1047328489" name="Text 6"/>
          <p:cNvSpPr/>
          <p:nvPr/>
        </p:nvSpPr>
        <p:spPr bwMode="auto">
          <a:xfrm>
            <a:off x="381000" y="46005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800">
                <a:solidFill>
                  <a:srgbClr val="8D99AE"/>
                </a:solidFill>
                <a:latin typeface="Liter"/>
                <a:ea typeface="Liter"/>
                <a:cs typeface="Liter"/>
              </a:rPr>
              <a:t>Национальная банковская инфраструктурная платформа</a:t>
            </a:r>
            <a:endParaRPr lang="en-US" sz="1600"/>
          </a:p>
          <a:p>
            <a:pPr>
              <a:lnSpc>
                <a:spcPct val="140000"/>
              </a:lnSpc>
              <a:defRPr/>
            </a:pPr>
            <a:r>
              <a:rPr lang="en-US" sz="1800">
                <a:solidFill>
                  <a:srgbClr val="8D99AE"/>
                </a:solidFill>
                <a:latin typeface="Liter"/>
                <a:ea typeface="Liter"/>
                <a:cs typeface="Liter"/>
              </a:rPr>
              <a:t>для суверенного финансового контроля</a:t>
            </a:r>
            <a:endParaRPr lang="en-US" sz="1600"/>
          </a:p>
        </p:txBody>
      </p:sp>
      <p:sp>
        <p:nvSpPr>
          <p:cNvPr id="1332895679" name="Text 7"/>
          <p:cNvSpPr/>
          <p:nvPr/>
        </p:nvSpPr>
        <p:spPr bwMode="auto">
          <a:xfrm>
            <a:off x="381000" y="5981700"/>
            <a:ext cx="3076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Стратегическая презентация</a:t>
            </a:r>
            <a:endParaRPr lang="en-US" sz="1600"/>
          </a:p>
        </p:txBody>
      </p:sp>
      <p:sp>
        <p:nvSpPr>
          <p:cNvPr id="1749887919" name="Text 8"/>
          <p:cNvSpPr/>
          <p:nvPr/>
        </p:nvSpPr>
        <p:spPr bwMode="auto">
          <a:xfrm>
            <a:off x="381000" y="6248400"/>
            <a:ext cx="3076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Для инвесторов и финансовых институтов</a:t>
            </a:r>
            <a:endParaRPr lang="en-US" sz="1600"/>
          </a:p>
        </p:txBody>
      </p:sp>
      <p:sp>
        <p:nvSpPr>
          <p:cNvPr id="707498544" name="Text 9"/>
          <p:cNvSpPr/>
          <p:nvPr/>
        </p:nvSpPr>
        <p:spPr bwMode="auto">
          <a:xfrm>
            <a:off x="10414248" y="59817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Узбекистан, 2026</a:t>
            </a:r>
            <a:endParaRPr lang="en-US" sz="1600"/>
          </a:p>
        </p:txBody>
      </p:sp>
      <p:sp>
        <p:nvSpPr>
          <p:cNvPr id="1308055285" name="Text 10"/>
          <p:cNvSpPr/>
          <p:nvPr/>
        </p:nvSpPr>
        <p:spPr bwMode="auto">
          <a:xfrm>
            <a:off x="10414248" y="62484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Конфиденциально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69209" name="Shape 0"/>
          <p:cNvSpPr/>
          <p:nvPr/>
        </p:nvSpPr>
        <p:spPr bwMode="auto">
          <a:xfrm>
            <a:off x="354418" y="354418"/>
            <a:ext cx="35442" cy="354418"/>
          </a:xfrm>
          <a:custGeom>
            <a:avLst/>
            <a:gdLst/>
            <a:ahLst/>
            <a:cxnLst/>
            <a:rect l="l" t="t" r="r" b="b"/>
            <a:pathLst>
              <a:path w="35442" h="354419" fill="norm" stroke="1" extrusionOk="0">
                <a:moveTo>
                  <a:pt x="0" y="0"/>
                </a:moveTo>
                <a:lnTo>
                  <a:pt x="35442" y="0"/>
                </a:lnTo>
                <a:lnTo>
                  <a:pt x="35442" y="354419"/>
                </a:lnTo>
                <a:lnTo>
                  <a:pt x="0" y="354419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05794474" name="Text 1"/>
          <p:cNvSpPr/>
          <p:nvPr/>
        </p:nvSpPr>
        <p:spPr bwMode="auto">
          <a:xfrm>
            <a:off x="496186" y="425302"/>
            <a:ext cx="176323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 spc="56">
                <a:solidFill>
                  <a:srgbClr val="C0A062"/>
                </a:solidFill>
                <a:latin typeface="Liter"/>
                <a:ea typeface="Liter"/>
                <a:cs typeface="Liter"/>
              </a:rPr>
              <a:t>ПОЗИЦИОНИРОВАНИЕ</a:t>
            </a:r>
            <a:endParaRPr lang="en-US" sz="1600"/>
          </a:p>
        </p:txBody>
      </p:sp>
      <p:sp>
        <p:nvSpPr>
          <p:cNvPr id="557814639" name="Text 2"/>
          <p:cNvSpPr/>
          <p:nvPr/>
        </p:nvSpPr>
        <p:spPr bwMode="auto">
          <a:xfrm>
            <a:off x="354418" y="815163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35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Миссия и стратегическое назначение</a:t>
            </a:r>
            <a:endParaRPr lang="en-US" sz="1600"/>
          </a:p>
        </p:txBody>
      </p:sp>
      <p:sp>
        <p:nvSpPr>
          <p:cNvPr id="1285402185" name="Shape 3"/>
          <p:cNvSpPr/>
          <p:nvPr/>
        </p:nvSpPr>
        <p:spPr bwMode="auto">
          <a:xfrm>
            <a:off x="372140" y="1453116"/>
            <a:ext cx="5936512" cy="1594883"/>
          </a:xfrm>
          <a:custGeom>
            <a:avLst/>
            <a:gdLst/>
            <a:ahLst/>
            <a:cxnLst/>
            <a:rect l="l" t="t" r="r" b="b"/>
            <a:pathLst>
              <a:path w="5936512" h="1594884" fill="norm" stroke="1" extrusionOk="0">
                <a:moveTo>
                  <a:pt x="0" y="0"/>
                </a:moveTo>
                <a:lnTo>
                  <a:pt x="5865635" y="0"/>
                </a:lnTo>
                <a:cubicBezTo>
                  <a:pt x="5904779" y="0"/>
                  <a:pt x="5936512" y="31733"/>
                  <a:pt x="5936512" y="70877"/>
                </a:cubicBezTo>
                <a:lnTo>
                  <a:pt x="5936512" y="1524007"/>
                </a:lnTo>
                <a:cubicBezTo>
                  <a:pt x="5936512" y="1563151"/>
                  <a:pt x="5904779" y="1594884"/>
                  <a:pt x="5865635" y="1594884"/>
                </a:cubicBezTo>
                <a:lnTo>
                  <a:pt x="0" y="159488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757516647" name="Shape 4"/>
          <p:cNvSpPr/>
          <p:nvPr/>
        </p:nvSpPr>
        <p:spPr bwMode="auto">
          <a:xfrm>
            <a:off x="372140" y="1453116"/>
            <a:ext cx="35442" cy="1594883"/>
          </a:xfrm>
          <a:custGeom>
            <a:avLst/>
            <a:gdLst/>
            <a:ahLst/>
            <a:cxnLst/>
            <a:rect l="l" t="t" r="r" b="b"/>
            <a:pathLst>
              <a:path w="35442" h="1594884" fill="norm" stroke="1" extrusionOk="0">
                <a:moveTo>
                  <a:pt x="0" y="0"/>
                </a:moveTo>
                <a:lnTo>
                  <a:pt x="35442" y="0"/>
                </a:lnTo>
                <a:lnTo>
                  <a:pt x="35442" y="1594884"/>
                </a:lnTo>
                <a:lnTo>
                  <a:pt x="0" y="1594884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67299820" name="Shape 5"/>
          <p:cNvSpPr/>
          <p:nvPr/>
        </p:nvSpPr>
        <p:spPr bwMode="auto">
          <a:xfrm>
            <a:off x="567070" y="1630326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 fill="norm" stroke="1" extrusionOk="0">
                <a:moveTo>
                  <a:pt x="70885" y="0"/>
                </a:moveTo>
                <a:lnTo>
                  <a:pt x="425301" y="0"/>
                </a:lnTo>
                <a:cubicBezTo>
                  <a:pt x="464450" y="0"/>
                  <a:pt x="496186" y="31736"/>
                  <a:pt x="496186" y="70885"/>
                </a:cubicBezTo>
                <a:lnTo>
                  <a:pt x="496186" y="425301"/>
                </a:lnTo>
                <a:cubicBezTo>
                  <a:pt x="496186" y="464450"/>
                  <a:pt x="464450" y="496186"/>
                  <a:pt x="425301" y="496186"/>
                </a:cubicBezTo>
                <a:lnTo>
                  <a:pt x="70885" y="496186"/>
                </a:lnTo>
                <a:cubicBezTo>
                  <a:pt x="31736" y="496186"/>
                  <a:pt x="0" y="464450"/>
                  <a:pt x="0" y="425301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440942025" name="Shape 6"/>
          <p:cNvSpPr/>
          <p:nvPr/>
        </p:nvSpPr>
        <p:spPr bwMode="auto">
          <a:xfrm>
            <a:off x="735419" y="1772093"/>
            <a:ext cx="159488" cy="212651"/>
          </a:xfrm>
          <a:custGeom>
            <a:avLst/>
            <a:gdLst/>
            <a:ahLst/>
            <a:cxnLst/>
            <a:rect l="l" t="t" r="r" b="b"/>
            <a:pathLst>
              <a:path w="159488" h="212651" fill="norm" stroke="1" extrusionOk="0">
                <a:moveTo>
                  <a:pt x="26581" y="0"/>
                </a:moveTo>
                <a:cubicBezTo>
                  <a:pt x="11920" y="0"/>
                  <a:pt x="0" y="11920"/>
                  <a:pt x="0" y="26581"/>
                </a:cubicBezTo>
                <a:lnTo>
                  <a:pt x="0" y="186070"/>
                </a:lnTo>
                <a:cubicBezTo>
                  <a:pt x="0" y="200731"/>
                  <a:pt x="11920" y="212651"/>
                  <a:pt x="26581" y="212651"/>
                </a:cubicBezTo>
                <a:lnTo>
                  <a:pt x="132907" y="212651"/>
                </a:lnTo>
                <a:cubicBezTo>
                  <a:pt x="147568" y="212651"/>
                  <a:pt x="159488" y="200731"/>
                  <a:pt x="159488" y="186070"/>
                </a:cubicBezTo>
                <a:lnTo>
                  <a:pt x="159488" y="26581"/>
                </a:lnTo>
                <a:cubicBezTo>
                  <a:pt x="159488" y="11920"/>
                  <a:pt x="147568" y="0"/>
                  <a:pt x="132907" y="0"/>
                </a:cubicBezTo>
                <a:lnTo>
                  <a:pt x="26581" y="0"/>
                </a:lnTo>
                <a:close/>
                <a:moveTo>
                  <a:pt x="73099" y="146198"/>
                </a:moveTo>
                <a:lnTo>
                  <a:pt x="86390" y="146198"/>
                </a:lnTo>
                <a:cubicBezTo>
                  <a:pt x="93741" y="146198"/>
                  <a:pt x="99680" y="152137"/>
                  <a:pt x="99680" y="159488"/>
                </a:cubicBezTo>
                <a:lnTo>
                  <a:pt x="99680" y="192715"/>
                </a:lnTo>
                <a:lnTo>
                  <a:pt x="59808" y="192715"/>
                </a:lnTo>
                <a:lnTo>
                  <a:pt x="59808" y="159488"/>
                </a:lnTo>
                <a:cubicBezTo>
                  <a:pt x="59808" y="152137"/>
                  <a:pt x="65747" y="146198"/>
                  <a:pt x="73099" y="146198"/>
                </a:cubicBezTo>
                <a:close/>
                <a:moveTo>
                  <a:pt x="39872" y="46517"/>
                </a:moveTo>
                <a:cubicBezTo>
                  <a:pt x="39872" y="42863"/>
                  <a:pt x="42863" y="39872"/>
                  <a:pt x="46517" y="39872"/>
                </a:cubicBezTo>
                <a:lnTo>
                  <a:pt x="59808" y="39872"/>
                </a:lnTo>
                <a:cubicBezTo>
                  <a:pt x="63463" y="39872"/>
                  <a:pt x="66453" y="42863"/>
                  <a:pt x="66453" y="46517"/>
                </a:cubicBezTo>
                <a:lnTo>
                  <a:pt x="66453" y="59808"/>
                </a:lnTo>
                <a:cubicBezTo>
                  <a:pt x="66453" y="63463"/>
                  <a:pt x="63463" y="66453"/>
                  <a:pt x="59808" y="66453"/>
                </a:cubicBezTo>
                <a:lnTo>
                  <a:pt x="46517" y="66453"/>
                </a:lnTo>
                <a:cubicBezTo>
                  <a:pt x="42863" y="66453"/>
                  <a:pt x="39872" y="63463"/>
                  <a:pt x="39872" y="59808"/>
                </a:cubicBezTo>
                <a:lnTo>
                  <a:pt x="39872" y="46517"/>
                </a:lnTo>
                <a:close/>
                <a:moveTo>
                  <a:pt x="99680" y="39872"/>
                </a:moveTo>
                <a:lnTo>
                  <a:pt x="112971" y="39872"/>
                </a:lnTo>
                <a:cubicBezTo>
                  <a:pt x="116626" y="39872"/>
                  <a:pt x="119616" y="42863"/>
                  <a:pt x="119616" y="46517"/>
                </a:cubicBezTo>
                <a:lnTo>
                  <a:pt x="119616" y="59808"/>
                </a:lnTo>
                <a:cubicBezTo>
                  <a:pt x="119616" y="63463"/>
                  <a:pt x="116626" y="66453"/>
                  <a:pt x="112971" y="66453"/>
                </a:cubicBezTo>
                <a:lnTo>
                  <a:pt x="99680" y="66453"/>
                </a:lnTo>
                <a:cubicBezTo>
                  <a:pt x="96025" y="66453"/>
                  <a:pt x="93035" y="63463"/>
                  <a:pt x="93035" y="59808"/>
                </a:cubicBezTo>
                <a:lnTo>
                  <a:pt x="93035" y="46517"/>
                </a:lnTo>
                <a:cubicBezTo>
                  <a:pt x="93035" y="42863"/>
                  <a:pt x="96025" y="39872"/>
                  <a:pt x="99680" y="39872"/>
                </a:cubicBezTo>
                <a:close/>
                <a:moveTo>
                  <a:pt x="39872" y="99680"/>
                </a:moveTo>
                <a:cubicBezTo>
                  <a:pt x="39872" y="96025"/>
                  <a:pt x="42863" y="93035"/>
                  <a:pt x="46517" y="93035"/>
                </a:cubicBezTo>
                <a:lnTo>
                  <a:pt x="59808" y="93035"/>
                </a:lnTo>
                <a:cubicBezTo>
                  <a:pt x="63463" y="93035"/>
                  <a:pt x="66453" y="96025"/>
                  <a:pt x="66453" y="99680"/>
                </a:cubicBezTo>
                <a:lnTo>
                  <a:pt x="66453" y="112971"/>
                </a:lnTo>
                <a:cubicBezTo>
                  <a:pt x="66453" y="116626"/>
                  <a:pt x="63463" y="119616"/>
                  <a:pt x="59808" y="119616"/>
                </a:cubicBezTo>
                <a:lnTo>
                  <a:pt x="46517" y="119616"/>
                </a:lnTo>
                <a:cubicBezTo>
                  <a:pt x="42863" y="119616"/>
                  <a:pt x="39872" y="116626"/>
                  <a:pt x="39872" y="112971"/>
                </a:cubicBezTo>
                <a:lnTo>
                  <a:pt x="39872" y="99680"/>
                </a:lnTo>
                <a:close/>
                <a:moveTo>
                  <a:pt x="99680" y="93035"/>
                </a:moveTo>
                <a:lnTo>
                  <a:pt x="112971" y="93035"/>
                </a:lnTo>
                <a:cubicBezTo>
                  <a:pt x="116626" y="93035"/>
                  <a:pt x="119616" y="96025"/>
                  <a:pt x="119616" y="99680"/>
                </a:cubicBezTo>
                <a:lnTo>
                  <a:pt x="119616" y="112971"/>
                </a:lnTo>
                <a:cubicBezTo>
                  <a:pt x="119616" y="116626"/>
                  <a:pt x="116626" y="119616"/>
                  <a:pt x="112971" y="119616"/>
                </a:cubicBezTo>
                <a:lnTo>
                  <a:pt x="99680" y="119616"/>
                </a:lnTo>
                <a:cubicBezTo>
                  <a:pt x="96025" y="119616"/>
                  <a:pt x="93035" y="116626"/>
                  <a:pt x="93035" y="112971"/>
                </a:cubicBezTo>
                <a:lnTo>
                  <a:pt x="93035" y="99680"/>
                </a:lnTo>
                <a:cubicBezTo>
                  <a:pt x="93035" y="96025"/>
                  <a:pt x="96025" y="93035"/>
                  <a:pt x="99680" y="9303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29895396" name="Text 7"/>
          <p:cNvSpPr/>
          <p:nvPr/>
        </p:nvSpPr>
        <p:spPr bwMode="auto">
          <a:xfrm>
            <a:off x="1205022" y="1630326"/>
            <a:ext cx="501502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Что такое REVENANT</a:t>
            </a:r>
            <a:endParaRPr lang="en-US" sz="1600"/>
          </a:p>
        </p:txBody>
      </p:sp>
      <p:sp>
        <p:nvSpPr>
          <p:cNvPr id="1153568953" name="Text 8"/>
          <p:cNvSpPr/>
          <p:nvPr/>
        </p:nvSpPr>
        <p:spPr bwMode="auto">
          <a:xfrm>
            <a:off x="1205022" y="1949302"/>
            <a:ext cx="4997302" cy="9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REVENANT — это </a:t>
            </a: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инфраструктурный слой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для банков, а не fintech-продукт. Платформа функционирует как </a:t>
            </a: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deterministic pre-authorization layer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, управляющий финансовыми решениями до достижения транзакциями core banking систем.</a:t>
            </a:r>
            <a:endParaRPr lang="en-US" sz="1600"/>
          </a:p>
        </p:txBody>
      </p:sp>
      <p:sp>
        <p:nvSpPr>
          <p:cNvPr id="1845551648" name="Shape 9"/>
          <p:cNvSpPr/>
          <p:nvPr/>
        </p:nvSpPr>
        <p:spPr bwMode="auto">
          <a:xfrm>
            <a:off x="372140" y="3189767"/>
            <a:ext cx="5936512" cy="1594883"/>
          </a:xfrm>
          <a:custGeom>
            <a:avLst/>
            <a:gdLst/>
            <a:ahLst/>
            <a:cxnLst/>
            <a:rect l="l" t="t" r="r" b="b"/>
            <a:pathLst>
              <a:path w="5936512" h="1594884" fill="norm" stroke="1" extrusionOk="0">
                <a:moveTo>
                  <a:pt x="0" y="0"/>
                </a:moveTo>
                <a:lnTo>
                  <a:pt x="5865635" y="0"/>
                </a:lnTo>
                <a:cubicBezTo>
                  <a:pt x="5904779" y="0"/>
                  <a:pt x="5936512" y="31733"/>
                  <a:pt x="5936512" y="70877"/>
                </a:cubicBezTo>
                <a:lnTo>
                  <a:pt x="5936512" y="1524007"/>
                </a:lnTo>
                <a:cubicBezTo>
                  <a:pt x="5936512" y="1563151"/>
                  <a:pt x="5904779" y="1594884"/>
                  <a:pt x="5865635" y="1594884"/>
                </a:cubicBezTo>
                <a:lnTo>
                  <a:pt x="0" y="159488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820758268" name="Shape 10"/>
          <p:cNvSpPr/>
          <p:nvPr/>
        </p:nvSpPr>
        <p:spPr bwMode="auto">
          <a:xfrm>
            <a:off x="372140" y="3189767"/>
            <a:ext cx="35442" cy="1594883"/>
          </a:xfrm>
          <a:custGeom>
            <a:avLst/>
            <a:gdLst/>
            <a:ahLst/>
            <a:cxnLst/>
            <a:rect l="l" t="t" r="r" b="b"/>
            <a:pathLst>
              <a:path w="35442" h="1594884" fill="norm" stroke="1" extrusionOk="0">
                <a:moveTo>
                  <a:pt x="0" y="0"/>
                </a:moveTo>
                <a:lnTo>
                  <a:pt x="35442" y="0"/>
                </a:lnTo>
                <a:lnTo>
                  <a:pt x="35442" y="1594884"/>
                </a:lnTo>
                <a:lnTo>
                  <a:pt x="0" y="1594884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03884805" name="Shape 11"/>
          <p:cNvSpPr/>
          <p:nvPr/>
        </p:nvSpPr>
        <p:spPr bwMode="auto">
          <a:xfrm>
            <a:off x="567070" y="3366977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 fill="norm" stroke="1" extrusionOk="0">
                <a:moveTo>
                  <a:pt x="70885" y="0"/>
                </a:moveTo>
                <a:lnTo>
                  <a:pt x="425301" y="0"/>
                </a:lnTo>
                <a:cubicBezTo>
                  <a:pt x="464450" y="0"/>
                  <a:pt x="496186" y="31736"/>
                  <a:pt x="496186" y="70885"/>
                </a:cubicBezTo>
                <a:lnTo>
                  <a:pt x="496186" y="425301"/>
                </a:lnTo>
                <a:cubicBezTo>
                  <a:pt x="496186" y="464450"/>
                  <a:pt x="464450" y="496186"/>
                  <a:pt x="425301" y="496186"/>
                </a:cubicBezTo>
                <a:lnTo>
                  <a:pt x="70885" y="496186"/>
                </a:lnTo>
                <a:cubicBezTo>
                  <a:pt x="31736" y="496186"/>
                  <a:pt x="0" y="464450"/>
                  <a:pt x="0" y="425301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114224651" name="Shape 12"/>
          <p:cNvSpPr/>
          <p:nvPr/>
        </p:nvSpPr>
        <p:spPr bwMode="auto">
          <a:xfrm>
            <a:off x="708837" y="350874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 fill="norm" stroke="1" extrusionOk="0">
                <a:moveTo>
                  <a:pt x="106326" y="0"/>
                </a:moveTo>
                <a:cubicBezTo>
                  <a:pt x="112431" y="0"/>
                  <a:pt x="118038" y="3364"/>
                  <a:pt x="120945" y="8722"/>
                </a:cubicBezTo>
                <a:lnTo>
                  <a:pt x="210658" y="174856"/>
                </a:lnTo>
                <a:cubicBezTo>
                  <a:pt x="213440" y="180006"/>
                  <a:pt x="213316" y="186236"/>
                  <a:pt x="210325" y="191261"/>
                </a:cubicBezTo>
                <a:cubicBezTo>
                  <a:pt x="207335" y="196287"/>
                  <a:pt x="201894" y="199360"/>
                  <a:pt x="196038" y="199360"/>
                </a:cubicBezTo>
                <a:lnTo>
                  <a:pt x="16613" y="199360"/>
                </a:lnTo>
                <a:cubicBezTo>
                  <a:pt x="10757" y="199360"/>
                  <a:pt x="5358" y="196287"/>
                  <a:pt x="2326" y="191261"/>
                </a:cubicBezTo>
                <a:cubicBezTo>
                  <a:pt x="-706" y="186236"/>
                  <a:pt x="-789" y="180006"/>
                  <a:pt x="1994" y="174856"/>
                </a:cubicBezTo>
                <a:lnTo>
                  <a:pt x="91706" y="8722"/>
                </a:lnTo>
                <a:cubicBezTo>
                  <a:pt x="94613" y="3364"/>
                  <a:pt x="100220" y="0"/>
                  <a:pt x="106326" y="0"/>
                </a:cubicBezTo>
                <a:close/>
                <a:moveTo>
                  <a:pt x="106326" y="69776"/>
                </a:moveTo>
                <a:cubicBezTo>
                  <a:pt x="100802" y="69776"/>
                  <a:pt x="96358" y="74220"/>
                  <a:pt x="96358" y="79744"/>
                </a:cubicBezTo>
                <a:lnTo>
                  <a:pt x="96358" y="126262"/>
                </a:lnTo>
                <a:cubicBezTo>
                  <a:pt x="96358" y="131786"/>
                  <a:pt x="100802" y="136230"/>
                  <a:pt x="106326" y="136230"/>
                </a:cubicBezTo>
                <a:cubicBezTo>
                  <a:pt x="111850" y="136230"/>
                  <a:pt x="116294" y="131786"/>
                  <a:pt x="116294" y="126262"/>
                </a:cubicBezTo>
                <a:lnTo>
                  <a:pt x="116294" y="79744"/>
                </a:lnTo>
                <a:cubicBezTo>
                  <a:pt x="116294" y="74220"/>
                  <a:pt x="111850" y="69776"/>
                  <a:pt x="106326" y="69776"/>
                </a:cubicBezTo>
                <a:close/>
                <a:moveTo>
                  <a:pt x="117415" y="159488"/>
                </a:moveTo>
                <a:cubicBezTo>
                  <a:pt x="117667" y="155372"/>
                  <a:pt x="115615" y="151456"/>
                  <a:pt x="112086" y="149321"/>
                </a:cubicBezTo>
                <a:cubicBezTo>
                  <a:pt x="108557" y="147187"/>
                  <a:pt x="104136" y="147187"/>
                  <a:pt x="100607" y="149321"/>
                </a:cubicBezTo>
                <a:cubicBezTo>
                  <a:pt x="97078" y="151456"/>
                  <a:pt x="95025" y="155372"/>
                  <a:pt x="95278" y="159488"/>
                </a:cubicBezTo>
                <a:cubicBezTo>
                  <a:pt x="95025" y="163605"/>
                  <a:pt x="97078" y="167521"/>
                  <a:pt x="100607" y="169655"/>
                </a:cubicBezTo>
                <a:cubicBezTo>
                  <a:pt x="104136" y="171790"/>
                  <a:pt x="108557" y="171790"/>
                  <a:pt x="112086" y="169655"/>
                </a:cubicBezTo>
                <a:cubicBezTo>
                  <a:pt x="115615" y="167521"/>
                  <a:pt x="117667" y="163605"/>
                  <a:pt x="117415" y="15948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25698287" name="Text 13"/>
          <p:cNvSpPr/>
          <p:nvPr/>
        </p:nvSpPr>
        <p:spPr bwMode="auto">
          <a:xfrm>
            <a:off x="1205022" y="3366977"/>
            <a:ext cx="501502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Структурная проблема</a:t>
            </a:r>
            <a:endParaRPr lang="en-US" sz="1600"/>
          </a:p>
        </p:txBody>
      </p:sp>
      <p:sp>
        <p:nvSpPr>
          <p:cNvPr id="134692030" name="Text 14"/>
          <p:cNvSpPr/>
          <p:nvPr/>
        </p:nvSpPr>
        <p:spPr bwMode="auto">
          <a:xfrm>
            <a:off x="1205022" y="3685953"/>
            <a:ext cx="4997302" cy="9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Современные банковские системы построены на </a:t>
            </a: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legacy core banking architecture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, разработанной для batch-обработки. Фрагментированные risk engine, внешние fraud-инструменты и разрозненные compliance-проверки создают критические узкие места в цифровых каналах.</a:t>
            </a:r>
            <a:endParaRPr lang="en-US" sz="1600"/>
          </a:p>
        </p:txBody>
      </p:sp>
      <p:sp>
        <p:nvSpPr>
          <p:cNvPr id="495032556" name="Shape 15"/>
          <p:cNvSpPr/>
          <p:nvPr/>
        </p:nvSpPr>
        <p:spPr bwMode="auto">
          <a:xfrm>
            <a:off x="372140" y="4926419"/>
            <a:ext cx="5936512" cy="1364512"/>
          </a:xfrm>
          <a:custGeom>
            <a:avLst/>
            <a:gdLst/>
            <a:ahLst/>
            <a:cxnLst/>
            <a:rect l="l" t="t" r="r" b="b"/>
            <a:pathLst>
              <a:path w="5936512" h="1364512" fill="norm" stroke="1" extrusionOk="0">
                <a:moveTo>
                  <a:pt x="0" y="0"/>
                </a:moveTo>
                <a:lnTo>
                  <a:pt x="5865625" y="0"/>
                </a:lnTo>
                <a:cubicBezTo>
                  <a:pt x="5904775" y="0"/>
                  <a:pt x="5936512" y="31737"/>
                  <a:pt x="5936512" y="70886"/>
                </a:cubicBezTo>
                <a:lnTo>
                  <a:pt x="5936512" y="1293625"/>
                </a:lnTo>
                <a:cubicBezTo>
                  <a:pt x="5936512" y="1332775"/>
                  <a:pt x="5904775" y="1364512"/>
                  <a:pt x="5865625" y="1364512"/>
                </a:cubicBezTo>
                <a:lnTo>
                  <a:pt x="0" y="1364512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27653263" name="Shape 16"/>
          <p:cNvSpPr/>
          <p:nvPr/>
        </p:nvSpPr>
        <p:spPr bwMode="auto">
          <a:xfrm>
            <a:off x="372140" y="4926419"/>
            <a:ext cx="35442" cy="1364512"/>
          </a:xfrm>
          <a:custGeom>
            <a:avLst/>
            <a:gdLst/>
            <a:ahLst/>
            <a:cxnLst/>
            <a:rect l="l" t="t" r="r" b="b"/>
            <a:pathLst>
              <a:path w="35442" h="1364512" fill="norm" stroke="1" extrusionOk="0">
                <a:moveTo>
                  <a:pt x="0" y="0"/>
                </a:moveTo>
                <a:lnTo>
                  <a:pt x="35442" y="0"/>
                </a:lnTo>
                <a:lnTo>
                  <a:pt x="35442" y="1364512"/>
                </a:lnTo>
                <a:lnTo>
                  <a:pt x="0" y="1364512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75371861" name="Shape 17"/>
          <p:cNvSpPr/>
          <p:nvPr/>
        </p:nvSpPr>
        <p:spPr bwMode="auto">
          <a:xfrm>
            <a:off x="567070" y="5103628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 fill="norm" stroke="1" extrusionOk="0">
                <a:moveTo>
                  <a:pt x="70885" y="0"/>
                </a:moveTo>
                <a:lnTo>
                  <a:pt x="425301" y="0"/>
                </a:lnTo>
                <a:cubicBezTo>
                  <a:pt x="464450" y="0"/>
                  <a:pt x="496186" y="31736"/>
                  <a:pt x="496186" y="70885"/>
                </a:cubicBezTo>
                <a:lnTo>
                  <a:pt x="496186" y="425301"/>
                </a:lnTo>
                <a:cubicBezTo>
                  <a:pt x="496186" y="464450"/>
                  <a:pt x="464450" y="496186"/>
                  <a:pt x="425301" y="496186"/>
                </a:cubicBezTo>
                <a:lnTo>
                  <a:pt x="70885" y="496186"/>
                </a:lnTo>
                <a:cubicBezTo>
                  <a:pt x="31736" y="496186"/>
                  <a:pt x="0" y="464450"/>
                  <a:pt x="0" y="425301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2147217884" name="Shape 18"/>
          <p:cNvSpPr/>
          <p:nvPr/>
        </p:nvSpPr>
        <p:spPr bwMode="auto">
          <a:xfrm>
            <a:off x="708837" y="5245395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 fill="norm" stroke="1" extrusionOk="0">
                <a:moveTo>
                  <a:pt x="186070" y="106326"/>
                </a:moveTo>
                <a:cubicBezTo>
                  <a:pt x="186070" y="62314"/>
                  <a:pt x="150338" y="26581"/>
                  <a:pt x="106326" y="26581"/>
                </a:cubicBezTo>
                <a:cubicBezTo>
                  <a:pt x="62314" y="26581"/>
                  <a:pt x="26581" y="62314"/>
                  <a:pt x="26581" y="106326"/>
                </a:cubicBezTo>
                <a:cubicBezTo>
                  <a:pt x="26581" y="150338"/>
                  <a:pt x="62314" y="186070"/>
                  <a:pt x="106326" y="186070"/>
                </a:cubicBezTo>
                <a:cubicBezTo>
                  <a:pt x="150338" y="186070"/>
                  <a:pt x="186070" y="150338"/>
                  <a:pt x="186070" y="106326"/>
                </a:cubicBezTo>
                <a:close/>
                <a:moveTo>
                  <a:pt x="0" y="106326"/>
                </a:moveTo>
                <a:cubicBezTo>
                  <a:pt x="0" y="47643"/>
                  <a:pt x="47643" y="0"/>
                  <a:pt x="106326" y="0"/>
                </a:cubicBezTo>
                <a:cubicBezTo>
                  <a:pt x="165008" y="0"/>
                  <a:pt x="212651" y="47643"/>
                  <a:pt x="212651" y="106326"/>
                </a:cubicBezTo>
                <a:cubicBezTo>
                  <a:pt x="212651" y="165008"/>
                  <a:pt x="165008" y="212651"/>
                  <a:pt x="106326" y="212651"/>
                </a:cubicBezTo>
                <a:cubicBezTo>
                  <a:pt x="47643" y="212651"/>
                  <a:pt x="0" y="165008"/>
                  <a:pt x="0" y="106326"/>
                </a:cubicBezTo>
                <a:close/>
                <a:moveTo>
                  <a:pt x="106326" y="139552"/>
                </a:moveTo>
                <a:cubicBezTo>
                  <a:pt x="124664" y="139552"/>
                  <a:pt x="139552" y="124664"/>
                  <a:pt x="139552" y="106326"/>
                </a:cubicBezTo>
                <a:cubicBezTo>
                  <a:pt x="139552" y="87987"/>
                  <a:pt x="124664" y="73099"/>
                  <a:pt x="106326" y="73099"/>
                </a:cubicBezTo>
                <a:cubicBezTo>
                  <a:pt x="87987" y="73099"/>
                  <a:pt x="73099" y="87987"/>
                  <a:pt x="73099" y="106326"/>
                </a:cubicBezTo>
                <a:cubicBezTo>
                  <a:pt x="73099" y="124664"/>
                  <a:pt x="87987" y="139552"/>
                  <a:pt x="106326" y="139552"/>
                </a:cubicBezTo>
                <a:close/>
                <a:moveTo>
                  <a:pt x="106326" y="46517"/>
                </a:moveTo>
                <a:cubicBezTo>
                  <a:pt x="139335" y="46517"/>
                  <a:pt x="166134" y="73317"/>
                  <a:pt x="166134" y="106326"/>
                </a:cubicBezTo>
                <a:cubicBezTo>
                  <a:pt x="166134" y="139335"/>
                  <a:pt x="139335" y="166134"/>
                  <a:pt x="106326" y="166134"/>
                </a:cubicBezTo>
                <a:cubicBezTo>
                  <a:pt x="73317" y="166134"/>
                  <a:pt x="46517" y="139335"/>
                  <a:pt x="46517" y="106326"/>
                </a:cubicBezTo>
                <a:cubicBezTo>
                  <a:pt x="46517" y="73317"/>
                  <a:pt x="73317" y="46517"/>
                  <a:pt x="106326" y="46517"/>
                </a:cubicBezTo>
                <a:close/>
                <a:moveTo>
                  <a:pt x="93035" y="106326"/>
                </a:moveTo>
                <a:cubicBezTo>
                  <a:pt x="93035" y="98990"/>
                  <a:pt x="98990" y="93035"/>
                  <a:pt x="106326" y="93035"/>
                </a:cubicBezTo>
                <a:cubicBezTo>
                  <a:pt x="113661" y="93035"/>
                  <a:pt x="119616" y="98990"/>
                  <a:pt x="119616" y="106326"/>
                </a:cubicBezTo>
                <a:cubicBezTo>
                  <a:pt x="119616" y="113661"/>
                  <a:pt x="113661" y="119616"/>
                  <a:pt x="106326" y="119616"/>
                </a:cubicBezTo>
                <a:cubicBezTo>
                  <a:pt x="98990" y="119616"/>
                  <a:pt x="93035" y="113661"/>
                  <a:pt x="93035" y="1063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24885174" name="Text 19"/>
          <p:cNvSpPr/>
          <p:nvPr/>
        </p:nvSpPr>
        <p:spPr bwMode="auto">
          <a:xfrm>
            <a:off x="1205022" y="5103628"/>
            <a:ext cx="501502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Долгосрочное видение</a:t>
            </a:r>
            <a:endParaRPr lang="en-US" sz="1600"/>
          </a:p>
        </p:txBody>
      </p:sp>
      <p:sp>
        <p:nvSpPr>
          <p:cNvPr id="1715186472" name="Text 20"/>
          <p:cNvSpPr/>
          <p:nvPr/>
        </p:nvSpPr>
        <p:spPr bwMode="auto">
          <a:xfrm>
            <a:off x="1205022" y="5422605"/>
            <a:ext cx="4997302" cy="69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Создание </a:t>
            </a: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национальной инфраструктуры финансового контроля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, способной стать стандартом для банковской отрасли и обеспечить суверенитет в области финансовых технологий.</a:t>
            </a:r>
            <a:endParaRPr lang="en-US" sz="1600"/>
          </a:p>
        </p:txBody>
      </p:sp>
      <p:sp>
        <p:nvSpPr>
          <p:cNvPr id="1859913601" name="Shape 21"/>
          <p:cNvSpPr/>
          <p:nvPr/>
        </p:nvSpPr>
        <p:spPr bwMode="auto">
          <a:xfrm>
            <a:off x="6526563" y="1457547"/>
            <a:ext cx="5307419" cy="5396023"/>
          </a:xfrm>
          <a:custGeom>
            <a:avLst/>
            <a:gdLst/>
            <a:ahLst/>
            <a:cxnLst/>
            <a:rect l="l" t="t" r="r" b="b"/>
            <a:pathLst>
              <a:path w="5307419" h="5396023" fill="norm" stroke="1" extrusionOk="0">
                <a:moveTo>
                  <a:pt x="70907" y="0"/>
                </a:moveTo>
                <a:lnTo>
                  <a:pt x="5236511" y="0"/>
                </a:lnTo>
                <a:cubicBezTo>
                  <a:pt x="5275672" y="0"/>
                  <a:pt x="5307419" y="31746"/>
                  <a:pt x="5307419" y="70907"/>
                </a:cubicBezTo>
                <a:lnTo>
                  <a:pt x="5307419" y="5325116"/>
                </a:lnTo>
                <a:cubicBezTo>
                  <a:pt x="5307419" y="5364277"/>
                  <a:pt x="5275672" y="5396023"/>
                  <a:pt x="5236511" y="5396023"/>
                </a:cubicBezTo>
                <a:lnTo>
                  <a:pt x="70907" y="5396023"/>
                </a:lnTo>
                <a:cubicBezTo>
                  <a:pt x="31746" y="5396023"/>
                  <a:pt x="0" y="5364277"/>
                  <a:pt x="0" y="5325116"/>
                </a:cubicBezTo>
                <a:lnTo>
                  <a:pt x="0" y="70907"/>
                </a:lnTo>
                <a:cubicBezTo>
                  <a:pt x="0" y="31746"/>
                  <a:pt x="31746" y="0"/>
                  <a:pt x="70907" y="0"/>
                </a:cubicBezTo>
                <a:close/>
              </a:path>
            </a:pathLst>
          </a:custGeom>
          <a:gradFill>
            <a:gsLst>
              <a:gs pos="0">
                <a:srgbClr val="4A5C6A">
                  <a:alpha val="30000"/>
                </a:srgbClr>
              </a:gs>
              <a:gs pos="100000">
                <a:srgbClr val="1A1D21">
                  <a:alpha val="50000"/>
                </a:srgbClr>
              </a:gs>
            </a:gsLst>
            <a:lin ang="2700000" scaled="1"/>
          </a:gradFill>
          <a:ln w="12700">
            <a:solidFill>
              <a:srgbClr val="C0A062">
                <a:alpha val="30195"/>
              </a:srgbClr>
            </a:solidFill>
            <a:prstDash val="solid"/>
          </a:ln>
        </p:spPr>
      </p:sp>
      <p:sp>
        <p:nvSpPr>
          <p:cNvPr id="1584371329" name="Shape 22"/>
          <p:cNvSpPr/>
          <p:nvPr/>
        </p:nvSpPr>
        <p:spPr bwMode="auto">
          <a:xfrm>
            <a:off x="6770226" y="1710070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 fill="norm" stroke="1" extrusionOk="0">
                <a:moveTo>
                  <a:pt x="96565" y="2160"/>
                </a:moveTo>
                <a:cubicBezTo>
                  <a:pt x="102754" y="-706"/>
                  <a:pt x="109897" y="-706"/>
                  <a:pt x="116086" y="2160"/>
                </a:cubicBezTo>
                <a:lnTo>
                  <a:pt x="206878" y="44109"/>
                </a:lnTo>
                <a:cubicBezTo>
                  <a:pt x="210408" y="45728"/>
                  <a:pt x="212651" y="49259"/>
                  <a:pt x="212651" y="53163"/>
                </a:cubicBezTo>
                <a:cubicBezTo>
                  <a:pt x="212651" y="57067"/>
                  <a:pt x="210408" y="60597"/>
                  <a:pt x="206878" y="62217"/>
                </a:cubicBezTo>
                <a:lnTo>
                  <a:pt x="116086" y="104166"/>
                </a:lnTo>
                <a:cubicBezTo>
                  <a:pt x="109897" y="107032"/>
                  <a:pt x="102754" y="107032"/>
                  <a:pt x="96565" y="104166"/>
                </a:cubicBezTo>
                <a:lnTo>
                  <a:pt x="5773" y="62217"/>
                </a:lnTo>
                <a:cubicBezTo>
                  <a:pt x="2243" y="60556"/>
                  <a:pt x="0" y="57025"/>
                  <a:pt x="0" y="53163"/>
                </a:cubicBezTo>
                <a:cubicBezTo>
                  <a:pt x="0" y="49300"/>
                  <a:pt x="2243" y="45728"/>
                  <a:pt x="5773" y="44109"/>
                </a:cubicBezTo>
                <a:lnTo>
                  <a:pt x="96565" y="2160"/>
                </a:lnTo>
                <a:close/>
                <a:moveTo>
                  <a:pt x="19978" y="90709"/>
                </a:moveTo>
                <a:lnTo>
                  <a:pt x="88217" y="122233"/>
                </a:lnTo>
                <a:cubicBezTo>
                  <a:pt x="99722" y="127549"/>
                  <a:pt x="112971" y="127549"/>
                  <a:pt x="124476" y="122233"/>
                </a:cubicBezTo>
                <a:lnTo>
                  <a:pt x="192715" y="90709"/>
                </a:lnTo>
                <a:lnTo>
                  <a:pt x="206878" y="97271"/>
                </a:lnTo>
                <a:cubicBezTo>
                  <a:pt x="210408" y="98891"/>
                  <a:pt x="212651" y="102421"/>
                  <a:pt x="212651" y="106326"/>
                </a:cubicBezTo>
                <a:cubicBezTo>
                  <a:pt x="212651" y="110230"/>
                  <a:pt x="210408" y="113760"/>
                  <a:pt x="206878" y="115380"/>
                </a:cubicBezTo>
                <a:lnTo>
                  <a:pt x="116086" y="157329"/>
                </a:lnTo>
                <a:cubicBezTo>
                  <a:pt x="109897" y="160194"/>
                  <a:pt x="102754" y="160194"/>
                  <a:pt x="96565" y="157329"/>
                </a:cubicBezTo>
                <a:lnTo>
                  <a:pt x="5773" y="115380"/>
                </a:lnTo>
                <a:cubicBezTo>
                  <a:pt x="2243" y="113719"/>
                  <a:pt x="0" y="110188"/>
                  <a:pt x="0" y="106326"/>
                </a:cubicBezTo>
                <a:cubicBezTo>
                  <a:pt x="0" y="102463"/>
                  <a:pt x="2243" y="98891"/>
                  <a:pt x="5773" y="97271"/>
                </a:cubicBezTo>
                <a:lnTo>
                  <a:pt x="19936" y="90709"/>
                </a:lnTo>
                <a:close/>
                <a:moveTo>
                  <a:pt x="5773" y="150434"/>
                </a:moveTo>
                <a:lnTo>
                  <a:pt x="19936" y="143872"/>
                </a:lnTo>
                <a:lnTo>
                  <a:pt x="88175" y="175396"/>
                </a:lnTo>
                <a:cubicBezTo>
                  <a:pt x="99680" y="180712"/>
                  <a:pt x="112929" y="180712"/>
                  <a:pt x="124434" y="175396"/>
                </a:cubicBezTo>
                <a:lnTo>
                  <a:pt x="192674" y="143872"/>
                </a:lnTo>
                <a:lnTo>
                  <a:pt x="206836" y="150434"/>
                </a:lnTo>
                <a:cubicBezTo>
                  <a:pt x="210367" y="152054"/>
                  <a:pt x="212610" y="155584"/>
                  <a:pt x="212610" y="159488"/>
                </a:cubicBezTo>
                <a:cubicBezTo>
                  <a:pt x="212610" y="163393"/>
                  <a:pt x="210367" y="166923"/>
                  <a:pt x="206836" y="168543"/>
                </a:cubicBezTo>
                <a:lnTo>
                  <a:pt x="116044" y="210491"/>
                </a:lnTo>
                <a:cubicBezTo>
                  <a:pt x="109856" y="213357"/>
                  <a:pt x="102712" y="213357"/>
                  <a:pt x="96524" y="210491"/>
                </a:cubicBezTo>
                <a:lnTo>
                  <a:pt x="5773" y="168543"/>
                </a:lnTo>
                <a:cubicBezTo>
                  <a:pt x="2243" y="166881"/>
                  <a:pt x="0" y="163351"/>
                  <a:pt x="0" y="159488"/>
                </a:cubicBezTo>
                <a:cubicBezTo>
                  <a:pt x="0" y="155626"/>
                  <a:pt x="2243" y="152054"/>
                  <a:pt x="5773" y="15043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78025089" name="Text 23"/>
          <p:cNvSpPr/>
          <p:nvPr/>
        </p:nvSpPr>
        <p:spPr bwMode="auto">
          <a:xfrm>
            <a:off x="7009459" y="1674628"/>
            <a:ext cx="471376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Архитектурная позиция</a:t>
            </a:r>
            <a:endParaRPr lang="en-US" sz="1600"/>
          </a:p>
        </p:txBody>
      </p:sp>
      <p:sp>
        <p:nvSpPr>
          <p:cNvPr id="917512481" name="Shape 24"/>
          <p:cNvSpPr/>
          <p:nvPr/>
        </p:nvSpPr>
        <p:spPr bwMode="auto">
          <a:xfrm>
            <a:off x="6748075" y="2175244"/>
            <a:ext cx="4864395" cy="1107558"/>
          </a:xfrm>
          <a:custGeom>
            <a:avLst/>
            <a:gdLst/>
            <a:ahLst/>
            <a:cxnLst/>
            <a:rect l="l" t="t" r="r" b="b"/>
            <a:pathLst>
              <a:path w="4864395" h="1107558" fill="norm" stroke="1" extrusionOk="0">
                <a:moveTo>
                  <a:pt x="70884" y="0"/>
                </a:moveTo>
                <a:lnTo>
                  <a:pt x="4793512" y="0"/>
                </a:lnTo>
                <a:cubicBezTo>
                  <a:pt x="4832660" y="0"/>
                  <a:pt x="4864395" y="31736"/>
                  <a:pt x="4864395" y="70884"/>
                </a:cubicBezTo>
                <a:lnTo>
                  <a:pt x="4864395" y="1036674"/>
                </a:lnTo>
                <a:cubicBezTo>
                  <a:pt x="4864395" y="1075822"/>
                  <a:pt x="4832660" y="1107558"/>
                  <a:pt x="4793512" y="1107558"/>
                </a:cubicBezTo>
                <a:lnTo>
                  <a:pt x="70884" y="1107558"/>
                </a:lnTo>
                <a:cubicBezTo>
                  <a:pt x="31736" y="1107558"/>
                  <a:pt x="0" y="1075822"/>
                  <a:pt x="0" y="1036674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392938302" name="Shape 25"/>
          <p:cNvSpPr/>
          <p:nvPr/>
        </p:nvSpPr>
        <p:spPr bwMode="auto">
          <a:xfrm>
            <a:off x="6929714" y="2356884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 fill="norm" stroke="1" extrusionOk="0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837896942" name="Shape 26"/>
          <p:cNvSpPr/>
          <p:nvPr/>
        </p:nvSpPr>
        <p:spPr bwMode="auto">
          <a:xfrm>
            <a:off x="7075912" y="2480930"/>
            <a:ext cx="132907" cy="177209"/>
          </a:xfrm>
          <a:custGeom>
            <a:avLst/>
            <a:gdLst/>
            <a:ahLst/>
            <a:cxnLst/>
            <a:rect l="l" t="t" r="r" b="b"/>
            <a:pathLst>
              <a:path w="132907" h="177209" fill="norm" stroke="1" extrusionOk="0">
                <a:moveTo>
                  <a:pt x="5538" y="22151"/>
                </a:moveTo>
                <a:cubicBezTo>
                  <a:pt x="5538" y="9933"/>
                  <a:pt x="15471" y="0"/>
                  <a:pt x="27689" y="0"/>
                </a:cubicBezTo>
                <a:lnTo>
                  <a:pt x="105218" y="0"/>
                </a:lnTo>
                <a:cubicBezTo>
                  <a:pt x="117436" y="0"/>
                  <a:pt x="127369" y="9933"/>
                  <a:pt x="127369" y="22151"/>
                </a:cubicBezTo>
                <a:lnTo>
                  <a:pt x="127369" y="155058"/>
                </a:lnTo>
                <a:cubicBezTo>
                  <a:pt x="127369" y="167276"/>
                  <a:pt x="117436" y="177209"/>
                  <a:pt x="105218" y="177209"/>
                </a:cubicBezTo>
                <a:lnTo>
                  <a:pt x="27689" y="177209"/>
                </a:lnTo>
                <a:cubicBezTo>
                  <a:pt x="15471" y="177209"/>
                  <a:pt x="5538" y="167276"/>
                  <a:pt x="5538" y="155058"/>
                </a:cubicBezTo>
                <a:lnTo>
                  <a:pt x="5538" y="22151"/>
                </a:lnTo>
                <a:close/>
                <a:moveTo>
                  <a:pt x="27689" y="22151"/>
                </a:moveTo>
                <a:lnTo>
                  <a:pt x="27689" y="127369"/>
                </a:lnTo>
                <a:lnTo>
                  <a:pt x="105218" y="127369"/>
                </a:lnTo>
                <a:lnTo>
                  <a:pt x="105218" y="22151"/>
                </a:lnTo>
                <a:lnTo>
                  <a:pt x="27689" y="22151"/>
                </a:lnTo>
                <a:close/>
                <a:moveTo>
                  <a:pt x="66453" y="163365"/>
                </a:moveTo>
                <a:cubicBezTo>
                  <a:pt x="72580" y="163365"/>
                  <a:pt x="77529" y="158415"/>
                  <a:pt x="77529" y="152289"/>
                </a:cubicBezTo>
                <a:cubicBezTo>
                  <a:pt x="77529" y="146163"/>
                  <a:pt x="72580" y="141214"/>
                  <a:pt x="66453" y="141214"/>
                </a:cubicBezTo>
                <a:cubicBezTo>
                  <a:pt x="60327" y="141214"/>
                  <a:pt x="55378" y="146163"/>
                  <a:pt x="55378" y="152289"/>
                </a:cubicBezTo>
                <a:cubicBezTo>
                  <a:pt x="55378" y="158415"/>
                  <a:pt x="60327" y="163365"/>
                  <a:pt x="66453" y="16336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03310733" name="Text 27"/>
          <p:cNvSpPr/>
          <p:nvPr/>
        </p:nvSpPr>
        <p:spPr bwMode="auto">
          <a:xfrm>
            <a:off x="7496784" y="2445488"/>
            <a:ext cx="135565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Digital Channels</a:t>
            </a:r>
            <a:endParaRPr lang="en-US" sz="1600"/>
          </a:p>
        </p:txBody>
      </p:sp>
      <p:sp>
        <p:nvSpPr>
          <p:cNvPr id="1581963722" name="Text 28"/>
          <p:cNvSpPr/>
          <p:nvPr/>
        </p:nvSpPr>
        <p:spPr bwMode="auto">
          <a:xfrm>
            <a:off x="6929714" y="2888512"/>
            <a:ext cx="4572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Мобильные приложения, интернет-банкинг, API-интеграции</a:t>
            </a:r>
            <a:endParaRPr lang="en-US" sz="1600"/>
          </a:p>
        </p:txBody>
      </p:sp>
      <p:sp>
        <p:nvSpPr>
          <p:cNvPr id="986458831" name="Shape 29"/>
          <p:cNvSpPr/>
          <p:nvPr/>
        </p:nvSpPr>
        <p:spPr bwMode="auto">
          <a:xfrm>
            <a:off x="9082392" y="3429000"/>
            <a:ext cx="199360" cy="265814"/>
          </a:xfrm>
          <a:custGeom>
            <a:avLst/>
            <a:gdLst/>
            <a:ahLst/>
            <a:cxnLst/>
            <a:rect l="l" t="t" r="r" b="b"/>
            <a:pathLst>
              <a:path w="199360" h="265814" fill="norm" stroke="1" extrusionOk="0">
                <a:moveTo>
                  <a:pt x="87947" y="260934"/>
                </a:moveTo>
                <a:cubicBezTo>
                  <a:pt x="94437" y="267423"/>
                  <a:pt x="104976" y="267423"/>
                  <a:pt x="111465" y="260934"/>
                </a:cubicBezTo>
                <a:lnTo>
                  <a:pt x="194532" y="177867"/>
                </a:lnTo>
                <a:cubicBezTo>
                  <a:pt x="201022" y="171377"/>
                  <a:pt x="201022" y="160838"/>
                  <a:pt x="194532" y="154349"/>
                </a:cubicBezTo>
                <a:cubicBezTo>
                  <a:pt x="188043" y="147859"/>
                  <a:pt x="177503" y="147859"/>
                  <a:pt x="171014" y="154349"/>
                </a:cubicBezTo>
                <a:lnTo>
                  <a:pt x="116294" y="209069"/>
                </a:lnTo>
                <a:lnTo>
                  <a:pt x="116294" y="16613"/>
                </a:lnTo>
                <a:cubicBezTo>
                  <a:pt x="116294" y="7424"/>
                  <a:pt x="108870" y="0"/>
                  <a:pt x="99680" y="0"/>
                </a:cubicBezTo>
                <a:cubicBezTo>
                  <a:pt x="90491" y="0"/>
                  <a:pt x="83067" y="7424"/>
                  <a:pt x="83067" y="16613"/>
                </a:cubicBezTo>
                <a:lnTo>
                  <a:pt x="83067" y="209069"/>
                </a:lnTo>
                <a:lnTo>
                  <a:pt x="28347" y="154349"/>
                </a:lnTo>
                <a:cubicBezTo>
                  <a:pt x="21857" y="147859"/>
                  <a:pt x="11318" y="147859"/>
                  <a:pt x="4828" y="154349"/>
                </a:cubicBezTo>
                <a:cubicBezTo>
                  <a:pt x="-1661" y="160838"/>
                  <a:pt x="-1661" y="171377"/>
                  <a:pt x="4828" y="177867"/>
                </a:cubicBezTo>
                <a:lnTo>
                  <a:pt x="87895" y="26093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35481374" name="Shape 30"/>
          <p:cNvSpPr/>
          <p:nvPr/>
        </p:nvSpPr>
        <p:spPr bwMode="auto">
          <a:xfrm>
            <a:off x="6752505" y="3845442"/>
            <a:ext cx="4855535" cy="1116419"/>
          </a:xfrm>
          <a:custGeom>
            <a:avLst/>
            <a:gdLst/>
            <a:ahLst/>
            <a:cxnLst/>
            <a:rect l="l" t="t" r="r" b="b"/>
            <a:pathLst>
              <a:path w="4855535" h="1116419" fill="norm" stroke="1" extrusionOk="0">
                <a:moveTo>
                  <a:pt x="70881" y="0"/>
                </a:moveTo>
                <a:lnTo>
                  <a:pt x="4784653" y="0"/>
                </a:lnTo>
                <a:cubicBezTo>
                  <a:pt x="4823800" y="0"/>
                  <a:pt x="4855535" y="31735"/>
                  <a:pt x="4855535" y="70881"/>
                </a:cubicBezTo>
                <a:lnTo>
                  <a:pt x="4855535" y="1045537"/>
                </a:lnTo>
                <a:cubicBezTo>
                  <a:pt x="4855535" y="1084684"/>
                  <a:pt x="4823800" y="1116419"/>
                  <a:pt x="4784653" y="1116419"/>
                </a:cubicBezTo>
                <a:lnTo>
                  <a:pt x="70881" y="1116419"/>
                </a:lnTo>
                <a:cubicBezTo>
                  <a:pt x="31735" y="1116419"/>
                  <a:pt x="0" y="1084684"/>
                  <a:pt x="0" y="1045537"/>
                </a:cubicBezTo>
                <a:lnTo>
                  <a:pt x="0" y="70881"/>
                </a:lnTo>
                <a:cubicBezTo>
                  <a:pt x="0" y="31735"/>
                  <a:pt x="31735" y="0"/>
                  <a:pt x="708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1121189619" name="Shape 31"/>
          <p:cNvSpPr/>
          <p:nvPr/>
        </p:nvSpPr>
        <p:spPr bwMode="auto">
          <a:xfrm>
            <a:off x="6938575" y="4031512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 fill="norm" stroke="1" extrusionOk="0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73374740" name="Shape 32"/>
          <p:cNvSpPr/>
          <p:nvPr/>
        </p:nvSpPr>
        <p:spPr bwMode="auto">
          <a:xfrm>
            <a:off x="7062621" y="4155557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 fill="norm" stroke="1" extrusionOk="0">
                <a:moveTo>
                  <a:pt x="88605" y="0"/>
                </a:moveTo>
                <a:cubicBezTo>
                  <a:pt x="90197" y="0"/>
                  <a:pt x="91789" y="346"/>
                  <a:pt x="93243" y="1004"/>
                </a:cubicBezTo>
                <a:lnTo>
                  <a:pt x="158450" y="28658"/>
                </a:lnTo>
                <a:cubicBezTo>
                  <a:pt x="166064" y="31877"/>
                  <a:pt x="171741" y="39388"/>
                  <a:pt x="171706" y="48456"/>
                </a:cubicBezTo>
                <a:cubicBezTo>
                  <a:pt x="171533" y="82790"/>
                  <a:pt x="157412" y="145609"/>
                  <a:pt x="97777" y="174164"/>
                </a:cubicBezTo>
                <a:cubicBezTo>
                  <a:pt x="91997" y="176932"/>
                  <a:pt x="85282" y="176932"/>
                  <a:pt x="79502" y="174164"/>
                </a:cubicBezTo>
                <a:cubicBezTo>
                  <a:pt x="19832" y="145609"/>
                  <a:pt x="5745" y="82790"/>
                  <a:pt x="5572" y="48456"/>
                </a:cubicBezTo>
                <a:cubicBezTo>
                  <a:pt x="5538" y="39388"/>
                  <a:pt x="11214" y="31877"/>
                  <a:pt x="18828" y="28658"/>
                </a:cubicBezTo>
                <a:lnTo>
                  <a:pt x="84001" y="1004"/>
                </a:lnTo>
                <a:cubicBezTo>
                  <a:pt x="85455" y="346"/>
                  <a:pt x="87013" y="0"/>
                  <a:pt x="88605" y="0"/>
                </a:cubicBezTo>
                <a:close/>
                <a:moveTo>
                  <a:pt x="88605" y="23120"/>
                </a:moveTo>
                <a:lnTo>
                  <a:pt x="88605" y="153985"/>
                </a:lnTo>
                <a:cubicBezTo>
                  <a:pt x="136368" y="130865"/>
                  <a:pt x="149209" y="79640"/>
                  <a:pt x="149520" y="48975"/>
                </a:cubicBezTo>
                <a:lnTo>
                  <a:pt x="88605" y="23155"/>
                </a:lnTo>
                <a:lnTo>
                  <a:pt x="88605" y="2315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32251490" name="Text 33"/>
          <p:cNvSpPr/>
          <p:nvPr/>
        </p:nvSpPr>
        <p:spPr bwMode="auto">
          <a:xfrm>
            <a:off x="7505645" y="4120116"/>
            <a:ext cx="101009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REVENANT</a:t>
            </a:r>
            <a:endParaRPr lang="en-US" sz="1600"/>
          </a:p>
        </p:txBody>
      </p:sp>
      <p:sp>
        <p:nvSpPr>
          <p:cNvPr id="1728015365" name="Text 34"/>
          <p:cNvSpPr/>
          <p:nvPr/>
        </p:nvSpPr>
        <p:spPr bwMode="auto">
          <a:xfrm>
            <a:off x="6938575" y="4563140"/>
            <a:ext cx="45542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Pre-Authorization Layer • Risk Engine • Compliance Gateway</a:t>
            </a:r>
            <a:endParaRPr lang="en-US" sz="1600"/>
          </a:p>
        </p:txBody>
      </p:sp>
      <p:sp>
        <p:nvSpPr>
          <p:cNvPr id="1603024398" name="Shape 35"/>
          <p:cNvSpPr/>
          <p:nvPr/>
        </p:nvSpPr>
        <p:spPr bwMode="auto">
          <a:xfrm>
            <a:off x="9082392" y="5112488"/>
            <a:ext cx="199360" cy="265814"/>
          </a:xfrm>
          <a:custGeom>
            <a:avLst/>
            <a:gdLst/>
            <a:ahLst/>
            <a:cxnLst/>
            <a:rect l="l" t="t" r="r" b="b"/>
            <a:pathLst>
              <a:path w="199360" h="265814" fill="norm" stroke="1" extrusionOk="0">
                <a:moveTo>
                  <a:pt x="87947" y="260934"/>
                </a:moveTo>
                <a:cubicBezTo>
                  <a:pt x="94437" y="267423"/>
                  <a:pt x="104976" y="267423"/>
                  <a:pt x="111465" y="260934"/>
                </a:cubicBezTo>
                <a:lnTo>
                  <a:pt x="194532" y="177867"/>
                </a:lnTo>
                <a:cubicBezTo>
                  <a:pt x="201022" y="171377"/>
                  <a:pt x="201022" y="160838"/>
                  <a:pt x="194532" y="154349"/>
                </a:cubicBezTo>
                <a:cubicBezTo>
                  <a:pt x="188043" y="147859"/>
                  <a:pt x="177503" y="147859"/>
                  <a:pt x="171014" y="154349"/>
                </a:cubicBezTo>
                <a:lnTo>
                  <a:pt x="116294" y="209069"/>
                </a:lnTo>
                <a:lnTo>
                  <a:pt x="116294" y="16613"/>
                </a:lnTo>
                <a:cubicBezTo>
                  <a:pt x="116294" y="7424"/>
                  <a:pt x="108870" y="0"/>
                  <a:pt x="99680" y="0"/>
                </a:cubicBezTo>
                <a:cubicBezTo>
                  <a:pt x="90491" y="0"/>
                  <a:pt x="83067" y="7424"/>
                  <a:pt x="83067" y="16613"/>
                </a:cubicBezTo>
                <a:lnTo>
                  <a:pt x="83067" y="209069"/>
                </a:lnTo>
                <a:lnTo>
                  <a:pt x="28347" y="154349"/>
                </a:lnTo>
                <a:cubicBezTo>
                  <a:pt x="21857" y="147859"/>
                  <a:pt x="11318" y="147859"/>
                  <a:pt x="4828" y="154349"/>
                </a:cubicBezTo>
                <a:cubicBezTo>
                  <a:pt x="-1661" y="160838"/>
                  <a:pt x="-1661" y="171377"/>
                  <a:pt x="4828" y="177867"/>
                </a:cubicBezTo>
                <a:lnTo>
                  <a:pt x="87895" y="26093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16781777" name="Shape 36"/>
          <p:cNvSpPr/>
          <p:nvPr/>
        </p:nvSpPr>
        <p:spPr bwMode="auto">
          <a:xfrm>
            <a:off x="6748075" y="5524500"/>
            <a:ext cx="4864395" cy="1107558"/>
          </a:xfrm>
          <a:custGeom>
            <a:avLst/>
            <a:gdLst/>
            <a:ahLst/>
            <a:cxnLst/>
            <a:rect l="l" t="t" r="r" b="b"/>
            <a:pathLst>
              <a:path w="4864395" h="1107558" fill="norm" stroke="1" extrusionOk="0">
                <a:moveTo>
                  <a:pt x="70884" y="0"/>
                </a:moveTo>
                <a:lnTo>
                  <a:pt x="4793512" y="0"/>
                </a:lnTo>
                <a:cubicBezTo>
                  <a:pt x="4832660" y="0"/>
                  <a:pt x="4864395" y="31736"/>
                  <a:pt x="4864395" y="70884"/>
                </a:cubicBezTo>
                <a:lnTo>
                  <a:pt x="4864395" y="1036674"/>
                </a:lnTo>
                <a:cubicBezTo>
                  <a:pt x="4864395" y="1075822"/>
                  <a:pt x="4832660" y="1107558"/>
                  <a:pt x="4793512" y="1107558"/>
                </a:cubicBezTo>
                <a:lnTo>
                  <a:pt x="70884" y="1107558"/>
                </a:lnTo>
                <a:cubicBezTo>
                  <a:pt x="31736" y="1107558"/>
                  <a:pt x="0" y="1075822"/>
                  <a:pt x="0" y="1036674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890606477" name="Shape 37"/>
          <p:cNvSpPr/>
          <p:nvPr/>
        </p:nvSpPr>
        <p:spPr bwMode="auto">
          <a:xfrm>
            <a:off x="6929714" y="5706140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 fill="norm" stroke="1" extrusionOk="0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632608368" name="Shape 38"/>
          <p:cNvSpPr/>
          <p:nvPr/>
        </p:nvSpPr>
        <p:spPr bwMode="auto">
          <a:xfrm>
            <a:off x="7064836" y="5830186"/>
            <a:ext cx="155058" cy="177209"/>
          </a:xfrm>
          <a:custGeom>
            <a:avLst/>
            <a:gdLst/>
            <a:ahLst/>
            <a:cxnLst/>
            <a:rect l="l" t="t" r="r" b="b"/>
            <a:pathLst>
              <a:path w="155058" h="177209" fill="norm" stroke="1" extrusionOk="0">
                <a:moveTo>
                  <a:pt x="155058" y="71230"/>
                </a:moveTo>
                <a:cubicBezTo>
                  <a:pt x="149936" y="74622"/>
                  <a:pt x="144052" y="77356"/>
                  <a:pt x="137926" y="79537"/>
                </a:cubicBezTo>
                <a:cubicBezTo>
                  <a:pt x="121658" y="85351"/>
                  <a:pt x="100303" y="88605"/>
                  <a:pt x="77529" y="88605"/>
                </a:cubicBezTo>
                <a:cubicBezTo>
                  <a:pt x="54755" y="88605"/>
                  <a:pt x="33365" y="85317"/>
                  <a:pt x="17133" y="79537"/>
                </a:cubicBezTo>
                <a:cubicBezTo>
                  <a:pt x="11041" y="77356"/>
                  <a:pt x="5122" y="74622"/>
                  <a:pt x="0" y="71230"/>
                </a:cubicBezTo>
                <a:lnTo>
                  <a:pt x="0" y="99680"/>
                </a:lnTo>
                <a:cubicBezTo>
                  <a:pt x="0" y="114978"/>
                  <a:pt x="34715" y="127369"/>
                  <a:pt x="77529" y="127369"/>
                </a:cubicBezTo>
                <a:cubicBezTo>
                  <a:pt x="120343" y="127369"/>
                  <a:pt x="155058" y="114978"/>
                  <a:pt x="155058" y="99680"/>
                </a:cubicBezTo>
                <a:lnTo>
                  <a:pt x="155058" y="71230"/>
                </a:lnTo>
                <a:close/>
                <a:moveTo>
                  <a:pt x="155058" y="44302"/>
                </a:moveTo>
                <a:lnTo>
                  <a:pt x="155058" y="27689"/>
                </a:lnTo>
                <a:cubicBezTo>
                  <a:pt x="155058" y="12391"/>
                  <a:pt x="120343" y="0"/>
                  <a:pt x="77529" y="0"/>
                </a:cubicBezTo>
                <a:cubicBezTo>
                  <a:pt x="34715" y="0"/>
                  <a:pt x="0" y="12391"/>
                  <a:pt x="0" y="27689"/>
                </a:cubicBezTo>
                <a:lnTo>
                  <a:pt x="0" y="44302"/>
                </a:lnTo>
                <a:cubicBezTo>
                  <a:pt x="0" y="59600"/>
                  <a:pt x="34715" y="71991"/>
                  <a:pt x="77529" y="71991"/>
                </a:cubicBezTo>
                <a:cubicBezTo>
                  <a:pt x="120343" y="71991"/>
                  <a:pt x="155058" y="59600"/>
                  <a:pt x="155058" y="44302"/>
                </a:cubicBezTo>
                <a:close/>
                <a:moveTo>
                  <a:pt x="137926" y="134914"/>
                </a:moveTo>
                <a:cubicBezTo>
                  <a:pt x="121693" y="140694"/>
                  <a:pt x="100338" y="143983"/>
                  <a:pt x="77529" y="143983"/>
                </a:cubicBezTo>
                <a:cubicBezTo>
                  <a:pt x="54720" y="143983"/>
                  <a:pt x="33365" y="140694"/>
                  <a:pt x="17133" y="134914"/>
                </a:cubicBezTo>
                <a:cubicBezTo>
                  <a:pt x="11041" y="132734"/>
                  <a:pt x="5122" y="130000"/>
                  <a:pt x="0" y="126608"/>
                </a:cubicBezTo>
                <a:lnTo>
                  <a:pt x="0" y="149520"/>
                </a:lnTo>
                <a:cubicBezTo>
                  <a:pt x="0" y="164818"/>
                  <a:pt x="34715" y="177209"/>
                  <a:pt x="77529" y="177209"/>
                </a:cubicBezTo>
                <a:cubicBezTo>
                  <a:pt x="120343" y="177209"/>
                  <a:pt x="155058" y="164818"/>
                  <a:pt x="155058" y="149520"/>
                </a:cubicBezTo>
                <a:lnTo>
                  <a:pt x="155058" y="126608"/>
                </a:lnTo>
                <a:cubicBezTo>
                  <a:pt x="149936" y="130000"/>
                  <a:pt x="144052" y="132734"/>
                  <a:pt x="137926" y="13491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08060875" name="Text 39"/>
          <p:cNvSpPr/>
          <p:nvPr/>
        </p:nvSpPr>
        <p:spPr bwMode="auto">
          <a:xfrm>
            <a:off x="7496784" y="5794744"/>
            <a:ext cx="113414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Core Banking</a:t>
            </a:r>
            <a:endParaRPr lang="en-US" sz="1600"/>
          </a:p>
        </p:txBody>
      </p:sp>
      <p:sp>
        <p:nvSpPr>
          <p:cNvPr id="1299198866" name="Text 40"/>
          <p:cNvSpPr/>
          <p:nvPr/>
        </p:nvSpPr>
        <p:spPr bwMode="auto">
          <a:xfrm>
            <a:off x="6929714" y="6237767"/>
            <a:ext cx="4572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Legacy АБС, учётные системы, хранилища данных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441151" name="Shape 0"/>
          <p:cNvSpPr/>
          <p:nvPr/>
        </p:nvSpPr>
        <p:spPr bwMode="auto"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 fill="norm" stroke="1" extrusionOk="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02055055" name="Text 1"/>
          <p:cNvSpPr/>
          <p:nvPr/>
        </p:nvSpPr>
        <p:spPr bwMode="auto">
          <a:xfrm>
            <a:off x="533400" y="4572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 spc="60">
                <a:solidFill>
                  <a:srgbClr val="C0A062"/>
                </a:solidFill>
                <a:latin typeface="Liter"/>
                <a:ea typeface="Liter"/>
                <a:cs typeface="Liter"/>
              </a:rPr>
              <a:t>ДИАГНОСТИКА ПРОБЛЕМЫ</a:t>
            </a:r>
            <a:endParaRPr lang="en-US" sz="1600"/>
          </a:p>
        </p:txBody>
      </p:sp>
      <p:sp>
        <p:nvSpPr>
          <p:cNvPr id="1331061286" name="Text 2"/>
          <p:cNvSpPr/>
          <p:nvPr/>
        </p:nvSpPr>
        <p:spPr bwMode="auto">
          <a:xfrm>
            <a:off x="381000" y="876299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Структурные ограничения современных банковских систем</a:t>
            </a:r>
            <a:endParaRPr lang="en-US" sz="1600"/>
          </a:p>
        </p:txBody>
      </p:sp>
      <p:sp>
        <p:nvSpPr>
          <p:cNvPr id="947213380" name="Shape 3"/>
          <p:cNvSpPr/>
          <p:nvPr/>
        </p:nvSpPr>
        <p:spPr bwMode="auto">
          <a:xfrm>
            <a:off x="385762" y="1528763"/>
            <a:ext cx="3676650" cy="4200525"/>
          </a:xfrm>
          <a:custGeom>
            <a:avLst/>
            <a:gdLst/>
            <a:ahLst/>
            <a:cxnLst/>
            <a:rect l="l" t="t" r="r" b="b"/>
            <a:pathLst>
              <a:path w="3676650" h="4200525" fill="norm" stroke="1" extrusionOk="0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4124308"/>
                </a:lnTo>
                <a:cubicBezTo>
                  <a:pt x="3676650" y="4166402"/>
                  <a:pt x="3642527" y="4200525"/>
                  <a:pt x="3600433" y="4200525"/>
                </a:cubicBezTo>
                <a:lnTo>
                  <a:pt x="76217" y="4200525"/>
                </a:lnTo>
                <a:cubicBezTo>
                  <a:pt x="34123" y="4200525"/>
                  <a:pt x="0" y="4166402"/>
                  <a:pt x="0" y="412430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78882850" name="Shape 4"/>
          <p:cNvSpPr/>
          <p:nvPr/>
        </p:nvSpPr>
        <p:spPr bwMode="auto">
          <a:xfrm>
            <a:off x="581025" y="1724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684003656" name="Shape 5"/>
          <p:cNvSpPr/>
          <p:nvPr/>
        </p:nvSpPr>
        <p:spPr bwMode="auto">
          <a:xfrm>
            <a:off x="726281" y="18573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20558562" name="Text 6"/>
          <p:cNvSpPr/>
          <p:nvPr/>
        </p:nvSpPr>
        <p:spPr bwMode="auto">
          <a:xfrm>
            <a:off x="1152525" y="1819275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Legacy Core Banking</a:t>
            </a:r>
            <a:endParaRPr lang="en-US" sz="1600"/>
          </a:p>
        </p:txBody>
      </p:sp>
      <p:sp>
        <p:nvSpPr>
          <p:cNvPr id="917732630" name="Shape 7"/>
          <p:cNvSpPr/>
          <p:nvPr/>
        </p:nvSpPr>
        <p:spPr bwMode="auto">
          <a:xfrm>
            <a:off x="600075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64607087" name="Text 8"/>
          <p:cNvSpPr/>
          <p:nvPr/>
        </p:nvSpPr>
        <p:spPr bwMode="auto">
          <a:xfrm>
            <a:off x="885825" y="23336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Системы разработаны для </a:t>
            </a: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batch-обработки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, а не real-time транзакций</a:t>
            </a:r>
            <a:endParaRPr lang="en-US" sz="1600"/>
          </a:p>
        </p:txBody>
      </p:sp>
      <p:sp>
        <p:nvSpPr>
          <p:cNvPr id="317633930" name="Shape 9"/>
          <p:cNvSpPr/>
          <p:nvPr/>
        </p:nvSpPr>
        <p:spPr bwMode="auto">
          <a:xfrm>
            <a:off x="600075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761236743" name="Text 10"/>
          <p:cNvSpPr/>
          <p:nvPr/>
        </p:nvSpPr>
        <p:spPr bwMode="auto">
          <a:xfrm>
            <a:off x="885825" y="28670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Медленная авторизация: </a:t>
            </a: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2–5 секунд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на транзакцию</a:t>
            </a:r>
            <a:endParaRPr lang="en-US" sz="1600"/>
          </a:p>
        </p:txBody>
      </p:sp>
      <p:sp>
        <p:nvSpPr>
          <p:cNvPr id="1807197439" name="Shape 11"/>
          <p:cNvSpPr/>
          <p:nvPr/>
        </p:nvSpPr>
        <p:spPr bwMode="auto">
          <a:xfrm>
            <a:off x="600075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546694079" name="Text 12"/>
          <p:cNvSpPr/>
          <p:nvPr/>
        </p:nvSpPr>
        <p:spPr bwMode="auto">
          <a:xfrm>
            <a:off x="885825" y="34004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Фрагментированные Risk Engine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без единой точки контроля</a:t>
            </a:r>
            <a:endParaRPr lang="en-US" sz="1600"/>
          </a:p>
        </p:txBody>
      </p:sp>
      <p:sp>
        <p:nvSpPr>
          <p:cNvPr id="2140631656" name="Shape 13"/>
          <p:cNvSpPr/>
          <p:nvPr/>
        </p:nvSpPr>
        <p:spPr bwMode="auto">
          <a:xfrm>
            <a:off x="600075" y="3971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63706642" name="Text 14"/>
          <p:cNvSpPr/>
          <p:nvPr/>
        </p:nvSpPr>
        <p:spPr bwMode="auto">
          <a:xfrm>
            <a:off x="885825" y="3933824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Внешние fraud-инструменты </a:t>
            </a: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навешаны на АБС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как «заплатки»</a:t>
            </a:r>
            <a:endParaRPr lang="en-US" sz="1600"/>
          </a:p>
        </p:txBody>
      </p:sp>
      <p:sp>
        <p:nvSpPr>
          <p:cNvPr id="331060717" name="Shape 15"/>
          <p:cNvSpPr/>
          <p:nvPr/>
        </p:nvSpPr>
        <p:spPr bwMode="auto">
          <a:xfrm>
            <a:off x="600075" y="4505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18936305" name="Text 16"/>
          <p:cNvSpPr/>
          <p:nvPr/>
        </p:nvSpPr>
        <p:spPr bwMode="auto">
          <a:xfrm>
            <a:off x="885825" y="44672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Compliance-проверки разбросаны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по десяткам систем</a:t>
            </a:r>
            <a:endParaRPr lang="en-US" sz="1600"/>
          </a:p>
        </p:txBody>
      </p:sp>
      <p:sp>
        <p:nvSpPr>
          <p:cNvPr id="2134384645" name="Shape 17"/>
          <p:cNvSpPr/>
          <p:nvPr/>
        </p:nvSpPr>
        <p:spPr bwMode="auto">
          <a:xfrm>
            <a:off x="4259163" y="1528763"/>
            <a:ext cx="3676650" cy="4200525"/>
          </a:xfrm>
          <a:custGeom>
            <a:avLst/>
            <a:gdLst/>
            <a:ahLst/>
            <a:cxnLst/>
            <a:rect l="l" t="t" r="r" b="b"/>
            <a:pathLst>
              <a:path w="3676650" h="4200525" fill="norm" stroke="1" extrusionOk="0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4124308"/>
                </a:lnTo>
                <a:cubicBezTo>
                  <a:pt x="3676650" y="4166402"/>
                  <a:pt x="3642527" y="4200525"/>
                  <a:pt x="3600433" y="4200525"/>
                </a:cubicBezTo>
                <a:lnTo>
                  <a:pt x="76217" y="4200525"/>
                </a:lnTo>
                <a:cubicBezTo>
                  <a:pt x="34123" y="4200525"/>
                  <a:pt x="0" y="4166402"/>
                  <a:pt x="0" y="412430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08137540" name="Shape 18"/>
          <p:cNvSpPr/>
          <p:nvPr/>
        </p:nvSpPr>
        <p:spPr bwMode="auto">
          <a:xfrm>
            <a:off x="4454426" y="1724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938769607" name="Shape 19"/>
          <p:cNvSpPr/>
          <p:nvPr/>
        </p:nvSpPr>
        <p:spPr bwMode="auto">
          <a:xfrm>
            <a:off x="4563963" y="1857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fill="norm" stroke="1" extrusionOk="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01659637" name="Text 20"/>
          <p:cNvSpPr/>
          <p:nvPr/>
        </p:nvSpPr>
        <p:spPr bwMode="auto">
          <a:xfrm>
            <a:off x="5025926" y="1819275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Операционные проблемы</a:t>
            </a:r>
            <a:endParaRPr lang="en-US" sz="1600"/>
          </a:p>
        </p:txBody>
      </p:sp>
      <p:sp>
        <p:nvSpPr>
          <p:cNvPr id="1040435434" name="Shape 21"/>
          <p:cNvSpPr/>
          <p:nvPr/>
        </p:nvSpPr>
        <p:spPr bwMode="auto">
          <a:xfrm>
            <a:off x="4473476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3427247" name="Text 22"/>
          <p:cNvSpPr/>
          <p:nvPr/>
        </p:nvSpPr>
        <p:spPr bwMode="auto">
          <a:xfrm>
            <a:off x="4759226" y="23336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Медленные цифровые транзакции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клиентский опыт страдает</a:t>
            </a:r>
            <a:endParaRPr lang="en-US" sz="1600"/>
          </a:p>
        </p:txBody>
      </p:sp>
      <p:sp>
        <p:nvSpPr>
          <p:cNvPr id="1626918934" name="Shape 23"/>
          <p:cNvSpPr/>
          <p:nvPr/>
        </p:nvSpPr>
        <p:spPr bwMode="auto">
          <a:xfrm>
            <a:off x="4473476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05048421" name="Text 24"/>
          <p:cNvSpPr/>
          <p:nvPr/>
        </p:nvSpPr>
        <p:spPr bwMode="auto">
          <a:xfrm>
            <a:off x="4759226" y="28670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Высокие затраты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на ручную верификацию операций</a:t>
            </a:r>
            <a:endParaRPr lang="en-US" sz="1600"/>
          </a:p>
        </p:txBody>
      </p:sp>
      <p:sp>
        <p:nvSpPr>
          <p:cNvPr id="712091788" name="Shape 25"/>
          <p:cNvSpPr/>
          <p:nvPr/>
        </p:nvSpPr>
        <p:spPr bwMode="auto">
          <a:xfrm>
            <a:off x="4473476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74816516" name="Text 26"/>
          <p:cNvSpPr/>
          <p:nvPr/>
        </p:nvSpPr>
        <p:spPr bwMode="auto">
          <a:xfrm>
            <a:off x="4759226" y="34004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Friction при онбординге СМБ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потеря клиентов</a:t>
            </a:r>
            <a:endParaRPr lang="en-US" sz="1600"/>
          </a:p>
        </p:txBody>
      </p:sp>
      <p:sp>
        <p:nvSpPr>
          <p:cNvPr id="602833358" name="Shape 27"/>
          <p:cNvSpPr/>
          <p:nvPr/>
        </p:nvSpPr>
        <p:spPr bwMode="auto">
          <a:xfrm>
            <a:off x="4473476" y="3971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79718085" name="Text 28"/>
          <p:cNvSpPr/>
          <p:nvPr/>
        </p:nvSpPr>
        <p:spPr bwMode="auto">
          <a:xfrm>
            <a:off x="4759226" y="3933824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Сложная обработка документов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инвойсы, контракты</a:t>
            </a:r>
            <a:endParaRPr lang="en-US" sz="1600"/>
          </a:p>
        </p:txBody>
      </p:sp>
      <p:sp>
        <p:nvSpPr>
          <p:cNvPr id="301802584" name="Shape 29"/>
          <p:cNvSpPr/>
          <p:nvPr/>
        </p:nvSpPr>
        <p:spPr bwMode="auto">
          <a:xfrm>
            <a:off x="4473476" y="4505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00876106" name="Text 30"/>
          <p:cNvSpPr/>
          <p:nvPr/>
        </p:nvSpPr>
        <p:spPr bwMode="auto">
          <a:xfrm>
            <a:off x="4759226" y="44672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Невозможность real-time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риск-мониторинга</a:t>
            </a:r>
            <a:endParaRPr lang="en-US" sz="1600"/>
          </a:p>
        </p:txBody>
      </p:sp>
      <p:sp>
        <p:nvSpPr>
          <p:cNvPr id="7219215" name="Shape 31"/>
          <p:cNvSpPr/>
          <p:nvPr/>
        </p:nvSpPr>
        <p:spPr bwMode="auto">
          <a:xfrm>
            <a:off x="8132713" y="1528763"/>
            <a:ext cx="3676650" cy="4200525"/>
          </a:xfrm>
          <a:custGeom>
            <a:avLst/>
            <a:gdLst/>
            <a:ahLst/>
            <a:cxnLst/>
            <a:rect l="l" t="t" r="r" b="b"/>
            <a:pathLst>
              <a:path w="3676650" h="4200525" fill="norm" stroke="1" extrusionOk="0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4124308"/>
                </a:lnTo>
                <a:cubicBezTo>
                  <a:pt x="3676650" y="4166402"/>
                  <a:pt x="3642527" y="4200525"/>
                  <a:pt x="3600433" y="4200525"/>
                </a:cubicBezTo>
                <a:lnTo>
                  <a:pt x="76217" y="4200525"/>
                </a:lnTo>
                <a:cubicBezTo>
                  <a:pt x="34123" y="4200525"/>
                  <a:pt x="0" y="4166402"/>
                  <a:pt x="0" y="412430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35516815" name="Shape 32"/>
          <p:cNvSpPr/>
          <p:nvPr/>
        </p:nvSpPr>
        <p:spPr bwMode="auto">
          <a:xfrm>
            <a:off x="8327975" y="1724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303180393" name="Shape 33"/>
          <p:cNvSpPr/>
          <p:nvPr/>
        </p:nvSpPr>
        <p:spPr bwMode="auto">
          <a:xfrm>
            <a:off x="8449419" y="1857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9305266" name="Text 34"/>
          <p:cNvSpPr/>
          <p:nvPr/>
        </p:nvSpPr>
        <p:spPr bwMode="auto">
          <a:xfrm>
            <a:off x="8899475" y="1819275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Регуляторное давление</a:t>
            </a:r>
            <a:endParaRPr lang="en-US" sz="1600"/>
          </a:p>
        </p:txBody>
      </p:sp>
      <p:sp>
        <p:nvSpPr>
          <p:cNvPr id="1834816122" name="Shape 35"/>
          <p:cNvSpPr/>
          <p:nvPr/>
        </p:nvSpPr>
        <p:spPr bwMode="auto">
          <a:xfrm>
            <a:off x="8327975" y="23717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fill="norm" stroke="1" extrusionOk="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86344226" name="Text 36"/>
          <p:cNvSpPr/>
          <p:nvPr/>
        </p:nvSpPr>
        <p:spPr bwMode="auto">
          <a:xfrm>
            <a:off x="8632775" y="23336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Усиление надзора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со стороны Центрального банка</a:t>
            </a:r>
            <a:endParaRPr lang="en-US" sz="1600"/>
          </a:p>
        </p:txBody>
      </p:sp>
      <p:sp>
        <p:nvSpPr>
          <p:cNvPr id="1124662344" name="Shape 37"/>
          <p:cNvSpPr/>
          <p:nvPr/>
        </p:nvSpPr>
        <p:spPr bwMode="auto">
          <a:xfrm>
            <a:off x="8327975" y="29051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fill="norm" stroke="1" extrusionOk="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23435849" name="Text 38"/>
          <p:cNvSpPr/>
          <p:nvPr/>
        </p:nvSpPr>
        <p:spPr bwMode="auto">
          <a:xfrm>
            <a:off x="8632775" y="28670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Требования к data residency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данные должны оставаться в стране</a:t>
            </a:r>
            <a:endParaRPr lang="en-US" sz="1600"/>
          </a:p>
        </p:txBody>
      </p:sp>
      <p:sp>
        <p:nvSpPr>
          <p:cNvPr id="880497681" name="Shape 39"/>
          <p:cNvSpPr/>
          <p:nvPr/>
        </p:nvSpPr>
        <p:spPr bwMode="auto">
          <a:xfrm>
            <a:off x="8327975" y="34385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fill="norm" stroke="1" extrusionOk="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59655205" name="Text 40"/>
          <p:cNvSpPr/>
          <p:nvPr/>
        </p:nvSpPr>
        <p:spPr bwMode="auto">
          <a:xfrm>
            <a:off x="8632775" y="3400425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Необходимость </a:t>
            </a: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deterministic audit trails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для расследований</a:t>
            </a:r>
            <a:endParaRPr lang="en-US" sz="1600"/>
          </a:p>
        </p:txBody>
      </p:sp>
      <p:sp>
        <p:nvSpPr>
          <p:cNvPr id="591934644" name="Shape 41"/>
          <p:cNvSpPr/>
          <p:nvPr/>
        </p:nvSpPr>
        <p:spPr bwMode="auto">
          <a:xfrm>
            <a:off x="8327975" y="39719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fill="norm" stroke="1" extrusionOk="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14257766" name="Text 42"/>
          <p:cNvSpPr/>
          <p:nvPr/>
        </p:nvSpPr>
        <p:spPr bwMode="auto">
          <a:xfrm>
            <a:off x="8632775" y="3933824"/>
            <a:ext cx="305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Растущие штрафы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за нарушения AML/KYC</a:t>
            </a:r>
            <a:endParaRPr lang="en-US" sz="1600"/>
          </a:p>
        </p:txBody>
      </p:sp>
      <p:sp>
        <p:nvSpPr>
          <p:cNvPr id="1706952819" name="Shape 43"/>
          <p:cNvSpPr/>
          <p:nvPr/>
        </p:nvSpPr>
        <p:spPr bwMode="auto">
          <a:xfrm>
            <a:off x="8327975" y="45053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fill="norm" stroke="1" extrusionOk="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63863217" name="Text 44"/>
          <p:cNvSpPr/>
          <p:nvPr/>
        </p:nvSpPr>
        <p:spPr bwMode="auto">
          <a:xfrm>
            <a:off x="8632775" y="4467225"/>
            <a:ext cx="2943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Требования к системной</a:t>
            </a:r>
            <a:r>
              <a:rPr lang="en-US" sz="12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устойчивости</a:t>
            </a:r>
            <a:endParaRPr lang="en-US" sz="1600"/>
          </a:p>
        </p:txBody>
      </p:sp>
      <p:sp>
        <p:nvSpPr>
          <p:cNvPr id="322320462" name="Shape 45"/>
          <p:cNvSpPr/>
          <p:nvPr/>
        </p:nvSpPr>
        <p:spPr bwMode="auto">
          <a:xfrm>
            <a:off x="385762" y="589121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 fill="norm" stroke="1" extrusionOk="0">
                <a:moveTo>
                  <a:pt x="76201" y="0"/>
                </a:moveTo>
                <a:lnTo>
                  <a:pt x="11344274" y="0"/>
                </a:lnTo>
                <a:cubicBezTo>
                  <a:pt x="11386330" y="0"/>
                  <a:pt x="11420475" y="34145"/>
                  <a:pt x="11420475" y="76201"/>
                </a:cubicBezTo>
                <a:lnTo>
                  <a:pt x="11420475" y="504824"/>
                </a:lnTo>
                <a:cubicBezTo>
                  <a:pt x="11420475" y="546880"/>
                  <a:pt x="11386330" y="581025"/>
                  <a:pt x="113442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5"/>
              </a:srgbClr>
            </a:solidFill>
            <a:prstDash val="solid"/>
          </a:ln>
        </p:spPr>
      </p:sp>
      <p:sp>
        <p:nvSpPr>
          <p:cNvPr id="1251280067" name="Shape 46"/>
          <p:cNvSpPr/>
          <p:nvPr/>
        </p:nvSpPr>
        <p:spPr bwMode="auto">
          <a:xfrm>
            <a:off x="671364" y="6096000"/>
            <a:ext cx="128587" cy="171450"/>
          </a:xfrm>
          <a:custGeom>
            <a:avLst/>
            <a:gdLst/>
            <a:ahLst/>
            <a:cxnLst/>
            <a:rect l="l" t="t" r="r" b="b"/>
            <a:pathLst>
              <a:path w="128588" h="171450" fill="norm" stroke="1" extrusionOk="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2013461" name="Text 47"/>
          <p:cNvSpPr/>
          <p:nvPr/>
        </p:nvSpPr>
        <p:spPr bwMode="auto">
          <a:xfrm>
            <a:off x="776288" y="6048375"/>
            <a:ext cx="1091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Ключевой вывод:</a:t>
            </a:r>
            <a:r>
              <a:rPr lang="en-US" sz="1350">
                <a:solidFill>
                  <a:srgbClr val="EDF2F4"/>
                </a:solidFill>
                <a:latin typeface="Liter"/>
                <a:ea typeface="Liter"/>
                <a:cs typeface="Liter"/>
              </a:rPr>
              <a:t> Существующая архитектура не способна удовлетворить требованиям цифровой экономики и регуляторного надзора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19462" name="Shape 0"/>
          <p:cNvSpPr/>
          <p:nvPr/>
        </p:nvSpPr>
        <p:spPr bwMode="auto">
          <a:xfrm>
            <a:off x="337495" y="337495"/>
            <a:ext cx="33749" cy="337495"/>
          </a:xfrm>
          <a:custGeom>
            <a:avLst/>
            <a:gdLst/>
            <a:ahLst/>
            <a:cxnLst/>
            <a:rect l="l" t="t" r="r" b="b"/>
            <a:pathLst>
              <a:path w="33749" h="337495" fill="norm" stroke="1" extrusionOk="0">
                <a:moveTo>
                  <a:pt x="0" y="0"/>
                </a:moveTo>
                <a:lnTo>
                  <a:pt x="33749" y="0"/>
                </a:lnTo>
                <a:lnTo>
                  <a:pt x="33749" y="337495"/>
                </a:lnTo>
                <a:lnTo>
                  <a:pt x="0" y="337495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26425882" name="Text 1"/>
          <p:cNvSpPr/>
          <p:nvPr/>
        </p:nvSpPr>
        <p:spPr bwMode="auto">
          <a:xfrm>
            <a:off x="472493" y="404994"/>
            <a:ext cx="1949033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 spc="52">
                <a:solidFill>
                  <a:srgbClr val="C0A062"/>
                </a:solidFill>
                <a:latin typeface="Liter"/>
                <a:ea typeface="Liter"/>
                <a:cs typeface="Liter"/>
              </a:rPr>
              <a:t>АРХИТЕКТУРНЫЙ ПРОРЫВ</a:t>
            </a:r>
            <a:endParaRPr lang="en-US" sz="1600"/>
          </a:p>
        </p:txBody>
      </p:sp>
      <p:sp>
        <p:nvSpPr>
          <p:cNvPr id="363303571" name="Text 2"/>
          <p:cNvSpPr/>
          <p:nvPr/>
        </p:nvSpPr>
        <p:spPr bwMode="auto">
          <a:xfrm>
            <a:off x="337495" y="776238"/>
            <a:ext cx="11719507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Deterministic Pre-Authorization Layer</a:t>
            </a:r>
            <a:endParaRPr lang="en-US" sz="1600"/>
          </a:p>
        </p:txBody>
      </p:sp>
      <p:sp>
        <p:nvSpPr>
          <p:cNvPr id="1776199438" name="Shape 3"/>
          <p:cNvSpPr/>
          <p:nvPr/>
        </p:nvSpPr>
        <p:spPr bwMode="auto">
          <a:xfrm>
            <a:off x="354370" y="1349979"/>
            <a:ext cx="6564274" cy="1451228"/>
          </a:xfrm>
          <a:custGeom>
            <a:avLst/>
            <a:gdLst/>
            <a:ahLst/>
            <a:cxnLst/>
            <a:rect l="l" t="t" r="r" b="b"/>
            <a:pathLst>
              <a:path w="6564274" h="1451228" fill="norm" stroke="1" extrusionOk="0">
                <a:moveTo>
                  <a:pt x="0" y="0"/>
                </a:moveTo>
                <a:lnTo>
                  <a:pt x="6496777" y="0"/>
                </a:lnTo>
                <a:cubicBezTo>
                  <a:pt x="6534055" y="0"/>
                  <a:pt x="6564274" y="30219"/>
                  <a:pt x="6564274" y="67497"/>
                </a:cubicBezTo>
                <a:lnTo>
                  <a:pt x="6564274" y="1383731"/>
                </a:lnTo>
                <a:cubicBezTo>
                  <a:pt x="6564274" y="1421008"/>
                  <a:pt x="6534055" y="1451228"/>
                  <a:pt x="6496777" y="1451228"/>
                </a:cubicBezTo>
                <a:lnTo>
                  <a:pt x="0" y="145122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31500300" name="Shape 4"/>
          <p:cNvSpPr/>
          <p:nvPr/>
        </p:nvSpPr>
        <p:spPr bwMode="auto">
          <a:xfrm>
            <a:off x="354370" y="1349979"/>
            <a:ext cx="33749" cy="1451228"/>
          </a:xfrm>
          <a:custGeom>
            <a:avLst/>
            <a:gdLst/>
            <a:ahLst/>
            <a:cxnLst/>
            <a:rect l="l" t="t" r="r" b="b"/>
            <a:pathLst>
              <a:path w="33749" h="1451228" fill="norm" stroke="1" extrusionOk="0">
                <a:moveTo>
                  <a:pt x="0" y="0"/>
                </a:moveTo>
                <a:lnTo>
                  <a:pt x="33749" y="0"/>
                </a:lnTo>
                <a:lnTo>
                  <a:pt x="33749" y="1451228"/>
                </a:lnTo>
                <a:lnTo>
                  <a:pt x="0" y="1451228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31835667" name="Text 5"/>
          <p:cNvSpPr/>
          <p:nvPr/>
        </p:nvSpPr>
        <p:spPr bwMode="auto">
          <a:xfrm>
            <a:off x="539992" y="1518727"/>
            <a:ext cx="6311153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Суть инновации</a:t>
            </a:r>
            <a:endParaRPr lang="en-US" sz="1600"/>
          </a:p>
        </p:txBody>
      </p:sp>
      <p:sp>
        <p:nvSpPr>
          <p:cNvPr id="1696315387" name="Text 6"/>
          <p:cNvSpPr/>
          <p:nvPr/>
        </p:nvSpPr>
        <p:spPr bwMode="auto">
          <a:xfrm>
            <a:off x="539992" y="1889971"/>
            <a:ext cx="6285841" cy="74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REVENANT внедряет </a:t>
            </a:r>
            <a:r>
              <a:rPr lang="en-US" sz="1200" b="1">
                <a:solidFill>
                  <a:srgbClr val="EDF2F4"/>
                </a:solidFill>
                <a:highlight>
                  <a:srgbClr val="C0A062">
                    <a:alpha val="30000"/>
                  </a:srgbClr>
                </a:highlight>
                <a:latin typeface="Quattrocento Sans"/>
                <a:ea typeface="Quattrocento Sans"/>
                <a:cs typeface="Quattrocento Sans"/>
              </a:rPr>
              <a:t>deterministic decision engine </a:t>
            </a: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между цифровыми каналами и core banking. Платформа принимает все финансовые решения </a:t>
            </a:r>
            <a:r>
              <a:rPr lang="en-US" sz="12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до того, как транзакция достигает АБС</a:t>
            </a: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, обеспечивая полный контроль и предсказуемость.</a:t>
            </a:r>
            <a:endParaRPr lang="en-US" sz="1600"/>
          </a:p>
        </p:txBody>
      </p:sp>
      <p:sp>
        <p:nvSpPr>
          <p:cNvPr id="464177681" name="Shape 7"/>
          <p:cNvSpPr/>
          <p:nvPr/>
        </p:nvSpPr>
        <p:spPr bwMode="auto">
          <a:xfrm>
            <a:off x="341713" y="2938314"/>
            <a:ext cx="3214638" cy="1324667"/>
          </a:xfrm>
          <a:custGeom>
            <a:avLst/>
            <a:gdLst/>
            <a:ahLst/>
            <a:cxnLst/>
            <a:rect l="l" t="t" r="r" b="b"/>
            <a:pathLst>
              <a:path w="3214638" h="1324667" fill="norm" stroke="1" extrusionOk="0">
                <a:moveTo>
                  <a:pt x="67505" y="0"/>
                </a:moveTo>
                <a:lnTo>
                  <a:pt x="3147133" y="0"/>
                </a:lnTo>
                <a:cubicBezTo>
                  <a:pt x="3184415" y="0"/>
                  <a:pt x="3214638" y="30223"/>
                  <a:pt x="3214638" y="67505"/>
                </a:cubicBezTo>
                <a:lnTo>
                  <a:pt x="3214638" y="1257162"/>
                </a:lnTo>
                <a:cubicBezTo>
                  <a:pt x="3214638" y="1294444"/>
                  <a:pt x="3184415" y="1324667"/>
                  <a:pt x="3147133" y="1324667"/>
                </a:cubicBezTo>
                <a:lnTo>
                  <a:pt x="67505" y="1324667"/>
                </a:lnTo>
                <a:cubicBezTo>
                  <a:pt x="30223" y="1324667"/>
                  <a:pt x="0" y="1294444"/>
                  <a:pt x="0" y="1257162"/>
                </a:cubicBezTo>
                <a:lnTo>
                  <a:pt x="0" y="67505"/>
                </a:lnTo>
                <a:cubicBezTo>
                  <a:pt x="0" y="30248"/>
                  <a:pt x="30248" y="0"/>
                  <a:pt x="675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32502791" name="Shape 8"/>
          <p:cNvSpPr/>
          <p:nvPr/>
        </p:nvSpPr>
        <p:spPr bwMode="auto">
          <a:xfrm>
            <a:off x="480930" y="3077531"/>
            <a:ext cx="337495" cy="337495"/>
          </a:xfrm>
          <a:custGeom>
            <a:avLst/>
            <a:gdLst/>
            <a:ahLst/>
            <a:cxnLst/>
            <a:rect l="l" t="t" r="r" b="b"/>
            <a:pathLst>
              <a:path w="337495" h="337495" fill="norm" stroke="1" extrusionOk="0">
                <a:moveTo>
                  <a:pt x="168747" y="0"/>
                </a:moveTo>
                <a:lnTo>
                  <a:pt x="168747" y="0"/>
                </a:lnTo>
                <a:cubicBezTo>
                  <a:pt x="261882" y="0"/>
                  <a:pt x="337495" y="75613"/>
                  <a:pt x="337495" y="168747"/>
                </a:cubicBezTo>
                <a:lnTo>
                  <a:pt x="337495" y="168747"/>
                </a:lnTo>
                <a:cubicBezTo>
                  <a:pt x="337495" y="261882"/>
                  <a:pt x="261882" y="337495"/>
                  <a:pt x="168747" y="337495"/>
                </a:cubicBezTo>
                <a:lnTo>
                  <a:pt x="168747" y="337495"/>
                </a:lnTo>
                <a:cubicBezTo>
                  <a:pt x="75613" y="337495"/>
                  <a:pt x="0" y="261882"/>
                  <a:pt x="0" y="168747"/>
                </a:cubicBezTo>
                <a:lnTo>
                  <a:pt x="0" y="168747"/>
                </a:lnTo>
                <a:cubicBezTo>
                  <a:pt x="0" y="75613"/>
                  <a:pt x="75613" y="0"/>
                  <a:pt x="16874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642941603" name="Shape 9"/>
          <p:cNvSpPr/>
          <p:nvPr/>
        </p:nvSpPr>
        <p:spPr bwMode="auto">
          <a:xfrm>
            <a:off x="575851" y="3170342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 fill="norm" stroke="1" extrusionOk="0">
                <a:moveTo>
                  <a:pt x="75936" y="151873"/>
                </a:moveTo>
                <a:cubicBezTo>
                  <a:pt x="117847" y="151873"/>
                  <a:pt x="151873" y="117847"/>
                  <a:pt x="151873" y="75936"/>
                </a:cubicBezTo>
                <a:cubicBezTo>
                  <a:pt x="151873" y="34026"/>
                  <a:pt x="117847" y="0"/>
                  <a:pt x="75936" y="0"/>
                </a:cubicBezTo>
                <a:cubicBezTo>
                  <a:pt x="34026" y="0"/>
                  <a:pt x="0" y="34026"/>
                  <a:pt x="0" y="75936"/>
                </a:cubicBezTo>
                <a:cubicBezTo>
                  <a:pt x="0" y="117847"/>
                  <a:pt x="34026" y="151873"/>
                  <a:pt x="75936" y="151873"/>
                </a:cubicBezTo>
                <a:close/>
                <a:moveTo>
                  <a:pt x="100972" y="63092"/>
                </a:moveTo>
                <a:lnTo>
                  <a:pt x="77241" y="101061"/>
                </a:lnTo>
                <a:cubicBezTo>
                  <a:pt x="75996" y="103048"/>
                  <a:pt x="73860" y="104294"/>
                  <a:pt x="71517" y="104412"/>
                </a:cubicBezTo>
                <a:cubicBezTo>
                  <a:pt x="69173" y="104531"/>
                  <a:pt x="66919" y="103463"/>
                  <a:pt x="65525" y="101565"/>
                </a:cubicBezTo>
                <a:lnTo>
                  <a:pt x="51287" y="82581"/>
                </a:lnTo>
                <a:cubicBezTo>
                  <a:pt x="48914" y="79437"/>
                  <a:pt x="49566" y="74987"/>
                  <a:pt x="52710" y="72614"/>
                </a:cubicBezTo>
                <a:cubicBezTo>
                  <a:pt x="55855" y="70241"/>
                  <a:pt x="60304" y="70894"/>
                  <a:pt x="62677" y="74038"/>
                </a:cubicBezTo>
                <a:lnTo>
                  <a:pt x="70686" y="84716"/>
                </a:lnTo>
                <a:lnTo>
                  <a:pt x="88899" y="55558"/>
                </a:lnTo>
                <a:cubicBezTo>
                  <a:pt x="90975" y="52236"/>
                  <a:pt x="95365" y="51198"/>
                  <a:pt x="98717" y="53304"/>
                </a:cubicBezTo>
                <a:cubicBezTo>
                  <a:pt x="102069" y="55410"/>
                  <a:pt x="103078" y="59770"/>
                  <a:pt x="100972" y="6312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83497765" name="Text 10"/>
          <p:cNvSpPr/>
          <p:nvPr/>
        </p:nvSpPr>
        <p:spPr bwMode="auto">
          <a:xfrm>
            <a:off x="919673" y="3128155"/>
            <a:ext cx="97873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Deterministic</a:t>
            </a:r>
            <a:endParaRPr lang="en-US" sz="1600"/>
          </a:p>
        </p:txBody>
      </p:sp>
      <p:sp>
        <p:nvSpPr>
          <p:cNvPr id="1819597767" name="Text 11"/>
          <p:cNvSpPr/>
          <p:nvPr/>
        </p:nvSpPr>
        <p:spPr bwMode="auto">
          <a:xfrm>
            <a:off x="480930" y="3516274"/>
            <a:ext cx="3003704" cy="55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Одинаковый вход всегда производит одинаковый выход. Никакой недетерминированности.</a:t>
            </a:r>
            <a:endParaRPr lang="en-US" sz="1600"/>
          </a:p>
        </p:txBody>
      </p:sp>
      <p:sp>
        <p:nvSpPr>
          <p:cNvPr id="1003672319" name="Shape 12"/>
          <p:cNvSpPr/>
          <p:nvPr/>
        </p:nvSpPr>
        <p:spPr bwMode="auto">
          <a:xfrm>
            <a:off x="3698073" y="2938314"/>
            <a:ext cx="3214638" cy="1324667"/>
          </a:xfrm>
          <a:custGeom>
            <a:avLst/>
            <a:gdLst/>
            <a:ahLst/>
            <a:cxnLst/>
            <a:rect l="l" t="t" r="r" b="b"/>
            <a:pathLst>
              <a:path w="3214638" h="1324667" fill="norm" stroke="1" extrusionOk="0">
                <a:moveTo>
                  <a:pt x="67505" y="0"/>
                </a:moveTo>
                <a:lnTo>
                  <a:pt x="3147133" y="0"/>
                </a:lnTo>
                <a:cubicBezTo>
                  <a:pt x="3184415" y="0"/>
                  <a:pt x="3214638" y="30223"/>
                  <a:pt x="3214638" y="67505"/>
                </a:cubicBezTo>
                <a:lnTo>
                  <a:pt x="3214638" y="1257162"/>
                </a:lnTo>
                <a:cubicBezTo>
                  <a:pt x="3214638" y="1294444"/>
                  <a:pt x="3184415" y="1324667"/>
                  <a:pt x="3147133" y="1324667"/>
                </a:cubicBezTo>
                <a:lnTo>
                  <a:pt x="67505" y="1324667"/>
                </a:lnTo>
                <a:cubicBezTo>
                  <a:pt x="30223" y="1324667"/>
                  <a:pt x="0" y="1294444"/>
                  <a:pt x="0" y="1257162"/>
                </a:cubicBezTo>
                <a:lnTo>
                  <a:pt x="0" y="67505"/>
                </a:lnTo>
                <a:cubicBezTo>
                  <a:pt x="0" y="30248"/>
                  <a:pt x="30248" y="0"/>
                  <a:pt x="675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07788398" name="Shape 13"/>
          <p:cNvSpPr/>
          <p:nvPr/>
        </p:nvSpPr>
        <p:spPr bwMode="auto">
          <a:xfrm>
            <a:off x="3837290" y="3077531"/>
            <a:ext cx="337495" cy="337495"/>
          </a:xfrm>
          <a:custGeom>
            <a:avLst/>
            <a:gdLst/>
            <a:ahLst/>
            <a:cxnLst/>
            <a:rect l="l" t="t" r="r" b="b"/>
            <a:pathLst>
              <a:path w="337495" h="337495" fill="norm" stroke="1" extrusionOk="0">
                <a:moveTo>
                  <a:pt x="168747" y="0"/>
                </a:moveTo>
                <a:lnTo>
                  <a:pt x="168747" y="0"/>
                </a:lnTo>
                <a:cubicBezTo>
                  <a:pt x="261882" y="0"/>
                  <a:pt x="337495" y="75613"/>
                  <a:pt x="337495" y="168747"/>
                </a:cubicBezTo>
                <a:lnTo>
                  <a:pt x="337495" y="168747"/>
                </a:lnTo>
                <a:cubicBezTo>
                  <a:pt x="337495" y="261882"/>
                  <a:pt x="261882" y="337495"/>
                  <a:pt x="168747" y="337495"/>
                </a:cubicBezTo>
                <a:lnTo>
                  <a:pt x="168747" y="337495"/>
                </a:lnTo>
                <a:cubicBezTo>
                  <a:pt x="75613" y="337495"/>
                  <a:pt x="0" y="261882"/>
                  <a:pt x="0" y="168747"/>
                </a:cubicBezTo>
                <a:lnTo>
                  <a:pt x="0" y="168747"/>
                </a:lnTo>
                <a:cubicBezTo>
                  <a:pt x="0" y="75613"/>
                  <a:pt x="75613" y="0"/>
                  <a:pt x="16874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52060519" name="Shape 14"/>
          <p:cNvSpPr/>
          <p:nvPr/>
        </p:nvSpPr>
        <p:spPr bwMode="auto">
          <a:xfrm>
            <a:off x="3922718" y="3170342"/>
            <a:ext cx="170857" cy="151873"/>
          </a:xfrm>
          <a:custGeom>
            <a:avLst/>
            <a:gdLst/>
            <a:ahLst/>
            <a:cxnLst/>
            <a:rect l="l" t="t" r="r" b="b"/>
            <a:pathLst>
              <a:path w="170857" h="151873" fill="norm" stroke="1" extrusionOk="0">
                <a:moveTo>
                  <a:pt x="73148" y="111116"/>
                </a:moveTo>
                <a:lnTo>
                  <a:pt x="44672" y="139592"/>
                </a:lnTo>
                <a:cubicBezTo>
                  <a:pt x="40964" y="143300"/>
                  <a:pt x="34943" y="143300"/>
                  <a:pt x="31235" y="139592"/>
                </a:cubicBezTo>
                <a:lnTo>
                  <a:pt x="2759" y="111116"/>
                </a:lnTo>
                <a:cubicBezTo>
                  <a:pt x="-949" y="107408"/>
                  <a:pt x="-949" y="101387"/>
                  <a:pt x="2759" y="97679"/>
                </a:cubicBezTo>
                <a:cubicBezTo>
                  <a:pt x="6466" y="93971"/>
                  <a:pt x="12488" y="93971"/>
                  <a:pt x="16196" y="97679"/>
                </a:cubicBezTo>
                <a:lnTo>
                  <a:pt x="28476" y="109959"/>
                </a:lnTo>
                <a:lnTo>
                  <a:pt x="28476" y="18984"/>
                </a:lnTo>
                <a:cubicBezTo>
                  <a:pt x="28476" y="13734"/>
                  <a:pt x="32718" y="9492"/>
                  <a:pt x="37968" y="9492"/>
                </a:cubicBezTo>
                <a:cubicBezTo>
                  <a:pt x="43218" y="9492"/>
                  <a:pt x="47460" y="13734"/>
                  <a:pt x="47460" y="18984"/>
                </a:cubicBezTo>
                <a:lnTo>
                  <a:pt x="47460" y="109959"/>
                </a:lnTo>
                <a:lnTo>
                  <a:pt x="59741" y="97679"/>
                </a:lnTo>
                <a:cubicBezTo>
                  <a:pt x="63448" y="93971"/>
                  <a:pt x="69470" y="93971"/>
                  <a:pt x="73178" y="97679"/>
                </a:cubicBezTo>
                <a:cubicBezTo>
                  <a:pt x="76886" y="101387"/>
                  <a:pt x="76886" y="107408"/>
                  <a:pt x="73178" y="111116"/>
                </a:cubicBezTo>
                <a:close/>
                <a:moveTo>
                  <a:pt x="94920" y="142381"/>
                </a:moveTo>
                <a:cubicBezTo>
                  <a:pt x="89670" y="142381"/>
                  <a:pt x="85428" y="138139"/>
                  <a:pt x="85428" y="132889"/>
                </a:cubicBezTo>
                <a:cubicBezTo>
                  <a:pt x="85428" y="127638"/>
                  <a:pt x="89670" y="123397"/>
                  <a:pt x="94920" y="123397"/>
                </a:cubicBezTo>
                <a:lnTo>
                  <a:pt x="104412" y="123397"/>
                </a:lnTo>
                <a:cubicBezTo>
                  <a:pt x="109663" y="123397"/>
                  <a:pt x="113904" y="127638"/>
                  <a:pt x="113904" y="132889"/>
                </a:cubicBezTo>
                <a:cubicBezTo>
                  <a:pt x="113904" y="138139"/>
                  <a:pt x="109663" y="142381"/>
                  <a:pt x="104412" y="142381"/>
                </a:cubicBezTo>
                <a:lnTo>
                  <a:pt x="94920" y="142381"/>
                </a:lnTo>
                <a:close/>
                <a:moveTo>
                  <a:pt x="94920" y="104412"/>
                </a:moveTo>
                <a:cubicBezTo>
                  <a:pt x="89670" y="104412"/>
                  <a:pt x="85428" y="100171"/>
                  <a:pt x="85428" y="94920"/>
                </a:cubicBezTo>
                <a:cubicBezTo>
                  <a:pt x="85428" y="89670"/>
                  <a:pt x="89670" y="85428"/>
                  <a:pt x="94920" y="85428"/>
                </a:cubicBezTo>
                <a:lnTo>
                  <a:pt x="123397" y="85428"/>
                </a:lnTo>
                <a:cubicBezTo>
                  <a:pt x="128647" y="85428"/>
                  <a:pt x="132889" y="89670"/>
                  <a:pt x="132889" y="94920"/>
                </a:cubicBezTo>
                <a:cubicBezTo>
                  <a:pt x="132889" y="100171"/>
                  <a:pt x="128647" y="104412"/>
                  <a:pt x="123397" y="104412"/>
                </a:cubicBezTo>
                <a:lnTo>
                  <a:pt x="94920" y="104412"/>
                </a:lnTo>
                <a:close/>
                <a:moveTo>
                  <a:pt x="94920" y="66444"/>
                </a:moveTo>
                <a:cubicBezTo>
                  <a:pt x="89670" y="66444"/>
                  <a:pt x="85428" y="62203"/>
                  <a:pt x="85428" y="56952"/>
                </a:cubicBezTo>
                <a:cubicBezTo>
                  <a:pt x="85428" y="51702"/>
                  <a:pt x="89670" y="47460"/>
                  <a:pt x="94920" y="47460"/>
                </a:cubicBezTo>
                <a:lnTo>
                  <a:pt x="142381" y="47460"/>
                </a:lnTo>
                <a:cubicBezTo>
                  <a:pt x="147631" y="47460"/>
                  <a:pt x="151873" y="51702"/>
                  <a:pt x="151873" y="56952"/>
                </a:cubicBezTo>
                <a:cubicBezTo>
                  <a:pt x="151873" y="62203"/>
                  <a:pt x="147631" y="66444"/>
                  <a:pt x="142381" y="66444"/>
                </a:cubicBezTo>
                <a:lnTo>
                  <a:pt x="94920" y="66444"/>
                </a:lnTo>
                <a:close/>
                <a:moveTo>
                  <a:pt x="94920" y="28476"/>
                </a:moveTo>
                <a:cubicBezTo>
                  <a:pt x="89670" y="28476"/>
                  <a:pt x="85428" y="24234"/>
                  <a:pt x="85428" y="18984"/>
                </a:cubicBezTo>
                <a:cubicBezTo>
                  <a:pt x="85428" y="13734"/>
                  <a:pt x="89670" y="9492"/>
                  <a:pt x="94920" y="9492"/>
                </a:cubicBezTo>
                <a:lnTo>
                  <a:pt x="161365" y="9492"/>
                </a:lnTo>
                <a:cubicBezTo>
                  <a:pt x="166615" y="9492"/>
                  <a:pt x="170857" y="13734"/>
                  <a:pt x="170857" y="18984"/>
                </a:cubicBezTo>
                <a:cubicBezTo>
                  <a:pt x="170857" y="24234"/>
                  <a:pt x="166615" y="28476"/>
                  <a:pt x="161365" y="28476"/>
                </a:cubicBezTo>
                <a:lnTo>
                  <a:pt x="94920" y="2847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70328909" name="Text 15"/>
          <p:cNvSpPr/>
          <p:nvPr/>
        </p:nvSpPr>
        <p:spPr bwMode="auto">
          <a:xfrm>
            <a:off x="4276033" y="3128155"/>
            <a:ext cx="85217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Fixed Order</a:t>
            </a:r>
            <a:endParaRPr lang="en-US" sz="1600"/>
          </a:p>
        </p:txBody>
      </p:sp>
      <p:sp>
        <p:nvSpPr>
          <p:cNvPr id="215661844" name="Text 16"/>
          <p:cNvSpPr/>
          <p:nvPr/>
        </p:nvSpPr>
        <p:spPr bwMode="auto">
          <a:xfrm>
            <a:off x="3837290" y="3516274"/>
            <a:ext cx="3003704" cy="37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Фиксированный порядок выполнения правил. Compliance → Risk → Sanctions.</a:t>
            </a:r>
            <a:endParaRPr lang="en-US" sz="1600"/>
          </a:p>
        </p:txBody>
      </p:sp>
      <p:sp>
        <p:nvSpPr>
          <p:cNvPr id="802549787" name="Shape 17"/>
          <p:cNvSpPr/>
          <p:nvPr/>
        </p:nvSpPr>
        <p:spPr bwMode="auto">
          <a:xfrm>
            <a:off x="341713" y="4403253"/>
            <a:ext cx="3214638" cy="1139045"/>
          </a:xfrm>
          <a:custGeom>
            <a:avLst/>
            <a:gdLst/>
            <a:ahLst/>
            <a:cxnLst/>
            <a:rect l="l" t="t" r="r" b="b"/>
            <a:pathLst>
              <a:path w="3214638" h="1139045" fill="norm" stroke="1" extrusionOk="0">
                <a:moveTo>
                  <a:pt x="67500" y="0"/>
                </a:moveTo>
                <a:lnTo>
                  <a:pt x="3147138" y="0"/>
                </a:lnTo>
                <a:cubicBezTo>
                  <a:pt x="3184417" y="0"/>
                  <a:pt x="3214638" y="30221"/>
                  <a:pt x="3214638" y="67500"/>
                </a:cubicBezTo>
                <a:lnTo>
                  <a:pt x="3214638" y="1071545"/>
                </a:lnTo>
                <a:cubicBezTo>
                  <a:pt x="3214638" y="1108824"/>
                  <a:pt x="3184417" y="1139045"/>
                  <a:pt x="3147138" y="1139045"/>
                </a:cubicBezTo>
                <a:lnTo>
                  <a:pt x="67500" y="1139045"/>
                </a:lnTo>
                <a:cubicBezTo>
                  <a:pt x="30221" y="1139045"/>
                  <a:pt x="0" y="1108824"/>
                  <a:pt x="0" y="1071545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73705638" name="Shape 18"/>
          <p:cNvSpPr/>
          <p:nvPr/>
        </p:nvSpPr>
        <p:spPr bwMode="auto">
          <a:xfrm>
            <a:off x="480930" y="4542469"/>
            <a:ext cx="337495" cy="337495"/>
          </a:xfrm>
          <a:custGeom>
            <a:avLst/>
            <a:gdLst/>
            <a:ahLst/>
            <a:cxnLst/>
            <a:rect l="l" t="t" r="r" b="b"/>
            <a:pathLst>
              <a:path w="337495" h="337495" fill="norm" stroke="1" extrusionOk="0">
                <a:moveTo>
                  <a:pt x="168747" y="0"/>
                </a:moveTo>
                <a:lnTo>
                  <a:pt x="168747" y="0"/>
                </a:lnTo>
                <a:cubicBezTo>
                  <a:pt x="261882" y="0"/>
                  <a:pt x="337495" y="75613"/>
                  <a:pt x="337495" y="168747"/>
                </a:cubicBezTo>
                <a:lnTo>
                  <a:pt x="337495" y="168747"/>
                </a:lnTo>
                <a:cubicBezTo>
                  <a:pt x="337495" y="261882"/>
                  <a:pt x="261882" y="337495"/>
                  <a:pt x="168747" y="337495"/>
                </a:cubicBezTo>
                <a:lnTo>
                  <a:pt x="168747" y="337495"/>
                </a:lnTo>
                <a:cubicBezTo>
                  <a:pt x="75613" y="337495"/>
                  <a:pt x="0" y="261882"/>
                  <a:pt x="0" y="168747"/>
                </a:cubicBezTo>
                <a:lnTo>
                  <a:pt x="0" y="168747"/>
                </a:lnTo>
                <a:cubicBezTo>
                  <a:pt x="0" y="75613"/>
                  <a:pt x="75613" y="0"/>
                  <a:pt x="16874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952956693" name="Shape 19"/>
          <p:cNvSpPr/>
          <p:nvPr/>
        </p:nvSpPr>
        <p:spPr bwMode="auto">
          <a:xfrm>
            <a:off x="575851" y="4635280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 fill="norm" stroke="1" extrusionOk="0">
                <a:moveTo>
                  <a:pt x="129537" y="22158"/>
                </a:moveTo>
                <a:lnTo>
                  <a:pt x="132889" y="25332"/>
                </a:lnTo>
                <a:lnTo>
                  <a:pt x="132889" y="9492"/>
                </a:lnTo>
                <a:cubicBezTo>
                  <a:pt x="132889" y="4242"/>
                  <a:pt x="137130" y="0"/>
                  <a:pt x="142381" y="0"/>
                </a:cubicBezTo>
                <a:cubicBezTo>
                  <a:pt x="147631" y="0"/>
                  <a:pt x="151873" y="4242"/>
                  <a:pt x="151873" y="9492"/>
                </a:cubicBezTo>
                <a:lnTo>
                  <a:pt x="151873" y="47460"/>
                </a:lnTo>
                <a:cubicBezTo>
                  <a:pt x="151873" y="52710"/>
                  <a:pt x="147631" y="56952"/>
                  <a:pt x="142381" y="56952"/>
                </a:cubicBezTo>
                <a:lnTo>
                  <a:pt x="104412" y="56952"/>
                </a:lnTo>
                <a:cubicBezTo>
                  <a:pt x="99162" y="56952"/>
                  <a:pt x="94920" y="52710"/>
                  <a:pt x="94920" y="47460"/>
                </a:cubicBezTo>
                <a:cubicBezTo>
                  <a:pt x="94920" y="42210"/>
                  <a:pt x="99162" y="37968"/>
                  <a:pt x="104412" y="37968"/>
                </a:cubicBezTo>
                <a:lnTo>
                  <a:pt x="118621" y="37968"/>
                </a:lnTo>
                <a:lnTo>
                  <a:pt x="116366" y="35832"/>
                </a:lnTo>
                <a:cubicBezTo>
                  <a:pt x="116307" y="35773"/>
                  <a:pt x="116248" y="35714"/>
                  <a:pt x="116189" y="35654"/>
                </a:cubicBezTo>
                <a:cubicBezTo>
                  <a:pt x="93942" y="13408"/>
                  <a:pt x="57901" y="13408"/>
                  <a:pt x="35654" y="35654"/>
                </a:cubicBezTo>
                <a:cubicBezTo>
                  <a:pt x="13408" y="57901"/>
                  <a:pt x="13408" y="93942"/>
                  <a:pt x="35654" y="116189"/>
                </a:cubicBezTo>
                <a:cubicBezTo>
                  <a:pt x="57901" y="138435"/>
                  <a:pt x="93942" y="138435"/>
                  <a:pt x="116189" y="116189"/>
                </a:cubicBezTo>
                <a:cubicBezTo>
                  <a:pt x="118621" y="113756"/>
                  <a:pt x="120786" y="111176"/>
                  <a:pt x="122685" y="108447"/>
                </a:cubicBezTo>
                <a:cubicBezTo>
                  <a:pt x="125681" y="104145"/>
                  <a:pt x="131613" y="103107"/>
                  <a:pt x="135914" y="106103"/>
                </a:cubicBezTo>
                <a:cubicBezTo>
                  <a:pt x="140215" y="109099"/>
                  <a:pt x="141253" y="115032"/>
                  <a:pt x="138258" y="119333"/>
                </a:cubicBezTo>
                <a:cubicBezTo>
                  <a:pt x="135736" y="122952"/>
                  <a:pt x="132859" y="126392"/>
                  <a:pt x="129626" y="129626"/>
                </a:cubicBezTo>
                <a:cubicBezTo>
                  <a:pt x="99963" y="159288"/>
                  <a:pt x="51880" y="159288"/>
                  <a:pt x="22247" y="129626"/>
                </a:cubicBezTo>
                <a:cubicBezTo>
                  <a:pt x="-7386" y="99963"/>
                  <a:pt x="-7416" y="51910"/>
                  <a:pt x="22247" y="22247"/>
                </a:cubicBezTo>
                <a:cubicBezTo>
                  <a:pt x="51880" y="-7386"/>
                  <a:pt x="99874" y="-7416"/>
                  <a:pt x="129537" y="2215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90374787" name="Text 20"/>
          <p:cNvSpPr/>
          <p:nvPr/>
        </p:nvSpPr>
        <p:spPr bwMode="auto">
          <a:xfrm>
            <a:off x="919673" y="4593093"/>
            <a:ext cx="80998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Replayable</a:t>
            </a:r>
            <a:endParaRPr lang="en-US" sz="1600"/>
          </a:p>
        </p:txBody>
      </p:sp>
      <p:sp>
        <p:nvSpPr>
          <p:cNvPr id="1342360523" name="Text 21"/>
          <p:cNvSpPr/>
          <p:nvPr/>
        </p:nvSpPr>
        <p:spPr bwMode="auto">
          <a:xfrm>
            <a:off x="480930" y="4981212"/>
            <a:ext cx="3003704" cy="37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Любую транзакцию можно воспроизвести для аудита. Полная прослеживаемость.</a:t>
            </a:r>
            <a:endParaRPr lang="en-US" sz="1600"/>
          </a:p>
        </p:txBody>
      </p:sp>
      <p:sp>
        <p:nvSpPr>
          <p:cNvPr id="807883032" name="Shape 22"/>
          <p:cNvSpPr/>
          <p:nvPr/>
        </p:nvSpPr>
        <p:spPr bwMode="auto">
          <a:xfrm>
            <a:off x="3698073" y="4403253"/>
            <a:ext cx="3214638" cy="1139045"/>
          </a:xfrm>
          <a:custGeom>
            <a:avLst/>
            <a:gdLst/>
            <a:ahLst/>
            <a:cxnLst/>
            <a:rect l="l" t="t" r="r" b="b"/>
            <a:pathLst>
              <a:path w="3214638" h="1139045" fill="norm" stroke="1" extrusionOk="0">
                <a:moveTo>
                  <a:pt x="67500" y="0"/>
                </a:moveTo>
                <a:lnTo>
                  <a:pt x="3147138" y="0"/>
                </a:lnTo>
                <a:cubicBezTo>
                  <a:pt x="3184417" y="0"/>
                  <a:pt x="3214638" y="30221"/>
                  <a:pt x="3214638" y="67500"/>
                </a:cubicBezTo>
                <a:lnTo>
                  <a:pt x="3214638" y="1071545"/>
                </a:lnTo>
                <a:cubicBezTo>
                  <a:pt x="3214638" y="1108824"/>
                  <a:pt x="3184417" y="1139045"/>
                  <a:pt x="3147138" y="1139045"/>
                </a:cubicBezTo>
                <a:lnTo>
                  <a:pt x="67500" y="1139045"/>
                </a:lnTo>
                <a:cubicBezTo>
                  <a:pt x="30221" y="1139045"/>
                  <a:pt x="0" y="1108824"/>
                  <a:pt x="0" y="1071545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87688947" name="Shape 23"/>
          <p:cNvSpPr/>
          <p:nvPr/>
        </p:nvSpPr>
        <p:spPr bwMode="auto">
          <a:xfrm>
            <a:off x="3837290" y="4542469"/>
            <a:ext cx="337495" cy="337495"/>
          </a:xfrm>
          <a:custGeom>
            <a:avLst/>
            <a:gdLst/>
            <a:ahLst/>
            <a:cxnLst/>
            <a:rect l="l" t="t" r="r" b="b"/>
            <a:pathLst>
              <a:path w="337495" h="337495" fill="norm" stroke="1" extrusionOk="0">
                <a:moveTo>
                  <a:pt x="168747" y="0"/>
                </a:moveTo>
                <a:lnTo>
                  <a:pt x="168747" y="0"/>
                </a:lnTo>
                <a:cubicBezTo>
                  <a:pt x="261882" y="0"/>
                  <a:pt x="337495" y="75613"/>
                  <a:pt x="337495" y="168747"/>
                </a:cubicBezTo>
                <a:lnTo>
                  <a:pt x="337495" y="168747"/>
                </a:lnTo>
                <a:cubicBezTo>
                  <a:pt x="337495" y="261882"/>
                  <a:pt x="261882" y="337495"/>
                  <a:pt x="168747" y="337495"/>
                </a:cubicBezTo>
                <a:lnTo>
                  <a:pt x="168747" y="337495"/>
                </a:lnTo>
                <a:cubicBezTo>
                  <a:pt x="75613" y="337495"/>
                  <a:pt x="0" y="261882"/>
                  <a:pt x="0" y="168747"/>
                </a:cubicBezTo>
                <a:lnTo>
                  <a:pt x="0" y="168747"/>
                </a:lnTo>
                <a:cubicBezTo>
                  <a:pt x="0" y="75613"/>
                  <a:pt x="75613" y="0"/>
                  <a:pt x="16874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2029081246" name="Shape 24"/>
          <p:cNvSpPr/>
          <p:nvPr/>
        </p:nvSpPr>
        <p:spPr bwMode="auto">
          <a:xfrm>
            <a:off x="3951194" y="4635280"/>
            <a:ext cx="113904" cy="151873"/>
          </a:xfrm>
          <a:custGeom>
            <a:avLst/>
            <a:gdLst/>
            <a:ahLst/>
            <a:cxnLst/>
            <a:rect l="l" t="t" r="r" b="b"/>
            <a:pathLst>
              <a:path w="113904" h="151873" fill="norm" stroke="1" extrusionOk="0">
                <a:moveTo>
                  <a:pt x="37968" y="28476"/>
                </a:moveTo>
                <a:lnTo>
                  <a:pt x="37968" y="47460"/>
                </a:lnTo>
                <a:lnTo>
                  <a:pt x="75936" y="47460"/>
                </a:lnTo>
                <a:lnTo>
                  <a:pt x="75936" y="28476"/>
                </a:lnTo>
                <a:cubicBezTo>
                  <a:pt x="75936" y="18005"/>
                  <a:pt x="67423" y="9492"/>
                  <a:pt x="56952" y="9492"/>
                </a:cubicBezTo>
                <a:cubicBezTo>
                  <a:pt x="46481" y="9492"/>
                  <a:pt x="37968" y="18005"/>
                  <a:pt x="37968" y="28476"/>
                </a:cubicBezTo>
                <a:close/>
                <a:moveTo>
                  <a:pt x="18984" y="47460"/>
                </a:moveTo>
                <a:lnTo>
                  <a:pt x="18984" y="28476"/>
                </a:lnTo>
                <a:cubicBezTo>
                  <a:pt x="18984" y="7505"/>
                  <a:pt x="35981" y="-9492"/>
                  <a:pt x="56952" y="-9492"/>
                </a:cubicBezTo>
                <a:cubicBezTo>
                  <a:pt x="77924" y="-9492"/>
                  <a:pt x="94920" y="7505"/>
                  <a:pt x="94920" y="28476"/>
                </a:cubicBezTo>
                <a:lnTo>
                  <a:pt x="94920" y="47460"/>
                </a:lnTo>
                <a:cubicBezTo>
                  <a:pt x="105391" y="47460"/>
                  <a:pt x="113904" y="55973"/>
                  <a:pt x="113904" y="66444"/>
                </a:cubicBezTo>
                <a:lnTo>
                  <a:pt x="113904" y="132889"/>
                </a:lnTo>
                <a:cubicBezTo>
                  <a:pt x="113904" y="143359"/>
                  <a:pt x="105391" y="151873"/>
                  <a:pt x="94920" y="151873"/>
                </a:cubicBezTo>
                <a:lnTo>
                  <a:pt x="18984" y="151873"/>
                </a:lnTo>
                <a:cubicBezTo>
                  <a:pt x="8513" y="151873"/>
                  <a:pt x="0" y="143359"/>
                  <a:pt x="0" y="132889"/>
                </a:cubicBezTo>
                <a:lnTo>
                  <a:pt x="0" y="66444"/>
                </a:lnTo>
                <a:cubicBezTo>
                  <a:pt x="0" y="55973"/>
                  <a:pt x="8513" y="47460"/>
                  <a:pt x="18984" y="4746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94005029" name="Text 25"/>
          <p:cNvSpPr/>
          <p:nvPr/>
        </p:nvSpPr>
        <p:spPr bwMode="auto">
          <a:xfrm>
            <a:off x="4276033" y="4593093"/>
            <a:ext cx="793113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Immutable</a:t>
            </a:r>
            <a:endParaRPr lang="en-US" sz="1600"/>
          </a:p>
        </p:txBody>
      </p:sp>
      <p:sp>
        <p:nvSpPr>
          <p:cNvPr id="1544773406" name="Text 26"/>
          <p:cNvSpPr/>
          <p:nvPr/>
        </p:nvSpPr>
        <p:spPr bwMode="auto">
          <a:xfrm>
            <a:off x="3837290" y="4981212"/>
            <a:ext cx="3003704" cy="37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Конфигурации версионируются и неизменяемы. История изменений навсегда.</a:t>
            </a:r>
            <a:endParaRPr lang="en-US" sz="1600"/>
          </a:p>
        </p:txBody>
      </p:sp>
      <p:sp>
        <p:nvSpPr>
          <p:cNvPr id="192816484" name="Shape 27"/>
          <p:cNvSpPr/>
          <p:nvPr/>
        </p:nvSpPr>
        <p:spPr bwMode="auto">
          <a:xfrm>
            <a:off x="345932" y="5686788"/>
            <a:ext cx="6564274" cy="826862"/>
          </a:xfrm>
          <a:custGeom>
            <a:avLst/>
            <a:gdLst/>
            <a:ahLst/>
            <a:cxnLst/>
            <a:rect l="l" t="t" r="r" b="b"/>
            <a:pathLst>
              <a:path w="6564274" h="826862" fill="norm" stroke="1" extrusionOk="0">
                <a:moveTo>
                  <a:pt x="67497" y="0"/>
                </a:moveTo>
                <a:lnTo>
                  <a:pt x="6496777" y="0"/>
                </a:lnTo>
                <a:cubicBezTo>
                  <a:pt x="6534055" y="0"/>
                  <a:pt x="6564274" y="30219"/>
                  <a:pt x="6564274" y="67497"/>
                </a:cubicBezTo>
                <a:lnTo>
                  <a:pt x="6564274" y="759366"/>
                </a:lnTo>
                <a:cubicBezTo>
                  <a:pt x="6564274" y="796643"/>
                  <a:pt x="6534055" y="826862"/>
                  <a:pt x="6496777" y="826862"/>
                </a:cubicBezTo>
                <a:lnTo>
                  <a:pt x="67497" y="826862"/>
                </a:lnTo>
                <a:cubicBezTo>
                  <a:pt x="30219" y="826862"/>
                  <a:pt x="0" y="796643"/>
                  <a:pt x="0" y="759366"/>
                </a:cubicBezTo>
                <a:lnTo>
                  <a:pt x="0" y="67497"/>
                </a:lnTo>
                <a:cubicBezTo>
                  <a:pt x="0" y="30244"/>
                  <a:pt x="30244" y="0"/>
                  <a:pt x="6749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1582720484" name="Shape 28"/>
          <p:cNvSpPr/>
          <p:nvPr/>
        </p:nvSpPr>
        <p:spPr bwMode="auto">
          <a:xfrm>
            <a:off x="523117" y="5973658"/>
            <a:ext cx="253121" cy="253121"/>
          </a:xfrm>
          <a:custGeom>
            <a:avLst/>
            <a:gdLst/>
            <a:ahLst/>
            <a:cxnLst/>
            <a:rect l="l" t="t" r="r" b="b"/>
            <a:pathLst>
              <a:path w="253121" h="253121" fill="norm" stroke="1" extrusionOk="0">
                <a:moveTo>
                  <a:pt x="0" y="126561"/>
                </a:moveTo>
                <a:cubicBezTo>
                  <a:pt x="0" y="56710"/>
                  <a:pt x="56710" y="0"/>
                  <a:pt x="126561" y="0"/>
                </a:cubicBezTo>
                <a:cubicBezTo>
                  <a:pt x="196411" y="0"/>
                  <a:pt x="253121" y="56710"/>
                  <a:pt x="253121" y="126561"/>
                </a:cubicBezTo>
                <a:cubicBezTo>
                  <a:pt x="253121" y="196411"/>
                  <a:pt x="196411" y="253121"/>
                  <a:pt x="126561" y="253121"/>
                </a:cubicBezTo>
                <a:cubicBezTo>
                  <a:pt x="56710" y="253121"/>
                  <a:pt x="0" y="196411"/>
                  <a:pt x="0" y="126561"/>
                </a:cubicBezTo>
                <a:close/>
                <a:moveTo>
                  <a:pt x="142381" y="47460"/>
                </a:moveTo>
                <a:cubicBezTo>
                  <a:pt x="142381" y="38729"/>
                  <a:pt x="135292" y="31640"/>
                  <a:pt x="126561" y="31640"/>
                </a:cubicBezTo>
                <a:cubicBezTo>
                  <a:pt x="117829" y="31640"/>
                  <a:pt x="110740" y="38729"/>
                  <a:pt x="110740" y="47460"/>
                </a:cubicBezTo>
                <a:cubicBezTo>
                  <a:pt x="110740" y="56192"/>
                  <a:pt x="117829" y="63280"/>
                  <a:pt x="126561" y="63280"/>
                </a:cubicBezTo>
                <a:cubicBezTo>
                  <a:pt x="135292" y="63280"/>
                  <a:pt x="142381" y="56192"/>
                  <a:pt x="142381" y="47460"/>
                </a:cubicBezTo>
                <a:close/>
                <a:moveTo>
                  <a:pt x="126561" y="205661"/>
                </a:moveTo>
                <a:cubicBezTo>
                  <a:pt x="144012" y="205661"/>
                  <a:pt x="158201" y="191472"/>
                  <a:pt x="158201" y="174021"/>
                </a:cubicBezTo>
                <a:cubicBezTo>
                  <a:pt x="158201" y="166012"/>
                  <a:pt x="155234" y="158646"/>
                  <a:pt x="150291" y="153109"/>
                </a:cubicBezTo>
                <a:lnTo>
                  <a:pt x="184650" y="84440"/>
                </a:lnTo>
                <a:cubicBezTo>
                  <a:pt x="187567" y="78557"/>
                  <a:pt x="185194" y="71437"/>
                  <a:pt x="179360" y="68521"/>
                </a:cubicBezTo>
                <a:cubicBezTo>
                  <a:pt x="173526" y="65604"/>
                  <a:pt x="166358" y="67977"/>
                  <a:pt x="163441" y="73811"/>
                </a:cubicBezTo>
                <a:lnTo>
                  <a:pt x="129082" y="142479"/>
                </a:lnTo>
                <a:cubicBezTo>
                  <a:pt x="128241" y="142430"/>
                  <a:pt x="127401" y="142381"/>
                  <a:pt x="126561" y="142381"/>
                </a:cubicBezTo>
                <a:cubicBezTo>
                  <a:pt x="109109" y="142381"/>
                  <a:pt x="94920" y="156569"/>
                  <a:pt x="94920" y="174021"/>
                </a:cubicBezTo>
                <a:cubicBezTo>
                  <a:pt x="94920" y="191472"/>
                  <a:pt x="109109" y="205661"/>
                  <a:pt x="126561" y="205661"/>
                </a:cubicBezTo>
                <a:close/>
                <a:moveTo>
                  <a:pt x="87010" y="71190"/>
                </a:moveTo>
                <a:cubicBezTo>
                  <a:pt x="87010" y="62459"/>
                  <a:pt x="79922" y="55370"/>
                  <a:pt x="71190" y="55370"/>
                </a:cubicBezTo>
                <a:cubicBezTo>
                  <a:pt x="62459" y="55370"/>
                  <a:pt x="55370" y="62459"/>
                  <a:pt x="55370" y="71190"/>
                </a:cubicBezTo>
                <a:cubicBezTo>
                  <a:pt x="55370" y="79922"/>
                  <a:pt x="62459" y="87010"/>
                  <a:pt x="71190" y="87010"/>
                </a:cubicBezTo>
                <a:cubicBezTo>
                  <a:pt x="79922" y="87010"/>
                  <a:pt x="87010" y="79922"/>
                  <a:pt x="87010" y="71190"/>
                </a:cubicBezTo>
                <a:close/>
                <a:moveTo>
                  <a:pt x="47460" y="142381"/>
                </a:moveTo>
                <a:cubicBezTo>
                  <a:pt x="56192" y="142381"/>
                  <a:pt x="63280" y="135292"/>
                  <a:pt x="63280" y="126561"/>
                </a:cubicBezTo>
                <a:cubicBezTo>
                  <a:pt x="63280" y="117829"/>
                  <a:pt x="56192" y="110740"/>
                  <a:pt x="47460" y="110740"/>
                </a:cubicBezTo>
                <a:cubicBezTo>
                  <a:pt x="38729" y="110740"/>
                  <a:pt x="31640" y="117829"/>
                  <a:pt x="31640" y="126561"/>
                </a:cubicBezTo>
                <a:cubicBezTo>
                  <a:pt x="31640" y="135292"/>
                  <a:pt x="38729" y="142381"/>
                  <a:pt x="47460" y="142381"/>
                </a:cubicBezTo>
                <a:close/>
                <a:moveTo>
                  <a:pt x="221481" y="126561"/>
                </a:moveTo>
                <a:cubicBezTo>
                  <a:pt x="221481" y="117829"/>
                  <a:pt x="214392" y="110740"/>
                  <a:pt x="205661" y="110740"/>
                </a:cubicBezTo>
                <a:cubicBezTo>
                  <a:pt x="196930" y="110740"/>
                  <a:pt x="189841" y="117829"/>
                  <a:pt x="189841" y="126561"/>
                </a:cubicBezTo>
                <a:cubicBezTo>
                  <a:pt x="189841" y="135292"/>
                  <a:pt x="196930" y="142381"/>
                  <a:pt x="205661" y="142381"/>
                </a:cubicBezTo>
                <a:cubicBezTo>
                  <a:pt x="214392" y="142381"/>
                  <a:pt x="221481" y="135292"/>
                  <a:pt x="221481" y="12656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7891682" name="Text 29"/>
          <p:cNvSpPr/>
          <p:nvPr/>
        </p:nvSpPr>
        <p:spPr bwMode="auto">
          <a:xfrm>
            <a:off x="940767" y="5830222"/>
            <a:ext cx="181403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Целевой показатель latency</a:t>
            </a:r>
            <a:endParaRPr lang="en-US" sz="1600"/>
          </a:p>
        </p:txBody>
      </p:sp>
      <p:sp>
        <p:nvSpPr>
          <p:cNvPr id="457963284" name="Text 30"/>
          <p:cNvSpPr/>
          <p:nvPr/>
        </p:nvSpPr>
        <p:spPr bwMode="auto">
          <a:xfrm>
            <a:off x="940767" y="6066469"/>
            <a:ext cx="1873096" cy="30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&lt;200 мс</a:t>
            </a:r>
            <a:endParaRPr lang="en-US" sz="1600"/>
          </a:p>
        </p:txBody>
      </p:sp>
      <p:sp>
        <p:nvSpPr>
          <p:cNvPr id="2064891939" name="Text 31"/>
          <p:cNvSpPr/>
          <p:nvPr/>
        </p:nvSpPr>
        <p:spPr bwMode="auto">
          <a:xfrm>
            <a:off x="5339801" y="5897722"/>
            <a:ext cx="142591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на принятие решения</a:t>
            </a:r>
            <a:endParaRPr lang="en-US" sz="1600"/>
          </a:p>
        </p:txBody>
      </p:sp>
      <p:sp>
        <p:nvSpPr>
          <p:cNvPr id="634037913" name="Text 32"/>
          <p:cNvSpPr/>
          <p:nvPr/>
        </p:nvSpPr>
        <p:spPr bwMode="auto">
          <a:xfrm>
            <a:off x="5339801" y="6100219"/>
            <a:ext cx="142591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 транзакции</a:t>
            </a:r>
            <a:endParaRPr lang="en-US" sz="1600"/>
          </a:p>
        </p:txBody>
      </p:sp>
      <p:sp>
        <p:nvSpPr>
          <p:cNvPr id="824658033" name="Shape 33"/>
          <p:cNvSpPr/>
          <p:nvPr/>
        </p:nvSpPr>
        <p:spPr bwMode="auto">
          <a:xfrm>
            <a:off x="7121931" y="1354198"/>
            <a:ext cx="4733365" cy="5163671"/>
          </a:xfrm>
          <a:custGeom>
            <a:avLst/>
            <a:gdLst/>
            <a:ahLst/>
            <a:cxnLst/>
            <a:rect l="l" t="t" r="r" b="b"/>
            <a:pathLst>
              <a:path w="4733365" h="5163671" fill="norm" stroke="1" extrusionOk="0">
                <a:moveTo>
                  <a:pt x="67498" y="0"/>
                </a:moveTo>
                <a:lnTo>
                  <a:pt x="4665867" y="0"/>
                </a:lnTo>
                <a:cubicBezTo>
                  <a:pt x="4703145" y="0"/>
                  <a:pt x="4733365" y="30220"/>
                  <a:pt x="4733365" y="67498"/>
                </a:cubicBezTo>
                <a:lnTo>
                  <a:pt x="4733365" y="5096173"/>
                </a:lnTo>
                <a:cubicBezTo>
                  <a:pt x="4733365" y="5133451"/>
                  <a:pt x="4703145" y="5163671"/>
                  <a:pt x="4665867" y="5163671"/>
                </a:cubicBezTo>
                <a:lnTo>
                  <a:pt x="67498" y="5163671"/>
                </a:lnTo>
                <a:cubicBezTo>
                  <a:pt x="30220" y="5163671"/>
                  <a:pt x="0" y="5133451"/>
                  <a:pt x="0" y="5096173"/>
                </a:cubicBezTo>
                <a:lnTo>
                  <a:pt x="0" y="67498"/>
                </a:lnTo>
                <a:cubicBezTo>
                  <a:pt x="0" y="30220"/>
                  <a:pt x="30220" y="0"/>
                  <a:pt x="67498" y="0"/>
                </a:cubicBezTo>
                <a:close/>
              </a:path>
            </a:pathLst>
          </a:custGeom>
          <a:gradFill>
            <a:gsLst>
              <a:gs pos="0">
                <a:srgbClr val="4A5C6A">
                  <a:alpha val="30000"/>
                </a:srgbClr>
              </a:gs>
              <a:gs pos="100000">
                <a:srgbClr val="1A1D21">
                  <a:alpha val="50000"/>
                </a:srgbClr>
              </a:gs>
            </a:gsLst>
            <a:lin ang="2700000" scaled="1"/>
          </a:gradFill>
          <a:ln w="12700">
            <a:solidFill>
              <a:srgbClr val="C0A062">
                <a:alpha val="30195"/>
              </a:srgbClr>
            </a:solidFill>
            <a:prstDash val="solid"/>
          </a:ln>
        </p:spPr>
      </p:sp>
      <p:sp>
        <p:nvSpPr>
          <p:cNvPr id="185937772" name="Shape 34"/>
          <p:cNvSpPr/>
          <p:nvPr/>
        </p:nvSpPr>
        <p:spPr bwMode="auto">
          <a:xfrm>
            <a:off x="7315991" y="1560913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 fill="norm" stroke="1" extrusionOk="0">
                <a:moveTo>
                  <a:pt x="63280" y="21093"/>
                </a:moveTo>
                <a:cubicBezTo>
                  <a:pt x="63280" y="15260"/>
                  <a:pt x="67993" y="10547"/>
                  <a:pt x="73827" y="10547"/>
                </a:cubicBezTo>
                <a:lnTo>
                  <a:pt x="94920" y="10547"/>
                </a:lnTo>
                <a:cubicBezTo>
                  <a:pt x="100754" y="10547"/>
                  <a:pt x="105467" y="15260"/>
                  <a:pt x="105467" y="21093"/>
                </a:cubicBezTo>
                <a:lnTo>
                  <a:pt x="105467" y="42187"/>
                </a:lnTo>
                <a:cubicBezTo>
                  <a:pt x="105467" y="48021"/>
                  <a:pt x="100754" y="52734"/>
                  <a:pt x="94920" y="52734"/>
                </a:cubicBezTo>
                <a:lnTo>
                  <a:pt x="92284" y="52734"/>
                </a:lnTo>
                <a:lnTo>
                  <a:pt x="92284" y="73827"/>
                </a:lnTo>
                <a:lnTo>
                  <a:pt x="131834" y="73827"/>
                </a:lnTo>
                <a:cubicBezTo>
                  <a:pt x="144951" y="73827"/>
                  <a:pt x="155564" y="84440"/>
                  <a:pt x="155564" y="97557"/>
                </a:cubicBezTo>
                <a:lnTo>
                  <a:pt x="155564" y="116014"/>
                </a:lnTo>
                <a:lnTo>
                  <a:pt x="158201" y="116014"/>
                </a:lnTo>
                <a:cubicBezTo>
                  <a:pt x="164034" y="116014"/>
                  <a:pt x="168747" y="120727"/>
                  <a:pt x="168747" y="126561"/>
                </a:cubicBezTo>
                <a:lnTo>
                  <a:pt x="168747" y="147654"/>
                </a:lnTo>
                <a:cubicBezTo>
                  <a:pt x="168747" y="153488"/>
                  <a:pt x="164034" y="158201"/>
                  <a:pt x="158201" y="158201"/>
                </a:cubicBezTo>
                <a:lnTo>
                  <a:pt x="137107" y="158201"/>
                </a:lnTo>
                <a:cubicBezTo>
                  <a:pt x="131274" y="158201"/>
                  <a:pt x="126561" y="153488"/>
                  <a:pt x="126561" y="147654"/>
                </a:cubicBezTo>
                <a:lnTo>
                  <a:pt x="126561" y="126561"/>
                </a:lnTo>
                <a:cubicBezTo>
                  <a:pt x="126561" y="120727"/>
                  <a:pt x="131274" y="116014"/>
                  <a:pt x="137107" y="116014"/>
                </a:cubicBezTo>
                <a:lnTo>
                  <a:pt x="139744" y="116014"/>
                </a:lnTo>
                <a:lnTo>
                  <a:pt x="139744" y="97557"/>
                </a:lnTo>
                <a:cubicBezTo>
                  <a:pt x="139744" y="93174"/>
                  <a:pt x="136217" y="89647"/>
                  <a:pt x="131834" y="89647"/>
                </a:cubicBezTo>
                <a:lnTo>
                  <a:pt x="92284" y="89647"/>
                </a:lnTo>
                <a:lnTo>
                  <a:pt x="92284" y="116014"/>
                </a:lnTo>
                <a:lnTo>
                  <a:pt x="94920" y="116014"/>
                </a:lnTo>
                <a:cubicBezTo>
                  <a:pt x="100754" y="116014"/>
                  <a:pt x="105467" y="120727"/>
                  <a:pt x="105467" y="126561"/>
                </a:cubicBezTo>
                <a:lnTo>
                  <a:pt x="105467" y="147654"/>
                </a:lnTo>
                <a:cubicBezTo>
                  <a:pt x="105467" y="153488"/>
                  <a:pt x="100754" y="158201"/>
                  <a:pt x="94920" y="158201"/>
                </a:cubicBezTo>
                <a:lnTo>
                  <a:pt x="73827" y="158201"/>
                </a:lnTo>
                <a:cubicBezTo>
                  <a:pt x="67993" y="158201"/>
                  <a:pt x="63280" y="153488"/>
                  <a:pt x="63280" y="147654"/>
                </a:cubicBezTo>
                <a:lnTo>
                  <a:pt x="63280" y="126561"/>
                </a:lnTo>
                <a:cubicBezTo>
                  <a:pt x="63280" y="120727"/>
                  <a:pt x="67993" y="116014"/>
                  <a:pt x="73827" y="116014"/>
                </a:cubicBezTo>
                <a:lnTo>
                  <a:pt x="76464" y="116014"/>
                </a:lnTo>
                <a:lnTo>
                  <a:pt x="76464" y="89647"/>
                </a:lnTo>
                <a:lnTo>
                  <a:pt x="36913" y="89647"/>
                </a:lnTo>
                <a:cubicBezTo>
                  <a:pt x="32530" y="89647"/>
                  <a:pt x="29003" y="93174"/>
                  <a:pt x="29003" y="97557"/>
                </a:cubicBezTo>
                <a:lnTo>
                  <a:pt x="29003" y="116014"/>
                </a:lnTo>
                <a:lnTo>
                  <a:pt x="31640" y="116014"/>
                </a:lnTo>
                <a:cubicBezTo>
                  <a:pt x="37474" y="116014"/>
                  <a:pt x="42187" y="120727"/>
                  <a:pt x="42187" y="126561"/>
                </a:cubicBezTo>
                <a:lnTo>
                  <a:pt x="42187" y="147654"/>
                </a:lnTo>
                <a:cubicBezTo>
                  <a:pt x="42187" y="153488"/>
                  <a:pt x="37474" y="158201"/>
                  <a:pt x="31640" y="158201"/>
                </a:cubicBezTo>
                <a:lnTo>
                  <a:pt x="10547" y="158201"/>
                </a:lnTo>
                <a:cubicBezTo>
                  <a:pt x="4713" y="158201"/>
                  <a:pt x="0" y="153488"/>
                  <a:pt x="0" y="147654"/>
                </a:cubicBezTo>
                <a:lnTo>
                  <a:pt x="0" y="126561"/>
                </a:lnTo>
                <a:cubicBezTo>
                  <a:pt x="0" y="120727"/>
                  <a:pt x="4713" y="116014"/>
                  <a:pt x="10547" y="116014"/>
                </a:cubicBezTo>
                <a:lnTo>
                  <a:pt x="13183" y="116014"/>
                </a:lnTo>
                <a:lnTo>
                  <a:pt x="13183" y="97557"/>
                </a:lnTo>
                <a:cubicBezTo>
                  <a:pt x="13183" y="84440"/>
                  <a:pt x="23796" y="73827"/>
                  <a:pt x="36913" y="73827"/>
                </a:cubicBezTo>
                <a:lnTo>
                  <a:pt x="76464" y="73827"/>
                </a:lnTo>
                <a:lnTo>
                  <a:pt x="76464" y="52734"/>
                </a:lnTo>
                <a:lnTo>
                  <a:pt x="73827" y="52734"/>
                </a:lnTo>
                <a:cubicBezTo>
                  <a:pt x="67993" y="52734"/>
                  <a:pt x="63280" y="48021"/>
                  <a:pt x="63280" y="42187"/>
                </a:cubicBezTo>
                <a:lnTo>
                  <a:pt x="63280" y="2109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4197691" name="Text 35"/>
          <p:cNvSpPr/>
          <p:nvPr/>
        </p:nvSpPr>
        <p:spPr bwMode="auto">
          <a:xfrm>
            <a:off x="7505832" y="1527164"/>
            <a:ext cx="426087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Поток транзакции</a:t>
            </a:r>
            <a:endParaRPr lang="en-US" sz="1600"/>
          </a:p>
        </p:txBody>
      </p:sp>
      <p:sp>
        <p:nvSpPr>
          <p:cNvPr id="1643850270" name="Shape 36"/>
          <p:cNvSpPr/>
          <p:nvPr/>
        </p:nvSpPr>
        <p:spPr bwMode="auto">
          <a:xfrm>
            <a:off x="7299116" y="1906846"/>
            <a:ext cx="4378995" cy="818425"/>
          </a:xfrm>
          <a:custGeom>
            <a:avLst/>
            <a:gdLst/>
            <a:ahLst/>
            <a:cxnLst/>
            <a:rect l="l" t="t" r="r" b="b"/>
            <a:pathLst>
              <a:path w="4378995" h="818425" fill="norm" stroke="1" extrusionOk="0">
                <a:moveTo>
                  <a:pt x="67496" y="0"/>
                </a:moveTo>
                <a:lnTo>
                  <a:pt x="4311500" y="0"/>
                </a:lnTo>
                <a:cubicBezTo>
                  <a:pt x="4348776" y="0"/>
                  <a:pt x="4378995" y="30219"/>
                  <a:pt x="4378995" y="67496"/>
                </a:cubicBezTo>
                <a:lnTo>
                  <a:pt x="4378995" y="750929"/>
                </a:lnTo>
                <a:cubicBezTo>
                  <a:pt x="4378995" y="788206"/>
                  <a:pt x="4348776" y="818425"/>
                  <a:pt x="4311500" y="818425"/>
                </a:cubicBezTo>
                <a:lnTo>
                  <a:pt x="67496" y="818425"/>
                </a:lnTo>
                <a:cubicBezTo>
                  <a:pt x="30219" y="818425"/>
                  <a:pt x="0" y="788206"/>
                  <a:pt x="0" y="750929"/>
                </a:cubicBezTo>
                <a:lnTo>
                  <a:pt x="0" y="67496"/>
                </a:lnTo>
                <a:cubicBezTo>
                  <a:pt x="0" y="30219"/>
                  <a:pt x="30219" y="0"/>
                  <a:pt x="67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995226456" name="Shape 37"/>
          <p:cNvSpPr/>
          <p:nvPr/>
        </p:nvSpPr>
        <p:spPr bwMode="auto">
          <a:xfrm>
            <a:off x="7438333" y="2046062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 fill="norm" stroke="1" extrusionOk="0">
                <a:moveTo>
                  <a:pt x="134998" y="0"/>
                </a:moveTo>
                <a:lnTo>
                  <a:pt x="134998" y="0"/>
                </a:lnTo>
                <a:cubicBezTo>
                  <a:pt x="209555" y="0"/>
                  <a:pt x="269996" y="60441"/>
                  <a:pt x="269996" y="134998"/>
                </a:cubicBezTo>
                <a:lnTo>
                  <a:pt x="269996" y="134998"/>
                </a:lnTo>
                <a:cubicBezTo>
                  <a:pt x="269996" y="209555"/>
                  <a:pt x="209555" y="269996"/>
                  <a:pt x="134998" y="269996"/>
                </a:cubicBezTo>
                <a:lnTo>
                  <a:pt x="134998" y="269996"/>
                </a:lnTo>
                <a:cubicBezTo>
                  <a:pt x="60441" y="269996"/>
                  <a:pt x="0" y="209555"/>
                  <a:pt x="0" y="134998"/>
                </a:cubicBezTo>
                <a:lnTo>
                  <a:pt x="0" y="134998"/>
                </a:lnTo>
                <a:cubicBezTo>
                  <a:pt x="0" y="60441"/>
                  <a:pt x="60441" y="0"/>
                  <a:pt x="13499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009703396" name="Text 38"/>
          <p:cNvSpPr/>
          <p:nvPr/>
        </p:nvSpPr>
        <p:spPr bwMode="auto">
          <a:xfrm>
            <a:off x="7408802" y="2046062"/>
            <a:ext cx="32905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5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624201849" name="Text 39"/>
          <p:cNvSpPr/>
          <p:nvPr/>
        </p:nvSpPr>
        <p:spPr bwMode="auto">
          <a:xfrm>
            <a:off x="7809577" y="2079812"/>
            <a:ext cx="103779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Ingress Gateway</a:t>
            </a:r>
            <a:endParaRPr lang="en-US" sz="1600"/>
          </a:p>
        </p:txBody>
      </p:sp>
      <p:sp>
        <p:nvSpPr>
          <p:cNvPr id="1610113236" name="Text 40"/>
          <p:cNvSpPr/>
          <p:nvPr/>
        </p:nvSpPr>
        <p:spPr bwMode="auto">
          <a:xfrm>
            <a:off x="7809577" y="2383557"/>
            <a:ext cx="379681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Валидация, аутентификация, маршрутизация</a:t>
            </a:r>
            <a:endParaRPr lang="en-US" sz="1600"/>
          </a:p>
        </p:txBody>
      </p:sp>
      <p:sp>
        <p:nvSpPr>
          <p:cNvPr id="1092251063" name="Shape 41"/>
          <p:cNvSpPr/>
          <p:nvPr/>
        </p:nvSpPr>
        <p:spPr bwMode="auto">
          <a:xfrm>
            <a:off x="9424146" y="2830738"/>
            <a:ext cx="126561" cy="168747"/>
          </a:xfrm>
          <a:custGeom>
            <a:avLst/>
            <a:gdLst/>
            <a:ahLst/>
            <a:cxnLst/>
            <a:rect l="l" t="t" r="r" b="b"/>
            <a:pathLst>
              <a:path w="126561" h="168747" fill="norm" stroke="1" extrusionOk="0">
                <a:moveTo>
                  <a:pt x="55832" y="165649"/>
                </a:moveTo>
                <a:cubicBezTo>
                  <a:pt x="59951" y="169769"/>
                  <a:pt x="66642" y="169769"/>
                  <a:pt x="70762" y="165649"/>
                </a:cubicBezTo>
                <a:lnTo>
                  <a:pt x="123495" y="112916"/>
                </a:lnTo>
                <a:cubicBezTo>
                  <a:pt x="127615" y="108796"/>
                  <a:pt x="127615" y="102105"/>
                  <a:pt x="123495" y="97986"/>
                </a:cubicBezTo>
                <a:cubicBezTo>
                  <a:pt x="119376" y="93866"/>
                  <a:pt x="112685" y="93866"/>
                  <a:pt x="108565" y="97986"/>
                </a:cubicBezTo>
                <a:lnTo>
                  <a:pt x="73827" y="132724"/>
                </a:lnTo>
                <a:lnTo>
                  <a:pt x="73827" y="10547"/>
                </a:lnTo>
                <a:cubicBezTo>
                  <a:pt x="73827" y="4713"/>
                  <a:pt x="69114" y="0"/>
                  <a:pt x="63280" y="0"/>
                </a:cubicBezTo>
                <a:cubicBezTo>
                  <a:pt x="57447" y="0"/>
                  <a:pt x="52734" y="4713"/>
                  <a:pt x="52734" y="10547"/>
                </a:cubicBezTo>
                <a:lnTo>
                  <a:pt x="52734" y="132724"/>
                </a:lnTo>
                <a:lnTo>
                  <a:pt x="17995" y="97986"/>
                </a:lnTo>
                <a:cubicBezTo>
                  <a:pt x="13876" y="93866"/>
                  <a:pt x="7185" y="93866"/>
                  <a:pt x="3065" y="97986"/>
                </a:cubicBezTo>
                <a:cubicBezTo>
                  <a:pt x="-1055" y="102105"/>
                  <a:pt x="-1055" y="108796"/>
                  <a:pt x="3065" y="112916"/>
                </a:cubicBezTo>
                <a:lnTo>
                  <a:pt x="55799" y="16564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4272523" name="Shape 42"/>
          <p:cNvSpPr/>
          <p:nvPr/>
        </p:nvSpPr>
        <p:spPr bwMode="auto">
          <a:xfrm>
            <a:off x="7299116" y="3104952"/>
            <a:ext cx="4378995" cy="818425"/>
          </a:xfrm>
          <a:custGeom>
            <a:avLst/>
            <a:gdLst/>
            <a:ahLst/>
            <a:cxnLst/>
            <a:rect l="l" t="t" r="r" b="b"/>
            <a:pathLst>
              <a:path w="4378995" h="818425" fill="norm" stroke="1" extrusionOk="0">
                <a:moveTo>
                  <a:pt x="67496" y="0"/>
                </a:moveTo>
                <a:lnTo>
                  <a:pt x="4311500" y="0"/>
                </a:lnTo>
                <a:cubicBezTo>
                  <a:pt x="4348776" y="0"/>
                  <a:pt x="4378995" y="30219"/>
                  <a:pt x="4378995" y="67496"/>
                </a:cubicBezTo>
                <a:lnTo>
                  <a:pt x="4378995" y="750929"/>
                </a:lnTo>
                <a:cubicBezTo>
                  <a:pt x="4378995" y="788206"/>
                  <a:pt x="4348776" y="818425"/>
                  <a:pt x="4311500" y="818425"/>
                </a:cubicBezTo>
                <a:lnTo>
                  <a:pt x="67496" y="818425"/>
                </a:lnTo>
                <a:cubicBezTo>
                  <a:pt x="30219" y="818425"/>
                  <a:pt x="0" y="788206"/>
                  <a:pt x="0" y="750929"/>
                </a:cubicBezTo>
                <a:lnTo>
                  <a:pt x="0" y="67496"/>
                </a:lnTo>
                <a:cubicBezTo>
                  <a:pt x="0" y="30219"/>
                  <a:pt x="30219" y="0"/>
                  <a:pt x="67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163853814" name="Shape 43"/>
          <p:cNvSpPr/>
          <p:nvPr/>
        </p:nvSpPr>
        <p:spPr bwMode="auto">
          <a:xfrm>
            <a:off x="7438333" y="3244169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 fill="norm" stroke="1" extrusionOk="0">
                <a:moveTo>
                  <a:pt x="134998" y="0"/>
                </a:moveTo>
                <a:lnTo>
                  <a:pt x="134998" y="0"/>
                </a:lnTo>
                <a:cubicBezTo>
                  <a:pt x="209555" y="0"/>
                  <a:pt x="269996" y="60441"/>
                  <a:pt x="269996" y="134998"/>
                </a:cubicBezTo>
                <a:lnTo>
                  <a:pt x="269996" y="134998"/>
                </a:lnTo>
                <a:cubicBezTo>
                  <a:pt x="269996" y="209555"/>
                  <a:pt x="209555" y="269996"/>
                  <a:pt x="134998" y="269996"/>
                </a:cubicBezTo>
                <a:lnTo>
                  <a:pt x="134998" y="269996"/>
                </a:lnTo>
                <a:cubicBezTo>
                  <a:pt x="60441" y="269996"/>
                  <a:pt x="0" y="209555"/>
                  <a:pt x="0" y="134998"/>
                </a:cubicBezTo>
                <a:lnTo>
                  <a:pt x="0" y="134998"/>
                </a:lnTo>
                <a:cubicBezTo>
                  <a:pt x="0" y="60441"/>
                  <a:pt x="60441" y="0"/>
                  <a:pt x="13499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2558151" name="Text 44"/>
          <p:cNvSpPr/>
          <p:nvPr/>
        </p:nvSpPr>
        <p:spPr bwMode="auto">
          <a:xfrm>
            <a:off x="7408802" y="3244169"/>
            <a:ext cx="32905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5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344415050" name="Text 45"/>
          <p:cNvSpPr/>
          <p:nvPr/>
        </p:nvSpPr>
        <p:spPr bwMode="auto">
          <a:xfrm>
            <a:off x="7809577" y="3277918"/>
            <a:ext cx="112217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Compliance Layer</a:t>
            </a:r>
            <a:endParaRPr lang="en-US" sz="1600"/>
          </a:p>
        </p:txBody>
      </p:sp>
      <p:sp>
        <p:nvSpPr>
          <p:cNvPr id="541347692" name="Text 46"/>
          <p:cNvSpPr/>
          <p:nvPr/>
        </p:nvSpPr>
        <p:spPr bwMode="auto">
          <a:xfrm>
            <a:off x="7809577" y="3581664"/>
            <a:ext cx="379681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Sanctions, AML, KYC проверки</a:t>
            </a:r>
            <a:endParaRPr lang="en-US" sz="1600"/>
          </a:p>
        </p:txBody>
      </p:sp>
      <p:sp>
        <p:nvSpPr>
          <p:cNvPr id="1352860143" name="Shape 47"/>
          <p:cNvSpPr/>
          <p:nvPr/>
        </p:nvSpPr>
        <p:spPr bwMode="auto">
          <a:xfrm>
            <a:off x="9424146" y="4028844"/>
            <a:ext cx="126561" cy="168747"/>
          </a:xfrm>
          <a:custGeom>
            <a:avLst/>
            <a:gdLst/>
            <a:ahLst/>
            <a:cxnLst/>
            <a:rect l="l" t="t" r="r" b="b"/>
            <a:pathLst>
              <a:path w="126561" h="168747" fill="norm" stroke="1" extrusionOk="0">
                <a:moveTo>
                  <a:pt x="55832" y="165649"/>
                </a:moveTo>
                <a:cubicBezTo>
                  <a:pt x="59951" y="169769"/>
                  <a:pt x="66642" y="169769"/>
                  <a:pt x="70762" y="165649"/>
                </a:cubicBezTo>
                <a:lnTo>
                  <a:pt x="123495" y="112916"/>
                </a:lnTo>
                <a:cubicBezTo>
                  <a:pt x="127615" y="108796"/>
                  <a:pt x="127615" y="102105"/>
                  <a:pt x="123495" y="97986"/>
                </a:cubicBezTo>
                <a:cubicBezTo>
                  <a:pt x="119376" y="93866"/>
                  <a:pt x="112685" y="93866"/>
                  <a:pt x="108565" y="97986"/>
                </a:cubicBezTo>
                <a:lnTo>
                  <a:pt x="73827" y="132724"/>
                </a:lnTo>
                <a:lnTo>
                  <a:pt x="73827" y="10547"/>
                </a:lnTo>
                <a:cubicBezTo>
                  <a:pt x="73827" y="4713"/>
                  <a:pt x="69114" y="0"/>
                  <a:pt x="63280" y="0"/>
                </a:cubicBezTo>
                <a:cubicBezTo>
                  <a:pt x="57447" y="0"/>
                  <a:pt x="52734" y="4713"/>
                  <a:pt x="52734" y="10547"/>
                </a:cubicBezTo>
                <a:lnTo>
                  <a:pt x="52734" y="132724"/>
                </a:lnTo>
                <a:lnTo>
                  <a:pt x="17995" y="97986"/>
                </a:lnTo>
                <a:cubicBezTo>
                  <a:pt x="13876" y="93866"/>
                  <a:pt x="7185" y="93866"/>
                  <a:pt x="3065" y="97986"/>
                </a:cubicBezTo>
                <a:cubicBezTo>
                  <a:pt x="-1055" y="102105"/>
                  <a:pt x="-1055" y="108796"/>
                  <a:pt x="3065" y="112916"/>
                </a:cubicBezTo>
                <a:lnTo>
                  <a:pt x="55799" y="16564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79328251" name="Shape 48"/>
          <p:cNvSpPr/>
          <p:nvPr/>
        </p:nvSpPr>
        <p:spPr bwMode="auto">
          <a:xfrm>
            <a:off x="7299116" y="4303059"/>
            <a:ext cx="4378995" cy="818425"/>
          </a:xfrm>
          <a:custGeom>
            <a:avLst/>
            <a:gdLst/>
            <a:ahLst/>
            <a:cxnLst/>
            <a:rect l="l" t="t" r="r" b="b"/>
            <a:pathLst>
              <a:path w="4378995" h="818425" fill="norm" stroke="1" extrusionOk="0">
                <a:moveTo>
                  <a:pt x="67496" y="0"/>
                </a:moveTo>
                <a:lnTo>
                  <a:pt x="4311500" y="0"/>
                </a:lnTo>
                <a:cubicBezTo>
                  <a:pt x="4348776" y="0"/>
                  <a:pt x="4378995" y="30219"/>
                  <a:pt x="4378995" y="67496"/>
                </a:cubicBezTo>
                <a:lnTo>
                  <a:pt x="4378995" y="750929"/>
                </a:lnTo>
                <a:cubicBezTo>
                  <a:pt x="4378995" y="788206"/>
                  <a:pt x="4348776" y="818425"/>
                  <a:pt x="4311500" y="818425"/>
                </a:cubicBezTo>
                <a:lnTo>
                  <a:pt x="67496" y="818425"/>
                </a:lnTo>
                <a:cubicBezTo>
                  <a:pt x="30219" y="818425"/>
                  <a:pt x="0" y="788206"/>
                  <a:pt x="0" y="750929"/>
                </a:cubicBezTo>
                <a:lnTo>
                  <a:pt x="0" y="67496"/>
                </a:lnTo>
                <a:cubicBezTo>
                  <a:pt x="0" y="30219"/>
                  <a:pt x="30219" y="0"/>
                  <a:pt x="67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236171840" name="Shape 49"/>
          <p:cNvSpPr/>
          <p:nvPr/>
        </p:nvSpPr>
        <p:spPr bwMode="auto">
          <a:xfrm>
            <a:off x="7438333" y="4442275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 fill="norm" stroke="1" extrusionOk="0">
                <a:moveTo>
                  <a:pt x="134998" y="0"/>
                </a:moveTo>
                <a:lnTo>
                  <a:pt x="134998" y="0"/>
                </a:lnTo>
                <a:cubicBezTo>
                  <a:pt x="209555" y="0"/>
                  <a:pt x="269996" y="60441"/>
                  <a:pt x="269996" y="134998"/>
                </a:cubicBezTo>
                <a:lnTo>
                  <a:pt x="269996" y="134998"/>
                </a:lnTo>
                <a:cubicBezTo>
                  <a:pt x="269996" y="209555"/>
                  <a:pt x="209555" y="269996"/>
                  <a:pt x="134998" y="269996"/>
                </a:cubicBezTo>
                <a:lnTo>
                  <a:pt x="134998" y="269996"/>
                </a:lnTo>
                <a:cubicBezTo>
                  <a:pt x="60441" y="269996"/>
                  <a:pt x="0" y="209555"/>
                  <a:pt x="0" y="134998"/>
                </a:cubicBezTo>
                <a:lnTo>
                  <a:pt x="0" y="134998"/>
                </a:lnTo>
                <a:cubicBezTo>
                  <a:pt x="0" y="60441"/>
                  <a:pt x="60441" y="0"/>
                  <a:pt x="13499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4296629" name="Text 50"/>
          <p:cNvSpPr/>
          <p:nvPr/>
        </p:nvSpPr>
        <p:spPr bwMode="auto">
          <a:xfrm>
            <a:off x="7408802" y="4442275"/>
            <a:ext cx="32905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5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  <p:sp>
        <p:nvSpPr>
          <p:cNvPr id="1299792626" name="Text 51"/>
          <p:cNvSpPr/>
          <p:nvPr/>
        </p:nvSpPr>
        <p:spPr bwMode="auto">
          <a:xfrm>
            <a:off x="7809577" y="4476025"/>
            <a:ext cx="725614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Risk Engine</a:t>
            </a:r>
            <a:endParaRPr lang="en-US" sz="1600"/>
          </a:p>
        </p:txBody>
      </p:sp>
      <p:sp>
        <p:nvSpPr>
          <p:cNvPr id="386081826" name="Text 52"/>
          <p:cNvSpPr/>
          <p:nvPr/>
        </p:nvSpPr>
        <p:spPr bwMode="auto">
          <a:xfrm>
            <a:off x="7809577" y="4779770"/>
            <a:ext cx="379681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Оценка риска, лимиты, контрогенты</a:t>
            </a:r>
            <a:endParaRPr lang="en-US" sz="1600"/>
          </a:p>
        </p:txBody>
      </p:sp>
      <p:sp>
        <p:nvSpPr>
          <p:cNvPr id="1938323324" name="Shape 53"/>
          <p:cNvSpPr/>
          <p:nvPr/>
        </p:nvSpPr>
        <p:spPr bwMode="auto">
          <a:xfrm>
            <a:off x="9424146" y="5226951"/>
            <a:ext cx="126561" cy="168747"/>
          </a:xfrm>
          <a:custGeom>
            <a:avLst/>
            <a:gdLst/>
            <a:ahLst/>
            <a:cxnLst/>
            <a:rect l="l" t="t" r="r" b="b"/>
            <a:pathLst>
              <a:path w="126561" h="168747" fill="norm" stroke="1" extrusionOk="0">
                <a:moveTo>
                  <a:pt x="55832" y="165649"/>
                </a:moveTo>
                <a:cubicBezTo>
                  <a:pt x="59951" y="169769"/>
                  <a:pt x="66642" y="169769"/>
                  <a:pt x="70762" y="165649"/>
                </a:cubicBezTo>
                <a:lnTo>
                  <a:pt x="123495" y="112916"/>
                </a:lnTo>
                <a:cubicBezTo>
                  <a:pt x="127615" y="108796"/>
                  <a:pt x="127615" y="102105"/>
                  <a:pt x="123495" y="97986"/>
                </a:cubicBezTo>
                <a:cubicBezTo>
                  <a:pt x="119376" y="93866"/>
                  <a:pt x="112685" y="93866"/>
                  <a:pt x="108565" y="97986"/>
                </a:cubicBezTo>
                <a:lnTo>
                  <a:pt x="73827" y="132724"/>
                </a:lnTo>
                <a:lnTo>
                  <a:pt x="73827" y="10547"/>
                </a:lnTo>
                <a:cubicBezTo>
                  <a:pt x="73827" y="4713"/>
                  <a:pt x="69114" y="0"/>
                  <a:pt x="63280" y="0"/>
                </a:cubicBezTo>
                <a:cubicBezTo>
                  <a:pt x="57447" y="0"/>
                  <a:pt x="52734" y="4713"/>
                  <a:pt x="52734" y="10547"/>
                </a:cubicBezTo>
                <a:lnTo>
                  <a:pt x="52734" y="132724"/>
                </a:lnTo>
                <a:lnTo>
                  <a:pt x="17995" y="97986"/>
                </a:lnTo>
                <a:cubicBezTo>
                  <a:pt x="13876" y="93866"/>
                  <a:pt x="7185" y="93866"/>
                  <a:pt x="3065" y="97986"/>
                </a:cubicBezTo>
                <a:cubicBezTo>
                  <a:pt x="-1055" y="102105"/>
                  <a:pt x="-1055" y="108796"/>
                  <a:pt x="3065" y="112916"/>
                </a:cubicBezTo>
                <a:lnTo>
                  <a:pt x="55799" y="16564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33878613" name="Shape 54"/>
          <p:cNvSpPr/>
          <p:nvPr/>
        </p:nvSpPr>
        <p:spPr bwMode="auto">
          <a:xfrm>
            <a:off x="7303335" y="5505384"/>
            <a:ext cx="4370558" cy="826862"/>
          </a:xfrm>
          <a:custGeom>
            <a:avLst/>
            <a:gdLst/>
            <a:ahLst/>
            <a:cxnLst/>
            <a:rect l="l" t="t" r="r" b="b"/>
            <a:pathLst>
              <a:path w="4370558" h="826862" fill="norm" stroke="1" extrusionOk="0">
                <a:moveTo>
                  <a:pt x="67497" y="0"/>
                </a:moveTo>
                <a:lnTo>
                  <a:pt x="4303061" y="0"/>
                </a:lnTo>
                <a:cubicBezTo>
                  <a:pt x="4340338" y="0"/>
                  <a:pt x="4370558" y="30219"/>
                  <a:pt x="4370558" y="67497"/>
                </a:cubicBezTo>
                <a:lnTo>
                  <a:pt x="4370558" y="759366"/>
                </a:lnTo>
                <a:cubicBezTo>
                  <a:pt x="4370558" y="796643"/>
                  <a:pt x="4340338" y="826862"/>
                  <a:pt x="4303061" y="826862"/>
                </a:cubicBezTo>
                <a:lnTo>
                  <a:pt x="67497" y="826862"/>
                </a:lnTo>
                <a:cubicBezTo>
                  <a:pt x="30219" y="826862"/>
                  <a:pt x="0" y="796643"/>
                  <a:pt x="0" y="759366"/>
                </a:cubicBezTo>
                <a:lnTo>
                  <a:pt x="0" y="67497"/>
                </a:lnTo>
                <a:cubicBezTo>
                  <a:pt x="0" y="30244"/>
                  <a:pt x="30244" y="0"/>
                  <a:pt x="6749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599031720" name="Shape 55"/>
          <p:cNvSpPr/>
          <p:nvPr/>
        </p:nvSpPr>
        <p:spPr bwMode="auto">
          <a:xfrm>
            <a:off x="7446770" y="5648819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 fill="norm" stroke="1" extrusionOk="0">
                <a:moveTo>
                  <a:pt x="134998" y="0"/>
                </a:moveTo>
                <a:lnTo>
                  <a:pt x="134998" y="0"/>
                </a:lnTo>
                <a:cubicBezTo>
                  <a:pt x="209555" y="0"/>
                  <a:pt x="269996" y="60441"/>
                  <a:pt x="269996" y="134998"/>
                </a:cubicBezTo>
                <a:lnTo>
                  <a:pt x="269996" y="134998"/>
                </a:lnTo>
                <a:cubicBezTo>
                  <a:pt x="269996" y="209555"/>
                  <a:pt x="209555" y="269996"/>
                  <a:pt x="134998" y="269996"/>
                </a:cubicBezTo>
                <a:lnTo>
                  <a:pt x="134998" y="269996"/>
                </a:lnTo>
                <a:cubicBezTo>
                  <a:pt x="60441" y="269996"/>
                  <a:pt x="0" y="209555"/>
                  <a:pt x="0" y="134998"/>
                </a:cubicBezTo>
                <a:lnTo>
                  <a:pt x="0" y="134998"/>
                </a:lnTo>
                <a:cubicBezTo>
                  <a:pt x="0" y="60441"/>
                  <a:pt x="60441" y="0"/>
                  <a:pt x="13499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3594375" name="Text 56"/>
          <p:cNvSpPr/>
          <p:nvPr/>
        </p:nvSpPr>
        <p:spPr bwMode="auto">
          <a:xfrm>
            <a:off x="7417239" y="5648819"/>
            <a:ext cx="329057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5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600"/>
          </a:p>
        </p:txBody>
      </p:sp>
      <p:sp>
        <p:nvSpPr>
          <p:cNvPr id="1061199017" name="Text 57"/>
          <p:cNvSpPr/>
          <p:nvPr/>
        </p:nvSpPr>
        <p:spPr bwMode="auto">
          <a:xfrm>
            <a:off x="7818015" y="5682569"/>
            <a:ext cx="1510289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Decision &amp; Authorization</a:t>
            </a:r>
            <a:endParaRPr lang="en-US" sz="1600"/>
          </a:p>
        </p:txBody>
      </p:sp>
      <p:sp>
        <p:nvSpPr>
          <p:cNvPr id="251366932" name="Text 58"/>
          <p:cNvSpPr/>
          <p:nvPr/>
        </p:nvSpPr>
        <p:spPr bwMode="auto">
          <a:xfrm>
            <a:off x="7818015" y="5986314"/>
            <a:ext cx="3779942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APPROVE / DECLINE / REVIEW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907491" name="Shape 0"/>
          <p:cNvSpPr/>
          <p:nvPr/>
        </p:nvSpPr>
        <p:spPr bwMode="auto">
          <a:xfrm>
            <a:off x="317500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3104470" name="Text 1"/>
          <p:cNvSpPr/>
          <p:nvPr/>
        </p:nvSpPr>
        <p:spPr bwMode="auto">
          <a:xfrm>
            <a:off x="444500" y="3810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 spc="50">
                <a:solidFill>
                  <a:srgbClr val="C0A062"/>
                </a:solidFill>
                <a:latin typeface="Liter"/>
                <a:ea typeface="Liter"/>
                <a:cs typeface="Liter"/>
              </a:rPr>
              <a:t>ТЕХНИЧЕСКАЯ АРХИТЕКТУРА</a:t>
            </a:r>
            <a:endParaRPr lang="en-US" sz="1600"/>
          </a:p>
        </p:txBody>
      </p:sp>
      <p:sp>
        <p:nvSpPr>
          <p:cNvPr id="1977187028" name="Text 2"/>
          <p:cNvSpPr/>
          <p:nvPr/>
        </p:nvSpPr>
        <p:spPr bwMode="auto">
          <a:xfrm>
            <a:off x="317500" y="730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Высокопроизводительный Gateway</a:t>
            </a:r>
            <a:endParaRPr lang="en-US" sz="1600"/>
          </a:p>
        </p:txBody>
      </p:sp>
      <p:sp>
        <p:nvSpPr>
          <p:cNvPr id="459147422" name="Shape 3"/>
          <p:cNvSpPr/>
          <p:nvPr/>
        </p:nvSpPr>
        <p:spPr bwMode="auto">
          <a:xfrm>
            <a:off x="333375" y="1270000"/>
            <a:ext cx="6238875" cy="1809750"/>
          </a:xfrm>
          <a:custGeom>
            <a:avLst/>
            <a:gdLst/>
            <a:ahLst/>
            <a:cxnLst/>
            <a:rect l="l" t="t" r="r" b="b"/>
            <a:pathLst>
              <a:path w="6238875" h="1809750" fill="norm" stroke="1" extrusionOk="0">
                <a:moveTo>
                  <a:pt x="0" y="0"/>
                </a:moveTo>
                <a:lnTo>
                  <a:pt x="6175371" y="0"/>
                </a:lnTo>
                <a:cubicBezTo>
                  <a:pt x="6210443" y="0"/>
                  <a:pt x="6238875" y="28432"/>
                  <a:pt x="6238875" y="63504"/>
                </a:cubicBezTo>
                <a:lnTo>
                  <a:pt x="6238875" y="1746246"/>
                </a:lnTo>
                <a:cubicBezTo>
                  <a:pt x="6238875" y="1781318"/>
                  <a:pt x="6210443" y="1809750"/>
                  <a:pt x="6175371" y="1809750"/>
                </a:cubicBezTo>
                <a:lnTo>
                  <a:pt x="0" y="1809750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2040825529" name="Shape 4"/>
          <p:cNvSpPr/>
          <p:nvPr/>
        </p:nvSpPr>
        <p:spPr bwMode="auto">
          <a:xfrm>
            <a:off x="333375" y="1270000"/>
            <a:ext cx="31750" cy="1809750"/>
          </a:xfrm>
          <a:custGeom>
            <a:avLst/>
            <a:gdLst/>
            <a:ahLst/>
            <a:cxnLst/>
            <a:rect l="l" t="t" r="r" b="b"/>
            <a:pathLst>
              <a:path w="31750" h="1809750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1809750"/>
                </a:lnTo>
                <a:lnTo>
                  <a:pt x="0" y="180975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19729355" name="Shape 5"/>
          <p:cNvSpPr/>
          <p:nvPr/>
        </p:nvSpPr>
        <p:spPr bwMode="auto">
          <a:xfrm>
            <a:off x="508000" y="1428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060640517" name="Shape 6"/>
          <p:cNvSpPr/>
          <p:nvPr/>
        </p:nvSpPr>
        <p:spPr bwMode="auto">
          <a:xfrm>
            <a:off x="635000" y="155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942885761" name="Text 7"/>
          <p:cNvSpPr/>
          <p:nvPr/>
        </p:nvSpPr>
        <p:spPr bwMode="auto">
          <a:xfrm>
            <a:off x="1079500" y="1428750"/>
            <a:ext cx="541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6467"/>
                </a:solidFill>
                <a:latin typeface="Liter"/>
                <a:ea typeface="Liter"/>
                <a:cs typeface="Liter"/>
              </a:rPr>
              <a:t>Python запрещён в ingress</a:t>
            </a:r>
            <a:endParaRPr lang="en-US" sz="1600"/>
          </a:p>
        </p:txBody>
      </p:sp>
      <p:sp>
        <p:nvSpPr>
          <p:cNvPr id="1677099007" name="Text 8"/>
          <p:cNvSpPr/>
          <p:nvPr/>
        </p:nvSpPr>
        <p:spPr bwMode="auto">
          <a:xfrm>
            <a:off x="1079500" y="1714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 критическом пути обработки транзакций Python не используется по следующим причинам:</a:t>
            </a:r>
            <a:endParaRPr lang="en-US" sz="1600"/>
          </a:p>
        </p:txBody>
      </p:sp>
      <p:sp>
        <p:nvSpPr>
          <p:cNvPr id="540792880" name="Shape 9"/>
          <p:cNvSpPr/>
          <p:nvPr/>
        </p:nvSpPr>
        <p:spPr bwMode="auto">
          <a:xfrm>
            <a:off x="1109266" y="2254250"/>
            <a:ext cx="83343" cy="111125"/>
          </a:xfrm>
          <a:custGeom>
            <a:avLst/>
            <a:gdLst/>
            <a:ahLst/>
            <a:cxnLst/>
            <a:rect l="l" t="t" r="r" b="b"/>
            <a:pathLst>
              <a:path w="83344" h="111125" fill="norm" stroke="1" extrusionOk="0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581914307" name="Text 10"/>
          <p:cNvSpPr/>
          <p:nvPr/>
        </p:nvSpPr>
        <p:spPr bwMode="auto">
          <a:xfrm>
            <a:off x="1281906" y="2222500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Garbage collection latency spikes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непредсказуемые паузы</a:t>
            </a:r>
            <a:endParaRPr lang="en-US" sz="1600"/>
          </a:p>
        </p:txBody>
      </p:sp>
      <p:sp>
        <p:nvSpPr>
          <p:cNvPr id="297855184" name="Shape 11"/>
          <p:cNvSpPr/>
          <p:nvPr/>
        </p:nvSpPr>
        <p:spPr bwMode="auto">
          <a:xfrm>
            <a:off x="1109266" y="2508250"/>
            <a:ext cx="83343" cy="111125"/>
          </a:xfrm>
          <a:custGeom>
            <a:avLst/>
            <a:gdLst/>
            <a:ahLst/>
            <a:cxnLst/>
            <a:rect l="l" t="t" r="r" b="b"/>
            <a:pathLst>
              <a:path w="83344" h="111125" fill="norm" stroke="1" extrusionOk="0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07701266" name="Text 12"/>
          <p:cNvSpPr/>
          <p:nvPr/>
        </p:nvSpPr>
        <p:spPr bwMode="auto">
          <a:xfrm>
            <a:off x="1281906" y="2476500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Unpredictable pauses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нарушение real-time требований</a:t>
            </a:r>
            <a:endParaRPr lang="en-US" sz="1600"/>
          </a:p>
        </p:txBody>
      </p:sp>
      <p:sp>
        <p:nvSpPr>
          <p:cNvPr id="593130047" name="Shape 13"/>
          <p:cNvSpPr/>
          <p:nvPr/>
        </p:nvSpPr>
        <p:spPr bwMode="auto">
          <a:xfrm>
            <a:off x="1109266" y="2762250"/>
            <a:ext cx="83343" cy="111125"/>
          </a:xfrm>
          <a:custGeom>
            <a:avLst/>
            <a:gdLst/>
            <a:ahLst/>
            <a:cxnLst/>
            <a:rect l="l" t="t" r="r" b="b"/>
            <a:pathLst>
              <a:path w="83344" h="111125" fill="norm" stroke="1" extrusionOk="0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0058930" name="Text 14"/>
          <p:cNvSpPr/>
          <p:nvPr/>
        </p:nvSpPr>
        <p:spPr bwMode="auto">
          <a:xfrm>
            <a:off x="1281906" y="2730500"/>
            <a:ext cx="3595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Violation of banking SLA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невозможно гарантировать latency</a:t>
            </a:r>
            <a:endParaRPr lang="en-US" sz="1600"/>
          </a:p>
        </p:txBody>
      </p:sp>
      <p:sp>
        <p:nvSpPr>
          <p:cNvPr id="613439037" name="Shape 15"/>
          <p:cNvSpPr/>
          <p:nvPr/>
        </p:nvSpPr>
        <p:spPr bwMode="auto">
          <a:xfrm>
            <a:off x="333375" y="3206750"/>
            <a:ext cx="6238875" cy="1603375"/>
          </a:xfrm>
          <a:custGeom>
            <a:avLst/>
            <a:gdLst/>
            <a:ahLst/>
            <a:cxnLst/>
            <a:rect l="l" t="t" r="r" b="b"/>
            <a:pathLst>
              <a:path w="6238875" h="1603375" fill="norm" stroke="1" extrusionOk="0">
                <a:moveTo>
                  <a:pt x="0" y="0"/>
                </a:moveTo>
                <a:lnTo>
                  <a:pt x="6175381" y="0"/>
                </a:lnTo>
                <a:cubicBezTo>
                  <a:pt x="6210448" y="0"/>
                  <a:pt x="6238875" y="28427"/>
                  <a:pt x="6238875" y="63494"/>
                </a:cubicBezTo>
                <a:lnTo>
                  <a:pt x="6238875" y="1539881"/>
                </a:lnTo>
                <a:cubicBezTo>
                  <a:pt x="6238875" y="1574948"/>
                  <a:pt x="6210448" y="1603375"/>
                  <a:pt x="6175381" y="1603375"/>
                </a:cubicBezTo>
                <a:lnTo>
                  <a:pt x="0" y="1603375"/>
                </a:lnTo>
                <a:lnTo>
                  <a:pt x="0" y="0"/>
                </a:lnTo>
                <a:close/>
              </a:path>
            </a:pathLst>
          </a:custGeom>
          <a:solidFill>
            <a:srgbClr val="0D542B">
              <a:alpha val="20000"/>
            </a:srgbClr>
          </a:solidFill>
          <a:ln/>
        </p:spPr>
      </p:sp>
      <p:sp>
        <p:nvSpPr>
          <p:cNvPr id="1790741848" name="Shape 16"/>
          <p:cNvSpPr/>
          <p:nvPr/>
        </p:nvSpPr>
        <p:spPr bwMode="auto">
          <a:xfrm>
            <a:off x="333375" y="3206750"/>
            <a:ext cx="31750" cy="1603375"/>
          </a:xfrm>
          <a:custGeom>
            <a:avLst/>
            <a:gdLst/>
            <a:ahLst/>
            <a:cxnLst/>
            <a:rect l="l" t="t" r="r" b="b"/>
            <a:pathLst>
              <a:path w="31750" h="1603375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1603375"/>
                </a:lnTo>
                <a:lnTo>
                  <a:pt x="0" y="1603375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30708129" name="Shape 17"/>
          <p:cNvSpPr/>
          <p:nvPr/>
        </p:nvSpPr>
        <p:spPr bwMode="auto">
          <a:xfrm>
            <a:off x="508000" y="3365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232202328" name="Shape 18"/>
          <p:cNvSpPr/>
          <p:nvPr/>
        </p:nvSpPr>
        <p:spPr bwMode="auto">
          <a:xfrm>
            <a:off x="635000" y="349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267710341" name="Text 19"/>
          <p:cNvSpPr/>
          <p:nvPr/>
        </p:nvSpPr>
        <p:spPr bwMode="auto">
          <a:xfrm>
            <a:off x="1079500" y="3365500"/>
            <a:ext cx="446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05DF72"/>
                </a:solidFill>
                <a:latin typeface="Liter"/>
                <a:ea typeface="Liter"/>
                <a:cs typeface="Liter"/>
              </a:rPr>
              <a:t>Go / Rust Gateway</a:t>
            </a:r>
            <a:endParaRPr lang="en-US" sz="1600"/>
          </a:p>
        </p:txBody>
      </p:sp>
      <p:sp>
        <p:nvSpPr>
          <p:cNvPr id="1448053003" name="Text 20"/>
          <p:cNvSpPr/>
          <p:nvPr/>
        </p:nvSpPr>
        <p:spPr bwMode="auto">
          <a:xfrm>
            <a:off x="1079500" y="3651250"/>
            <a:ext cx="4445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Весь ingress path построен на компилируемых языках без garbage collector:</a:t>
            </a:r>
            <a:endParaRPr lang="en-US" sz="1600"/>
          </a:p>
        </p:txBody>
      </p:sp>
      <p:sp>
        <p:nvSpPr>
          <p:cNvPr id="333900815" name="Shape 21"/>
          <p:cNvSpPr/>
          <p:nvPr/>
        </p:nvSpPr>
        <p:spPr bwMode="auto">
          <a:xfrm>
            <a:off x="1102320" y="3984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 fill="norm" stroke="1" extrusionOk="0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53989554" name="Text 22"/>
          <p:cNvSpPr/>
          <p:nvPr/>
        </p:nvSpPr>
        <p:spPr bwMode="auto">
          <a:xfrm>
            <a:off x="1281906" y="395287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Deterministic performance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предсказуемое время отклика</a:t>
            </a:r>
            <a:endParaRPr lang="en-US" sz="1600"/>
          </a:p>
        </p:txBody>
      </p:sp>
      <p:sp>
        <p:nvSpPr>
          <p:cNvPr id="1454794037" name="Shape 23"/>
          <p:cNvSpPr/>
          <p:nvPr/>
        </p:nvSpPr>
        <p:spPr bwMode="auto">
          <a:xfrm>
            <a:off x="1102320" y="4238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 fill="norm" stroke="1" extrusionOk="0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257356660" name="Text 24"/>
          <p:cNvSpPr/>
          <p:nvPr/>
        </p:nvSpPr>
        <p:spPr bwMode="auto">
          <a:xfrm>
            <a:off x="1281906" y="420687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Zero GC pauses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непрерывная обработка</a:t>
            </a:r>
            <a:endParaRPr lang="en-US" sz="1600"/>
          </a:p>
        </p:txBody>
      </p:sp>
      <p:sp>
        <p:nvSpPr>
          <p:cNvPr id="1758788079" name="Shape 25"/>
          <p:cNvSpPr/>
          <p:nvPr/>
        </p:nvSpPr>
        <p:spPr bwMode="auto">
          <a:xfrm>
            <a:off x="1102320" y="4492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 fill="norm" stroke="1" extrusionOk="0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56727175" name="Text 26"/>
          <p:cNvSpPr/>
          <p:nvPr/>
        </p:nvSpPr>
        <p:spPr bwMode="auto">
          <a:xfrm>
            <a:off x="1281906" y="4460875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Memory safety</a:t>
            </a: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— безопасность без runtime overhead</a:t>
            </a:r>
            <a:endParaRPr lang="en-US" sz="1600"/>
          </a:p>
        </p:txBody>
      </p:sp>
      <p:sp>
        <p:nvSpPr>
          <p:cNvPr id="630025824" name="Shape 27"/>
          <p:cNvSpPr/>
          <p:nvPr/>
        </p:nvSpPr>
        <p:spPr bwMode="auto">
          <a:xfrm>
            <a:off x="321469" y="4941094"/>
            <a:ext cx="3055938" cy="738188"/>
          </a:xfrm>
          <a:custGeom>
            <a:avLst/>
            <a:gdLst/>
            <a:ahLst/>
            <a:cxnLst/>
            <a:rect l="l" t="t" r="r" b="b"/>
            <a:pathLst>
              <a:path w="3055938" h="738188" fill="norm" stroke="1" extrusionOk="0">
                <a:moveTo>
                  <a:pt x="63499" y="0"/>
                </a:moveTo>
                <a:lnTo>
                  <a:pt x="2992439" y="0"/>
                </a:lnTo>
                <a:cubicBezTo>
                  <a:pt x="3027508" y="0"/>
                  <a:pt x="3055938" y="28429"/>
                  <a:pt x="3055938" y="63499"/>
                </a:cubicBezTo>
                <a:lnTo>
                  <a:pt x="3055938" y="674689"/>
                </a:lnTo>
                <a:cubicBezTo>
                  <a:pt x="3055938" y="709758"/>
                  <a:pt x="3027508" y="738188"/>
                  <a:pt x="2992439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20156061" name="Shape 28"/>
          <p:cNvSpPr/>
          <p:nvPr/>
        </p:nvSpPr>
        <p:spPr bwMode="auto">
          <a:xfrm>
            <a:off x="472281" y="5103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27538214" name="Text 29"/>
          <p:cNvSpPr/>
          <p:nvPr/>
        </p:nvSpPr>
        <p:spPr bwMode="auto">
          <a:xfrm flipH="0" flipV="0">
            <a:off x="746124" y="5072062"/>
            <a:ext cx="1135062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Authentication</a:t>
            </a:r>
            <a:endParaRPr lang="en-US" sz="1600"/>
          </a:p>
        </p:txBody>
      </p:sp>
      <p:sp>
        <p:nvSpPr>
          <p:cNvPr id="374460543" name="Text 30"/>
          <p:cNvSpPr/>
          <p:nvPr/>
        </p:nvSpPr>
        <p:spPr bwMode="auto">
          <a:xfrm>
            <a:off x="452438" y="5357813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Валидация токенов, сертификатов, E-IMZO</a:t>
            </a:r>
            <a:endParaRPr lang="en-US" sz="1600"/>
          </a:p>
        </p:txBody>
      </p:sp>
      <p:sp>
        <p:nvSpPr>
          <p:cNvPr id="1246628660" name="Shape 31"/>
          <p:cNvSpPr/>
          <p:nvPr/>
        </p:nvSpPr>
        <p:spPr bwMode="auto">
          <a:xfrm>
            <a:off x="3510731" y="4941094"/>
            <a:ext cx="3055938" cy="738188"/>
          </a:xfrm>
          <a:custGeom>
            <a:avLst/>
            <a:gdLst/>
            <a:ahLst/>
            <a:cxnLst/>
            <a:rect l="l" t="t" r="r" b="b"/>
            <a:pathLst>
              <a:path w="3055938" h="738188" fill="norm" stroke="1" extrusionOk="0">
                <a:moveTo>
                  <a:pt x="63499" y="0"/>
                </a:moveTo>
                <a:lnTo>
                  <a:pt x="2992439" y="0"/>
                </a:lnTo>
                <a:cubicBezTo>
                  <a:pt x="3027508" y="0"/>
                  <a:pt x="3055938" y="28429"/>
                  <a:pt x="3055938" y="63499"/>
                </a:cubicBezTo>
                <a:lnTo>
                  <a:pt x="3055938" y="674689"/>
                </a:lnTo>
                <a:cubicBezTo>
                  <a:pt x="3055938" y="709758"/>
                  <a:pt x="3027508" y="738188"/>
                  <a:pt x="2992439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70456396" name="Shape 32"/>
          <p:cNvSpPr/>
          <p:nvPr/>
        </p:nvSpPr>
        <p:spPr bwMode="auto">
          <a:xfrm>
            <a:off x="3661544" y="5103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158750" y="29766"/>
                </a:moveTo>
                <a:cubicBezTo>
                  <a:pt x="158750" y="45331"/>
                  <a:pt x="140426" y="68554"/>
                  <a:pt x="132519" y="77825"/>
                </a:cubicBezTo>
                <a:cubicBezTo>
                  <a:pt x="131341" y="79189"/>
                  <a:pt x="129604" y="79716"/>
                  <a:pt x="128023" y="79375"/>
                </a:cubicBezTo>
                <a:lnTo>
                  <a:pt x="99219" y="79375"/>
                </a:lnTo>
                <a:cubicBezTo>
                  <a:pt x="93731" y="79375"/>
                  <a:pt x="89297" y="83809"/>
                  <a:pt x="89297" y="89297"/>
                </a:cubicBezTo>
                <a:cubicBezTo>
                  <a:pt x="89297" y="94785"/>
                  <a:pt x="93731" y="99219"/>
                  <a:pt x="99219" y="99219"/>
                </a:cubicBezTo>
                <a:lnTo>
                  <a:pt x="128984" y="99219"/>
                </a:lnTo>
                <a:cubicBezTo>
                  <a:pt x="145417" y="99219"/>
                  <a:pt x="158750" y="112551"/>
                  <a:pt x="158750" y="128984"/>
                </a:cubicBezTo>
                <a:cubicBezTo>
                  <a:pt x="158750" y="145417"/>
                  <a:pt x="145417" y="158750"/>
                  <a:pt x="128984" y="158750"/>
                </a:cubicBezTo>
                <a:lnTo>
                  <a:pt x="43284" y="158750"/>
                </a:lnTo>
                <a:cubicBezTo>
                  <a:pt x="45982" y="155680"/>
                  <a:pt x="49268" y="151743"/>
                  <a:pt x="52586" y="147340"/>
                </a:cubicBezTo>
                <a:cubicBezTo>
                  <a:pt x="54539" y="144735"/>
                  <a:pt x="56555" y="141883"/>
                  <a:pt x="58477" y="138906"/>
                </a:cubicBezTo>
                <a:lnTo>
                  <a:pt x="128984" y="138906"/>
                </a:lnTo>
                <a:cubicBezTo>
                  <a:pt x="134472" y="138906"/>
                  <a:pt x="138906" y="134472"/>
                  <a:pt x="138906" y="128984"/>
                </a:cubicBezTo>
                <a:cubicBezTo>
                  <a:pt x="138906" y="123496"/>
                  <a:pt x="134472" y="119062"/>
                  <a:pt x="128984" y="119062"/>
                </a:cubicBezTo>
                <a:lnTo>
                  <a:pt x="99219" y="119062"/>
                </a:lnTo>
                <a:cubicBezTo>
                  <a:pt x="82786" y="119062"/>
                  <a:pt x="69453" y="105730"/>
                  <a:pt x="69453" y="89297"/>
                </a:cubicBezTo>
                <a:cubicBezTo>
                  <a:pt x="69453" y="72864"/>
                  <a:pt x="82786" y="59531"/>
                  <a:pt x="99219" y="59531"/>
                </a:cubicBezTo>
                <a:lnTo>
                  <a:pt x="111559" y="59531"/>
                </a:lnTo>
                <a:cubicBezTo>
                  <a:pt x="105048" y="49764"/>
                  <a:pt x="99219" y="38540"/>
                  <a:pt x="99219" y="29766"/>
                </a:cubicBezTo>
                <a:cubicBezTo>
                  <a:pt x="99219" y="13333"/>
                  <a:pt x="112551" y="0"/>
                  <a:pt x="128984" y="0"/>
                </a:cubicBezTo>
                <a:cubicBezTo>
                  <a:pt x="145417" y="0"/>
                  <a:pt x="158750" y="13333"/>
                  <a:pt x="158750" y="29766"/>
                </a:cubicBezTo>
                <a:close/>
                <a:moveTo>
                  <a:pt x="36308" y="151650"/>
                </a:moveTo>
                <a:cubicBezTo>
                  <a:pt x="35130" y="152983"/>
                  <a:pt x="34075" y="154161"/>
                  <a:pt x="33176" y="155153"/>
                </a:cubicBezTo>
                <a:lnTo>
                  <a:pt x="32618" y="155773"/>
                </a:lnTo>
                <a:lnTo>
                  <a:pt x="32556" y="155711"/>
                </a:lnTo>
                <a:cubicBezTo>
                  <a:pt x="30696" y="157138"/>
                  <a:pt x="28029" y="156952"/>
                  <a:pt x="26355" y="155153"/>
                </a:cubicBezTo>
                <a:cubicBezTo>
                  <a:pt x="18542" y="146658"/>
                  <a:pt x="0" y="124799"/>
                  <a:pt x="0" y="109141"/>
                </a:cubicBezTo>
                <a:cubicBezTo>
                  <a:pt x="0" y="92708"/>
                  <a:pt x="13333" y="79375"/>
                  <a:pt x="29766" y="79375"/>
                </a:cubicBezTo>
                <a:cubicBezTo>
                  <a:pt x="46199" y="79375"/>
                  <a:pt x="59531" y="92708"/>
                  <a:pt x="59531" y="109141"/>
                </a:cubicBezTo>
                <a:cubicBezTo>
                  <a:pt x="59531" y="118442"/>
                  <a:pt x="52989" y="129915"/>
                  <a:pt x="46044" y="139495"/>
                </a:cubicBezTo>
                <a:cubicBezTo>
                  <a:pt x="42726" y="144053"/>
                  <a:pt x="39315" y="148177"/>
                  <a:pt x="36494" y="151433"/>
                </a:cubicBezTo>
                <a:lnTo>
                  <a:pt x="36308" y="151650"/>
                </a:lnTo>
                <a:close/>
                <a:moveTo>
                  <a:pt x="39688" y="109141"/>
                </a:moveTo>
                <a:cubicBezTo>
                  <a:pt x="39688" y="103665"/>
                  <a:pt x="35242" y="99219"/>
                  <a:pt x="29766" y="99219"/>
                </a:cubicBezTo>
                <a:cubicBezTo>
                  <a:pt x="24290" y="99219"/>
                  <a:pt x="19844" y="103665"/>
                  <a:pt x="19844" y="109141"/>
                </a:cubicBezTo>
                <a:cubicBezTo>
                  <a:pt x="19844" y="114617"/>
                  <a:pt x="24290" y="119062"/>
                  <a:pt x="29766" y="119062"/>
                </a:cubicBezTo>
                <a:cubicBezTo>
                  <a:pt x="35242" y="119062"/>
                  <a:pt x="39688" y="114617"/>
                  <a:pt x="39688" y="109141"/>
                </a:cubicBezTo>
                <a:close/>
                <a:moveTo>
                  <a:pt x="128984" y="39688"/>
                </a:moveTo>
                <a:cubicBezTo>
                  <a:pt x="134460" y="39688"/>
                  <a:pt x="138906" y="35242"/>
                  <a:pt x="138906" y="29766"/>
                </a:cubicBezTo>
                <a:cubicBezTo>
                  <a:pt x="138906" y="24290"/>
                  <a:pt x="134460" y="19844"/>
                  <a:pt x="128984" y="19844"/>
                </a:cubicBezTo>
                <a:cubicBezTo>
                  <a:pt x="123508" y="19844"/>
                  <a:pt x="119062" y="24290"/>
                  <a:pt x="119062" y="29766"/>
                </a:cubicBezTo>
                <a:cubicBezTo>
                  <a:pt x="119062" y="35242"/>
                  <a:pt x="123508" y="39688"/>
                  <a:pt x="128984" y="3968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94703703" name="Text 33"/>
          <p:cNvSpPr/>
          <p:nvPr/>
        </p:nvSpPr>
        <p:spPr bwMode="auto">
          <a:xfrm>
            <a:off x="3935388" y="5072063"/>
            <a:ext cx="56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Routing</a:t>
            </a:r>
            <a:endParaRPr lang="en-US" sz="1600"/>
          </a:p>
        </p:txBody>
      </p:sp>
      <p:sp>
        <p:nvSpPr>
          <p:cNvPr id="1193052413" name="Text 34"/>
          <p:cNvSpPr/>
          <p:nvPr/>
        </p:nvSpPr>
        <p:spPr bwMode="auto">
          <a:xfrm>
            <a:off x="3641700" y="5357813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Интеллектуальная маршрутизация запросов</a:t>
            </a:r>
            <a:endParaRPr lang="en-US" sz="1600"/>
          </a:p>
        </p:txBody>
      </p:sp>
      <p:sp>
        <p:nvSpPr>
          <p:cNvPr id="1675753269" name="Shape 35"/>
          <p:cNvSpPr/>
          <p:nvPr/>
        </p:nvSpPr>
        <p:spPr bwMode="auto">
          <a:xfrm>
            <a:off x="321469" y="5814219"/>
            <a:ext cx="3055938" cy="738188"/>
          </a:xfrm>
          <a:custGeom>
            <a:avLst/>
            <a:gdLst/>
            <a:ahLst/>
            <a:cxnLst/>
            <a:rect l="l" t="t" r="r" b="b"/>
            <a:pathLst>
              <a:path w="3055938" h="738188" fill="norm" stroke="1" extrusionOk="0">
                <a:moveTo>
                  <a:pt x="63499" y="0"/>
                </a:moveTo>
                <a:lnTo>
                  <a:pt x="2992439" y="0"/>
                </a:lnTo>
                <a:cubicBezTo>
                  <a:pt x="3027508" y="0"/>
                  <a:pt x="3055938" y="28429"/>
                  <a:pt x="3055938" y="63499"/>
                </a:cubicBezTo>
                <a:lnTo>
                  <a:pt x="3055938" y="674689"/>
                </a:lnTo>
                <a:cubicBezTo>
                  <a:pt x="3055938" y="709758"/>
                  <a:pt x="3027508" y="738188"/>
                  <a:pt x="2992439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56465540" name="Shape 36"/>
          <p:cNvSpPr/>
          <p:nvPr/>
        </p:nvSpPr>
        <p:spPr bwMode="auto">
          <a:xfrm>
            <a:off x="472281" y="5976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8419058" name="Text 37"/>
          <p:cNvSpPr/>
          <p:nvPr/>
        </p:nvSpPr>
        <p:spPr bwMode="auto">
          <a:xfrm>
            <a:off x="746125" y="5945188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Deadline</a:t>
            </a:r>
            <a:endParaRPr lang="en-US" sz="1600"/>
          </a:p>
        </p:txBody>
      </p:sp>
      <p:sp>
        <p:nvSpPr>
          <p:cNvPr id="333538674" name="Text 38"/>
          <p:cNvSpPr/>
          <p:nvPr/>
        </p:nvSpPr>
        <p:spPr bwMode="auto">
          <a:xfrm>
            <a:off x="452438" y="6230938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Жёсткие таймауты на каждом этапе</a:t>
            </a:r>
            <a:endParaRPr lang="en-US" sz="1600"/>
          </a:p>
        </p:txBody>
      </p:sp>
      <p:sp>
        <p:nvSpPr>
          <p:cNvPr id="1559697452" name="Shape 39"/>
          <p:cNvSpPr/>
          <p:nvPr/>
        </p:nvSpPr>
        <p:spPr bwMode="auto">
          <a:xfrm>
            <a:off x="3510731" y="5814219"/>
            <a:ext cx="3055938" cy="738188"/>
          </a:xfrm>
          <a:custGeom>
            <a:avLst/>
            <a:gdLst/>
            <a:ahLst/>
            <a:cxnLst/>
            <a:rect l="l" t="t" r="r" b="b"/>
            <a:pathLst>
              <a:path w="3055938" h="738188" fill="norm" stroke="1" extrusionOk="0">
                <a:moveTo>
                  <a:pt x="63499" y="0"/>
                </a:moveTo>
                <a:lnTo>
                  <a:pt x="2992439" y="0"/>
                </a:lnTo>
                <a:cubicBezTo>
                  <a:pt x="3027508" y="0"/>
                  <a:pt x="3055938" y="28429"/>
                  <a:pt x="3055938" y="63499"/>
                </a:cubicBezTo>
                <a:lnTo>
                  <a:pt x="3055938" y="674689"/>
                </a:lnTo>
                <a:cubicBezTo>
                  <a:pt x="3055938" y="709758"/>
                  <a:pt x="3027508" y="738188"/>
                  <a:pt x="2992439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19246176" name="Shape 40"/>
          <p:cNvSpPr/>
          <p:nvPr/>
        </p:nvSpPr>
        <p:spPr bwMode="auto">
          <a:xfrm>
            <a:off x="3661544" y="5976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125202" y="10666"/>
                </a:moveTo>
                <a:cubicBezTo>
                  <a:pt x="128922" y="9116"/>
                  <a:pt x="133170" y="9984"/>
                  <a:pt x="136023" y="12805"/>
                </a:cubicBezTo>
                <a:lnTo>
                  <a:pt x="155866" y="32649"/>
                </a:lnTo>
                <a:cubicBezTo>
                  <a:pt x="157727" y="34510"/>
                  <a:pt x="158781" y="37021"/>
                  <a:pt x="158781" y="39656"/>
                </a:cubicBezTo>
                <a:cubicBezTo>
                  <a:pt x="158781" y="42292"/>
                  <a:pt x="157727" y="44803"/>
                  <a:pt x="155866" y="46664"/>
                </a:cubicBezTo>
                <a:lnTo>
                  <a:pt x="136023" y="66508"/>
                </a:lnTo>
                <a:cubicBezTo>
                  <a:pt x="133170" y="69360"/>
                  <a:pt x="128922" y="70197"/>
                  <a:pt x="125202" y="68647"/>
                </a:cubicBezTo>
                <a:cubicBezTo>
                  <a:pt x="121481" y="67097"/>
                  <a:pt x="119062" y="63531"/>
                  <a:pt x="119062" y="59531"/>
                </a:cubicBezTo>
                <a:lnTo>
                  <a:pt x="119062" y="49609"/>
                </a:lnTo>
                <a:lnTo>
                  <a:pt x="109141" y="49609"/>
                </a:lnTo>
                <a:cubicBezTo>
                  <a:pt x="106009" y="49609"/>
                  <a:pt x="103063" y="51067"/>
                  <a:pt x="101203" y="53578"/>
                </a:cubicBezTo>
                <a:lnTo>
                  <a:pt x="91157" y="66973"/>
                </a:lnTo>
                <a:lnTo>
                  <a:pt x="78755" y="50447"/>
                </a:lnTo>
                <a:lnTo>
                  <a:pt x="85328" y="41672"/>
                </a:lnTo>
                <a:cubicBezTo>
                  <a:pt x="90940" y="34168"/>
                  <a:pt x="99777" y="29766"/>
                  <a:pt x="109141" y="29766"/>
                </a:cubicBezTo>
                <a:lnTo>
                  <a:pt x="119062" y="29766"/>
                </a:lnTo>
                <a:lnTo>
                  <a:pt x="119062" y="19844"/>
                </a:lnTo>
                <a:cubicBezTo>
                  <a:pt x="119062" y="15844"/>
                  <a:pt x="121481" y="12216"/>
                  <a:pt x="125202" y="10666"/>
                </a:cubicBezTo>
                <a:close/>
                <a:moveTo>
                  <a:pt x="47749" y="91777"/>
                </a:moveTo>
                <a:lnTo>
                  <a:pt x="60151" y="108303"/>
                </a:lnTo>
                <a:lnTo>
                  <a:pt x="53578" y="117078"/>
                </a:lnTo>
                <a:cubicBezTo>
                  <a:pt x="47966" y="124582"/>
                  <a:pt x="39129" y="128984"/>
                  <a:pt x="29766" y="128984"/>
                </a:cubicBezTo>
                <a:lnTo>
                  <a:pt x="9922" y="128984"/>
                </a:lnTo>
                <a:cubicBezTo>
                  <a:pt x="4434" y="128984"/>
                  <a:pt x="0" y="124551"/>
                  <a:pt x="0" y="119062"/>
                </a:cubicBezTo>
                <a:cubicBezTo>
                  <a:pt x="0" y="113574"/>
                  <a:pt x="4434" y="109141"/>
                  <a:pt x="9922" y="109141"/>
                </a:cubicBezTo>
                <a:lnTo>
                  <a:pt x="29766" y="109141"/>
                </a:lnTo>
                <a:cubicBezTo>
                  <a:pt x="32897" y="109141"/>
                  <a:pt x="35843" y="107683"/>
                  <a:pt x="37703" y="105172"/>
                </a:cubicBezTo>
                <a:lnTo>
                  <a:pt x="47749" y="91777"/>
                </a:lnTo>
                <a:close/>
                <a:moveTo>
                  <a:pt x="135992" y="145914"/>
                </a:moveTo>
                <a:cubicBezTo>
                  <a:pt x="133139" y="148766"/>
                  <a:pt x="128891" y="149603"/>
                  <a:pt x="125171" y="148053"/>
                </a:cubicBezTo>
                <a:cubicBezTo>
                  <a:pt x="121450" y="146503"/>
                  <a:pt x="119062" y="142906"/>
                  <a:pt x="119062" y="138906"/>
                </a:cubicBezTo>
                <a:lnTo>
                  <a:pt x="119062" y="128984"/>
                </a:lnTo>
                <a:lnTo>
                  <a:pt x="109141" y="128984"/>
                </a:lnTo>
                <a:cubicBezTo>
                  <a:pt x="99777" y="128984"/>
                  <a:pt x="90940" y="124582"/>
                  <a:pt x="85328" y="117078"/>
                </a:cubicBezTo>
                <a:lnTo>
                  <a:pt x="37703" y="53578"/>
                </a:lnTo>
                <a:cubicBezTo>
                  <a:pt x="35843" y="51067"/>
                  <a:pt x="32897" y="49609"/>
                  <a:pt x="29766" y="49609"/>
                </a:cubicBez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29766" y="29766"/>
                </a:lnTo>
                <a:cubicBezTo>
                  <a:pt x="39129" y="29766"/>
                  <a:pt x="47966" y="34168"/>
                  <a:pt x="53578" y="41672"/>
                </a:cubicBezTo>
                <a:lnTo>
                  <a:pt x="101203" y="105172"/>
                </a:lnTo>
                <a:cubicBezTo>
                  <a:pt x="103063" y="107683"/>
                  <a:pt x="106009" y="109141"/>
                  <a:pt x="109141" y="109141"/>
                </a:cubicBezTo>
                <a:lnTo>
                  <a:pt x="119062" y="109141"/>
                </a:lnTo>
                <a:lnTo>
                  <a:pt x="119062" y="99219"/>
                </a:lnTo>
                <a:cubicBezTo>
                  <a:pt x="119062" y="95219"/>
                  <a:pt x="121481" y="91591"/>
                  <a:pt x="125202" y="90041"/>
                </a:cubicBezTo>
                <a:cubicBezTo>
                  <a:pt x="128922" y="88491"/>
                  <a:pt x="133170" y="89359"/>
                  <a:pt x="136023" y="92180"/>
                </a:cubicBezTo>
                <a:lnTo>
                  <a:pt x="155866" y="112024"/>
                </a:lnTo>
                <a:cubicBezTo>
                  <a:pt x="157727" y="113885"/>
                  <a:pt x="158781" y="116396"/>
                  <a:pt x="158781" y="119031"/>
                </a:cubicBezTo>
                <a:cubicBezTo>
                  <a:pt x="158781" y="121667"/>
                  <a:pt x="157727" y="124178"/>
                  <a:pt x="155866" y="126039"/>
                </a:cubicBezTo>
                <a:lnTo>
                  <a:pt x="136023" y="14588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23307222" name="Text 41"/>
          <p:cNvSpPr/>
          <p:nvPr/>
        </p:nvSpPr>
        <p:spPr bwMode="auto">
          <a:xfrm>
            <a:off x="3935388" y="5945188"/>
            <a:ext cx="57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Failover</a:t>
            </a:r>
            <a:endParaRPr lang="en-US" sz="1600"/>
          </a:p>
        </p:txBody>
      </p:sp>
      <p:sp>
        <p:nvSpPr>
          <p:cNvPr id="497203928" name="Text 42"/>
          <p:cNvSpPr/>
          <p:nvPr/>
        </p:nvSpPr>
        <p:spPr bwMode="auto">
          <a:xfrm>
            <a:off x="3641700" y="6230938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Оркестрация отказоустойчивости</a:t>
            </a:r>
            <a:endParaRPr lang="en-US" sz="1600"/>
          </a:p>
        </p:txBody>
      </p:sp>
      <p:sp>
        <p:nvSpPr>
          <p:cNvPr id="740647656" name="Shape 43"/>
          <p:cNvSpPr/>
          <p:nvPr/>
        </p:nvSpPr>
        <p:spPr bwMode="auto">
          <a:xfrm>
            <a:off x="6767463" y="1277938"/>
            <a:ext cx="5095875" cy="4175125"/>
          </a:xfrm>
          <a:custGeom>
            <a:avLst/>
            <a:gdLst/>
            <a:ahLst/>
            <a:cxnLst/>
            <a:rect l="l" t="t" r="r" b="b"/>
            <a:pathLst>
              <a:path w="5095875" h="4175125" fill="norm" stroke="1" extrusionOk="0">
                <a:moveTo>
                  <a:pt x="63504" y="0"/>
                </a:moveTo>
                <a:lnTo>
                  <a:pt x="5032371" y="0"/>
                </a:lnTo>
                <a:cubicBezTo>
                  <a:pt x="5067443" y="0"/>
                  <a:pt x="5095875" y="28432"/>
                  <a:pt x="5095875" y="63504"/>
                </a:cubicBezTo>
                <a:lnTo>
                  <a:pt x="5095875" y="4111621"/>
                </a:lnTo>
                <a:cubicBezTo>
                  <a:pt x="5095875" y="4146693"/>
                  <a:pt x="5067443" y="4175125"/>
                  <a:pt x="5032371" y="4175125"/>
                </a:cubicBezTo>
                <a:lnTo>
                  <a:pt x="63504" y="4175125"/>
                </a:lnTo>
                <a:cubicBezTo>
                  <a:pt x="28432" y="4175125"/>
                  <a:pt x="0" y="4146693"/>
                  <a:pt x="0" y="411162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197193219" name="Shape 44"/>
          <p:cNvSpPr/>
          <p:nvPr/>
        </p:nvSpPr>
        <p:spPr bwMode="auto">
          <a:xfrm>
            <a:off x="9126513" y="1476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190500" y="309563"/>
                </a:moveTo>
                <a:cubicBezTo>
                  <a:pt x="216768" y="309563"/>
                  <a:pt x="238125" y="288206"/>
                  <a:pt x="238125" y="261938"/>
                </a:cubicBezTo>
                <a:cubicBezTo>
                  <a:pt x="238125" y="249882"/>
                  <a:pt x="233660" y="238795"/>
                  <a:pt x="226219" y="230460"/>
                </a:cubicBezTo>
                <a:lnTo>
                  <a:pt x="277937" y="127099"/>
                </a:lnTo>
                <a:cubicBezTo>
                  <a:pt x="282327" y="118244"/>
                  <a:pt x="278755" y="107528"/>
                  <a:pt x="269974" y="103138"/>
                </a:cubicBezTo>
                <a:cubicBezTo>
                  <a:pt x="261193" y="98747"/>
                  <a:pt x="250403" y="102319"/>
                  <a:pt x="246013" y="111100"/>
                </a:cubicBezTo>
                <a:lnTo>
                  <a:pt x="194295" y="214461"/>
                </a:lnTo>
                <a:cubicBezTo>
                  <a:pt x="193030" y="214387"/>
                  <a:pt x="191765" y="214313"/>
                  <a:pt x="190500" y="214313"/>
                </a:cubicBezTo>
                <a:cubicBezTo>
                  <a:pt x="164232" y="214313"/>
                  <a:pt x="142875" y="235669"/>
                  <a:pt x="142875" y="261938"/>
                </a:cubicBezTo>
                <a:cubicBezTo>
                  <a:pt x="142875" y="288206"/>
                  <a:pt x="164232" y="309563"/>
                  <a:pt x="190500" y="309563"/>
                </a:cubicBezTo>
                <a:close/>
                <a:moveTo>
                  <a:pt x="130969" y="107156"/>
                </a:moveTo>
                <a:cubicBezTo>
                  <a:pt x="130969" y="94014"/>
                  <a:pt x="120299" y="83344"/>
                  <a:pt x="107156" y="83344"/>
                </a:cubicBezTo>
                <a:cubicBezTo>
                  <a:pt x="94014" y="83344"/>
                  <a:pt x="83344" y="94014"/>
                  <a:pt x="83344" y="107156"/>
                </a:cubicBezTo>
                <a:cubicBezTo>
                  <a:pt x="83344" y="120299"/>
                  <a:pt x="94014" y="130969"/>
                  <a:pt x="107156" y="130969"/>
                </a:cubicBezTo>
                <a:cubicBezTo>
                  <a:pt x="120299" y="130969"/>
                  <a:pt x="130969" y="120299"/>
                  <a:pt x="130969" y="107156"/>
                </a:cubicBezTo>
                <a:close/>
                <a:moveTo>
                  <a:pt x="71438" y="214313"/>
                </a:moveTo>
                <a:cubicBezTo>
                  <a:pt x="84580" y="214313"/>
                  <a:pt x="95250" y="203642"/>
                  <a:pt x="95250" y="190500"/>
                </a:cubicBezTo>
                <a:cubicBezTo>
                  <a:pt x="95250" y="177358"/>
                  <a:pt x="84580" y="166688"/>
                  <a:pt x="71438" y="166688"/>
                </a:cubicBezTo>
                <a:cubicBezTo>
                  <a:pt x="58295" y="166688"/>
                  <a:pt x="47625" y="177358"/>
                  <a:pt x="47625" y="190500"/>
                </a:cubicBezTo>
                <a:cubicBezTo>
                  <a:pt x="47625" y="203642"/>
                  <a:pt x="58295" y="214313"/>
                  <a:pt x="71438" y="214313"/>
                </a:cubicBezTo>
                <a:close/>
                <a:moveTo>
                  <a:pt x="333375" y="190500"/>
                </a:moveTo>
                <a:cubicBezTo>
                  <a:pt x="333375" y="177358"/>
                  <a:pt x="322705" y="166688"/>
                  <a:pt x="309563" y="166688"/>
                </a:cubicBezTo>
                <a:cubicBezTo>
                  <a:pt x="296420" y="166688"/>
                  <a:pt x="285750" y="177358"/>
                  <a:pt x="285750" y="190500"/>
                </a:cubicBezTo>
                <a:cubicBezTo>
                  <a:pt x="285750" y="203642"/>
                  <a:pt x="296420" y="214313"/>
                  <a:pt x="309563" y="214313"/>
                </a:cubicBezTo>
                <a:cubicBezTo>
                  <a:pt x="322705" y="214313"/>
                  <a:pt x="333375" y="203642"/>
                  <a:pt x="333375" y="19050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9115934" name="Text 45"/>
          <p:cNvSpPr/>
          <p:nvPr/>
        </p:nvSpPr>
        <p:spPr bwMode="auto">
          <a:xfrm>
            <a:off x="6918275" y="1984375"/>
            <a:ext cx="479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50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Целевой показатель</a:t>
            </a:r>
            <a:endParaRPr lang="en-US" sz="1600"/>
          </a:p>
        </p:txBody>
      </p:sp>
      <p:sp>
        <p:nvSpPr>
          <p:cNvPr id="1619605571" name="Shape 46"/>
          <p:cNvSpPr/>
          <p:nvPr/>
        </p:nvSpPr>
        <p:spPr bwMode="auto">
          <a:xfrm>
            <a:off x="6965900" y="2492375"/>
            <a:ext cx="4699000" cy="1143000"/>
          </a:xfrm>
          <a:custGeom>
            <a:avLst/>
            <a:gdLst/>
            <a:ahLst/>
            <a:cxnLst/>
            <a:rect l="l" t="t" r="r" b="b"/>
            <a:pathLst>
              <a:path w="4699000" h="1143000" fill="norm" stroke="1" extrusionOk="0">
                <a:moveTo>
                  <a:pt x="63505" y="0"/>
                </a:moveTo>
                <a:lnTo>
                  <a:pt x="4635495" y="0"/>
                </a:lnTo>
                <a:cubicBezTo>
                  <a:pt x="4670568" y="0"/>
                  <a:pt x="4699000" y="28432"/>
                  <a:pt x="4699000" y="63505"/>
                </a:cubicBezTo>
                <a:lnTo>
                  <a:pt x="4699000" y="1079495"/>
                </a:lnTo>
                <a:cubicBezTo>
                  <a:pt x="4699000" y="1114568"/>
                  <a:pt x="4670568" y="1143000"/>
                  <a:pt x="4635495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19531033" name="Text 47"/>
          <p:cNvSpPr/>
          <p:nvPr/>
        </p:nvSpPr>
        <p:spPr bwMode="auto">
          <a:xfrm>
            <a:off x="7037338" y="2682875"/>
            <a:ext cx="4556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375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&lt;5 мс</a:t>
            </a:r>
            <a:endParaRPr lang="en-US" sz="1600"/>
          </a:p>
        </p:txBody>
      </p:sp>
      <p:sp>
        <p:nvSpPr>
          <p:cNvPr id="1189044880" name="Text 48"/>
          <p:cNvSpPr/>
          <p:nvPr/>
        </p:nvSpPr>
        <p:spPr bwMode="auto">
          <a:xfrm>
            <a:off x="7116713" y="3222625"/>
            <a:ext cx="439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ingress latency</a:t>
            </a:r>
            <a:endParaRPr lang="en-US" sz="1600"/>
          </a:p>
        </p:txBody>
      </p:sp>
      <p:sp>
        <p:nvSpPr>
          <p:cNvPr id="1792593839" name="Shape 49"/>
          <p:cNvSpPr/>
          <p:nvPr/>
        </p:nvSpPr>
        <p:spPr bwMode="auto">
          <a:xfrm>
            <a:off x="6965900" y="3825875"/>
            <a:ext cx="4699000" cy="412750"/>
          </a:xfrm>
          <a:custGeom>
            <a:avLst/>
            <a:gdLst/>
            <a:ahLst/>
            <a:cxnLst/>
            <a:rect l="l" t="t" r="r" b="b"/>
            <a:pathLst>
              <a:path w="4699000" h="412750" fill="norm" stroke="1" extrusionOk="0">
                <a:moveTo>
                  <a:pt x="63502" y="0"/>
                </a:moveTo>
                <a:lnTo>
                  <a:pt x="4635498" y="0"/>
                </a:lnTo>
                <a:cubicBezTo>
                  <a:pt x="4670569" y="0"/>
                  <a:pt x="4699000" y="28431"/>
                  <a:pt x="4699000" y="63502"/>
                </a:cubicBezTo>
                <a:lnTo>
                  <a:pt x="4699000" y="349248"/>
                </a:lnTo>
                <a:cubicBezTo>
                  <a:pt x="4699000" y="384319"/>
                  <a:pt x="4670569" y="412750"/>
                  <a:pt x="4635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86239927" name="Text 50"/>
          <p:cNvSpPr/>
          <p:nvPr/>
        </p:nvSpPr>
        <p:spPr bwMode="auto">
          <a:xfrm>
            <a:off x="7061150" y="3937000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P50 latency</a:t>
            </a:r>
            <a:endParaRPr lang="en-US" sz="1600"/>
          </a:p>
        </p:txBody>
      </p:sp>
      <p:sp>
        <p:nvSpPr>
          <p:cNvPr id="712336398" name="Text 51"/>
          <p:cNvSpPr/>
          <p:nvPr/>
        </p:nvSpPr>
        <p:spPr bwMode="auto">
          <a:xfrm>
            <a:off x="11123290" y="3921125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2.3 мс</a:t>
            </a:r>
            <a:endParaRPr lang="en-US" sz="1600"/>
          </a:p>
        </p:txBody>
      </p:sp>
      <p:sp>
        <p:nvSpPr>
          <p:cNvPr id="856529506" name="Shape 52"/>
          <p:cNvSpPr/>
          <p:nvPr/>
        </p:nvSpPr>
        <p:spPr bwMode="auto">
          <a:xfrm>
            <a:off x="6965900" y="4333875"/>
            <a:ext cx="4699000" cy="412750"/>
          </a:xfrm>
          <a:custGeom>
            <a:avLst/>
            <a:gdLst/>
            <a:ahLst/>
            <a:cxnLst/>
            <a:rect l="l" t="t" r="r" b="b"/>
            <a:pathLst>
              <a:path w="4699000" h="412750" fill="norm" stroke="1" extrusionOk="0">
                <a:moveTo>
                  <a:pt x="63502" y="0"/>
                </a:moveTo>
                <a:lnTo>
                  <a:pt x="4635498" y="0"/>
                </a:lnTo>
                <a:cubicBezTo>
                  <a:pt x="4670569" y="0"/>
                  <a:pt x="4699000" y="28431"/>
                  <a:pt x="4699000" y="63502"/>
                </a:cubicBezTo>
                <a:lnTo>
                  <a:pt x="4699000" y="349248"/>
                </a:lnTo>
                <a:cubicBezTo>
                  <a:pt x="4699000" y="384319"/>
                  <a:pt x="4670569" y="412750"/>
                  <a:pt x="4635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885951211" name="Text 53"/>
          <p:cNvSpPr/>
          <p:nvPr/>
        </p:nvSpPr>
        <p:spPr bwMode="auto">
          <a:xfrm>
            <a:off x="7061150" y="44450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P99 latency</a:t>
            </a:r>
            <a:endParaRPr lang="en-US" sz="1600"/>
          </a:p>
        </p:txBody>
      </p:sp>
      <p:sp>
        <p:nvSpPr>
          <p:cNvPr id="382607380" name="Text 54"/>
          <p:cNvSpPr/>
          <p:nvPr/>
        </p:nvSpPr>
        <p:spPr bwMode="auto">
          <a:xfrm>
            <a:off x="11134328" y="4429125"/>
            <a:ext cx="51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4.7 мс</a:t>
            </a:r>
            <a:endParaRPr lang="en-US" sz="1600"/>
          </a:p>
        </p:txBody>
      </p:sp>
      <p:sp>
        <p:nvSpPr>
          <p:cNvPr id="1846291346" name="Shape 55"/>
          <p:cNvSpPr/>
          <p:nvPr/>
        </p:nvSpPr>
        <p:spPr bwMode="auto">
          <a:xfrm>
            <a:off x="6965900" y="4841875"/>
            <a:ext cx="4699000" cy="412750"/>
          </a:xfrm>
          <a:custGeom>
            <a:avLst/>
            <a:gdLst/>
            <a:ahLst/>
            <a:cxnLst/>
            <a:rect l="l" t="t" r="r" b="b"/>
            <a:pathLst>
              <a:path w="4699000" h="412750" fill="norm" stroke="1" extrusionOk="0">
                <a:moveTo>
                  <a:pt x="63502" y="0"/>
                </a:moveTo>
                <a:lnTo>
                  <a:pt x="4635498" y="0"/>
                </a:lnTo>
                <a:cubicBezTo>
                  <a:pt x="4670569" y="0"/>
                  <a:pt x="4699000" y="28431"/>
                  <a:pt x="4699000" y="63502"/>
                </a:cubicBezTo>
                <a:lnTo>
                  <a:pt x="4699000" y="349248"/>
                </a:lnTo>
                <a:cubicBezTo>
                  <a:pt x="4699000" y="384319"/>
                  <a:pt x="4670569" y="412750"/>
                  <a:pt x="4635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425779344" name="Text 56"/>
          <p:cNvSpPr/>
          <p:nvPr/>
        </p:nvSpPr>
        <p:spPr bwMode="auto">
          <a:xfrm>
            <a:off x="7061150" y="4953000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P99.9 latency</a:t>
            </a:r>
            <a:endParaRPr lang="en-US" sz="1600"/>
          </a:p>
        </p:txBody>
      </p:sp>
      <p:sp>
        <p:nvSpPr>
          <p:cNvPr id="216469624" name="Text 57"/>
          <p:cNvSpPr/>
          <p:nvPr/>
        </p:nvSpPr>
        <p:spPr bwMode="auto">
          <a:xfrm>
            <a:off x="11154172" y="4937125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5.1 мс</a:t>
            </a:r>
            <a:endParaRPr lang="en-US" sz="1600"/>
          </a:p>
        </p:txBody>
      </p:sp>
      <p:sp>
        <p:nvSpPr>
          <p:cNvPr id="1260632173" name="Shape 58"/>
          <p:cNvSpPr/>
          <p:nvPr/>
        </p:nvSpPr>
        <p:spPr bwMode="auto">
          <a:xfrm>
            <a:off x="6763494" y="5591969"/>
            <a:ext cx="5103813" cy="1722438"/>
          </a:xfrm>
          <a:custGeom>
            <a:avLst/>
            <a:gdLst/>
            <a:ahLst/>
            <a:cxnLst/>
            <a:rect l="l" t="t" r="r" b="b"/>
            <a:pathLst>
              <a:path w="5103813" h="1722438" fill="norm" stroke="1" extrusionOk="0">
                <a:moveTo>
                  <a:pt x="63506" y="0"/>
                </a:moveTo>
                <a:lnTo>
                  <a:pt x="5040306" y="0"/>
                </a:lnTo>
                <a:cubicBezTo>
                  <a:pt x="5075380" y="0"/>
                  <a:pt x="5103812" y="28433"/>
                  <a:pt x="5103812" y="63506"/>
                </a:cubicBezTo>
                <a:lnTo>
                  <a:pt x="5103813" y="1658931"/>
                </a:lnTo>
                <a:cubicBezTo>
                  <a:pt x="5103812" y="1694005"/>
                  <a:pt x="5075380" y="1722437"/>
                  <a:pt x="5040306" y="1722438"/>
                </a:cubicBezTo>
                <a:lnTo>
                  <a:pt x="63506" y="1722438"/>
                </a:lnTo>
                <a:cubicBezTo>
                  <a:pt x="28433" y="1722438"/>
                  <a:pt x="0" y="1694005"/>
                  <a:pt x="0" y="1658931"/>
                </a:cubicBezTo>
                <a:lnTo>
                  <a:pt x="0" y="63506"/>
                </a:lnTo>
                <a:cubicBezTo>
                  <a:pt x="0" y="28433"/>
                  <a:pt x="28433" y="0"/>
                  <a:pt x="635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27995376" name="Shape 59"/>
          <p:cNvSpPr/>
          <p:nvPr/>
        </p:nvSpPr>
        <p:spPr bwMode="auto">
          <a:xfrm>
            <a:off x="6946057" y="5794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 fill="norm" stroke="1" extrusionOk="0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25953755" name="Text 60"/>
          <p:cNvSpPr/>
          <p:nvPr/>
        </p:nvSpPr>
        <p:spPr bwMode="auto">
          <a:xfrm>
            <a:off x="7108775" y="5754688"/>
            <a:ext cx="466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Производительность</a:t>
            </a:r>
            <a:endParaRPr lang="en-US" sz="1600"/>
          </a:p>
        </p:txBody>
      </p:sp>
      <p:sp>
        <p:nvSpPr>
          <p:cNvPr id="706793920" name="Text 61"/>
          <p:cNvSpPr/>
          <p:nvPr/>
        </p:nvSpPr>
        <p:spPr bwMode="auto">
          <a:xfrm>
            <a:off x="6926213" y="6103938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Throughput</a:t>
            </a:r>
            <a:endParaRPr lang="en-US" sz="1600"/>
          </a:p>
        </p:txBody>
      </p:sp>
      <p:sp>
        <p:nvSpPr>
          <p:cNvPr id="1419965738" name="Text 62"/>
          <p:cNvSpPr/>
          <p:nvPr/>
        </p:nvSpPr>
        <p:spPr bwMode="auto">
          <a:xfrm flipH="0" flipV="0">
            <a:off x="11222570" y="6103937"/>
            <a:ext cx="618256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10K+ TPS</a:t>
            </a:r>
            <a:endParaRPr lang="en-US" sz="1600"/>
          </a:p>
        </p:txBody>
      </p:sp>
      <p:sp>
        <p:nvSpPr>
          <p:cNvPr id="2073771119" name="Shape 63"/>
          <p:cNvSpPr/>
          <p:nvPr/>
        </p:nvSpPr>
        <p:spPr bwMode="auto">
          <a:xfrm>
            <a:off x="6926213" y="6326188"/>
            <a:ext cx="4778375" cy="63500"/>
          </a:xfrm>
          <a:custGeom>
            <a:avLst/>
            <a:gdLst/>
            <a:ahLst/>
            <a:cxnLst/>
            <a:rect l="l" t="t" r="r" b="b"/>
            <a:pathLst>
              <a:path w="4778375" h="63500" fill="norm" stroke="1" extrusionOk="0">
                <a:moveTo>
                  <a:pt x="31750" y="0"/>
                </a:moveTo>
                <a:lnTo>
                  <a:pt x="4746625" y="0"/>
                </a:lnTo>
                <a:cubicBezTo>
                  <a:pt x="4764148" y="0"/>
                  <a:pt x="4778375" y="14227"/>
                  <a:pt x="4778375" y="31750"/>
                </a:cubicBezTo>
                <a:lnTo>
                  <a:pt x="4778375" y="31750"/>
                </a:lnTo>
                <a:cubicBezTo>
                  <a:pt x="4778375" y="49273"/>
                  <a:pt x="4764148" y="63500"/>
                  <a:pt x="4746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7157345" name="Shape 64"/>
          <p:cNvSpPr/>
          <p:nvPr/>
        </p:nvSpPr>
        <p:spPr bwMode="auto">
          <a:xfrm>
            <a:off x="6926213" y="6326188"/>
            <a:ext cx="4064000" cy="63500"/>
          </a:xfrm>
          <a:custGeom>
            <a:avLst/>
            <a:gdLst/>
            <a:ahLst/>
            <a:cxnLst/>
            <a:rect l="l" t="t" r="r" b="b"/>
            <a:pathLst>
              <a:path w="4064000" h="63500" fill="norm" stroke="1" extrusionOk="0">
                <a:moveTo>
                  <a:pt x="31750" y="0"/>
                </a:moveTo>
                <a:lnTo>
                  <a:pt x="4032250" y="0"/>
                </a:lnTo>
                <a:cubicBezTo>
                  <a:pt x="4049773" y="0"/>
                  <a:pt x="4064000" y="14227"/>
                  <a:pt x="4064000" y="31750"/>
                </a:cubicBezTo>
                <a:lnTo>
                  <a:pt x="4064000" y="31750"/>
                </a:lnTo>
                <a:cubicBezTo>
                  <a:pt x="4064000" y="49273"/>
                  <a:pt x="4049773" y="63500"/>
                  <a:pt x="403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42803237" name="Text 65"/>
          <p:cNvSpPr/>
          <p:nvPr/>
        </p:nvSpPr>
        <p:spPr bwMode="auto">
          <a:xfrm>
            <a:off x="6926213" y="6484938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Availability</a:t>
            </a:r>
            <a:endParaRPr lang="en-US" sz="1600"/>
          </a:p>
        </p:txBody>
      </p:sp>
      <p:sp>
        <p:nvSpPr>
          <p:cNvPr id="1730697622" name="Text 66"/>
          <p:cNvSpPr/>
          <p:nvPr/>
        </p:nvSpPr>
        <p:spPr bwMode="auto">
          <a:xfrm>
            <a:off x="11293574" y="6484938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99.99%</a:t>
            </a:r>
            <a:endParaRPr lang="en-US" sz="1600"/>
          </a:p>
        </p:txBody>
      </p:sp>
      <p:sp>
        <p:nvSpPr>
          <p:cNvPr id="794407671" name="Shape 67"/>
          <p:cNvSpPr/>
          <p:nvPr/>
        </p:nvSpPr>
        <p:spPr bwMode="auto">
          <a:xfrm>
            <a:off x="6926213" y="6707188"/>
            <a:ext cx="4778375" cy="63500"/>
          </a:xfrm>
          <a:custGeom>
            <a:avLst/>
            <a:gdLst/>
            <a:ahLst/>
            <a:cxnLst/>
            <a:rect l="l" t="t" r="r" b="b"/>
            <a:pathLst>
              <a:path w="4778375" h="63500" fill="norm" stroke="1" extrusionOk="0">
                <a:moveTo>
                  <a:pt x="31750" y="0"/>
                </a:moveTo>
                <a:lnTo>
                  <a:pt x="4746625" y="0"/>
                </a:lnTo>
                <a:cubicBezTo>
                  <a:pt x="4764148" y="0"/>
                  <a:pt x="4778375" y="14227"/>
                  <a:pt x="4778375" y="31750"/>
                </a:cubicBezTo>
                <a:lnTo>
                  <a:pt x="4778375" y="31750"/>
                </a:lnTo>
                <a:cubicBezTo>
                  <a:pt x="4778375" y="49273"/>
                  <a:pt x="4764148" y="63500"/>
                  <a:pt x="4746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39411161" name="Shape 68"/>
          <p:cNvSpPr/>
          <p:nvPr/>
        </p:nvSpPr>
        <p:spPr bwMode="auto">
          <a:xfrm>
            <a:off x="6926213" y="6707188"/>
            <a:ext cx="4778375" cy="63500"/>
          </a:xfrm>
          <a:custGeom>
            <a:avLst/>
            <a:gdLst/>
            <a:ahLst/>
            <a:cxnLst/>
            <a:rect l="l" t="t" r="r" b="b"/>
            <a:pathLst>
              <a:path w="4778375" h="63500" fill="norm" stroke="1" extrusionOk="0">
                <a:moveTo>
                  <a:pt x="31750" y="0"/>
                </a:moveTo>
                <a:lnTo>
                  <a:pt x="4746625" y="0"/>
                </a:lnTo>
                <a:cubicBezTo>
                  <a:pt x="4764148" y="0"/>
                  <a:pt x="4778375" y="14227"/>
                  <a:pt x="4778375" y="31750"/>
                </a:cubicBezTo>
                <a:lnTo>
                  <a:pt x="4778375" y="31750"/>
                </a:lnTo>
                <a:cubicBezTo>
                  <a:pt x="4778375" y="49273"/>
                  <a:pt x="4764148" y="63500"/>
                  <a:pt x="4746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74246476" name="Text 69"/>
          <p:cNvSpPr/>
          <p:nvPr/>
        </p:nvSpPr>
        <p:spPr bwMode="auto">
          <a:xfrm>
            <a:off x="6926213" y="6865937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Concurrent connections</a:t>
            </a:r>
            <a:endParaRPr lang="en-US" sz="1600"/>
          </a:p>
        </p:txBody>
      </p:sp>
      <p:sp>
        <p:nvSpPr>
          <p:cNvPr id="668733851" name="Text 70"/>
          <p:cNvSpPr/>
          <p:nvPr/>
        </p:nvSpPr>
        <p:spPr bwMode="auto">
          <a:xfrm>
            <a:off x="11363523" y="6865937"/>
            <a:ext cx="40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100K+</a:t>
            </a:r>
            <a:endParaRPr lang="en-US" sz="1600"/>
          </a:p>
        </p:txBody>
      </p:sp>
      <p:sp>
        <p:nvSpPr>
          <p:cNvPr id="17384681" name="Shape 71"/>
          <p:cNvSpPr/>
          <p:nvPr/>
        </p:nvSpPr>
        <p:spPr bwMode="auto">
          <a:xfrm>
            <a:off x="6926213" y="7088188"/>
            <a:ext cx="4778375" cy="63500"/>
          </a:xfrm>
          <a:custGeom>
            <a:avLst/>
            <a:gdLst/>
            <a:ahLst/>
            <a:cxnLst/>
            <a:rect l="l" t="t" r="r" b="b"/>
            <a:pathLst>
              <a:path w="4778375" h="63500" fill="norm" stroke="1" extrusionOk="0">
                <a:moveTo>
                  <a:pt x="31750" y="0"/>
                </a:moveTo>
                <a:lnTo>
                  <a:pt x="4746625" y="0"/>
                </a:lnTo>
                <a:cubicBezTo>
                  <a:pt x="4764148" y="0"/>
                  <a:pt x="4778375" y="14227"/>
                  <a:pt x="4778375" y="31750"/>
                </a:cubicBezTo>
                <a:lnTo>
                  <a:pt x="4778375" y="31750"/>
                </a:lnTo>
                <a:cubicBezTo>
                  <a:pt x="4778375" y="49273"/>
                  <a:pt x="4764148" y="63500"/>
                  <a:pt x="4746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86675483" name="Shape 72"/>
          <p:cNvSpPr/>
          <p:nvPr/>
        </p:nvSpPr>
        <p:spPr bwMode="auto">
          <a:xfrm>
            <a:off x="6926213" y="7088188"/>
            <a:ext cx="4302125" cy="63500"/>
          </a:xfrm>
          <a:custGeom>
            <a:avLst/>
            <a:gdLst/>
            <a:ahLst/>
            <a:cxnLst/>
            <a:rect l="l" t="t" r="r" b="b"/>
            <a:pathLst>
              <a:path w="4302125" h="63500" fill="norm" stroke="1" extrusionOk="0">
                <a:moveTo>
                  <a:pt x="31750" y="0"/>
                </a:moveTo>
                <a:lnTo>
                  <a:pt x="4270375" y="0"/>
                </a:lnTo>
                <a:cubicBezTo>
                  <a:pt x="4287898" y="0"/>
                  <a:pt x="4302125" y="14227"/>
                  <a:pt x="4302125" y="31750"/>
                </a:cubicBezTo>
                <a:lnTo>
                  <a:pt x="4302125" y="31750"/>
                </a:lnTo>
                <a:cubicBezTo>
                  <a:pt x="4302125" y="49273"/>
                  <a:pt x="4287898" y="63500"/>
                  <a:pt x="42703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566411" name="Shape 0"/>
          <p:cNvSpPr/>
          <p:nvPr/>
        </p:nvSpPr>
        <p:spPr bwMode="auto">
          <a:xfrm>
            <a:off x="361512" y="361512"/>
            <a:ext cx="36151" cy="361512"/>
          </a:xfrm>
          <a:custGeom>
            <a:avLst/>
            <a:gdLst/>
            <a:ahLst/>
            <a:cxnLst/>
            <a:rect l="l" t="t" r="r" b="b"/>
            <a:pathLst>
              <a:path w="36151" h="361512" fill="norm" stroke="1" extrusionOk="0">
                <a:moveTo>
                  <a:pt x="0" y="0"/>
                </a:moveTo>
                <a:lnTo>
                  <a:pt x="36151" y="0"/>
                </a:lnTo>
                <a:lnTo>
                  <a:pt x="36151" y="361512"/>
                </a:lnTo>
                <a:lnTo>
                  <a:pt x="0" y="361512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47103788" name="Text 1"/>
          <p:cNvSpPr/>
          <p:nvPr/>
        </p:nvSpPr>
        <p:spPr bwMode="auto">
          <a:xfrm>
            <a:off x="506117" y="433815"/>
            <a:ext cx="197024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 spc="57">
                <a:solidFill>
                  <a:srgbClr val="C0A062"/>
                </a:solidFill>
                <a:latin typeface="Liter"/>
                <a:ea typeface="Liter"/>
                <a:cs typeface="Liter"/>
              </a:rPr>
              <a:t>РЕГУЛЯТОРНАЯ ЗАЩИТА</a:t>
            </a:r>
            <a:endParaRPr lang="en-US" sz="1600"/>
          </a:p>
        </p:txBody>
      </p:sp>
      <p:sp>
        <p:nvSpPr>
          <p:cNvPr id="2031480160" name="Text 2"/>
          <p:cNvSpPr/>
          <p:nvPr/>
        </p:nvSpPr>
        <p:spPr bwMode="auto">
          <a:xfrm>
            <a:off x="361512" y="831478"/>
            <a:ext cx="11685883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4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Context-Aware Failover</a:t>
            </a:r>
            <a:endParaRPr lang="en-US" sz="1600"/>
          </a:p>
        </p:txBody>
      </p:sp>
      <p:sp>
        <p:nvSpPr>
          <p:cNvPr id="1185366679" name="Shape 3"/>
          <p:cNvSpPr/>
          <p:nvPr/>
        </p:nvSpPr>
        <p:spPr bwMode="auto">
          <a:xfrm>
            <a:off x="379588" y="1446049"/>
            <a:ext cx="11450900" cy="894743"/>
          </a:xfrm>
          <a:custGeom>
            <a:avLst/>
            <a:gdLst/>
            <a:ahLst/>
            <a:cxnLst/>
            <a:rect l="l" t="t" r="r" b="b"/>
            <a:pathLst>
              <a:path w="11450900" h="894743" fill="norm" stroke="1" extrusionOk="0">
                <a:moveTo>
                  <a:pt x="0" y="0"/>
                </a:moveTo>
                <a:lnTo>
                  <a:pt x="11378596" y="0"/>
                </a:lnTo>
                <a:cubicBezTo>
                  <a:pt x="11418528" y="0"/>
                  <a:pt x="11450900" y="32372"/>
                  <a:pt x="11450900" y="72304"/>
                </a:cubicBezTo>
                <a:lnTo>
                  <a:pt x="11450900" y="822439"/>
                </a:lnTo>
                <a:cubicBezTo>
                  <a:pt x="11450900" y="862371"/>
                  <a:pt x="11418528" y="894743"/>
                  <a:pt x="11378596" y="894743"/>
                </a:cubicBezTo>
                <a:lnTo>
                  <a:pt x="0" y="89474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3416101" name="Shape 4"/>
          <p:cNvSpPr/>
          <p:nvPr/>
        </p:nvSpPr>
        <p:spPr bwMode="auto">
          <a:xfrm>
            <a:off x="379588" y="1446049"/>
            <a:ext cx="36151" cy="894743"/>
          </a:xfrm>
          <a:custGeom>
            <a:avLst/>
            <a:gdLst/>
            <a:ahLst/>
            <a:cxnLst/>
            <a:rect l="l" t="t" r="r" b="b"/>
            <a:pathLst>
              <a:path w="36151" h="894743" fill="norm" stroke="1" extrusionOk="0">
                <a:moveTo>
                  <a:pt x="0" y="0"/>
                </a:moveTo>
                <a:lnTo>
                  <a:pt x="36151" y="0"/>
                </a:lnTo>
                <a:lnTo>
                  <a:pt x="36151" y="894743"/>
                </a:lnTo>
                <a:lnTo>
                  <a:pt x="0" y="894743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0869080" name="Text 5"/>
          <p:cNvSpPr/>
          <p:nvPr/>
        </p:nvSpPr>
        <p:spPr bwMode="auto">
          <a:xfrm>
            <a:off x="578420" y="1626805"/>
            <a:ext cx="11152652" cy="5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3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Система </a:t>
            </a:r>
            <a:r>
              <a:rPr lang="en-US" sz="13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не использует простую логику Fail-Open / Fail-Closed</a:t>
            </a:r>
            <a:r>
              <a:rPr lang="en-US" sz="13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. Вместо этого применяется </a:t>
            </a:r>
            <a:r>
              <a:rPr lang="en-US" sz="1300" b="1">
                <a:solidFill>
                  <a:srgbClr val="EDF2F4"/>
                </a:solidFill>
                <a:highlight>
                  <a:srgbClr val="C0A062">
                    <a:alpha val="30000"/>
                  </a:srgbClr>
                </a:highlight>
                <a:latin typeface="Quattrocento Sans"/>
                <a:ea typeface="Quattrocento Sans"/>
                <a:cs typeface="Quattrocento Sans"/>
              </a:rPr>
              <a:t>risk-segmented логика </a:t>
            </a:r>
            <a:r>
              <a:rPr lang="en-US" sz="13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, которая принимает решения на основе типа транзакции и уровня риска. Это защищает банки от регуляторных штрафов во время сбоев.</a:t>
            </a:r>
            <a:endParaRPr lang="en-US" sz="1600"/>
          </a:p>
        </p:txBody>
      </p:sp>
      <p:sp>
        <p:nvSpPr>
          <p:cNvPr id="1313800943" name="Shape 6"/>
          <p:cNvSpPr/>
          <p:nvPr/>
        </p:nvSpPr>
        <p:spPr bwMode="auto">
          <a:xfrm>
            <a:off x="370550" y="2526067"/>
            <a:ext cx="3687425" cy="3109005"/>
          </a:xfrm>
          <a:custGeom>
            <a:avLst/>
            <a:gdLst/>
            <a:ahLst/>
            <a:cxnLst/>
            <a:rect l="l" t="t" r="r" b="b"/>
            <a:pathLst>
              <a:path w="3687425" h="3109005" fill="norm" stroke="1" extrusionOk="0">
                <a:moveTo>
                  <a:pt x="72315" y="0"/>
                </a:moveTo>
                <a:lnTo>
                  <a:pt x="3615109" y="0"/>
                </a:lnTo>
                <a:cubicBezTo>
                  <a:pt x="3655048" y="0"/>
                  <a:pt x="3687425" y="32377"/>
                  <a:pt x="3687425" y="72315"/>
                </a:cubicBezTo>
                <a:lnTo>
                  <a:pt x="3687425" y="3036690"/>
                </a:lnTo>
                <a:cubicBezTo>
                  <a:pt x="3687425" y="3076628"/>
                  <a:pt x="3655048" y="3109005"/>
                  <a:pt x="3615109" y="3109005"/>
                </a:cubicBezTo>
                <a:lnTo>
                  <a:pt x="72315" y="3109005"/>
                </a:lnTo>
                <a:cubicBezTo>
                  <a:pt x="32377" y="3109005"/>
                  <a:pt x="0" y="3076628"/>
                  <a:pt x="0" y="3036690"/>
                </a:cubicBezTo>
                <a:lnTo>
                  <a:pt x="0" y="72315"/>
                </a:lnTo>
                <a:cubicBezTo>
                  <a:pt x="0" y="32403"/>
                  <a:pt x="32403" y="0"/>
                  <a:pt x="72315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2540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178997750" name="Shape 7"/>
          <p:cNvSpPr/>
          <p:nvPr/>
        </p:nvSpPr>
        <p:spPr bwMode="auto">
          <a:xfrm>
            <a:off x="560344" y="2715861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 fill="norm" stroke="1" extrusionOk="0">
                <a:moveTo>
                  <a:pt x="72304" y="0"/>
                </a:moveTo>
                <a:lnTo>
                  <a:pt x="433813" y="0"/>
                </a:lnTo>
                <a:cubicBezTo>
                  <a:pt x="473746" y="0"/>
                  <a:pt x="506117" y="32372"/>
                  <a:pt x="506117" y="72304"/>
                </a:cubicBezTo>
                <a:lnTo>
                  <a:pt x="506117" y="433813"/>
                </a:lnTo>
                <a:cubicBezTo>
                  <a:pt x="506117" y="473746"/>
                  <a:pt x="473746" y="506117"/>
                  <a:pt x="433813" y="506117"/>
                </a:cubicBezTo>
                <a:lnTo>
                  <a:pt x="72304" y="506117"/>
                </a:lnTo>
                <a:cubicBezTo>
                  <a:pt x="32372" y="506117"/>
                  <a:pt x="0" y="473746"/>
                  <a:pt x="0" y="433813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643117001" name="Shape 8"/>
          <p:cNvSpPr/>
          <p:nvPr/>
        </p:nvSpPr>
        <p:spPr bwMode="auto">
          <a:xfrm>
            <a:off x="704949" y="2860466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 fill="norm" stroke="1" extrusionOk="0">
                <a:moveTo>
                  <a:pt x="155563" y="174754"/>
                </a:moveTo>
                <a:lnTo>
                  <a:pt x="42153" y="61344"/>
                </a:lnTo>
                <a:cubicBezTo>
                  <a:pt x="32663" y="74647"/>
                  <a:pt x="27113" y="90915"/>
                  <a:pt x="27113" y="108454"/>
                </a:cubicBezTo>
                <a:cubicBezTo>
                  <a:pt x="27113" y="153360"/>
                  <a:pt x="63547" y="189794"/>
                  <a:pt x="108454" y="189794"/>
                </a:cubicBezTo>
                <a:cubicBezTo>
                  <a:pt x="126035" y="189794"/>
                  <a:pt x="142303" y="184244"/>
                  <a:pt x="155563" y="174754"/>
                </a:cubicBezTo>
                <a:close/>
                <a:moveTo>
                  <a:pt x="174754" y="155563"/>
                </a:moveTo>
                <a:cubicBezTo>
                  <a:pt x="184244" y="142261"/>
                  <a:pt x="189794" y="125993"/>
                  <a:pt x="189794" y="108454"/>
                </a:cubicBezTo>
                <a:cubicBezTo>
                  <a:pt x="189794" y="63547"/>
                  <a:pt x="153360" y="27113"/>
                  <a:pt x="108454" y="27113"/>
                </a:cubicBezTo>
                <a:cubicBezTo>
                  <a:pt x="90872" y="27113"/>
                  <a:pt x="74604" y="32663"/>
                  <a:pt x="61344" y="42153"/>
                </a:cubicBezTo>
                <a:lnTo>
                  <a:pt x="174754" y="155563"/>
                </a:lnTo>
                <a:close/>
                <a:moveTo>
                  <a:pt x="0" y="108454"/>
                </a:moveTo>
                <a:cubicBezTo>
                  <a:pt x="0" y="48596"/>
                  <a:pt x="48596" y="0"/>
                  <a:pt x="108454" y="0"/>
                </a:cubicBezTo>
                <a:cubicBezTo>
                  <a:pt x="168311" y="0"/>
                  <a:pt x="216907" y="48596"/>
                  <a:pt x="216907" y="108454"/>
                </a:cubicBezTo>
                <a:cubicBezTo>
                  <a:pt x="216907" y="168311"/>
                  <a:pt x="168311" y="216907"/>
                  <a:pt x="108454" y="216907"/>
                </a:cubicBezTo>
                <a:cubicBezTo>
                  <a:pt x="48596" y="216907"/>
                  <a:pt x="0" y="168311"/>
                  <a:pt x="0" y="10845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29695012" name="Text 9"/>
          <p:cNvSpPr/>
          <p:nvPr/>
        </p:nvSpPr>
        <p:spPr bwMode="auto">
          <a:xfrm>
            <a:off x="1174915" y="2733936"/>
            <a:ext cx="140086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FF6467"/>
                </a:solidFill>
                <a:latin typeface="Liter"/>
                <a:ea typeface="Liter"/>
                <a:cs typeface="Liter"/>
              </a:rPr>
              <a:t>Sanctions / AML</a:t>
            </a:r>
            <a:endParaRPr lang="en-US" sz="1600"/>
          </a:p>
        </p:txBody>
      </p:sp>
      <p:sp>
        <p:nvSpPr>
          <p:cNvPr id="1144244995" name="Text 10"/>
          <p:cNvSpPr/>
          <p:nvPr/>
        </p:nvSpPr>
        <p:spPr bwMode="auto">
          <a:xfrm>
            <a:off x="1174915" y="2986995"/>
            <a:ext cx="138278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Критический риск</a:t>
            </a:r>
            <a:endParaRPr lang="en-US" sz="1600"/>
          </a:p>
        </p:txBody>
      </p:sp>
      <p:sp>
        <p:nvSpPr>
          <p:cNvPr id="2012467624" name="Shape 11"/>
          <p:cNvSpPr/>
          <p:nvPr/>
        </p:nvSpPr>
        <p:spPr bwMode="auto">
          <a:xfrm>
            <a:off x="564863" y="3371102"/>
            <a:ext cx="3298799" cy="1129726"/>
          </a:xfrm>
          <a:custGeom>
            <a:avLst/>
            <a:gdLst/>
            <a:ahLst/>
            <a:cxnLst/>
            <a:rect l="l" t="t" r="r" b="b"/>
            <a:pathLst>
              <a:path w="3298799" h="1129726" fill="norm" stroke="1" extrusionOk="0">
                <a:moveTo>
                  <a:pt x="72302" y="0"/>
                </a:moveTo>
                <a:lnTo>
                  <a:pt x="3226497" y="0"/>
                </a:lnTo>
                <a:cubicBezTo>
                  <a:pt x="3266428" y="0"/>
                  <a:pt x="3298799" y="32371"/>
                  <a:pt x="3298799" y="72302"/>
                </a:cubicBezTo>
                <a:lnTo>
                  <a:pt x="3298799" y="1057423"/>
                </a:lnTo>
                <a:cubicBezTo>
                  <a:pt x="3298799" y="1097355"/>
                  <a:pt x="3266428" y="1129726"/>
                  <a:pt x="3226497" y="1129726"/>
                </a:cubicBezTo>
                <a:lnTo>
                  <a:pt x="72302" y="1129726"/>
                </a:lnTo>
                <a:cubicBezTo>
                  <a:pt x="32371" y="1129726"/>
                  <a:pt x="0" y="1097355"/>
                  <a:pt x="0" y="1057423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5"/>
              </a:srgbClr>
            </a:solidFill>
            <a:prstDash val="solid"/>
          </a:ln>
        </p:spPr>
      </p:sp>
      <p:sp>
        <p:nvSpPr>
          <p:cNvPr id="1774798524" name="Text 12"/>
          <p:cNvSpPr/>
          <p:nvPr/>
        </p:nvSpPr>
        <p:spPr bwMode="auto">
          <a:xfrm>
            <a:off x="713987" y="3520225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Правило:</a:t>
            </a:r>
            <a:endParaRPr lang="en-US" sz="1600"/>
          </a:p>
        </p:txBody>
      </p:sp>
      <p:sp>
        <p:nvSpPr>
          <p:cNvPr id="1078624417" name="Text 13"/>
          <p:cNvSpPr/>
          <p:nvPr/>
        </p:nvSpPr>
        <p:spPr bwMode="auto">
          <a:xfrm>
            <a:off x="713987" y="3809435"/>
            <a:ext cx="30818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 b="1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</a:rPr>
              <a:t>ВСЕГДА БЛОКИРОВАТЬ</a:t>
            </a:r>
            <a:endParaRPr lang="en-US" sz="1600"/>
          </a:p>
        </p:txBody>
      </p:sp>
      <p:sp>
        <p:nvSpPr>
          <p:cNvPr id="1091584046" name="Text 14"/>
          <p:cNvSpPr/>
          <p:nvPr/>
        </p:nvSpPr>
        <p:spPr bwMode="auto">
          <a:xfrm>
            <a:off x="713987" y="4134796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если верификация недоступна</a:t>
            </a:r>
            <a:endParaRPr lang="en-US" sz="1600"/>
          </a:p>
        </p:txBody>
      </p:sp>
      <p:sp>
        <p:nvSpPr>
          <p:cNvPr id="667551246" name="Shape 15"/>
          <p:cNvSpPr/>
          <p:nvPr/>
        </p:nvSpPr>
        <p:spPr bwMode="auto">
          <a:xfrm>
            <a:off x="586328" y="468610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33406940" name="Text 16"/>
          <p:cNvSpPr/>
          <p:nvPr/>
        </p:nvSpPr>
        <p:spPr bwMode="auto">
          <a:xfrm>
            <a:off x="790808" y="4649951"/>
            <a:ext cx="122914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SWIFT-переводы</a:t>
            </a:r>
            <a:endParaRPr lang="en-US" sz="1600"/>
          </a:p>
        </p:txBody>
      </p:sp>
      <p:sp>
        <p:nvSpPr>
          <p:cNvPr id="686977890" name="Shape 17"/>
          <p:cNvSpPr/>
          <p:nvPr/>
        </p:nvSpPr>
        <p:spPr bwMode="auto">
          <a:xfrm>
            <a:off x="586328" y="497531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96298589" name="Text 18"/>
          <p:cNvSpPr/>
          <p:nvPr/>
        </p:nvSpPr>
        <p:spPr bwMode="auto">
          <a:xfrm>
            <a:off x="790808" y="4939161"/>
            <a:ext cx="179852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Международные платежи</a:t>
            </a:r>
            <a:endParaRPr lang="en-US" sz="1600"/>
          </a:p>
        </p:txBody>
      </p:sp>
      <p:sp>
        <p:nvSpPr>
          <p:cNvPr id="2099724837" name="Shape 19"/>
          <p:cNvSpPr/>
          <p:nvPr/>
        </p:nvSpPr>
        <p:spPr bwMode="auto">
          <a:xfrm>
            <a:off x="586328" y="526452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44444848" name="Text 20"/>
          <p:cNvSpPr/>
          <p:nvPr/>
        </p:nvSpPr>
        <p:spPr bwMode="auto">
          <a:xfrm>
            <a:off x="790808" y="5228371"/>
            <a:ext cx="8314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SDN-листы</a:t>
            </a:r>
            <a:endParaRPr lang="en-US" sz="1600"/>
          </a:p>
        </p:txBody>
      </p:sp>
      <p:sp>
        <p:nvSpPr>
          <p:cNvPr id="1019128919" name="Shape 21"/>
          <p:cNvSpPr/>
          <p:nvPr/>
        </p:nvSpPr>
        <p:spPr bwMode="auto">
          <a:xfrm>
            <a:off x="4254688" y="2526067"/>
            <a:ext cx="3687425" cy="3109005"/>
          </a:xfrm>
          <a:custGeom>
            <a:avLst/>
            <a:gdLst/>
            <a:ahLst/>
            <a:cxnLst/>
            <a:rect l="l" t="t" r="r" b="b"/>
            <a:pathLst>
              <a:path w="3687425" h="3109005" fill="norm" stroke="1" extrusionOk="0">
                <a:moveTo>
                  <a:pt x="72315" y="0"/>
                </a:moveTo>
                <a:lnTo>
                  <a:pt x="3615109" y="0"/>
                </a:lnTo>
                <a:cubicBezTo>
                  <a:pt x="3655048" y="0"/>
                  <a:pt x="3687425" y="32377"/>
                  <a:pt x="3687425" y="72315"/>
                </a:cubicBezTo>
                <a:lnTo>
                  <a:pt x="3687425" y="3036690"/>
                </a:lnTo>
                <a:cubicBezTo>
                  <a:pt x="3687425" y="3076628"/>
                  <a:pt x="3655048" y="3109005"/>
                  <a:pt x="3615109" y="3109005"/>
                </a:cubicBezTo>
                <a:lnTo>
                  <a:pt x="72315" y="3109005"/>
                </a:lnTo>
                <a:cubicBezTo>
                  <a:pt x="32377" y="3109005"/>
                  <a:pt x="0" y="3076628"/>
                  <a:pt x="0" y="3036690"/>
                </a:cubicBezTo>
                <a:lnTo>
                  <a:pt x="0" y="72315"/>
                </a:lnTo>
                <a:cubicBezTo>
                  <a:pt x="0" y="32403"/>
                  <a:pt x="32403" y="0"/>
                  <a:pt x="72315" y="0"/>
                </a:cubicBezTo>
                <a:close/>
              </a:path>
            </a:pathLst>
          </a:custGeom>
          <a:solidFill>
            <a:srgbClr val="733E0A">
              <a:alpha val="20000"/>
            </a:srgbClr>
          </a:solidFill>
          <a:ln w="25400">
            <a:solidFill>
              <a:srgbClr val="F0B100">
                <a:alpha val="50196"/>
              </a:srgbClr>
            </a:solidFill>
            <a:prstDash val="solid"/>
          </a:ln>
        </p:spPr>
      </p:sp>
      <p:sp>
        <p:nvSpPr>
          <p:cNvPr id="840648772" name="Shape 22"/>
          <p:cNvSpPr/>
          <p:nvPr/>
        </p:nvSpPr>
        <p:spPr bwMode="auto">
          <a:xfrm>
            <a:off x="4444482" y="2715861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 fill="norm" stroke="1" extrusionOk="0">
                <a:moveTo>
                  <a:pt x="72304" y="0"/>
                </a:moveTo>
                <a:lnTo>
                  <a:pt x="433813" y="0"/>
                </a:lnTo>
                <a:cubicBezTo>
                  <a:pt x="473746" y="0"/>
                  <a:pt x="506117" y="32372"/>
                  <a:pt x="506117" y="72304"/>
                </a:cubicBezTo>
                <a:lnTo>
                  <a:pt x="506117" y="433813"/>
                </a:lnTo>
                <a:cubicBezTo>
                  <a:pt x="506117" y="473746"/>
                  <a:pt x="473746" y="506117"/>
                  <a:pt x="433813" y="506117"/>
                </a:cubicBezTo>
                <a:lnTo>
                  <a:pt x="72304" y="506117"/>
                </a:lnTo>
                <a:cubicBezTo>
                  <a:pt x="32372" y="506117"/>
                  <a:pt x="0" y="473746"/>
                  <a:pt x="0" y="433813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74938006" name="Shape 23"/>
          <p:cNvSpPr/>
          <p:nvPr/>
        </p:nvSpPr>
        <p:spPr bwMode="auto">
          <a:xfrm>
            <a:off x="4589087" y="2860466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 fill="norm" stroke="1" extrusionOk="0">
                <a:moveTo>
                  <a:pt x="108454" y="0"/>
                </a:moveTo>
                <a:cubicBezTo>
                  <a:pt x="114681" y="0"/>
                  <a:pt x="120401" y="3432"/>
                  <a:pt x="123366" y="8897"/>
                </a:cubicBezTo>
                <a:lnTo>
                  <a:pt x="214874" y="178355"/>
                </a:lnTo>
                <a:cubicBezTo>
                  <a:pt x="217712" y="183609"/>
                  <a:pt x="217585" y="189963"/>
                  <a:pt x="214535" y="195090"/>
                </a:cubicBezTo>
                <a:cubicBezTo>
                  <a:pt x="211485" y="200216"/>
                  <a:pt x="205935" y="203351"/>
                  <a:pt x="199961" y="203351"/>
                </a:cubicBezTo>
                <a:lnTo>
                  <a:pt x="16946" y="203351"/>
                </a:lnTo>
                <a:cubicBezTo>
                  <a:pt x="10972" y="203351"/>
                  <a:pt x="5465" y="200216"/>
                  <a:pt x="2372" y="195090"/>
                </a:cubicBezTo>
                <a:cubicBezTo>
                  <a:pt x="-720" y="189963"/>
                  <a:pt x="-805" y="183609"/>
                  <a:pt x="2034" y="178355"/>
                </a:cubicBezTo>
                <a:lnTo>
                  <a:pt x="93541" y="8897"/>
                </a:lnTo>
                <a:cubicBezTo>
                  <a:pt x="96507" y="3432"/>
                  <a:pt x="102226" y="0"/>
                  <a:pt x="108454" y="0"/>
                </a:cubicBezTo>
                <a:close/>
                <a:moveTo>
                  <a:pt x="108454" y="71173"/>
                </a:moveTo>
                <a:cubicBezTo>
                  <a:pt x="102819" y="71173"/>
                  <a:pt x="98286" y="75706"/>
                  <a:pt x="98286" y="81340"/>
                </a:cubicBezTo>
                <a:lnTo>
                  <a:pt x="98286" y="128789"/>
                </a:lnTo>
                <a:cubicBezTo>
                  <a:pt x="98286" y="134423"/>
                  <a:pt x="102819" y="138956"/>
                  <a:pt x="108454" y="138956"/>
                </a:cubicBezTo>
                <a:cubicBezTo>
                  <a:pt x="114088" y="138956"/>
                  <a:pt x="118621" y="134423"/>
                  <a:pt x="118621" y="128789"/>
                </a:cubicBezTo>
                <a:lnTo>
                  <a:pt x="118621" y="81340"/>
                </a:lnTo>
                <a:cubicBezTo>
                  <a:pt x="118621" y="75706"/>
                  <a:pt x="114088" y="71173"/>
                  <a:pt x="108454" y="71173"/>
                </a:cubicBezTo>
                <a:close/>
                <a:moveTo>
                  <a:pt x="119765" y="162681"/>
                </a:moveTo>
                <a:cubicBezTo>
                  <a:pt x="120022" y="158482"/>
                  <a:pt x="117929" y="154487"/>
                  <a:pt x="114329" y="152310"/>
                </a:cubicBezTo>
                <a:cubicBezTo>
                  <a:pt x="110730" y="150133"/>
                  <a:pt x="106220" y="150133"/>
                  <a:pt x="102620" y="152310"/>
                </a:cubicBezTo>
                <a:cubicBezTo>
                  <a:pt x="99021" y="154487"/>
                  <a:pt x="96927" y="158482"/>
                  <a:pt x="97185" y="162681"/>
                </a:cubicBezTo>
                <a:cubicBezTo>
                  <a:pt x="96927" y="166879"/>
                  <a:pt x="99021" y="170874"/>
                  <a:pt x="102620" y="173051"/>
                </a:cubicBezTo>
                <a:cubicBezTo>
                  <a:pt x="106220" y="175228"/>
                  <a:pt x="110730" y="175228"/>
                  <a:pt x="114329" y="173051"/>
                </a:cubicBezTo>
                <a:cubicBezTo>
                  <a:pt x="117929" y="170874"/>
                  <a:pt x="120022" y="166879"/>
                  <a:pt x="119765" y="162681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1155639581" name="Text 24"/>
          <p:cNvSpPr/>
          <p:nvPr/>
        </p:nvSpPr>
        <p:spPr bwMode="auto">
          <a:xfrm>
            <a:off x="5059053" y="2733936"/>
            <a:ext cx="1671994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FDC700"/>
                </a:solidFill>
                <a:latin typeface="Liter"/>
                <a:ea typeface="Liter"/>
                <a:cs typeface="Liter"/>
              </a:rPr>
              <a:t>High-Risk Transfers</a:t>
            </a:r>
            <a:endParaRPr lang="en-US" sz="1600"/>
          </a:p>
        </p:txBody>
      </p:sp>
      <p:sp>
        <p:nvSpPr>
          <p:cNvPr id="2000778237" name="Text 25"/>
          <p:cNvSpPr/>
          <p:nvPr/>
        </p:nvSpPr>
        <p:spPr bwMode="auto">
          <a:xfrm>
            <a:off x="5059053" y="2986995"/>
            <a:ext cx="165391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Повышенный риск</a:t>
            </a:r>
            <a:endParaRPr lang="en-US" sz="1600"/>
          </a:p>
        </p:txBody>
      </p:sp>
      <p:sp>
        <p:nvSpPr>
          <p:cNvPr id="366545480" name="Shape 26"/>
          <p:cNvSpPr/>
          <p:nvPr/>
        </p:nvSpPr>
        <p:spPr bwMode="auto">
          <a:xfrm>
            <a:off x="4449001" y="3371102"/>
            <a:ext cx="3298799" cy="1129726"/>
          </a:xfrm>
          <a:custGeom>
            <a:avLst/>
            <a:gdLst/>
            <a:ahLst/>
            <a:cxnLst/>
            <a:rect l="l" t="t" r="r" b="b"/>
            <a:pathLst>
              <a:path w="3298799" h="1129726" fill="norm" stroke="1" extrusionOk="0">
                <a:moveTo>
                  <a:pt x="72302" y="0"/>
                </a:moveTo>
                <a:lnTo>
                  <a:pt x="3226497" y="0"/>
                </a:lnTo>
                <a:cubicBezTo>
                  <a:pt x="3266428" y="0"/>
                  <a:pt x="3298799" y="32371"/>
                  <a:pt x="3298799" y="72302"/>
                </a:cubicBezTo>
                <a:lnTo>
                  <a:pt x="3298799" y="1057423"/>
                </a:lnTo>
                <a:cubicBezTo>
                  <a:pt x="3298799" y="1097355"/>
                  <a:pt x="3266428" y="1129726"/>
                  <a:pt x="3226497" y="1129726"/>
                </a:cubicBezTo>
                <a:lnTo>
                  <a:pt x="72302" y="1129726"/>
                </a:lnTo>
                <a:cubicBezTo>
                  <a:pt x="32371" y="1129726"/>
                  <a:pt x="0" y="1097355"/>
                  <a:pt x="0" y="1057423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12700">
            <a:solidFill>
              <a:srgbClr val="F0B100">
                <a:alpha val="30195"/>
              </a:srgbClr>
            </a:solidFill>
            <a:prstDash val="solid"/>
          </a:ln>
        </p:spPr>
      </p:sp>
      <p:sp>
        <p:nvSpPr>
          <p:cNvPr id="847983749" name="Text 27"/>
          <p:cNvSpPr/>
          <p:nvPr/>
        </p:nvSpPr>
        <p:spPr bwMode="auto">
          <a:xfrm>
            <a:off x="4598125" y="3520225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Правило:</a:t>
            </a:r>
            <a:endParaRPr lang="en-US" sz="1600"/>
          </a:p>
        </p:txBody>
      </p:sp>
      <p:sp>
        <p:nvSpPr>
          <p:cNvPr id="1963688757" name="Text 28"/>
          <p:cNvSpPr/>
          <p:nvPr/>
        </p:nvSpPr>
        <p:spPr bwMode="auto">
          <a:xfrm>
            <a:off x="4598125" y="3809435"/>
            <a:ext cx="30818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 b="1">
                <a:solidFill>
                  <a:srgbClr val="FDC700"/>
                </a:solidFill>
                <a:latin typeface="Quattrocento Sans"/>
                <a:ea typeface="Quattrocento Sans"/>
                <a:cs typeface="Quattrocento Sans"/>
              </a:rPr>
              <a:t>ТРЕБОВАТЬ РЕШЕНИЕ ENGINE</a:t>
            </a:r>
            <a:endParaRPr lang="en-US" sz="1600"/>
          </a:p>
        </p:txBody>
      </p:sp>
      <p:sp>
        <p:nvSpPr>
          <p:cNvPr id="1573267546" name="Text 29"/>
          <p:cNvSpPr/>
          <p:nvPr/>
        </p:nvSpPr>
        <p:spPr bwMode="auto">
          <a:xfrm>
            <a:off x="4598125" y="4134796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никаких исключений</a:t>
            </a:r>
            <a:endParaRPr lang="en-US" sz="1600"/>
          </a:p>
        </p:txBody>
      </p:sp>
      <p:sp>
        <p:nvSpPr>
          <p:cNvPr id="1345012724" name="Shape 30"/>
          <p:cNvSpPr/>
          <p:nvPr/>
        </p:nvSpPr>
        <p:spPr bwMode="auto">
          <a:xfrm>
            <a:off x="4470466" y="468610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67521657" name="Text 31"/>
          <p:cNvSpPr/>
          <p:nvPr/>
        </p:nvSpPr>
        <p:spPr bwMode="auto">
          <a:xfrm>
            <a:off x="4674946" y="4649951"/>
            <a:ext cx="165391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Крупные суммы (&gt;$50K)</a:t>
            </a:r>
            <a:endParaRPr lang="en-US" sz="1600"/>
          </a:p>
        </p:txBody>
      </p:sp>
      <p:sp>
        <p:nvSpPr>
          <p:cNvPr id="373689286" name="Shape 32"/>
          <p:cNvSpPr/>
          <p:nvPr/>
        </p:nvSpPr>
        <p:spPr bwMode="auto">
          <a:xfrm>
            <a:off x="4470466" y="497531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622382493" name="Text 33"/>
          <p:cNvSpPr/>
          <p:nvPr/>
        </p:nvSpPr>
        <p:spPr bwMode="auto">
          <a:xfrm>
            <a:off x="4674946" y="4939161"/>
            <a:ext cx="139182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Новые контрагенты</a:t>
            </a:r>
            <a:endParaRPr lang="en-US" sz="1600"/>
          </a:p>
        </p:txBody>
      </p:sp>
      <p:sp>
        <p:nvSpPr>
          <p:cNvPr id="1394446634" name="Shape 34"/>
          <p:cNvSpPr/>
          <p:nvPr/>
        </p:nvSpPr>
        <p:spPr bwMode="auto">
          <a:xfrm>
            <a:off x="4470466" y="526452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1991376303" name="Text 35"/>
          <p:cNvSpPr/>
          <p:nvPr/>
        </p:nvSpPr>
        <p:spPr bwMode="auto">
          <a:xfrm>
            <a:off x="4674946" y="5228371"/>
            <a:ext cx="206062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Высокорисковые юрисдикции</a:t>
            </a:r>
            <a:endParaRPr lang="en-US" sz="1600"/>
          </a:p>
        </p:txBody>
      </p:sp>
      <p:sp>
        <p:nvSpPr>
          <p:cNvPr id="1508591283" name="Shape 36"/>
          <p:cNvSpPr/>
          <p:nvPr/>
        </p:nvSpPr>
        <p:spPr bwMode="auto">
          <a:xfrm>
            <a:off x="8138968" y="2526067"/>
            <a:ext cx="3687425" cy="3109005"/>
          </a:xfrm>
          <a:custGeom>
            <a:avLst/>
            <a:gdLst/>
            <a:ahLst/>
            <a:cxnLst/>
            <a:rect l="l" t="t" r="r" b="b"/>
            <a:pathLst>
              <a:path w="3687425" h="3109005" fill="norm" stroke="1" extrusionOk="0">
                <a:moveTo>
                  <a:pt x="72315" y="0"/>
                </a:moveTo>
                <a:lnTo>
                  <a:pt x="3615109" y="0"/>
                </a:lnTo>
                <a:cubicBezTo>
                  <a:pt x="3655048" y="0"/>
                  <a:pt x="3687425" y="32377"/>
                  <a:pt x="3687425" y="72315"/>
                </a:cubicBezTo>
                <a:lnTo>
                  <a:pt x="3687425" y="3036690"/>
                </a:lnTo>
                <a:cubicBezTo>
                  <a:pt x="3687425" y="3076628"/>
                  <a:pt x="3655048" y="3109005"/>
                  <a:pt x="3615109" y="3109005"/>
                </a:cubicBezTo>
                <a:lnTo>
                  <a:pt x="72315" y="3109005"/>
                </a:lnTo>
                <a:cubicBezTo>
                  <a:pt x="32377" y="3109005"/>
                  <a:pt x="0" y="3076628"/>
                  <a:pt x="0" y="3036690"/>
                </a:cubicBezTo>
                <a:lnTo>
                  <a:pt x="0" y="72315"/>
                </a:lnTo>
                <a:cubicBezTo>
                  <a:pt x="0" y="32403"/>
                  <a:pt x="32403" y="0"/>
                  <a:pt x="72315" y="0"/>
                </a:cubicBezTo>
                <a:close/>
              </a:path>
            </a:pathLst>
          </a:custGeom>
          <a:solidFill>
            <a:srgbClr val="0D542B">
              <a:alpha val="20000"/>
            </a:srgbClr>
          </a:solidFill>
          <a:ln w="25400">
            <a:solidFill>
              <a:srgbClr val="00C950">
                <a:alpha val="50196"/>
              </a:srgbClr>
            </a:solidFill>
            <a:prstDash val="solid"/>
          </a:ln>
        </p:spPr>
      </p:sp>
      <p:sp>
        <p:nvSpPr>
          <p:cNvPr id="1646927442" name="Shape 37"/>
          <p:cNvSpPr/>
          <p:nvPr/>
        </p:nvSpPr>
        <p:spPr bwMode="auto">
          <a:xfrm>
            <a:off x="8328762" y="2715861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 fill="norm" stroke="1" extrusionOk="0">
                <a:moveTo>
                  <a:pt x="72304" y="0"/>
                </a:moveTo>
                <a:lnTo>
                  <a:pt x="433813" y="0"/>
                </a:lnTo>
                <a:cubicBezTo>
                  <a:pt x="473746" y="0"/>
                  <a:pt x="506117" y="32372"/>
                  <a:pt x="506117" y="72304"/>
                </a:cubicBezTo>
                <a:lnTo>
                  <a:pt x="506117" y="433813"/>
                </a:lnTo>
                <a:cubicBezTo>
                  <a:pt x="506117" y="473746"/>
                  <a:pt x="473746" y="506117"/>
                  <a:pt x="433813" y="506117"/>
                </a:cubicBezTo>
                <a:lnTo>
                  <a:pt x="72304" y="506117"/>
                </a:lnTo>
                <a:cubicBezTo>
                  <a:pt x="32372" y="506117"/>
                  <a:pt x="0" y="473746"/>
                  <a:pt x="0" y="433813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451818405" name="Shape 38"/>
          <p:cNvSpPr/>
          <p:nvPr/>
        </p:nvSpPr>
        <p:spPr bwMode="auto">
          <a:xfrm>
            <a:off x="8473367" y="2860466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 fill="norm" stroke="1" extrusionOk="0">
                <a:moveTo>
                  <a:pt x="108454" y="216907"/>
                </a:moveTo>
                <a:cubicBezTo>
                  <a:pt x="168311" y="216907"/>
                  <a:pt x="216907" y="168311"/>
                  <a:pt x="216907" y="108454"/>
                </a:cubicBezTo>
                <a:cubicBezTo>
                  <a:pt x="216907" y="48596"/>
                  <a:pt x="168311" y="0"/>
                  <a:pt x="108454" y="0"/>
                </a:cubicBezTo>
                <a:cubicBezTo>
                  <a:pt x="48596" y="0"/>
                  <a:pt x="0" y="48596"/>
                  <a:pt x="0" y="108454"/>
                </a:cubicBezTo>
                <a:cubicBezTo>
                  <a:pt x="0" y="168311"/>
                  <a:pt x="48596" y="216907"/>
                  <a:pt x="108454" y="216907"/>
                </a:cubicBezTo>
                <a:close/>
                <a:moveTo>
                  <a:pt x="144209" y="90110"/>
                </a:moveTo>
                <a:lnTo>
                  <a:pt x="110318" y="144337"/>
                </a:lnTo>
                <a:cubicBezTo>
                  <a:pt x="108538" y="147175"/>
                  <a:pt x="105488" y="148954"/>
                  <a:pt x="102141" y="149124"/>
                </a:cubicBezTo>
                <a:cubicBezTo>
                  <a:pt x="98795" y="149293"/>
                  <a:pt x="95575" y="147768"/>
                  <a:pt x="93584" y="145057"/>
                </a:cubicBezTo>
                <a:lnTo>
                  <a:pt x="73249" y="117943"/>
                </a:lnTo>
                <a:cubicBezTo>
                  <a:pt x="69859" y="113453"/>
                  <a:pt x="70791" y="107098"/>
                  <a:pt x="75282" y="103709"/>
                </a:cubicBezTo>
                <a:cubicBezTo>
                  <a:pt x="79773" y="100320"/>
                  <a:pt x="86127" y="101252"/>
                  <a:pt x="89517" y="105742"/>
                </a:cubicBezTo>
                <a:lnTo>
                  <a:pt x="100955" y="120994"/>
                </a:lnTo>
                <a:lnTo>
                  <a:pt x="126967" y="79349"/>
                </a:lnTo>
                <a:cubicBezTo>
                  <a:pt x="129933" y="74604"/>
                  <a:pt x="136203" y="73121"/>
                  <a:pt x="140990" y="76129"/>
                </a:cubicBezTo>
                <a:cubicBezTo>
                  <a:pt x="145777" y="79137"/>
                  <a:pt x="147217" y="85365"/>
                  <a:pt x="144209" y="9015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863235982" name="Text 39"/>
          <p:cNvSpPr/>
          <p:nvPr/>
        </p:nvSpPr>
        <p:spPr bwMode="auto">
          <a:xfrm>
            <a:off x="8943332" y="2733936"/>
            <a:ext cx="1671994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05DF72"/>
                </a:solidFill>
                <a:latin typeface="Liter"/>
                <a:ea typeface="Liter"/>
                <a:cs typeface="Liter"/>
              </a:rPr>
              <a:t>Low-Risk Payments</a:t>
            </a:r>
            <a:endParaRPr lang="en-US" sz="1600"/>
          </a:p>
        </p:txBody>
      </p:sp>
      <p:sp>
        <p:nvSpPr>
          <p:cNvPr id="1057606175" name="Text 40"/>
          <p:cNvSpPr/>
          <p:nvPr/>
        </p:nvSpPr>
        <p:spPr bwMode="auto">
          <a:xfrm>
            <a:off x="8943332" y="2986995"/>
            <a:ext cx="165391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Минимальный риск</a:t>
            </a:r>
            <a:endParaRPr lang="en-US" sz="1600"/>
          </a:p>
        </p:txBody>
      </p:sp>
      <p:sp>
        <p:nvSpPr>
          <p:cNvPr id="2023709722" name="Shape 41"/>
          <p:cNvSpPr/>
          <p:nvPr/>
        </p:nvSpPr>
        <p:spPr bwMode="auto">
          <a:xfrm>
            <a:off x="8333280" y="3371102"/>
            <a:ext cx="3298799" cy="1129726"/>
          </a:xfrm>
          <a:custGeom>
            <a:avLst/>
            <a:gdLst/>
            <a:ahLst/>
            <a:cxnLst/>
            <a:rect l="l" t="t" r="r" b="b"/>
            <a:pathLst>
              <a:path w="3298799" h="1129726" fill="norm" stroke="1" extrusionOk="0">
                <a:moveTo>
                  <a:pt x="72302" y="0"/>
                </a:moveTo>
                <a:lnTo>
                  <a:pt x="3226497" y="0"/>
                </a:lnTo>
                <a:cubicBezTo>
                  <a:pt x="3266428" y="0"/>
                  <a:pt x="3298799" y="32371"/>
                  <a:pt x="3298799" y="72302"/>
                </a:cubicBezTo>
                <a:lnTo>
                  <a:pt x="3298799" y="1057423"/>
                </a:lnTo>
                <a:cubicBezTo>
                  <a:pt x="3298799" y="1097355"/>
                  <a:pt x="3266428" y="1129726"/>
                  <a:pt x="3226497" y="1129726"/>
                </a:cubicBezTo>
                <a:lnTo>
                  <a:pt x="72302" y="1129726"/>
                </a:lnTo>
                <a:cubicBezTo>
                  <a:pt x="32371" y="1129726"/>
                  <a:pt x="0" y="1097355"/>
                  <a:pt x="0" y="1057423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5"/>
              </a:srgbClr>
            </a:solidFill>
            <a:prstDash val="solid"/>
          </a:ln>
        </p:spPr>
      </p:sp>
      <p:sp>
        <p:nvSpPr>
          <p:cNvPr id="705605672" name="Text 42"/>
          <p:cNvSpPr/>
          <p:nvPr/>
        </p:nvSpPr>
        <p:spPr bwMode="auto">
          <a:xfrm>
            <a:off x="8482404" y="3520225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Правило:</a:t>
            </a:r>
            <a:endParaRPr lang="en-US" sz="1600"/>
          </a:p>
        </p:txBody>
      </p:sp>
      <p:sp>
        <p:nvSpPr>
          <p:cNvPr id="888959631" name="Text 43"/>
          <p:cNvSpPr/>
          <p:nvPr/>
        </p:nvSpPr>
        <p:spPr bwMode="auto">
          <a:xfrm>
            <a:off x="8482404" y="3809435"/>
            <a:ext cx="30818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 b="1">
                <a:solidFill>
                  <a:srgbClr val="05DF72"/>
                </a:solidFill>
                <a:latin typeface="Quattrocento Sans"/>
                <a:ea typeface="Quattrocento Sans"/>
                <a:cs typeface="Quattrocento Sans"/>
              </a:rPr>
              <a:t>РАЗРЕШИТЬ ПРИ СБОЕ</a:t>
            </a:r>
            <a:endParaRPr lang="en-US" sz="1600"/>
          </a:p>
        </p:txBody>
      </p:sp>
      <p:sp>
        <p:nvSpPr>
          <p:cNvPr id="1114192589" name="Text 44"/>
          <p:cNvSpPr/>
          <p:nvPr/>
        </p:nvSpPr>
        <p:spPr bwMode="auto">
          <a:xfrm>
            <a:off x="8482404" y="4134796"/>
            <a:ext cx="30728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если engine временно недоступен</a:t>
            </a:r>
            <a:endParaRPr lang="en-US" sz="1600"/>
          </a:p>
        </p:txBody>
      </p:sp>
      <p:sp>
        <p:nvSpPr>
          <p:cNvPr id="1206480725" name="Shape 45"/>
          <p:cNvSpPr/>
          <p:nvPr/>
        </p:nvSpPr>
        <p:spPr bwMode="auto">
          <a:xfrm>
            <a:off x="8354745" y="468610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52195379" name="Text 46"/>
          <p:cNvSpPr/>
          <p:nvPr/>
        </p:nvSpPr>
        <p:spPr bwMode="auto">
          <a:xfrm>
            <a:off x="8559226" y="4649951"/>
            <a:ext cx="169910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Коммунальные платежи</a:t>
            </a:r>
            <a:endParaRPr lang="en-US" sz="1600"/>
          </a:p>
        </p:txBody>
      </p:sp>
      <p:sp>
        <p:nvSpPr>
          <p:cNvPr id="584956990" name="Shape 47"/>
          <p:cNvSpPr/>
          <p:nvPr/>
        </p:nvSpPr>
        <p:spPr bwMode="auto">
          <a:xfrm>
            <a:off x="8354745" y="497531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9457963" name="Text 48"/>
          <p:cNvSpPr/>
          <p:nvPr/>
        </p:nvSpPr>
        <p:spPr bwMode="auto">
          <a:xfrm>
            <a:off x="8559226" y="4939161"/>
            <a:ext cx="11568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Телеком-услуги</a:t>
            </a:r>
            <a:endParaRPr lang="en-US" sz="1600"/>
          </a:p>
        </p:txBody>
      </p:sp>
      <p:sp>
        <p:nvSpPr>
          <p:cNvPr id="1818310740" name="Shape 49"/>
          <p:cNvSpPr/>
          <p:nvPr/>
        </p:nvSpPr>
        <p:spPr bwMode="auto">
          <a:xfrm>
            <a:off x="8354745" y="5264522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 fill="norm" stroke="1" extrusionOk="0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835382929" name="Text 50"/>
          <p:cNvSpPr/>
          <p:nvPr/>
        </p:nvSpPr>
        <p:spPr bwMode="auto">
          <a:xfrm>
            <a:off x="8559226" y="5228371"/>
            <a:ext cx="153642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Регулярные подписки</a:t>
            </a:r>
            <a:endParaRPr lang="en-US" sz="1600"/>
          </a:p>
        </p:txBody>
      </p:sp>
      <p:sp>
        <p:nvSpPr>
          <p:cNvPr id="1244710033" name="Shape 51"/>
          <p:cNvSpPr/>
          <p:nvPr/>
        </p:nvSpPr>
        <p:spPr bwMode="auto">
          <a:xfrm>
            <a:off x="366031" y="5829385"/>
            <a:ext cx="3714538" cy="1021272"/>
          </a:xfrm>
          <a:custGeom>
            <a:avLst/>
            <a:gdLst/>
            <a:ahLst/>
            <a:cxnLst/>
            <a:rect l="l" t="t" r="r" b="b"/>
            <a:pathLst>
              <a:path w="3714538" h="1021272" fill="norm" stroke="1" extrusionOk="0">
                <a:moveTo>
                  <a:pt x="72306" y="0"/>
                </a:moveTo>
                <a:lnTo>
                  <a:pt x="3642232" y="0"/>
                </a:lnTo>
                <a:cubicBezTo>
                  <a:pt x="3682166" y="0"/>
                  <a:pt x="3714538" y="32373"/>
                  <a:pt x="3714538" y="72306"/>
                </a:cubicBezTo>
                <a:lnTo>
                  <a:pt x="3714538" y="948966"/>
                </a:lnTo>
                <a:cubicBezTo>
                  <a:pt x="3714538" y="988900"/>
                  <a:pt x="3682166" y="1021272"/>
                  <a:pt x="3642232" y="1021272"/>
                </a:cubicBezTo>
                <a:lnTo>
                  <a:pt x="72306" y="1021272"/>
                </a:lnTo>
                <a:cubicBezTo>
                  <a:pt x="32373" y="1021272"/>
                  <a:pt x="0" y="988900"/>
                  <a:pt x="0" y="948966"/>
                </a:cubicBezTo>
                <a:lnTo>
                  <a:pt x="0" y="72306"/>
                </a:lnTo>
                <a:cubicBezTo>
                  <a:pt x="0" y="32399"/>
                  <a:pt x="32399" y="0"/>
                  <a:pt x="723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05679114" name="Shape 52"/>
          <p:cNvSpPr/>
          <p:nvPr/>
        </p:nvSpPr>
        <p:spPr bwMode="auto">
          <a:xfrm>
            <a:off x="2116824" y="5978509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 fill="norm" stroke="1" extrusionOk="0">
                <a:moveTo>
                  <a:pt x="108454" y="0"/>
                </a:moveTo>
                <a:cubicBezTo>
                  <a:pt x="110402" y="0"/>
                  <a:pt x="112351" y="424"/>
                  <a:pt x="114131" y="1229"/>
                </a:cubicBezTo>
                <a:lnTo>
                  <a:pt x="193946" y="35078"/>
                </a:lnTo>
                <a:cubicBezTo>
                  <a:pt x="203266" y="39018"/>
                  <a:pt x="210214" y="48211"/>
                  <a:pt x="210171" y="59311"/>
                </a:cubicBezTo>
                <a:cubicBezTo>
                  <a:pt x="209960" y="101336"/>
                  <a:pt x="192675" y="178228"/>
                  <a:pt x="119680" y="213179"/>
                </a:cubicBezTo>
                <a:cubicBezTo>
                  <a:pt x="112605" y="216568"/>
                  <a:pt x="104387" y="216568"/>
                  <a:pt x="97312" y="213179"/>
                </a:cubicBezTo>
                <a:cubicBezTo>
                  <a:pt x="24275" y="178228"/>
                  <a:pt x="7033" y="101336"/>
                  <a:pt x="6821" y="59311"/>
                </a:cubicBezTo>
                <a:cubicBezTo>
                  <a:pt x="6778" y="48211"/>
                  <a:pt x="13726" y="39018"/>
                  <a:pt x="23046" y="35078"/>
                </a:cubicBezTo>
                <a:lnTo>
                  <a:pt x="102819" y="1229"/>
                </a:lnTo>
                <a:cubicBezTo>
                  <a:pt x="104598" y="424"/>
                  <a:pt x="106505" y="0"/>
                  <a:pt x="108454" y="0"/>
                </a:cubicBezTo>
                <a:close/>
                <a:moveTo>
                  <a:pt x="108454" y="28300"/>
                </a:moveTo>
                <a:lnTo>
                  <a:pt x="108454" y="188481"/>
                </a:lnTo>
                <a:cubicBezTo>
                  <a:pt x="166917" y="160181"/>
                  <a:pt x="182634" y="97481"/>
                  <a:pt x="183016" y="59946"/>
                </a:cubicBezTo>
                <a:lnTo>
                  <a:pt x="108454" y="28342"/>
                </a:lnTo>
                <a:lnTo>
                  <a:pt x="108454" y="2834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58311708" name="Text 53"/>
          <p:cNvSpPr/>
          <p:nvPr/>
        </p:nvSpPr>
        <p:spPr bwMode="auto">
          <a:xfrm>
            <a:off x="479004" y="6267718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Защита от штрафов</a:t>
            </a:r>
            <a:endParaRPr lang="en-US" sz="1600"/>
          </a:p>
        </p:txBody>
      </p:sp>
      <p:sp>
        <p:nvSpPr>
          <p:cNvPr id="536083827" name="Text 54"/>
          <p:cNvSpPr/>
          <p:nvPr/>
        </p:nvSpPr>
        <p:spPr bwMode="auto">
          <a:xfrm>
            <a:off x="479004" y="6484626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Регуляторные требования соблюдены</a:t>
            </a:r>
            <a:endParaRPr lang="en-US" sz="1600"/>
          </a:p>
        </p:txBody>
      </p:sp>
      <p:sp>
        <p:nvSpPr>
          <p:cNvPr id="596951405" name="Shape 55"/>
          <p:cNvSpPr/>
          <p:nvPr/>
        </p:nvSpPr>
        <p:spPr bwMode="auto">
          <a:xfrm>
            <a:off x="4238166" y="5829385"/>
            <a:ext cx="3714538" cy="1021272"/>
          </a:xfrm>
          <a:custGeom>
            <a:avLst/>
            <a:gdLst/>
            <a:ahLst/>
            <a:cxnLst/>
            <a:rect l="l" t="t" r="r" b="b"/>
            <a:pathLst>
              <a:path w="3714538" h="1021272" fill="norm" stroke="1" extrusionOk="0">
                <a:moveTo>
                  <a:pt x="72306" y="0"/>
                </a:moveTo>
                <a:lnTo>
                  <a:pt x="3642232" y="0"/>
                </a:lnTo>
                <a:cubicBezTo>
                  <a:pt x="3682166" y="0"/>
                  <a:pt x="3714538" y="32373"/>
                  <a:pt x="3714538" y="72306"/>
                </a:cubicBezTo>
                <a:lnTo>
                  <a:pt x="3714538" y="948966"/>
                </a:lnTo>
                <a:cubicBezTo>
                  <a:pt x="3714538" y="988900"/>
                  <a:pt x="3682166" y="1021272"/>
                  <a:pt x="3642232" y="1021272"/>
                </a:cubicBezTo>
                <a:lnTo>
                  <a:pt x="72306" y="1021272"/>
                </a:lnTo>
                <a:cubicBezTo>
                  <a:pt x="32373" y="1021272"/>
                  <a:pt x="0" y="988900"/>
                  <a:pt x="0" y="948966"/>
                </a:cubicBezTo>
                <a:lnTo>
                  <a:pt x="0" y="72306"/>
                </a:lnTo>
                <a:cubicBezTo>
                  <a:pt x="0" y="32399"/>
                  <a:pt x="32399" y="0"/>
                  <a:pt x="723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55729937" name="Shape 56"/>
          <p:cNvSpPr/>
          <p:nvPr/>
        </p:nvSpPr>
        <p:spPr bwMode="auto">
          <a:xfrm>
            <a:off x="5961845" y="5978509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fill="norm" stroke="1" extrusionOk="0">
                <a:moveTo>
                  <a:pt x="162681" y="13557"/>
                </a:moveTo>
                <a:lnTo>
                  <a:pt x="216907" y="13557"/>
                </a:lnTo>
                <a:cubicBezTo>
                  <a:pt x="224406" y="13557"/>
                  <a:pt x="230464" y="19615"/>
                  <a:pt x="230464" y="27113"/>
                </a:cubicBezTo>
                <a:cubicBezTo>
                  <a:pt x="230464" y="34612"/>
                  <a:pt x="224406" y="40670"/>
                  <a:pt x="216907" y="40670"/>
                </a:cubicBezTo>
                <a:lnTo>
                  <a:pt x="168781" y="40670"/>
                </a:lnTo>
                <a:cubicBezTo>
                  <a:pt x="166578" y="51600"/>
                  <a:pt x="159080" y="60624"/>
                  <a:pt x="149124" y="64945"/>
                </a:cubicBezTo>
                <a:lnTo>
                  <a:pt x="149124" y="189794"/>
                </a:lnTo>
                <a:lnTo>
                  <a:pt x="216907" y="189794"/>
                </a:lnTo>
                <a:cubicBezTo>
                  <a:pt x="224406" y="189794"/>
                  <a:pt x="230464" y="195852"/>
                  <a:pt x="230464" y="203351"/>
                </a:cubicBezTo>
                <a:cubicBezTo>
                  <a:pt x="230464" y="210849"/>
                  <a:pt x="224406" y="216907"/>
                  <a:pt x="216907" y="216907"/>
                </a:cubicBezTo>
                <a:lnTo>
                  <a:pt x="54227" y="216907"/>
                </a:lnTo>
                <a:cubicBezTo>
                  <a:pt x="46728" y="216907"/>
                  <a:pt x="40670" y="210849"/>
                  <a:pt x="40670" y="203351"/>
                </a:cubicBezTo>
                <a:cubicBezTo>
                  <a:pt x="40670" y="195852"/>
                  <a:pt x="46728" y="189794"/>
                  <a:pt x="54227" y="189794"/>
                </a:cubicBezTo>
                <a:lnTo>
                  <a:pt x="122010" y="189794"/>
                </a:lnTo>
                <a:lnTo>
                  <a:pt x="122010" y="64945"/>
                </a:lnTo>
                <a:cubicBezTo>
                  <a:pt x="112055" y="60582"/>
                  <a:pt x="104556" y="51558"/>
                  <a:pt x="102353" y="40670"/>
                </a:cubicBezTo>
                <a:lnTo>
                  <a:pt x="54227" y="40670"/>
                </a:lnTo>
                <a:cubicBezTo>
                  <a:pt x="46728" y="40670"/>
                  <a:pt x="40670" y="34612"/>
                  <a:pt x="40670" y="27113"/>
                </a:cubicBezTo>
                <a:cubicBezTo>
                  <a:pt x="40670" y="19615"/>
                  <a:pt x="46728" y="13557"/>
                  <a:pt x="54227" y="13557"/>
                </a:cubicBezTo>
                <a:lnTo>
                  <a:pt x="108454" y="13557"/>
                </a:lnTo>
                <a:cubicBezTo>
                  <a:pt x="114639" y="5338"/>
                  <a:pt x="124468" y="0"/>
                  <a:pt x="135567" y="0"/>
                </a:cubicBezTo>
                <a:cubicBezTo>
                  <a:pt x="146667" y="0"/>
                  <a:pt x="156495" y="5338"/>
                  <a:pt x="162681" y="13557"/>
                </a:cubicBezTo>
                <a:close/>
                <a:moveTo>
                  <a:pt x="186235" y="135567"/>
                </a:moveTo>
                <a:lnTo>
                  <a:pt x="247579" y="135567"/>
                </a:lnTo>
                <a:lnTo>
                  <a:pt x="216907" y="82950"/>
                </a:lnTo>
                <a:lnTo>
                  <a:pt x="186235" y="135567"/>
                </a:lnTo>
                <a:close/>
                <a:moveTo>
                  <a:pt x="216907" y="176237"/>
                </a:moveTo>
                <a:cubicBezTo>
                  <a:pt x="190260" y="176237"/>
                  <a:pt x="168103" y="161833"/>
                  <a:pt x="163528" y="142811"/>
                </a:cubicBezTo>
                <a:cubicBezTo>
                  <a:pt x="162426" y="138151"/>
                  <a:pt x="163951" y="133364"/>
                  <a:pt x="166366" y="129212"/>
                </a:cubicBezTo>
                <a:lnTo>
                  <a:pt x="206697" y="60073"/>
                </a:lnTo>
                <a:cubicBezTo>
                  <a:pt x="208816" y="56430"/>
                  <a:pt x="212713" y="54227"/>
                  <a:pt x="216907" y="54227"/>
                </a:cubicBezTo>
                <a:cubicBezTo>
                  <a:pt x="221101" y="54227"/>
                  <a:pt x="224999" y="56472"/>
                  <a:pt x="227117" y="60073"/>
                </a:cubicBezTo>
                <a:lnTo>
                  <a:pt x="267448" y="129212"/>
                </a:lnTo>
                <a:cubicBezTo>
                  <a:pt x="269863" y="133364"/>
                  <a:pt x="271388" y="138151"/>
                  <a:pt x="270287" y="142811"/>
                </a:cubicBezTo>
                <a:cubicBezTo>
                  <a:pt x="265711" y="161791"/>
                  <a:pt x="243555" y="176237"/>
                  <a:pt x="216907" y="176237"/>
                </a:cubicBezTo>
                <a:close/>
                <a:moveTo>
                  <a:pt x="53718" y="82950"/>
                </a:moveTo>
                <a:lnTo>
                  <a:pt x="23046" y="135567"/>
                </a:lnTo>
                <a:lnTo>
                  <a:pt x="84433" y="135567"/>
                </a:lnTo>
                <a:lnTo>
                  <a:pt x="53718" y="82950"/>
                </a:lnTo>
                <a:close/>
                <a:moveTo>
                  <a:pt x="381" y="142811"/>
                </a:moveTo>
                <a:cubicBezTo>
                  <a:pt x="-720" y="138151"/>
                  <a:pt x="805" y="133364"/>
                  <a:pt x="3220" y="129212"/>
                </a:cubicBezTo>
                <a:lnTo>
                  <a:pt x="43551" y="60073"/>
                </a:lnTo>
                <a:cubicBezTo>
                  <a:pt x="45669" y="56430"/>
                  <a:pt x="49567" y="54227"/>
                  <a:pt x="53761" y="54227"/>
                </a:cubicBezTo>
                <a:cubicBezTo>
                  <a:pt x="57955" y="54227"/>
                  <a:pt x="61852" y="56472"/>
                  <a:pt x="63971" y="60073"/>
                </a:cubicBezTo>
                <a:lnTo>
                  <a:pt x="104302" y="129212"/>
                </a:lnTo>
                <a:cubicBezTo>
                  <a:pt x="106717" y="133364"/>
                  <a:pt x="108242" y="138151"/>
                  <a:pt x="107140" y="142811"/>
                </a:cubicBezTo>
                <a:cubicBezTo>
                  <a:pt x="102565" y="161791"/>
                  <a:pt x="80408" y="176237"/>
                  <a:pt x="53761" y="176237"/>
                </a:cubicBezTo>
                <a:cubicBezTo>
                  <a:pt x="27113" y="176237"/>
                  <a:pt x="4957" y="161833"/>
                  <a:pt x="381" y="14281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11263024" name="Text 57"/>
          <p:cNvSpPr/>
          <p:nvPr/>
        </p:nvSpPr>
        <p:spPr bwMode="auto">
          <a:xfrm>
            <a:off x="4351139" y="6267718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Risk-based approach</a:t>
            </a:r>
            <a:endParaRPr lang="en-US" sz="1600"/>
          </a:p>
        </p:txBody>
      </p:sp>
      <p:sp>
        <p:nvSpPr>
          <p:cNvPr id="1748376686" name="Text 58"/>
          <p:cNvSpPr/>
          <p:nvPr/>
        </p:nvSpPr>
        <p:spPr bwMode="auto">
          <a:xfrm>
            <a:off x="4351139" y="6484626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Пропорциональность мер</a:t>
            </a:r>
            <a:endParaRPr lang="en-US" sz="1600"/>
          </a:p>
        </p:txBody>
      </p:sp>
      <p:sp>
        <p:nvSpPr>
          <p:cNvPr id="1939948519" name="Shape 59"/>
          <p:cNvSpPr/>
          <p:nvPr/>
        </p:nvSpPr>
        <p:spPr bwMode="auto">
          <a:xfrm>
            <a:off x="8110301" y="5829385"/>
            <a:ext cx="3714538" cy="1021272"/>
          </a:xfrm>
          <a:custGeom>
            <a:avLst/>
            <a:gdLst/>
            <a:ahLst/>
            <a:cxnLst/>
            <a:rect l="l" t="t" r="r" b="b"/>
            <a:pathLst>
              <a:path w="3714538" h="1021272" fill="norm" stroke="1" extrusionOk="0">
                <a:moveTo>
                  <a:pt x="72306" y="0"/>
                </a:moveTo>
                <a:lnTo>
                  <a:pt x="3642232" y="0"/>
                </a:lnTo>
                <a:cubicBezTo>
                  <a:pt x="3682166" y="0"/>
                  <a:pt x="3714538" y="32373"/>
                  <a:pt x="3714538" y="72306"/>
                </a:cubicBezTo>
                <a:lnTo>
                  <a:pt x="3714538" y="948966"/>
                </a:lnTo>
                <a:cubicBezTo>
                  <a:pt x="3714538" y="988900"/>
                  <a:pt x="3682166" y="1021272"/>
                  <a:pt x="3642232" y="1021272"/>
                </a:cubicBezTo>
                <a:lnTo>
                  <a:pt x="72306" y="1021272"/>
                </a:lnTo>
                <a:cubicBezTo>
                  <a:pt x="32373" y="1021272"/>
                  <a:pt x="0" y="988900"/>
                  <a:pt x="0" y="948966"/>
                </a:cubicBezTo>
                <a:lnTo>
                  <a:pt x="0" y="72306"/>
                </a:lnTo>
                <a:cubicBezTo>
                  <a:pt x="0" y="32399"/>
                  <a:pt x="32399" y="0"/>
                  <a:pt x="723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710605177" name="Shape 60"/>
          <p:cNvSpPr/>
          <p:nvPr/>
        </p:nvSpPr>
        <p:spPr bwMode="auto">
          <a:xfrm>
            <a:off x="9847537" y="5978509"/>
            <a:ext cx="244021" cy="216907"/>
          </a:xfrm>
          <a:custGeom>
            <a:avLst/>
            <a:gdLst/>
            <a:ahLst/>
            <a:cxnLst/>
            <a:rect l="l" t="t" r="r" b="b"/>
            <a:pathLst>
              <a:path w="244021" h="216907" fill="norm" stroke="1" extrusionOk="0">
                <a:moveTo>
                  <a:pt x="94897" y="105064"/>
                </a:moveTo>
                <a:cubicBezTo>
                  <a:pt x="122955" y="105064"/>
                  <a:pt x="145735" y="82285"/>
                  <a:pt x="145735" y="54227"/>
                </a:cubicBezTo>
                <a:cubicBezTo>
                  <a:pt x="145735" y="26169"/>
                  <a:pt x="122955" y="3389"/>
                  <a:pt x="94897" y="3389"/>
                </a:cubicBezTo>
                <a:cubicBezTo>
                  <a:pt x="66839" y="3389"/>
                  <a:pt x="44059" y="26169"/>
                  <a:pt x="44059" y="54227"/>
                </a:cubicBezTo>
                <a:cubicBezTo>
                  <a:pt x="44059" y="82285"/>
                  <a:pt x="66839" y="105064"/>
                  <a:pt x="94897" y="105064"/>
                </a:cubicBezTo>
                <a:close/>
                <a:moveTo>
                  <a:pt x="82315" y="128789"/>
                </a:moveTo>
                <a:cubicBezTo>
                  <a:pt x="40585" y="128789"/>
                  <a:pt x="6778" y="162596"/>
                  <a:pt x="6778" y="204325"/>
                </a:cubicBezTo>
                <a:cubicBezTo>
                  <a:pt x="6778" y="211273"/>
                  <a:pt x="12413" y="216907"/>
                  <a:pt x="19361" y="216907"/>
                </a:cubicBezTo>
                <a:lnTo>
                  <a:pt x="125908" y="216907"/>
                </a:lnTo>
                <a:cubicBezTo>
                  <a:pt x="110572" y="198860"/>
                  <a:pt x="101675" y="175602"/>
                  <a:pt x="101675" y="150988"/>
                </a:cubicBezTo>
                <a:lnTo>
                  <a:pt x="101675" y="137812"/>
                </a:lnTo>
                <a:cubicBezTo>
                  <a:pt x="101675" y="134720"/>
                  <a:pt x="102099" y="131670"/>
                  <a:pt x="102904" y="128789"/>
                </a:cubicBezTo>
                <a:lnTo>
                  <a:pt x="82315" y="128789"/>
                </a:lnTo>
                <a:close/>
                <a:moveTo>
                  <a:pt x="188650" y="206952"/>
                </a:moveTo>
                <a:lnTo>
                  <a:pt x="183016" y="209621"/>
                </a:lnTo>
                <a:lnTo>
                  <a:pt x="183016" y="129933"/>
                </a:lnTo>
                <a:lnTo>
                  <a:pt x="223686" y="143489"/>
                </a:lnTo>
                <a:lnTo>
                  <a:pt x="223686" y="151793"/>
                </a:lnTo>
                <a:cubicBezTo>
                  <a:pt x="223686" y="175432"/>
                  <a:pt x="210044" y="196911"/>
                  <a:pt x="188650" y="206994"/>
                </a:cubicBezTo>
                <a:close/>
                <a:moveTo>
                  <a:pt x="178737" y="109936"/>
                </a:moveTo>
                <a:lnTo>
                  <a:pt x="131288" y="125738"/>
                </a:lnTo>
                <a:cubicBezTo>
                  <a:pt x="125738" y="127603"/>
                  <a:pt x="122010" y="132771"/>
                  <a:pt x="122010" y="138617"/>
                </a:cubicBezTo>
                <a:lnTo>
                  <a:pt x="122010" y="151793"/>
                </a:lnTo>
                <a:cubicBezTo>
                  <a:pt x="122010" y="183312"/>
                  <a:pt x="140227" y="211993"/>
                  <a:pt x="168696" y="225380"/>
                </a:cubicBezTo>
                <a:lnTo>
                  <a:pt x="176534" y="229066"/>
                </a:lnTo>
                <a:cubicBezTo>
                  <a:pt x="178567" y="229998"/>
                  <a:pt x="180770" y="230506"/>
                  <a:pt x="182973" y="230506"/>
                </a:cubicBezTo>
                <a:cubicBezTo>
                  <a:pt x="185176" y="230506"/>
                  <a:pt x="187421" y="229998"/>
                  <a:pt x="189413" y="229066"/>
                </a:cubicBezTo>
                <a:lnTo>
                  <a:pt x="197250" y="225380"/>
                </a:lnTo>
                <a:cubicBezTo>
                  <a:pt x="225804" y="211951"/>
                  <a:pt x="244021" y="183270"/>
                  <a:pt x="244021" y="151750"/>
                </a:cubicBezTo>
                <a:lnTo>
                  <a:pt x="244021" y="138575"/>
                </a:lnTo>
                <a:cubicBezTo>
                  <a:pt x="244021" y="132729"/>
                  <a:pt x="240293" y="127560"/>
                  <a:pt x="234743" y="125696"/>
                </a:cubicBezTo>
                <a:lnTo>
                  <a:pt x="187294" y="109894"/>
                </a:lnTo>
                <a:cubicBezTo>
                  <a:pt x="184498" y="108962"/>
                  <a:pt x="181490" y="108962"/>
                  <a:pt x="178737" y="10989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91224776" name="Text 61"/>
          <p:cNvSpPr/>
          <p:nvPr/>
        </p:nvSpPr>
        <p:spPr bwMode="auto">
          <a:xfrm>
            <a:off x="8223274" y="6267718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Клиентский опыт</a:t>
            </a:r>
            <a:endParaRPr lang="en-US" sz="1600"/>
          </a:p>
        </p:txBody>
      </p:sp>
      <p:sp>
        <p:nvSpPr>
          <p:cNvPr id="573267238" name="Text 62"/>
          <p:cNvSpPr/>
          <p:nvPr/>
        </p:nvSpPr>
        <p:spPr bwMode="auto">
          <a:xfrm>
            <a:off x="8223274" y="6484626"/>
            <a:ext cx="34885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Критичные операции работают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170752" name="Shape 0"/>
          <p:cNvSpPr/>
          <p:nvPr/>
        </p:nvSpPr>
        <p:spPr bwMode="auto">
          <a:xfrm>
            <a:off x="333341" y="333341"/>
            <a:ext cx="33334" cy="333341"/>
          </a:xfrm>
          <a:custGeom>
            <a:avLst/>
            <a:gdLst/>
            <a:ahLst/>
            <a:cxnLst/>
            <a:rect l="l" t="t" r="r" b="b"/>
            <a:pathLst>
              <a:path w="33334" h="333342" fill="norm" stroke="1" extrusionOk="0">
                <a:moveTo>
                  <a:pt x="0" y="0"/>
                </a:moveTo>
                <a:lnTo>
                  <a:pt x="33334" y="0"/>
                </a:lnTo>
                <a:lnTo>
                  <a:pt x="33334" y="333342"/>
                </a:lnTo>
                <a:lnTo>
                  <a:pt x="0" y="333342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35626278" name="Text 1"/>
          <p:cNvSpPr/>
          <p:nvPr/>
        </p:nvSpPr>
        <p:spPr bwMode="auto">
          <a:xfrm>
            <a:off x="466679" y="400011"/>
            <a:ext cx="172504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 spc="52">
                <a:solidFill>
                  <a:srgbClr val="C0A062"/>
                </a:solidFill>
                <a:latin typeface="Liter"/>
                <a:ea typeface="Liter"/>
                <a:cs typeface="Liter"/>
              </a:rPr>
              <a:t>ИНТЕГРАЦИЯ С LEGACY</a:t>
            </a:r>
            <a:endParaRPr lang="en-US" sz="1600"/>
          </a:p>
        </p:txBody>
      </p:sp>
      <p:sp>
        <p:nvSpPr>
          <p:cNvPr id="587017052" name="Text 2"/>
          <p:cNvSpPr/>
          <p:nvPr/>
        </p:nvSpPr>
        <p:spPr bwMode="auto">
          <a:xfrm>
            <a:off x="333341" y="766688"/>
            <a:ext cx="11725321" cy="40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15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Тройная стратегия интеграции</a:t>
            </a:r>
            <a:endParaRPr lang="en-US" sz="1600"/>
          </a:p>
        </p:txBody>
      </p:sp>
      <p:sp>
        <p:nvSpPr>
          <p:cNvPr id="1404844341" name="Shape 3"/>
          <p:cNvSpPr/>
          <p:nvPr/>
        </p:nvSpPr>
        <p:spPr bwMode="auto">
          <a:xfrm>
            <a:off x="350010" y="1333370"/>
            <a:ext cx="11508648" cy="825023"/>
          </a:xfrm>
          <a:custGeom>
            <a:avLst/>
            <a:gdLst/>
            <a:ahLst/>
            <a:cxnLst/>
            <a:rect l="l" t="t" r="r" b="b"/>
            <a:pathLst>
              <a:path w="11508648" h="825023" fill="norm" stroke="1" extrusionOk="0">
                <a:moveTo>
                  <a:pt x="0" y="0"/>
                </a:moveTo>
                <a:lnTo>
                  <a:pt x="11441978" y="0"/>
                </a:lnTo>
                <a:cubicBezTo>
                  <a:pt x="11478799" y="0"/>
                  <a:pt x="11508648" y="29849"/>
                  <a:pt x="11508648" y="66670"/>
                </a:cubicBezTo>
                <a:lnTo>
                  <a:pt x="11508648" y="758352"/>
                </a:lnTo>
                <a:cubicBezTo>
                  <a:pt x="11508648" y="795173"/>
                  <a:pt x="11478799" y="825023"/>
                  <a:pt x="11441978" y="825023"/>
                </a:cubicBezTo>
                <a:lnTo>
                  <a:pt x="0" y="8250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4968970" name="Shape 4"/>
          <p:cNvSpPr/>
          <p:nvPr/>
        </p:nvSpPr>
        <p:spPr bwMode="auto">
          <a:xfrm>
            <a:off x="350010" y="1333370"/>
            <a:ext cx="33334" cy="825023"/>
          </a:xfrm>
          <a:custGeom>
            <a:avLst/>
            <a:gdLst/>
            <a:ahLst/>
            <a:cxnLst/>
            <a:rect l="l" t="t" r="r" b="b"/>
            <a:pathLst>
              <a:path w="33334" h="825023" fill="norm" stroke="1" extrusionOk="0">
                <a:moveTo>
                  <a:pt x="0" y="0"/>
                </a:moveTo>
                <a:lnTo>
                  <a:pt x="33334" y="0"/>
                </a:lnTo>
                <a:lnTo>
                  <a:pt x="33334" y="825023"/>
                </a:lnTo>
                <a:lnTo>
                  <a:pt x="0" y="825023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88795230" name="Text 5"/>
          <p:cNvSpPr/>
          <p:nvPr/>
        </p:nvSpPr>
        <p:spPr bwMode="auto">
          <a:xfrm>
            <a:off x="533348" y="1500041"/>
            <a:ext cx="11233640" cy="49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REVENANT предлагает </a:t>
            </a:r>
            <a:r>
              <a:rPr lang="en-US" sz="12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три режима интеграции</a:t>
            </a: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с legacy банковскими системами. Это устраняет главный барьер развёртывания в консервативных банках — необходимость модификации существующих АБС.</a:t>
            </a:r>
            <a:endParaRPr lang="en-US" sz="1600"/>
          </a:p>
        </p:txBody>
      </p:sp>
      <p:sp>
        <p:nvSpPr>
          <p:cNvPr id="957745412" name="Shape 6"/>
          <p:cNvSpPr/>
          <p:nvPr/>
        </p:nvSpPr>
        <p:spPr bwMode="auto">
          <a:xfrm>
            <a:off x="341676" y="2329230"/>
            <a:ext cx="3716768" cy="3200087"/>
          </a:xfrm>
          <a:custGeom>
            <a:avLst/>
            <a:gdLst/>
            <a:ahLst/>
            <a:cxnLst/>
            <a:rect l="l" t="t" r="r" b="b"/>
            <a:pathLst>
              <a:path w="3716768" h="3200087" fill="norm" stroke="1" extrusionOk="0">
                <a:moveTo>
                  <a:pt x="66658" y="0"/>
                </a:moveTo>
                <a:lnTo>
                  <a:pt x="3650110" y="0"/>
                </a:lnTo>
                <a:cubicBezTo>
                  <a:pt x="3686900" y="0"/>
                  <a:pt x="3716768" y="29868"/>
                  <a:pt x="3716768" y="66658"/>
                </a:cubicBezTo>
                <a:lnTo>
                  <a:pt x="3716768" y="3133430"/>
                </a:lnTo>
                <a:cubicBezTo>
                  <a:pt x="3716768" y="3170219"/>
                  <a:pt x="3686900" y="3200087"/>
                  <a:pt x="3650110" y="3200087"/>
                </a:cubicBezTo>
                <a:lnTo>
                  <a:pt x="66658" y="3200087"/>
                </a:lnTo>
                <a:cubicBezTo>
                  <a:pt x="29868" y="3200087"/>
                  <a:pt x="0" y="3170219"/>
                  <a:pt x="0" y="3133430"/>
                </a:cubicBezTo>
                <a:lnTo>
                  <a:pt x="0" y="66658"/>
                </a:lnTo>
                <a:cubicBezTo>
                  <a:pt x="0" y="29844"/>
                  <a:pt x="29844" y="0"/>
                  <a:pt x="66658" y="0"/>
                </a:cubicBezTo>
                <a:close/>
              </a:path>
            </a:pathLst>
          </a:custGeom>
          <a:gradFill>
            <a:gsLst>
              <a:gs pos="0">
                <a:srgbClr val="C0A062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1330958290" name="Shape 7"/>
          <p:cNvSpPr/>
          <p:nvPr/>
        </p:nvSpPr>
        <p:spPr bwMode="auto">
          <a:xfrm>
            <a:off x="516681" y="2504235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 fill="norm" stroke="1" extrusionOk="0">
                <a:moveTo>
                  <a:pt x="66670" y="0"/>
                </a:moveTo>
                <a:lnTo>
                  <a:pt x="400010" y="0"/>
                </a:lnTo>
                <a:cubicBezTo>
                  <a:pt x="436806" y="0"/>
                  <a:pt x="466679" y="29874"/>
                  <a:pt x="466679" y="66670"/>
                </a:cubicBezTo>
                <a:lnTo>
                  <a:pt x="466679" y="400010"/>
                </a:lnTo>
                <a:cubicBezTo>
                  <a:pt x="466679" y="436806"/>
                  <a:pt x="436806" y="466679"/>
                  <a:pt x="400010" y="466679"/>
                </a:cubicBezTo>
                <a:lnTo>
                  <a:pt x="66670" y="466679"/>
                </a:lnTo>
                <a:cubicBezTo>
                  <a:pt x="29874" y="466679"/>
                  <a:pt x="0" y="436806"/>
                  <a:pt x="0" y="400010"/>
                </a:cubicBezTo>
                <a:lnTo>
                  <a:pt x="0" y="66670"/>
                </a:lnTo>
                <a:cubicBezTo>
                  <a:pt x="0" y="29874"/>
                  <a:pt x="29874" y="0"/>
                  <a:pt x="6667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50082424" name="Shape 8"/>
          <p:cNvSpPr/>
          <p:nvPr/>
        </p:nvSpPr>
        <p:spPr bwMode="auto">
          <a:xfrm>
            <a:off x="662518" y="2637572"/>
            <a:ext cx="175005" cy="200005"/>
          </a:xfrm>
          <a:custGeom>
            <a:avLst/>
            <a:gdLst/>
            <a:ahLst/>
            <a:cxnLst/>
            <a:rect l="l" t="t" r="r" b="b"/>
            <a:pathLst>
              <a:path w="175005" h="200005" fill="norm" stroke="1" extrusionOk="0">
                <a:moveTo>
                  <a:pt x="132347" y="-3867"/>
                </a:moveTo>
                <a:cubicBezTo>
                  <a:pt x="136996" y="-508"/>
                  <a:pt x="138715" y="5586"/>
                  <a:pt x="136605" y="10899"/>
                </a:cubicBezTo>
                <a:lnTo>
                  <a:pt x="105979" y="87502"/>
                </a:lnTo>
                <a:lnTo>
                  <a:pt x="162504" y="87502"/>
                </a:lnTo>
                <a:cubicBezTo>
                  <a:pt x="167778" y="87502"/>
                  <a:pt x="172466" y="90784"/>
                  <a:pt x="174263" y="95745"/>
                </a:cubicBezTo>
                <a:cubicBezTo>
                  <a:pt x="176060" y="100706"/>
                  <a:pt x="174536" y="106253"/>
                  <a:pt x="170512" y="109612"/>
                </a:cubicBezTo>
                <a:lnTo>
                  <a:pt x="58009" y="203365"/>
                </a:lnTo>
                <a:cubicBezTo>
                  <a:pt x="53595" y="207037"/>
                  <a:pt x="47306" y="207232"/>
                  <a:pt x="42657" y="203873"/>
                </a:cubicBezTo>
                <a:cubicBezTo>
                  <a:pt x="38009" y="200513"/>
                  <a:pt x="36290" y="194419"/>
                  <a:pt x="38399" y="189107"/>
                </a:cubicBezTo>
                <a:lnTo>
                  <a:pt x="69025" y="112503"/>
                </a:lnTo>
                <a:lnTo>
                  <a:pt x="12500" y="112503"/>
                </a:lnTo>
                <a:cubicBezTo>
                  <a:pt x="7227" y="112503"/>
                  <a:pt x="2539" y="109222"/>
                  <a:pt x="742" y="104261"/>
                </a:cubicBezTo>
                <a:cubicBezTo>
                  <a:pt x="-1055" y="99300"/>
                  <a:pt x="469" y="93753"/>
                  <a:pt x="4492" y="90393"/>
                </a:cubicBezTo>
                <a:lnTo>
                  <a:pt x="116995" y="-3359"/>
                </a:lnTo>
                <a:cubicBezTo>
                  <a:pt x="121410" y="-7031"/>
                  <a:pt x="127699" y="-7227"/>
                  <a:pt x="132347" y="-386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2885009" name="Text 9"/>
          <p:cNvSpPr/>
          <p:nvPr/>
        </p:nvSpPr>
        <p:spPr bwMode="auto">
          <a:xfrm>
            <a:off x="1083363" y="2504235"/>
            <a:ext cx="1325036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Modern CDC</a:t>
            </a:r>
            <a:endParaRPr lang="en-US" sz="1600"/>
          </a:p>
        </p:txBody>
      </p:sp>
      <p:sp>
        <p:nvSpPr>
          <p:cNvPr id="1249181822" name="Text 10"/>
          <p:cNvSpPr/>
          <p:nvPr/>
        </p:nvSpPr>
        <p:spPr bwMode="auto">
          <a:xfrm>
            <a:off x="1083363" y="2770909"/>
            <a:ext cx="129170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Change Data Capture</a:t>
            </a:r>
            <a:endParaRPr lang="en-US" sz="1600"/>
          </a:p>
        </p:txBody>
      </p:sp>
      <p:sp>
        <p:nvSpPr>
          <p:cNvPr id="1097635460" name="Shape 11"/>
          <p:cNvSpPr/>
          <p:nvPr/>
        </p:nvSpPr>
        <p:spPr bwMode="auto">
          <a:xfrm>
            <a:off x="520848" y="3108418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964439153" name="Shape 12"/>
          <p:cNvSpPr/>
          <p:nvPr/>
        </p:nvSpPr>
        <p:spPr bwMode="auto">
          <a:xfrm>
            <a:off x="650018" y="3245922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 fill="norm" stroke="1" extrusionOk="0">
                <a:moveTo>
                  <a:pt x="116670" y="53595"/>
                </a:moveTo>
                <a:cubicBezTo>
                  <a:pt x="112816" y="56147"/>
                  <a:pt x="108388" y="58205"/>
                  <a:pt x="103779" y="59845"/>
                </a:cubicBezTo>
                <a:cubicBezTo>
                  <a:pt x="91539" y="64221"/>
                  <a:pt x="75471" y="66668"/>
                  <a:pt x="58335" y="66668"/>
                </a:cubicBezTo>
                <a:cubicBezTo>
                  <a:pt x="41199" y="66668"/>
                  <a:pt x="25105" y="64194"/>
                  <a:pt x="12891" y="59845"/>
                </a:cubicBezTo>
                <a:cubicBezTo>
                  <a:pt x="8308" y="58205"/>
                  <a:pt x="3854" y="56147"/>
                  <a:pt x="0" y="53595"/>
                </a:cubicBezTo>
                <a:lnTo>
                  <a:pt x="0" y="75002"/>
                </a:lnTo>
                <a:cubicBezTo>
                  <a:pt x="0" y="86513"/>
                  <a:pt x="26121" y="95836"/>
                  <a:pt x="58335" y="95836"/>
                </a:cubicBezTo>
                <a:cubicBezTo>
                  <a:pt x="90549" y="95836"/>
                  <a:pt x="116670" y="86513"/>
                  <a:pt x="116670" y="75002"/>
                </a:cubicBezTo>
                <a:lnTo>
                  <a:pt x="116670" y="53595"/>
                </a:lnTo>
                <a:close/>
                <a:moveTo>
                  <a:pt x="116670" y="33334"/>
                </a:moveTo>
                <a:lnTo>
                  <a:pt x="116670" y="20834"/>
                </a:lnTo>
                <a:cubicBezTo>
                  <a:pt x="116670" y="9323"/>
                  <a:pt x="90549" y="0"/>
                  <a:pt x="58335" y="0"/>
                </a:cubicBezTo>
                <a:cubicBezTo>
                  <a:pt x="26121" y="0"/>
                  <a:pt x="0" y="9323"/>
                  <a:pt x="0" y="20834"/>
                </a:cubicBezTo>
                <a:lnTo>
                  <a:pt x="0" y="33334"/>
                </a:lnTo>
                <a:cubicBezTo>
                  <a:pt x="0" y="44845"/>
                  <a:pt x="26121" y="54168"/>
                  <a:pt x="58335" y="54168"/>
                </a:cubicBezTo>
                <a:cubicBezTo>
                  <a:pt x="90549" y="54168"/>
                  <a:pt x="116670" y="44845"/>
                  <a:pt x="116670" y="33334"/>
                </a:cubicBezTo>
                <a:close/>
                <a:moveTo>
                  <a:pt x="103779" y="101513"/>
                </a:moveTo>
                <a:cubicBezTo>
                  <a:pt x="91565" y="105862"/>
                  <a:pt x="75497" y="108336"/>
                  <a:pt x="58335" y="108336"/>
                </a:cubicBezTo>
                <a:cubicBezTo>
                  <a:pt x="41173" y="108336"/>
                  <a:pt x="25105" y="105862"/>
                  <a:pt x="12891" y="101513"/>
                </a:cubicBezTo>
                <a:cubicBezTo>
                  <a:pt x="8308" y="99873"/>
                  <a:pt x="3854" y="97815"/>
                  <a:pt x="0" y="95263"/>
                </a:cubicBezTo>
                <a:lnTo>
                  <a:pt x="0" y="112503"/>
                </a:lnTo>
                <a:cubicBezTo>
                  <a:pt x="0" y="124014"/>
                  <a:pt x="26121" y="133337"/>
                  <a:pt x="58335" y="133337"/>
                </a:cubicBezTo>
                <a:cubicBezTo>
                  <a:pt x="90549" y="133337"/>
                  <a:pt x="116670" y="124014"/>
                  <a:pt x="116670" y="112503"/>
                </a:cubicBezTo>
                <a:lnTo>
                  <a:pt x="116670" y="95263"/>
                </a:lnTo>
                <a:cubicBezTo>
                  <a:pt x="112816" y="97815"/>
                  <a:pt x="108388" y="99873"/>
                  <a:pt x="103779" y="10151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92828275" name="Text 13"/>
          <p:cNvSpPr/>
          <p:nvPr/>
        </p:nvSpPr>
        <p:spPr bwMode="auto">
          <a:xfrm>
            <a:off x="858357" y="3212588"/>
            <a:ext cx="101669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Oracle LogMiner</a:t>
            </a:r>
            <a:endParaRPr lang="en-US" sz="1600"/>
          </a:p>
        </p:txBody>
      </p:sp>
      <p:sp>
        <p:nvSpPr>
          <p:cNvPr id="324800809" name="Text 14"/>
          <p:cNvSpPr/>
          <p:nvPr/>
        </p:nvSpPr>
        <p:spPr bwMode="auto">
          <a:xfrm>
            <a:off x="625017" y="347926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Чтение redo logs в реальном времени</a:t>
            </a:r>
            <a:endParaRPr lang="en-US" sz="1600"/>
          </a:p>
        </p:txBody>
      </p:sp>
      <p:sp>
        <p:nvSpPr>
          <p:cNvPr id="51783242" name="Shape 15"/>
          <p:cNvSpPr/>
          <p:nvPr/>
        </p:nvSpPr>
        <p:spPr bwMode="auto">
          <a:xfrm>
            <a:off x="520848" y="3891773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549412538" name="Shape 16"/>
          <p:cNvSpPr/>
          <p:nvPr/>
        </p:nvSpPr>
        <p:spPr bwMode="auto">
          <a:xfrm>
            <a:off x="650018" y="4029277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 fill="norm" stroke="1" extrusionOk="0">
                <a:moveTo>
                  <a:pt x="116670" y="53595"/>
                </a:moveTo>
                <a:cubicBezTo>
                  <a:pt x="112816" y="56147"/>
                  <a:pt x="108388" y="58205"/>
                  <a:pt x="103779" y="59845"/>
                </a:cubicBezTo>
                <a:cubicBezTo>
                  <a:pt x="91539" y="64221"/>
                  <a:pt x="75471" y="66668"/>
                  <a:pt x="58335" y="66668"/>
                </a:cubicBezTo>
                <a:cubicBezTo>
                  <a:pt x="41199" y="66668"/>
                  <a:pt x="25105" y="64194"/>
                  <a:pt x="12891" y="59845"/>
                </a:cubicBezTo>
                <a:cubicBezTo>
                  <a:pt x="8308" y="58205"/>
                  <a:pt x="3854" y="56147"/>
                  <a:pt x="0" y="53595"/>
                </a:cubicBezTo>
                <a:lnTo>
                  <a:pt x="0" y="75002"/>
                </a:lnTo>
                <a:cubicBezTo>
                  <a:pt x="0" y="86513"/>
                  <a:pt x="26121" y="95836"/>
                  <a:pt x="58335" y="95836"/>
                </a:cubicBezTo>
                <a:cubicBezTo>
                  <a:pt x="90549" y="95836"/>
                  <a:pt x="116670" y="86513"/>
                  <a:pt x="116670" y="75002"/>
                </a:cubicBezTo>
                <a:lnTo>
                  <a:pt x="116670" y="53595"/>
                </a:lnTo>
                <a:close/>
                <a:moveTo>
                  <a:pt x="116670" y="33334"/>
                </a:moveTo>
                <a:lnTo>
                  <a:pt x="116670" y="20834"/>
                </a:lnTo>
                <a:cubicBezTo>
                  <a:pt x="116670" y="9323"/>
                  <a:pt x="90549" y="0"/>
                  <a:pt x="58335" y="0"/>
                </a:cubicBezTo>
                <a:cubicBezTo>
                  <a:pt x="26121" y="0"/>
                  <a:pt x="0" y="9323"/>
                  <a:pt x="0" y="20834"/>
                </a:cubicBezTo>
                <a:lnTo>
                  <a:pt x="0" y="33334"/>
                </a:lnTo>
                <a:cubicBezTo>
                  <a:pt x="0" y="44845"/>
                  <a:pt x="26121" y="54168"/>
                  <a:pt x="58335" y="54168"/>
                </a:cubicBezTo>
                <a:cubicBezTo>
                  <a:pt x="90549" y="54168"/>
                  <a:pt x="116670" y="44845"/>
                  <a:pt x="116670" y="33334"/>
                </a:cubicBezTo>
                <a:close/>
                <a:moveTo>
                  <a:pt x="103779" y="101513"/>
                </a:moveTo>
                <a:cubicBezTo>
                  <a:pt x="91565" y="105862"/>
                  <a:pt x="75497" y="108336"/>
                  <a:pt x="58335" y="108336"/>
                </a:cubicBezTo>
                <a:cubicBezTo>
                  <a:pt x="41173" y="108336"/>
                  <a:pt x="25105" y="105862"/>
                  <a:pt x="12891" y="101513"/>
                </a:cubicBezTo>
                <a:cubicBezTo>
                  <a:pt x="8308" y="99873"/>
                  <a:pt x="3854" y="97815"/>
                  <a:pt x="0" y="95263"/>
                </a:cubicBezTo>
                <a:lnTo>
                  <a:pt x="0" y="112503"/>
                </a:lnTo>
                <a:cubicBezTo>
                  <a:pt x="0" y="124014"/>
                  <a:pt x="26121" y="133337"/>
                  <a:pt x="58335" y="133337"/>
                </a:cubicBezTo>
                <a:cubicBezTo>
                  <a:pt x="90549" y="133337"/>
                  <a:pt x="116670" y="124014"/>
                  <a:pt x="116670" y="112503"/>
                </a:cubicBezTo>
                <a:lnTo>
                  <a:pt x="116670" y="95263"/>
                </a:lnTo>
                <a:cubicBezTo>
                  <a:pt x="112816" y="97815"/>
                  <a:pt x="108388" y="99873"/>
                  <a:pt x="103779" y="10151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62043260" name="Text 17"/>
          <p:cNvSpPr/>
          <p:nvPr/>
        </p:nvSpPr>
        <p:spPr bwMode="auto">
          <a:xfrm>
            <a:off x="858357" y="3995943"/>
            <a:ext cx="106669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PostgreSQL WAL</a:t>
            </a:r>
            <a:endParaRPr lang="en-US" sz="1600"/>
          </a:p>
        </p:txBody>
      </p:sp>
      <p:sp>
        <p:nvSpPr>
          <p:cNvPr id="483133426" name="Text 18"/>
          <p:cNvSpPr/>
          <p:nvPr/>
        </p:nvSpPr>
        <p:spPr bwMode="auto">
          <a:xfrm>
            <a:off x="625017" y="4262617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Write-Ahead Log streaming</a:t>
            </a:r>
            <a:endParaRPr lang="en-US" sz="1600"/>
          </a:p>
        </p:txBody>
      </p:sp>
      <p:sp>
        <p:nvSpPr>
          <p:cNvPr id="374555195" name="Shape 19"/>
          <p:cNvSpPr/>
          <p:nvPr/>
        </p:nvSpPr>
        <p:spPr bwMode="auto">
          <a:xfrm>
            <a:off x="520848" y="4708462"/>
            <a:ext cx="3358425" cy="641684"/>
          </a:xfrm>
          <a:custGeom>
            <a:avLst/>
            <a:gdLst/>
            <a:ahLst/>
            <a:cxnLst/>
            <a:rect l="l" t="t" r="r" b="b"/>
            <a:pathLst>
              <a:path w="3358425" h="641684" fill="norm" stroke="1" extrusionOk="0">
                <a:moveTo>
                  <a:pt x="66671" y="0"/>
                </a:moveTo>
                <a:lnTo>
                  <a:pt x="3291754" y="0"/>
                </a:lnTo>
                <a:cubicBezTo>
                  <a:pt x="3328576" y="0"/>
                  <a:pt x="3358425" y="29850"/>
                  <a:pt x="3358425" y="66671"/>
                </a:cubicBezTo>
                <a:lnTo>
                  <a:pt x="3358425" y="575013"/>
                </a:lnTo>
                <a:cubicBezTo>
                  <a:pt x="3358425" y="611810"/>
                  <a:pt x="3328551" y="641684"/>
                  <a:pt x="3291754" y="641684"/>
                </a:cubicBezTo>
                <a:lnTo>
                  <a:pt x="66671" y="641684"/>
                </a:lnTo>
                <a:cubicBezTo>
                  <a:pt x="29850" y="641684"/>
                  <a:pt x="0" y="611835"/>
                  <a:pt x="0" y="575013"/>
                </a:cubicBezTo>
                <a:lnTo>
                  <a:pt x="0" y="66671"/>
                </a:lnTo>
                <a:cubicBezTo>
                  <a:pt x="0" y="29850"/>
                  <a:pt x="29850" y="0"/>
                  <a:pt x="6667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1731450546" name="Text 20"/>
          <p:cNvSpPr/>
          <p:nvPr/>
        </p:nvSpPr>
        <p:spPr bwMode="auto">
          <a:xfrm>
            <a:off x="625017" y="481263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Преимущество:</a:t>
            </a:r>
            <a:endParaRPr lang="en-US" sz="1600"/>
          </a:p>
        </p:txBody>
      </p:sp>
      <p:sp>
        <p:nvSpPr>
          <p:cNvPr id="309105824" name="Text 21"/>
          <p:cNvSpPr/>
          <p:nvPr/>
        </p:nvSpPr>
        <p:spPr bwMode="auto">
          <a:xfrm>
            <a:off x="625017" y="5045971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Near real-time streaming без нагрузки на БД</a:t>
            </a:r>
            <a:endParaRPr lang="en-US" sz="1600"/>
          </a:p>
        </p:txBody>
      </p:sp>
      <p:sp>
        <p:nvSpPr>
          <p:cNvPr id="1975618526" name="Shape 22"/>
          <p:cNvSpPr/>
          <p:nvPr/>
        </p:nvSpPr>
        <p:spPr bwMode="auto">
          <a:xfrm>
            <a:off x="4239309" y="2329230"/>
            <a:ext cx="3716768" cy="3200087"/>
          </a:xfrm>
          <a:custGeom>
            <a:avLst/>
            <a:gdLst/>
            <a:ahLst/>
            <a:cxnLst/>
            <a:rect l="l" t="t" r="r" b="b"/>
            <a:pathLst>
              <a:path w="3716768" h="3200087" fill="norm" stroke="1" extrusionOk="0">
                <a:moveTo>
                  <a:pt x="66658" y="0"/>
                </a:moveTo>
                <a:lnTo>
                  <a:pt x="3650110" y="0"/>
                </a:lnTo>
                <a:cubicBezTo>
                  <a:pt x="3686900" y="0"/>
                  <a:pt x="3716768" y="29868"/>
                  <a:pt x="3716768" y="66658"/>
                </a:cubicBezTo>
                <a:lnTo>
                  <a:pt x="3716768" y="3133430"/>
                </a:lnTo>
                <a:cubicBezTo>
                  <a:pt x="3716768" y="3170219"/>
                  <a:pt x="3686900" y="3200087"/>
                  <a:pt x="3650110" y="3200087"/>
                </a:cubicBezTo>
                <a:lnTo>
                  <a:pt x="66658" y="3200087"/>
                </a:lnTo>
                <a:cubicBezTo>
                  <a:pt x="29868" y="3200087"/>
                  <a:pt x="0" y="3170219"/>
                  <a:pt x="0" y="3133430"/>
                </a:cubicBezTo>
                <a:lnTo>
                  <a:pt x="0" y="66658"/>
                </a:lnTo>
                <a:cubicBezTo>
                  <a:pt x="0" y="29844"/>
                  <a:pt x="29844" y="0"/>
                  <a:pt x="6665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54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580378109" name="Shape 23"/>
          <p:cNvSpPr/>
          <p:nvPr/>
        </p:nvSpPr>
        <p:spPr bwMode="auto">
          <a:xfrm>
            <a:off x="4414313" y="2504235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 fill="norm" stroke="1" extrusionOk="0">
                <a:moveTo>
                  <a:pt x="66670" y="0"/>
                </a:moveTo>
                <a:lnTo>
                  <a:pt x="400010" y="0"/>
                </a:lnTo>
                <a:cubicBezTo>
                  <a:pt x="436806" y="0"/>
                  <a:pt x="466679" y="29874"/>
                  <a:pt x="466679" y="66670"/>
                </a:cubicBezTo>
                <a:lnTo>
                  <a:pt x="466679" y="400010"/>
                </a:lnTo>
                <a:cubicBezTo>
                  <a:pt x="466679" y="436806"/>
                  <a:pt x="436806" y="466679"/>
                  <a:pt x="400010" y="466679"/>
                </a:cubicBezTo>
                <a:lnTo>
                  <a:pt x="66670" y="466679"/>
                </a:lnTo>
                <a:cubicBezTo>
                  <a:pt x="29874" y="466679"/>
                  <a:pt x="0" y="436806"/>
                  <a:pt x="0" y="400010"/>
                </a:cubicBezTo>
                <a:lnTo>
                  <a:pt x="0" y="66670"/>
                </a:lnTo>
                <a:cubicBezTo>
                  <a:pt x="0" y="29874"/>
                  <a:pt x="29874" y="0"/>
                  <a:pt x="66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737075201" name="Shape 24"/>
          <p:cNvSpPr/>
          <p:nvPr/>
        </p:nvSpPr>
        <p:spPr bwMode="auto">
          <a:xfrm>
            <a:off x="4560151" y="2637572"/>
            <a:ext cx="175005" cy="200005"/>
          </a:xfrm>
          <a:custGeom>
            <a:avLst/>
            <a:gdLst/>
            <a:ahLst/>
            <a:cxnLst/>
            <a:rect l="l" t="t" r="r" b="b"/>
            <a:pathLst>
              <a:path w="175005" h="200005" fill="norm" stroke="1" extrusionOk="0">
                <a:moveTo>
                  <a:pt x="100003" y="62502"/>
                </a:moveTo>
                <a:lnTo>
                  <a:pt x="100003" y="100003"/>
                </a:lnTo>
                <a:lnTo>
                  <a:pt x="150004" y="100003"/>
                </a:lnTo>
                <a:lnTo>
                  <a:pt x="150004" y="62502"/>
                </a:lnTo>
                <a:lnTo>
                  <a:pt x="100003" y="62502"/>
                </a:lnTo>
                <a:close/>
                <a:moveTo>
                  <a:pt x="75002" y="62502"/>
                </a:moveTo>
                <a:lnTo>
                  <a:pt x="25001" y="62502"/>
                </a:lnTo>
                <a:lnTo>
                  <a:pt x="25001" y="100003"/>
                </a:lnTo>
                <a:lnTo>
                  <a:pt x="75002" y="100003"/>
                </a:lnTo>
                <a:lnTo>
                  <a:pt x="75002" y="62502"/>
                </a:lnTo>
                <a:close/>
                <a:moveTo>
                  <a:pt x="0" y="125003"/>
                </a:moveTo>
                <a:lnTo>
                  <a:pt x="0" y="37501"/>
                </a:lnTo>
                <a:cubicBezTo>
                  <a:pt x="0" y="23712"/>
                  <a:pt x="11211" y="12500"/>
                  <a:pt x="25001" y="12500"/>
                </a:cubicBezTo>
                <a:lnTo>
                  <a:pt x="150004" y="12500"/>
                </a:lnTo>
                <a:cubicBezTo>
                  <a:pt x="163794" y="12500"/>
                  <a:pt x="175005" y="23712"/>
                  <a:pt x="175005" y="37501"/>
                </a:cubicBezTo>
                <a:lnTo>
                  <a:pt x="175005" y="162504"/>
                </a:lnTo>
                <a:cubicBezTo>
                  <a:pt x="175005" y="176294"/>
                  <a:pt x="163794" y="187505"/>
                  <a:pt x="150004" y="187505"/>
                </a:cubicBezTo>
                <a:lnTo>
                  <a:pt x="25001" y="187505"/>
                </a:lnTo>
                <a:cubicBezTo>
                  <a:pt x="11211" y="187505"/>
                  <a:pt x="0" y="176294"/>
                  <a:pt x="0" y="162504"/>
                </a:cubicBezTo>
                <a:lnTo>
                  <a:pt x="0" y="125003"/>
                </a:lnTo>
                <a:close/>
                <a:moveTo>
                  <a:pt x="150004" y="125003"/>
                </a:moveTo>
                <a:lnTo>
                  <a:pt x="100003" y="125003"/>
                </a:lnTo>
                <a:lnTo>
                  <a:pt x="100003" y="162504"/>
                </a:lnTo>
                <a:lnTo>
                  <a:pt x="150004" y="162504"/>
                </a:lnTo>
                <a:lnTo>
                  <a:pt x="150004" y="125003"/>
                </a:lnTo>
                <a:close/>
                <a:moveTo>
                  <a:pt x="75002" y="162504"/>
                </a:moveTo>
                <a:lnTo>
                  <a:pt x="75002" y="125003"/>
                </a:lnTo>
                <a:lnTo>
                  <a:pt x="25001" y="125003"/>
                </a:lnTo>
                <a:lnTo>
                  <a:pt x="25001" y="162504"/>
                </a:lnTo>
                <a:lnTo>
                  <a:pt x="75002" y="16250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9598526" name="Text 25"/>
          <p:cNvSpPr/>
          <p:nvPr/>
        </p:nvSpPr>
        <p:spPr bwMode="auto">
          <a:xfrm>
            <a:off x="4980996" y="2504235"/>
            <a:ext cx="1341703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Shadow Table</a:t>
            </a:r>
            <a:endParaRPr lang="en-US" sz="1600"/>
          </a:p>
        </p:txBody>
      </p:sp>
      <p:sp>
        <p:nvSpPr>
          <p:cNvPr id="1712583973" name="Text 26"/>
          <p:cNvSpPr/>
          <p:nvPr/>
        </p:nvSpPr>
        <p:spPr bwMode="auto">
          <a:xfrm>
            <a:off x="4980996" y="2770909"/>
            <a:ext cx="130836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Adapter</a:t>
            </a:r>
            <a:endParaRPr lang="en-US" sz="1600"/>
          </a:p>
        </p:txBody>
      </p:sp>
      <p:sp>
        <p:nvSpPr>
          <p:cNvPr id="1241200818" name="Shape 27"/>
          <p:cNvSpPr/>
          <p:nvPr/>
        </p:nvSpPr>
        <p:spPr bwMode="auto">
          <a:xfrm>
            <a:off x="4418480" y="3108418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437788240" name="Shape 28"/>
          <p:cNvSpPr/>
          <p:nvPr/>
        </p:nvSpPr>
        <p:spPr bwMode="auto">
          <a:xfrm>
            <a:off x="4530983" y="3245922"/>
            <a:ext cx="150004" cy="133337"/>
          </a:xfrm>
          <a:custGeom>
            <a:avLst/>
            <a:gdLst/>
            <a:ahLst/>
            <a:cxnLst/>
            <a:rect l="l" t="t" r="r" b="b"/>
            <a:pathLst>
              <a:path w="150004" h="133337" fill="norm" stroke="1" extrusionOk="0">
                <a:moveTo>
                  <a:pt x="93961" y="313"/>
                </a:moveTo>
                <a:cubicBezTo>
                  <a:pt x="89534" y="-964"/>
                  <a:pt x="84924" y="1615"/>
                  <a:pt x="83648" y="6042"/>
                </a:cubicBezTo>
                <a:lnTo>
                  <a:pt x="50314" y="122712"/>
                </a:lnTo>
                <a:cubicBezTo>
                  <a:pt x="49038" y="127139"/>
                  <a:pt x="51616" y="131748"/>
                  <a:pt x="56043" y="133024"/>
                </a:cubicBezTo>
                <a:cubicBezTo>
                  <a:pt x="60470" y="134301"/>
                  <a:pt x="65080" y="131722"/>
                  <a:pt x="66356" y="127295"/>
                </a:cubicBezTo>
                <a:lnTo>
                  <a:pt x="99690" y="10625"/>
                </a:lnTo>
                <a:cubicBezTo>
                  <a:pt x="100966" y="6198"/>
                  <a:pt x="98388" y="1589"/>
                  <a:pt x="93961" y="313"/>
                </a:cubicBezTo>
                <a:close/>
                <a:moveTo>
                  <a:pt x="110784" y="35756"/>
                </a:moveTo>
                <a:cubicBezTo>
                  <a:pt x="107529" y="39011"/>
                  <a:pt x="107529" y="44298"/>
                  <a:pt x="110784" y="47553"/>
                </a:cubicBezTo>
                <a:lnTo>
                  <a:pt x="129899" y="66668"/>
                </a:lnTo>
                <a:lnTo>
                  <a:pt x="110784" y="85784"/>
                </a:lnTo>
                <a:cubicBezTo>
                  <a:pt x="107529" y="89039"/>
                  <a:pt x="107529" y="94325"/>
                  <a:pt x="110784" y="97581"/>
                </a:cubicBezTo>
                <a:cubicBezTo>
                  <a:pt x="114040" y="100836"/>
                  <a:pt x="119326" y="100836"/>
                  <a:pt x="122581" y="97581"/>
                </a:cubicBezTo>
                <a:lnTo>
                  <a:pt x="147582" y="72580"/>
                </a:lnTo>
                <a:cubicBezTo>
                  <a:pt x="150837" y="69325"/>
                  <a:pt x="150837" y="64038"/>
                  <a:pt x="147582" y="60783"/>
                </a:cubicBezTo>
                <a:lnTo>
                  <a:pt x="122581" y="35782"/>
                </a:lnTo>
                <a:cubicBezTo>
                  <a:pt x="119326" y="32527"/>
                  <a:pt x="114040" y="32527"/>
                  <a:pt x="110784" y="35782"/>
                </a:cubicBezTo>
                <a:close/>
                <a:moveTo>
                  <a:pt x="39246" y="35756"/>
                </a:moveTo>
                <a:cubicBezTo>
                  <a:pt x="35991" y="32501"/>
                  <a:pt x="30704" y="32501"/>
                  <a:pt x="27449" y="35756"/>
                </a:cubicBezTo>
                <a:lnTo>
                  <a:pt x="2448" y="60757"/>
                </a:lnTo>
                <a:cubicBezTo>
                  <a:pt x="-807" y="64012"/>
                  <a:pt x="-807" y="69299"/>
                  <a:pt x="2448" y="72554"/>
                </a:cubicBezTo>
                <a:lnTo>
                  <a:pt x="27449" y="97555"/>
                </a:lnTo>
                <a:cubicBezTo>
                  <a:pt x="30704" y="100810"/>
                  <a:pt x="35991" y="100810"/>
                  <a:pt x="39246" y="97555"/>
                </a:cubicBezTo>
                <a:cubicBezTo>
                  <a:pt x="42501" y="94299"/>
                  <a:pt x="42501" y="89013"/>
                  <a:pt x="39246" y="85758"/>
                </a:cubicBezTo>
                <a:lnTo>
                  <a:pt x="20131" y="66668"/>
                </a:lnTo>
                <a:lnTo>
                  <a:pt x="39220" y="47553"/>
                </a:lnTo>
                <a:cubicBezTo>
                  <a:pt x="42475" y="44298"/>
                  <a:pt x="42475" y="39011"/>
                  <a:pt x="39220" y="3575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31158172" name="Text 29"/>
          <p:cNvSpPr/>
          <p:nvPr/>
        </p:nvSpPr>
        <p:spPr bwMode="auto">
          <a:xfrm>
            <a:off x="4755989" y="3212588"/>
            <a:ext cx="120003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Lightweight triggers</a:t>
            </a:r>
            <a:endParaRPr lang="en-US" sz="1600"/>
          </a:p>
        </p:txBody>
      </p:sp>
      <p:sp>
        <p:nvSpPr>
          <p:cNvPr id="1126396204" name="Text 30"/>
          <p:cNvSpPr/>
          <p:nvPr/>
        </p:nvSpPr>
        <p:spPr bwMode="auto">
          <a:xfrm>
            <a:off x="4522650" y="347926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Минимальное вмешательство</a:t>
            </a:r>
            <a:endParaRPr lang="en-US" sz="1600"/>
          </a:p>
        </p:txBody>
      </p:sp>
      <p:sp>
        <p:nvSpPr>
          <p:cNvPr id="261765578" name="Shape 31"/>
          <p:cNvSpPr/>
          <p:nvPr/>
        </p:nvSpPr>
        <p:spPr bwMode="auto">
          <a:xfrm>
            <a:off x="4418480" y="3891773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72084101" name="Shape 32"/>
          <p:cNvSpPr/>
          <p:nvPr/>
        </p:nvSpPr>
        <p:spPr bwMode="auto">
          <a:xfrm>
            <a:off x="4530983" y="4029277"/>
            <a:ext cx="150004" cy="133337"/>
          </a:xfrm>
          <a:custGeom>
            <a:avLst/>
            <a:gdLst/>
            <a:ahLst/>
            <a:cxnLst/>
            <a:rect l="l" t="t" r="r" b="b"/>
            <a:pathLst>
              <a:path w="150004" h="133337" fill="norm" stroke="1" extrusionOk="0">
                <a:moveTo>
                  <a:pt x="58335" y="2083"/>
                </a:moveTo>
                <a:cubicBezTo>
                  <a:pt x="75583" y="2083"/>
                  <a:pt x="89586" y="16086"/>
                  <a:pt x="89586" y="33334"/>
                </a:cubicBezTo>
                <a:cubicBezTo>
                  <a:pt x="89586" y="50582"/>
                  <a:pt x="75583" y="64585"/>
                  <a:pt x="58335" y="64585"/>
                </a:cubicBezTo>
                <a:cubicBezTo>
                  <a:pt x="41087" y="64585"/>
                  <a:pt x="27084" y="50582"/>
                  <a:pt x="27084" y="33334"/>
                </a:cubicBezTo>
                <a:cubicBezTo>
                  <a:pt x="27084" y="16086"/>
                  <a:pt x="41087" y="2083"/>
                  <a:pt x="58335" y="2083"/>
                </a:cubicBezTo>
                <a:close/>
                <a:moveTo>
                  <a:pt x="50600" y="79169"/>
                </a:moveTo>
                <a:lnTo>
                  <a:pt x="66070" y="79169"/>
                </a:lnTo>
                <a:cubicBezTo>
                  <a:pt x="73804" y="79169"/>
                  <a:pt x="81096" y="81070"/>
                  <a:pt x="87502" y="84403"/>
                </a:cubicBezTo>
                <a:lnTo>
                  <a:pt x="87502" y="85523"/>
                </a:lnTo>
                <a:cubicBezTo>
                  <a:pt x="82398" y="90107"/>
                  <a:pt x="79169" y="96747"/>
                  <a:pt x="79169" y="104143"/>
                </a:cubicBezTo>
                <a:lnTo>
                  <a:pt x="79169" y="129144"/>
                </a:lnTo>
                <a:cubicBezTo>
                  <a:pt x="79169" y="130576"/>
                  <a:pt x="79299" y="131983"/>
                  <a:pt x="79507" y="133337"/>
                </a:cubicBezTo>
                <a:lnTo>
                  <a:pt x="11901" y="133337"/>
                </a:lnTo>
                <a:cubicBezTo>
                  <a:pt x="7630" y="133337"/>
                  <a:pt x="4167" y="129873"/>
                  <a:pt x="4167" y="125602"/>
                </a:cubicBezTo>
                <a:cubicBezTo>
                  <a:pt x="4167" y="99951"/>
                  <a:pt x="24949" y="79169"/>
                  <a:pt x="50600" y="79169"/>
                </a:cubicBezTo>
                <a:close/>
                <a:moveTo>
                  <a:pt x="129170" y="79195"/>
                </a:moveTo>
                <a:cubicBezTo>
                  <a:pt x="129170" y="74585"/>
                  <a:pt x="125446" y="70861"/>
                  <a:pt x="120837" y="70861"/>
                </a:cubicBezTo>
                <a:cubicBezTo>
                  <a:pt x="116227" y="70861"/>
                  <a:pt x="112503" y="74585"/>
                  <a:pt x="112503" y="79195"/>
                </a:cubicBezTo>
                <a:lnTo>
                  <a:pt x="112503" y="91669"/>
                </a:lnTo>
                <a:lnTo>
                  <a:pt x="129170" y="91669"/>
                </a:lnTo>
                <a:lnTo>
                  <a:pt x="129170" y="79195"/>
                </a:lnTo>
                <a:close/>
                <a:moveTo>
                  <a:pt x="91669" y="104170"/>
                </a:moveTo>
                <a:cubicBezTo>
                  <a:pt x="91669" y="98727"/>
                  <a:pt x="95159" y="94091"/>
                  <a:pt x="100003" y="92372"/>
                </a:cubicBezTo>
                <a:lnTo>
                  <a:pt x="100003" y="79195"/>
                </a:lnTo>
                <a:cubicBezTo>
                  <a:pt x="100003" y="67684"/>
                  <a:pt x="109326" y="58361"/>
                  <a:pt x="120837" y="58361"/>
                </a:cubicBezTo>
                <a:cubicBezTo>
                  <a:pt x="132347" y="58361"/>
                  <a:pt x="141671" y="67684"/>
                  <a:pt x="141671" y="79195"/>
                </a:cubicBezTo>
                <a:lnTo>
                  <a:pt x="141671" y="92372"/>
                </a:lnTo>
                <a:cubicBezTo>
                  <a:pt x="146514" y="94091"/>
                  <a:pt x="150004" y="98727"/>
                  <a:pt x="150004" y="104170"/>
                </a:cubicBezTo>
                <a:lnTo>
                  <a:pt x="150004" y="129170"/>
                </a:lnTo>
                <a:cubicBezTo>
                  <a:pt x="150004" y="136071"/>
                  <a:pt x="144405" y="141671"/>
                  <a:pt x="137504" y="141671"/>
                </a:cubicBezTo>
                <a:lnTo>
                  <a:pt x="104170" y="141671"/>
                </a:lnTo>
                <a:cubicBezTo>
                  <a:pt x="97268" y="141671"/>
                  <a:pt x="91669" y="136071"/>
                  <a:pt x="91669" y="129170"/>
                </a:cubicBezTo>
                <a:lnTo>
                  <a:pt x="91669" y="10417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28533735" name="Text 33"/>
          <p:cNvSpPr/>
          <p:nvPr/>
        </p:nvSpPr>
        <p:spPr bwMode="auto">
          <a:xfrm>
            <a:off x="4755989" y="3995943"/>
            <a:ext cx="125003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Minimal permissions</a:t>
            </a:r>
            <a:endParaRPr lang="en-US" sz="1600"/>
          </a:p>
        </p:txBody>
      </p:sp>
      <p:sp>
        <p:nvSpPr>
          <p:cNvPr id="109646197" name="Text 34"/>
          <p:cNvSpPr/>
          <p:nvPr/>
        </p:nvSpPr>
        <p:spPr bwMode="auto">
          <a:xfrm>
            <a:off x="4522650" y="4262617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Только SELECT + INSERT</a:t>
            </a:r>
            <a:endParaRPr lang="en-US" sz="1600"/>
          </a:p>
        </p:txBody>
      </p:sp>
      <p:sp>
        <p:nvSpPr>
          <p:cNvPr id="1922890740" name="Shape 35"/>
          <p:cNvSpPr/>
          <p:nvPr/>
        </p:nvSpPr>
        <p:spPr bwMode="auto">
          <a:xfrm>
            <a:off x="4418480" y="4708462"/>
            <a:ext cx="3358425" cy="641684"/>
          </a:xfrm>
          <a:custGeom>
            <a:avLst/>
            <a:gdLst/>
            <a:ahLst/>
            <a:cxnLst/>
            <a:rect l="l" t="t" r="r" b="b"/>
            <a:pathLst>
              <a:path w="3358425" h="641684" fill="norm" stroke="1" extrusionOk="0">
                <a:moveTo>
                  <a:pt x="66671" y="0"/>
                </a:moveTo>
                <a:lnTo>
                  <a:pt x="3291754" y="0"/>
                </a:lnTo>
                <a:cubicBezTo>
                  <a:pt x="3328576" y="0"/>
                  <a:pt x="3358425" y="29850"/>
                  <a:pt x="3358425" y="66671"/>
                </a:cubicBezTo>
                <a:lnTo>
                  <a:pt x="3358425" y="575013"/>
                </a:lnTo>
                <a:cubicBezTo>
                  <a:pt x="3358425" y="611810"/>
                  <a:pt x="3328551" y="641684"/>
                  <a:pt x="3291754" y="641684"/>
                </a:cubicBezTo>
                <a:lnTo>
                  <a:pt x="66671" y="641684"/>
                </a:lnTo>
                <a:cubicBezTo>
                  <a:pt x="29850" y="641684"/>
                  <a:pt x="0" y="611835"/>
                  <a:pt x="0" y="575013"/>
                </a:cubicBezTo>
                <a:lnTo>
                  <a:pt x="0" y="66671"/>
                </a:lnTo>
                <a:cubicBezTo>
                  <a:pt x="0" y="29850"/>
                  <a:pt x="29850" y="0"/>
                  <a:pt x="6667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550384218" name="Text 36"/>
          <p:cNvSpPr/>
          <p:nvPr/>
        </p:nvSpPr>
        <p:spPr bwMode="auto">
          <a:xfrm>
            <a:off x="4522650" y="481263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Преимущество:</a:t>
            </a:r>
            <a:endParaRPr lang="en-US" sz="1600"/>
          </a:p>
        </p:txBody>
      </p:sp>
      <p:sp>
        <p:nvSpPr>
          <p:cNvPr id="1846554792" name="Text 37"/>
          <p:cNvSpPr/>
          <p:nvPr/>
        </p:nvSpPr>
        <p:spPr bwMode="auto">
          <a:xfrm>
            <a:off x="4522650" y="5045971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Совместимость с legacy Oracle / АСБТ</a:t>
            </a:r>
            <a:endParaRPr lang="en-US" sz="1600"/>
          </a:p>
        </p:txBody>
      </p:sp>
      <p:sp>
        <p:nvSpPr>
          <p:cNvPr id="2014882785" name="Shape 38"/>
          <p:cNvSpPr/>
          <p:nvPr/>
        </p:nvSpPr>
        <p:spPr bwMode="auto">
          <a:xfrm>
            <a:off x="8136941" y="2329230"/>
            <a:ext cx="3716768" cy="3200087"/>
          </a:xfrm>
          <a:custGeom>
            <a:avLst/>
            <a:gdLst/>
            <a:ahLst/>
            <a:cxnLst/>
            <a:rect l="l" t="t" r="r" b="b"/>
            <a:pathLst>
              <a:path w="3716768" h="3200087" fill="norm" stroke="1" extrusionOk="0">
                <a:moveTo>
                  <a:pt x="66658" y="0"/>
                </a:moveTo>
                <a:lnTo>
                  <a:pt x="3650110" y="0"/>
                </a:lnTo>
                <a:cubicBezTo>
                  <a:pt x="3686900" y="0"/>
                  <a:pt x="3716768" y="29868"/>
                  <a:pt x="3716768" y="66658"/>
                </a:cubicBezTo>
                <a:lnTo>
                  <a:pt x="3716768" y="3133430"/>
                </a:lnTo>
                <a:cubicBezTo>
                  <a:pt x="3716768" y="3170219"/>
                  <a:pt x="3686900" y="3200087"/>
                  <a:pt x="3650110" y="3200087"/>
                </a:cubicBezTo>
                <a:lnTo>
                  <a:pt x="66658" y="3200087"/>
                </a:lnTo>
                <a:cubicBezTo>
                  <a:pt x="29868" y="3200087"/>
                  <a:pt x="0" y="3170219"/>
                  <a:pt x="0" y="3133430"/>
                </a:cubicBezTo>
                <a:lnTo>
                  <a:pt x="0" y="66658"/>
                </a:lnTo>
                <a:cubicBezTo>
                  <a:pt x="0" y="29844"/>
                  <a:pt x="29844" y="0"/>
                  <a:pt x="6665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54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617122246" name="Shape 39"/>
          <p:cNvSpPr/>
          <p:nvPr/>
        </p:nvSpPr>
        <p:spPr bwMode="auto">
          <a:xfrm>
            <a:off x="8311946" y="2504235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 fill="norm" stroke="1" extrusionOk="0">
                <a:moveTo>
                  <a:pt x="66670" y="0"/>
                </a:moveTo>
                <a:lnTo>
                  <a:pt x="400010" y="0"/>
                </a:lnTo>
                <a:cubicBezTo>
                  <a:pt x="436806" y="0"/>
                  <a:pt x="466679" y="29874"/>
                  <a:pt x="466679" y="66670"/>
                </a:cubicBezTo>
                <a:lnTo>
                  <a:pt x="466679" y="400010"/>
                </a:lnTo>
                <a:cubicBezTo>
                  <a:pt x="466679" y="436806"/>
                  <a:pt x="436806" y="466679"/>
                  <a:pt x="400010" y="466679"/>
                </a:cubicBezTo>
                <a:lnTo>
                  <a:pt x="66670" y="466679"/>
                </a:lnTo>
                <a:cubicBezTo>
                  <a:pt x="29874" y="466679"/>
                  <a:pt x="0" y="436806"/>
                  <a:pt x="0" y="400010"/>
                </a:cubicBezTo>
                <a:lnTo>
                  <a:pt x="0" y="66670"/>
                </a:lnTo>
                <a:cubicBezTo>
                  <a:pt x="0" y="29874"/>
                  <a:pt x="29874" y="0"/>
                  <a:pt x="66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301525561" name="Shape 40"/>
          <p:cNvSpPr/>
          <p:nvPr/>
        </p:nvSpPr>
        <p:spPr bwMode="auto">
          <a:xfrm>
            <a:off x="8432783" y="2637572"/>
            <a:ext cx="225006" cy="200005"/>
          </a:xfrm>
          <a:custGeom>
            <a:avLst/>
            <a:gdLst/>
            <a:ahLst/>
            <a:cxnLst/>
            <a:rect l="l" t="t" r="r" b="b"/>
            <a:pathLst>
              <a:path w="225006" h="200005" fill="norm" stroke="1" extrusionOk="0">
                <a:moveTo>
                  <a:pt x="112503" y="25001"/>
                </a:moveTo>
                <a:cubicBezTo>
                  <a:pt x="153910" y="25001"/>
                  <a:pt x="187505" y="58595"/>
                  <a:pt x="187505" y="100003"/>
                </a:cubicBezTo>
                <a:cubicBezTo>
                  <a:pt x="187505" y="141410"/>
                  <a:pt x="153910" y="175005"/>
                  <a:pt x="112503" y="175005"/>
                </a:cubicBezTo>
                <a:cubicBezTo>
                  <a:pt x="87034" y="175005"/>
                  <a:pt x="64494" y="162309"/>
                  <a:pt x="50939" y="142855"/>
                </a:cubicBezTo>
                <a:cubicBezTo>
                  <a:pt x="46993" y="137191"/>
                  <a:pt x="39181" y="135824"/>
                  <a:pt x="33517" y="139769"/>
                </a:cubicBezTo>
                <a:cubicBezTo>
                  <a:pt x="27852" y="143715"/>
                  <a:pt x="26485" y="151528"/>
                  <a:pt x="30431" y="157192"/>
                </a:cubicBezTo>
                <a:cubicBezTo>
                  <a:pt x="48478" y="183052"/>
                  <a:pt x="78518" y="200005"/>
                  <a:pt x="112503" y="200005"/>
                </a:cubicBezTo>
                <a:cubicBezTo>
                  <a:pt x="167739" y="200005"/>
                  <a:pt x="212506" y="155239"/>
                  <a:pt x="212506" y="100003"/>
                </a:cubicBezTo>
                <a:cubicBezTo>
                  <a:pt x="212506" y="44767"/>
                  <a:pt x="167739" y="0"/>
                  <a:pt x="112503" y="0"/>
                </a:cubicBezTo>
                <a:cubicBezTo>
                  <a:pt x="79026" y="0"/>
                  <a:pt x="49415" y="16446"/>
                  <a:pt x="31251" y="41681"/>
                </a:cubicBezTo>
                <a:lnTo>
                  <a:pt x="31251" y="31251"/>
                </a:lnTo>
                <a:cubicBezTo>
                  <a:pt x="31251" y="24337"/>
                  <a:pt x="25665" y="18751"/>
                  <a:pt x="18751" y="18751"/>
                </a:cubicBezTo>
                <a:cubicBezTo>
                  <a:pt x="11836" y="18751"/>
                  <a:pt x="6250" y="24337"/>
                  <a:pt x="6250" y="31251"/>
                </a:cubicBezTo>
                <a:lnTo>
                  <a:pt x="6250" y="75002"/>
                </a:lnTo>
                <a:cubicBezTo>
                  <a:pt x="6250" y="81916"/>
                  <a:pt x="11836" y="87502"/>
                  <a:pt x="18751" y="87502"/>
                </a:cubicBezTo>
                <a:lnTo>
                  <a:pt x="28360" y="87502"/>
                </a:lnTo>
                <a:cubicBezTo>
                  <a:pt x="28555" y="87502"/>
                  <a:pt x="28751" y="87502"/>
                  <a:pt x="28946" y="87502"/>
                </a:cubicBezTo>
                <a:lnTo>
                  <a:pt x="62541" y="87502"/>
                </a:lnTo>
                <a:cubicBezTo>
                  <a:pt x="69455" y="87502"/>
                  <a:pt x="75041" y="81916"/>
                  <a:pt x="75041" y="75002"/>
                </a:cubicBezTo>
                <a:cubicBezTo>
                  <a:pt x="75041" y="68088"/>
                  <a:pt x="69455" y="62502"/>
                  <a:pt x="62541" y="62502"/>
                </a:cubicBezTo>
                <a:lnTo>
                  <a:pt x="47579" y="62502"/>
                </a:lnTo>
                <a:cubicBezTo>
                  <a:pt x="60509" y="40079"/>
                  <a:pt x="84768" y="25001"/>
                  <a:pt x="112503" y="25001"/>
                </a:cubicBezTo>
                <a:close/>
                <a:moveTo>
                  <a:pt x="121878" y="59377"/>
                </a:moveTo>
                <a:cubicBezTo>
                  <a:pt x="121878" y="54181"/>
                  <a:pt x="117699" y="50001"/>
                  <a:pt x="112503" y="50001"/>
                </a:cubicBezTo>
                <a:cubicBezTo>
                  <a:pt x="107308" y="50001"/>
                  <a:pt x="103128" y="54181"/>
                  <a:pt x="103128" y="59377"/>
                </a:cubicBezTo>
                <a:lnTo>
                  <a:pt x="103128" y="100003"/>
                </a:lnTo>
                <a:cubicBezTo>
                  <a:pt x="103128" y="102503"/>
                  <a:pt x="104104" y="104886"/>
                  <a:pt x="105862" y="106644"/>
                </a:cubicBezTo>
                <a:lnTo>
                  <a:pt x="133988" y="134769"/>
                </a:lnTo>
                <a:cubicBezTo>
                  <a:pt x="137660" y="138441"/>
                  <a:pt x="143598" y="138441"/>
                  <a:pt x="147231" y="134769"/>
                </a:cubicBezTo>
                <a:cubicBezTo>
                  <a:pt x="150863" y="131097"/>
                  <a:pt x="150903" y="125160"/>
                  <a:pt x="147231" y="121527"/>
                </a:cubicBezTo>
                <a:lnTo>
                  <a:pt x="121839" y="96135"/>
                </a:lnTo>
                <a:lnTo>
                  <a:pt x="121839" y="59377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9711097" name="Text 41"/>
          <p:cNvSpPr/>
          <p:nvPr/>
        </p:nvSpPr>
        <p:spPr bwMode="auto">
          <a:xfrm>
            <a:off x="8878628" y="2504235"/>
            <a:ext cx="1200033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Micro-Batch</a:t>
            </a:r>
            <a:endParaRPr lang="en-US" sz="1600"/>
          </a:p>
        </p:txBody>
      </p:sp>
      <p:sp>
        <p:nvSpPr>
          <p:cNvPr id="236903282" name="Text 42"/>
          <p:cNvSpPr/>
          <p:nvPr/>
        </p:nvSpPr>
        <p:spPr bwMode="auto">
          <a:xfrm>
            <a:off x="8878628" y="2770909"/>
            <a:ext cx="116669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Fallback</a:t>
            </a:r>
            <a:endParaRPr lang="en-US" sz="1600"/>
          </a:p>
        </p:txBody>
      </p:sp>
      <p:sp>
        <p:nvSpPr>
          <p:cNvPr id="1014942921" name="Shape 43"/>
          <p:cNvSpPr/>
          <p:nvPr/>
        </p:nvSpPr>
        <p:spPr bwMode="auto">
          <a:xfrm>
            <a:off x="8316113" y="3108418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335388214" name="Shape 44"/>
          <p:cNvSpPr/>
          <p:nvPr/>
        </p:nvSpPr>
        <p:spPr bwMode="auto">
          <a:xfrm>
            <a:off x="8436949" y="3245922"/>
            <a:ext cx="133337" cy="133337"/>
          </a:xfrm>
          <a:custGeom>
            <a:avLst/>
            <a:gdLst/>
            <a:ahLst/>
            <a:cxnLst/>
            <a:rect l="l" t="t" r="r" b="b"/>
            <a:pathLst>
              <a:path w="133337" h="133337" fill="norm" stroke="1" extrusionOk="0">
                <a:moveTo>
                  <a:pt x="66668" y="0"/>
                </a:moveTo>
                <a:cubicBezTo>
                  <a:pt x="103464" y="0"/>
                  <a:pt x="133337" y="29873"/>
                  <a:pt x="133337" y="66668"/>
                </a:cubicBezTo>
                <a:cubicBezTo>
                  <a:pt x="133337" y="103464"/>
                  <a:pt x="103464" y="133337"/>
                  <a:pt x="66668" y="133337"/>
                </a:cubicBezTo>
                <a:cubicBezTo>
                  <a:pt x="29873" y="133337"/>
                  <a:pt x="0" y="103464"/>
                  <a:pt x="0" y="66668"/>
                </a:cubicBezTo>
                <a:cubicBezTo>
                  <a:pt x="0" y="29873"/>
                  <a:pt x="29873" y="0"/>
                  <a:pt x="66668" y="0"/>
                </a:cubicBezTo>
                <a:close/>
                <a:moveTo>
                  <a:pt x="60418" y="31251"/>
                </a:moveTo>
                <a:lnTo>
                  <a:pt x="60418" y="66668"/>
                </a:lnTo>
                <a:cubicBezTo>
                  <a:pt x="60418" y="68752"/>
                  <a:pt x="61460" y="70705"/>
                  <a:pt x="63205" y="71877"/>
                </a:cubicBezTo>
                <a:lnTo>
                  <a:pt x="88206" y="88544"/>
                </a:lnTo>
                <a:cubicBezTo>
                  <a:pt x="91070" y="90471"/>
                  <a:pt x="94951" y="89690"/>
                  <a:pt x="96878" y="86799"/>
                </a:cubicBezTo>
                <a:cubicBezTo>
                  <a:pt x="98805" y="83909"/>
                  <a:pt x="98024" y="80054"/>
                  <a:pt x="95133" y="78127"/>
                </a:cubicBezTo>
                <a:lnTo>
                  <a:pt x="72919" y="63335"/>
                </a:lnTo>
                <a:lnTo>
                  <a:pt x="72919" y="31251"/>
                </a:lnTo>
                <a:cubicBezTo>
                  <a:pt x="72919" y="27787"/>
                  <a:pt x="70132" y="25001"/>
                  <a:pt x="66668" y="25001"/>
                </a:cubicBezTo>
                <a:cubicBezTo>
                  <a:pt x="63205" y="25001"/>
                  <a:pt x="60418" y="27787"/>
                  <a:pt x="60418" y="3125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91881865" name="Text 45"/>
          <p:cNvSpPr/>
          <p:nvPr/>
        </p:nvSpPr>
        <p:spPr bwMode="auto">
          <a:xfrm>
            <a:off x="8653622" y="3212588"/>
            <a:ext cx="112503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Timestamp polling</a:t>
            </a:r>
            <a:endParaRPr lang="en-US" sz="1600"/>
          </a:p>
        </p:txBody>
      </p:sp>
      <p:sp>
        <p:nvSpPr>
          <p:cNvPr id="1692021726" name="Text 46"/>
          <p:cNvSpPr/>
          <p:nvPr/>
        </p:nvSpPr>
        <p:spPr bwMode="auto">
          <a:xfrm>
            <a:off x="8420282" y="347926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Опрос по временным меткам</a:t>
            </a:r>
            <a:endParaRPr lang="en-US" sz="1600"/>
          </a:p>
        </p:txBody>
      </p:sp>
      <p:sp>
        <p:nvSpPr>
          <p:cNvPr id="651310787" name="Shape 47"/>
          <p:cNvSpPr/>
          <p:nvPr/>
        </p:nvSpPr>
        <p:spPr bwMode="auto">
          <a:xfrm>
            <a:off x="8316113" y="3891773"/>
            <a:ext cx="3358425" cy="675018"/>
          </a:xfrm>
          <a:custGeom>
            <a:avLst/>
            <a:gdLst/>
            <a:ahLst/>
            <a:cxnLst/>
            <a:rect l="l" t="t" r="r" b="b"/>
            <a:pathLst>
              <a:path w="3358425" h="675018" fill="norm" stroke="1" extrusionOk="0">
                <a:moveTo>
                  <a:pt x="66672" y="0"/>
                </a:moveTo>
                <a:lnTo>
                  <a:pt x="3291754" y="0"/>
                </a:lnTo>
                <a:cubicBezTo>
                  <a:pt x="3328575" y="0"/>
                  <a:pt x="3358425" y="29850"/>
                  <a:pt x="3358425" y="66672"/>
                </a:cubicBezTo>
                <a:lnTo>
                  <a:pt x="3358425" y="608347"/>
                </a:lnTo>
                <a:cubicBezTo>
                  <a:pt x="3358425" y="645169"/>
                  <a:pt x="3328575" y="675018"/>
                  <a:pt x="3291754" y="675018"/>
                </a:cubicBezTo>
                <a:lnTo>
                  <a:pt x="66672" y="675018"/>
                </a:lnTo>
                <a:cubicBezTo>
                  <a:pt x="29850" y="675018"/>
                  <a:pt x="0" y="645169"/>
                  <a:pt x="0" y="608347"/>
                </a:cubicBezTo>
                <a:lnTo>
                  <a:pt x="0" y="66672"/>
                </a:lnTo>
                <a:cubicBezTo>
                  <a:pt x="0" y="29875"/>
                  <a:pt x="29875" y="0"/>
                  <a:pt x="66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963196365" name="Shape 48"/>
          <p:cNvSpPr/>
          <p:nvPr/>
        </p:nvSpPr>
        <p:spPr bwMode="auto">
          <a:xfrm>
            <a:off x="8453617" y="4029277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 fill="norm" stroke="1" extrusionOk="0">
                <a:moveTo>
                  <a:pt x="33334" y="25001"/>
                </a:moveTo>
                <a:lnTo>
                  <a:pt x="33334" y="41668"/>
                </a:lnTo>
                <a:lnTo>
                  <a:pt x="66668" y="41668"/>
                </a:lnTo>
                <a:lnTo>
                  <a:pt x="66668" y="25001"/>
                </a:lnTo>
                <a:cubicBezTo>
                  <a:pt x="66668" y="15808"/>
                  <a:pt x="59194" y="8334"/>
                  <a:pt x="50001" y="8334"/>
                </a:cubicBezTo>
                <a:cubicBezTo>
                  <a:pt x="40808" y="8334"/>
                  <a:pt x="33334" y="15808"/>
                  <a:pt x="33334" y="25001"/>
                </a:cubicBezTo>
                <a:close/>
                <a:moveTo>
                  <a:pt x="16667" y="41668"/>
                </a:moveTo>
                <a:lnTo>
                  <a:pt x="16667" y="25001"/>
                </a:lnTo>
                <a:cubicBezTo>
                  <a:pt x="16667" y="6589"/>
                  <a:pt x="31589" y="-8334"/>
                  <a:pt x="50001" y="-8334"/>
                </a:cubicBezTo>
                <a:cubicBezTo>
                  <a:pt x="68413" y="-8334"/>
                  <a:pt x="83336" y="6589"/>
                  <a:pt x="83336" y="25001"/>
                </a:cubicBezTo>
                <a:lnTo>
                  <a:pt x="83336" y="41668"/>
                </a:lnTo>
                <a:cubicBezTo>
                  <a:pt x="92529" y="41668"/>
                  <a:pt x="100003" y="49142"/>
                  <a:pt x="100003" y="58335"/>
                </a:cubicBezTo>
                <a:lnTo>
                  <a:pt x="100003" y="116670"/>
                </a:lnTo>
                <a:cubicBezTo>
                  <a:pt x="100003" y="125863"/>
                  <a:pt x="92529" y="133337"/>
                  <a:pt x="83336" y="133337"/>
                </a:cubicBezTo>
                <a:lnTo>
                  <a:pt x="16667" y="133337"/>
                </a:lnTo>
                <a:cubicBezTo>
                  <a:pt x="7474" y="133337"/>
                  <a:pt x="0" y="125863"/>
                  <a:pt x="0" y="116670"/>
                </a:cubicBezTo>
                <a:lnTo>
                  <a:pt x="0" y="58335"/>
                </a:lnTo>
                <a:cubicBezTo>
                  <a:pt x="0" y="49142"/>
                  <a:pt x="7474" y="41668"/>
                  <a:pt x="16667" y="4166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66290845" name="Text 49"/>
          <p:cNvSpPr/>
          <p:nvPr/>
        </p:nvSpPr>
        <p:spPr bwMode="auto">
          <a:xfrm>
            <a:off x="8653622" y="3995943"/>
            <a:ext cx="89169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Restricted env</a:t>
            </a:r>
            <a:endParaRPr lang="en-US" sz="1600"/>
          </a:p>
        </p:txBody>
      </p:sp>
      <p:sp>
        <p:nvSpPr>
          <p:cNvPr id="37797746" name="Text 50"/>
          <p:cNvSpPr/>
          <p:nvPr/>
        </p:nvSpPr>
        <p:spPr bwMode="auto">
          <a:xfrm>
            <a:off x="8420282" y="4262617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Работает в закрытых средах</a:t>
            </a:r>
            <a:endParaRPr lang="en-US" sz="1600"/>
          </a:p>
        </p:txBody>
      </p:sp>
      <p:sp>
        <p:nvSpPr>
          <p:cNvPr id="1479036722" name="Shape 51"/>
          <p:cNvSpPr/>
          <p:nvPr/>
        </p:nvSpPr>
        <p:spPr bwMode="auto">
          <a:xfrm>
            <a:off x="8316113" y="4708462"/>
            <a:ext cx="3358425" cy="641684"/>
          </a:xfrm>
          <a:custGeom>
            <a:avLst/>
            <a:gdLst/>
            <a:ahLst/>
            <a:cxnLst/>
            <a:rect l="l" t="t" r="r" b="b"/>
            <a:pathLst>
              <a:path w="3358425" h="641684" fill="norm" stroke="1" extrusionOk="0">
                <a:moveTo>
                  <a:pt x="66671" y="0"/>
                </a:moveTo>
                <a:lnTo>
                  <a:pt x="3291754" y="0"/>
                </a:lnTo>
                <a:cubicBezTo>
                  <a:pt x="3328576" y="0"/>
                  <a:pt x="3358425" y="29850"/>
                  <a:pt x="3358425" y="66671"/>
                </a:cubicBezTo>
                <a:lnTo>
                  <a:pt x="3358425" y="575013"/>
                </a:lnTo>
                <a:cubicBezTo>
                  <a:pt x="3358425" y="611810"/>
                  <a:pt x="3328551" y="641684"/>
                  <a:pt x="3291754" y="641684"/>
                </a:cubicBezTo>
                <a:lnTo>
                  <a:pt x="66671" y="641684"/>
                </a:lnTo>
                <a:cubicBezTo>
                  <a:pt x="29850" y="641684"/>
                  <a:pt x="0" y="611835"/>
                  <a:pt x="0" y="575013"/>
                </a:cubicBezTo>
                <a:lnTo>
                  <a:pt x="0" y="66671"/>
                </a:lnTo>
                <a:cubicBezTo>
                  <a:pt x="0" y="29850"/>
                  <a:pt x="29850" y="0"/>
                  <a:pt x="6667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693276952" name="Text 52"/>
          <p:cNvSpPr/>
          <p:nvPr/>
        </p:nvSpPr>
        <p:spPr bwMode="auto">
          <a:xfrm>
            <a:off x="8420282" y="4812632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Преимущество:</a:t>
            </a:r>
            <a:endParaRPr lang="en-US" sz="1600"/>
          </a:p>
        </p:txBody>
      </p:sp>
      <p:sp>
        <p:nvSpPr>
          <p:cNvPr id="965081036" name="Text 53"/>
          <p:cNvSpPr/>
          <p:nvPr/>
        </p:nvSpPr>
        <p:spPr bwMode="auto">
          <a:xfrm>
            <a:off x="8420282" y="5045971"/>
            <a:ext cx="32167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Работает без модификации БД</a:t>
            </a:r>
            <a:endParaRPr lang="en-US" sz="1600"/>
          </a:p>
        </p:txBody>
      </p:sp>
      <p:sp>
        <p:nvSpPr>
          <p:cNvPr id="1413155763" name="Shape 54"/>
          <p:cNvSpPr/>
          <p:nvPr/>
        </p:nvSpPr>
        <p:spPr bwMode="auto">
          <a:xfrm>
            <a:off x="337509" y="5708489"/>
            <a:ext cx="3741769" cy="941692"/>
          </a:xfrm>
          <a:custGeom>
            <a:avLst/>
            <a:gdLst/>
            <a:ahLst/>
            <a:cxnLst/>
            <a:rect l="l" t="t" r="r" b="b"/>
            <a:pathLst>
              <a:path w="3741769" h="941692" fill="norm" stroke="1" extrusionOk="0">
                <a:moveTo>
                  <a:pt x="66672" y="0"/>
                </a:moveTo>
                <a:lnTo>
                  <a:pt x="3675097" y="0"/>
                </a:lnTo>
                <a:cubicBezTo>
                  <a:pt x="3711919" y="0"/>
                  <a:pt x="3741769" y="29850"/>
                  <a:pt x="3741769" y="66672"/>
                </a:cubicBezTo>
                <a:lnTo>
                  <a:pt x="3741769" y="875021"/>
                </a:lnTo>
                <a:cubicBezTo>
                  <a:pt x="3741769" y="911842"/>
                  <a:pt x="3711919" y="941692"/>
                  <a:pt x="3675097" y="941692"/>
                </a:cubicBezTo>
                <a:lnTo>
                  <a:pt x="66672" y="941692"/>
                </a:lnTo>
                <a:cubicBezTo>
                  <a:pt x="29850" y="941692"/>
                  <a:pt x="0" y="911842"/>
                  <a:pt x="0" y="875021"/>
                </a:cubicBezTo>
                <a:lnTo>
                  <a:pt x="0" y="66672"/>
                </a:lnTo>
                <a:cubicBezTo>
                  <a:pt x="0" y="29850"/>
                  <a:pt x="29850" y="0"/>
                  <a:pt x="666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04470531" name="Shape 55"/>
          <p:cNvSpPr/>
          <p:nvPr/>
        </p:nvSpPr>
        <p:spPr bwMode="auto">
          <a:xfrm>
            <a:off x="2109823" y="5845993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 fill="norm" stroke="1" extrusionOk="0">
                <a:moveTo>
                  <a:pt x="50001" y="125003"/>
                </a:moveTo>
                <a:lnTo>
                  <a:pt x="9571" y="125003"/>
                </a:lnTo>
                <a:cubicBezTo>
                  <a:pt x="-156" y="125003"/>
                  <a:pt x="-6133" y="114417"/>
                  <a:pt x="-1133" y="106058"/>
                </a:cubicBezTo>
                <a:lnTo>
                  <a:pt x="19532" y="71604"/>
                </a:lnTo>
                <a:cubicBezTo>
                  <a:pt x="22930" y="65939"/>
                  <a:pt x="29024" y="62502"/>
                  <a:pt x="35626" y="62502"/>
                </a:cubicBezTo>
                <a:lnTo>
                  <a:pt x="72736" y="62502"/>
                </a:lnTo>
                <a:cubicBezTo>
                  <a:pt x="102464" y="12149"/>
                  <a:pt x="146801" y="9610"/>
                  <a:pt x="176450" y="13946"/>
                </a:cubicBezTo>
                <a:cubicBezTo>
                  <a:pt x="181450" y="14688"/>
                  <a:pt x="185357" y="18594"/>
                  <a:pt x="186060" y="23555"/>
                </a:cubicBezTo>
                <a:cubicBezTo>
                  <a:pt x="190396" y="53205"/>
                  <a:pt x="187857" y="97542"/>
                  <a:pt x="137504" y="127269"/>
                </a:cubicBezTo>
                <a:lnTo>
                  <a:pt x="137504" y="164379"/>
                </a:lnTo>
                <a:cubicBezTo>
                  <a:pt x="137504" y="170981"/>
                  <a:pt x="134066" y="177075"/>
                  <a:pt x="128402" y="180474"/>
                </a:cubicBezTo>
                <a:lnTo>
                  <a:pt x="93948" y="201138"/>
                </a:lnTo>
                <a:cubicBezTo>
                  <a:pt x="85627" y="206138"/>
                  <a:pt x="75002" y="200123"/>
                  <a:pt x="75002" y="190435"/>
                </a:cubicBezTo>
                <a:lnTo>
                  <a:pt x="75002" y="150004"/>
                </a:lnTo>
                <a:cubicBezTo>
                  <a:pt x="75002" y="136215"/>
                  <a:pt x="63791" y="125003"/>
                  <a:pt x="50001" y="125003"/>
                </a:cubicBezTo>
                <a:lnTo>
                  <a:pt x="49962" y="125003"/>
                </a:lnTo>
                <a:close/>
                <a:moveTo>
                  <a:pt x="156254" y="62502"/>
                </a:moveTo>
                <a:cubicBezTo>
                  <a:pt x="156254" y="52153"/>
                  <a:pt x="147852" y="43751"/>
                  <a:pt x="137504" y="43751"/>
                </a:cubicBezTo>
                <a:cubicBezTo>
                  <a:pt x="127155" y="43751"/>
                  <a:pt x="118753" y="52153"/>
                  <a:pt x="118753" y="62502"/>
                </a:cubicBezTo>
                <a:cubicBezTo>
                  <a:pt x="118753" y="72850"/>
                  <a:pt x="127155" y="81252"/>
                  <a:pt x="137504" y="81252"/>
                </a:cubicBezTo>
                <a:cubicBezTo>
                  <a:pt x="147852" y="81252"/>
                  <a:pt x="156254" y="72850"/>
                  <a:pt x="156254" y="6250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3924771" name="Text 56"/>
          <p:cNvSpPr/>
          <p:nvPr/>
        </p:nvSpPr>
        <p:spPr bwMode="auto">
          <a:xfrm>
            <a:off x="441679" y="6112667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Скорость развёртывания</a:t>
            </a:r>
            <a:endParaRPr lang="en-US" sz="1600"/>
          </a:p>
        </p:txBody>
      </p:sp>
      <p:sp>
        <p:nvSpPr>
          <p:cNvPr id="1780231413" name="Text 57"/>
          <p:cNvSpPr/>
          <p:nvPr/>
        </p:nvSpPr>
        <p:spPr bwMode="auto">
          <a:xfrm>
            <a:off x="441679" y="6312673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2-4 недели на интеграцию</a:t>
            </a:r>
            <a:endParaRPr lang="en-US" sz="1600"/>
          </a:p>
        </p:txBody>
      </p:sp>
      <p:sp>
        <p:nvSpPr>
          <p:cNvPr id="1659519755" name="Shape 58"/>
          <p:cNvSpPr/>
          <p:nvPr/>
        </p:nvSpPr>
        <p:spPr bwMode="auto">
          <a:xfrm>
            <a:off x="4223944" y="5708489"/>
            <a:ext cx="3741769" cy="941692"/>
          </a:xfrm>
          <a:custGeom>
            <a:avLst/>
            <a:gdLst/>
            <a:ahLst/>
            <a:cxnLst/>
            <a:rect l="l" t="t" r="r" b="b"/>
            <a:pathLst>
              <a:path w="3741769" h="941692" fill="norm" stroke="1" extrusionOk="0">
                <a:moveTo>
                  <a:pt x="66672" y="0"/>
                </a:moveTo>
                <a:lnTo>
                  <a:pt x="3675097" y="0"/>
                </a:lnTo>
                <a:cubicBezTo>
                  <a:pt x="3711919" y="0"/>
                  <a:pt x="3741769" y="29850"/>
                  <a:pt x="3741769" y="66672"/>
                </a:cubicBezTo>
                <a:lnTo>
                  <a:pt x="3741769" y="875021"/>
                </a:lnTo>
                <a:cubicBezTo>
                  <a:pt x="3741769" y="911842"/>
                  <a:pt x="3711919" y="941692"/>
                  <a:pt x="3675097" y="941692"/>
                </a:cubicBezTo>
                <a:lnTo>
                  <a:pt x="66672" y="941692"/>
                </a:lnTo>
                <a:cubicBezTo>
                  <a:pt x="29850" y="941692"/>
                  <a:pt x="0" y="911842"/>
                  <a:pt x="0" y="875021"/>
                </a:cubicBezTo>
                <a:lnTo>
                  <a:pt x="0" y="66672"/>
                </a:lnTo>
                <a:cubicBezTo>
                  <a:pt x="0" y="29850"/>
                  <a:pt x="29850" y="0"/>
                  <a:pt x="666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51883696" name="Shape 59"/>
          <p:cNvSpPr/>
          <p:nvPr/>
        </p:nvSpPr>
        <p:spPr bwMode="auto">
          <a:xfrm>
            <a:off x="6008888" y="5845993"/>
            <a:ext cx="175005" cy="200005"/>
          </a:xfrm>
          <a:custGeom>
            <a:avLst/>
            <a:gdLst/>
            <a:ahLst/>
            <a:cxnLst/>
            <a:rect l="l" t="t" r="r" b="b"/>
            <a:pathLst>
              <a:path w="175005" h="200005" fill="norm" stroke="1" extrusionOk="0">
                <a:moveTo>
                  <a:pt x="50001" y="-12500"/>
                </a:moveTo>
                <a:cubicBezTo>
                  <a:pt x="56916" y="-12500"/>
                  <a:pt x="62502" y="-6914"/>
                  <a:pt x="62502" y="0"/>
                </a:cubicBezTo>
                <a:lnTo>
                  <a:pt x="62502" y="37501"/>
                </a:lnTo>
                <a:lnTo>
                  <a:pt x="112503" y="37501"/>
                </a:lnTo>
                <a:lnTo>
                  <a:pt x="112503" y="0"/>
                </a:lnTo>
                <a:cubicBezTo>
                  <a:pt x="112503" y="-6914"/>
                  <a:pt x="118089" y="-12500"/>
                  <a:pt x="125003" y="-12500"/>
                </a:cubicBezTo>
                <a:cubicBezTo>
                  <a:pt x="131918" y="-12500"/>
                  <a:pt x="137504" y="-6914"/>
                  <a:pt x="137504" y="0"/>
                </a:cubicBezTo>
                <a:lnTo>
                  <a:pt x="137504" y="37501"/>
                </a:lnTo>
                <a:lnTo>
                  <a:pt x="162504" y="37501"/>
                </a:lnTo>
                <a:cubicBezTo>
                  <a:pt x="169419" y="37501"/>
                  <a:pt x="175005" y="43087"/>
                  <a:pt x="175005" y="50001"/>
                </a:cubicBezTo>
                <a:cubicBezTo>
                  <a:pt x="175005" y="56916"/>
                  <a:pt x="169419" y="62502"/>
                  <a:pt x="162504" y="62502"/>
                </a:cubicBezTo>
                <a:lnTo>
                  <a:pt x="162504" y="87502"/>
                </a:lnTo>
                <a:cubicBezTo>
                  <a:pt x="162504" y="124652"/>
                  <a:pt x="135472" y="155512"/>
                  <a:pt x="100003" y="161450"/>
                </a:cubicBezTo>
                <a:lnTo>
                  <a:pt x="100003" y="187505"/>
                </a:lnTo>
                <a:cubicBezTo>
                  <a:pt x="100003" y="194419"/>
                  <a:pt x="94417" y="200005"/>
                  <a:pt x="87502" y="200005"/>
                </a:cubicBezTo>
                <a:cubicBezTo>
                  <a:pt x="80588" y="200005"/>
                  <a:pt x="75002" y="194419"/>
                  <a:pt x="75002" y="187505"/>
                </a:cubicBezTo>
                <a:lnTo>
                  <a:pt x="75002" y="161450"/>
                </a:lnTo>
                <a:cubicBezTo>
                  <a:pt x="39532" y="155512"/>
                  <a:pt x="12500" y="124652"/>
                  <a:pt x="12500" y="87502"/>
                </a:cubicBezTo>
                <a:lnTo>
                  <a:pt x="12500" y="62502"/>
                </a:lnTo>
                <a:cubicBezTo>
                  <a:pt x="5586" y="62502"/>
                  <a:pt x="0" y="56916"/>
                  <a:pt x="0" y="50001"/>
                </a:cubicBezTo>
                <a:cubicBezTo>
                  <a:pt x="0" y="43087"/>
                  <a:pt x="5586" y="37501"/>
                  <a:pt x="12500" y="37501"/>
                </a:cubicBezTo>
                <a:lnTo>
                  <a:pt x="37501" y="37501"/>
                </a:lnTo>
                <a:lnTo>
                  <a:pt x="37501" y="0"/>
                </a:lnTo>
                <a:cubicBezTo>
                  <a:pt x="37501" y="-6914"/>
                  <a:pt x="43087" y="-12500"/>
                  <a:pt x="50001" y="-1250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7313816" name="Text 60"/>
          <p:cNvSpPr/>
          <p:nvPr/>
        </p:nvSpPr>
        <p:spPr bwMode="auto">
          <a:xfrm>
            <a:off x="4328113" y="6112667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Zero downtime</a:t>
            </a:r>
            <a:endParaRPr lang="en-US" sz="1600"/>
          </a:p>
        </p:txBody>
      </p:sp>
      <p:sp>
        <p:nvSpPr>
          <p:cNvPr id="526154256" name="Text 61"/>
          <p:cNvSpPr/>
          <p:nvPr/>
        </p:nvSpPr>
        <p:spPr bwMode="auto">
          <a:xfrm>
            <a:off x="4328113" y="6312673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Миграция без остановки АБС</a:t>
            </a:r>
            <a:endParaRPr lang="en-US" sz="1600"/>
          </a:p>
        </p:txBody>
      </p:sp>
      <p:sp>
        <p:nvSpPr>
          <p:cNvPr id="417874034" name="Shape 62"/>
          <p:cNvSpPr/>
          <p:nvPr/>
        </p:nvSpPr>
        <p:spPr bwMode="auto">
          <a:xfrm>
            <a:off x="8110508" y="5708489"/>
            <a:ext cx="3741769" cy="941692"/>
          </a:xfrm>
          <a:custGeom>
            <a:avLst/>
            <a:gdLst/>
            <a:ahLst/>
            <a:cxnLst/>
            <a:rect l="l" t="t" r="r" b="b"/>
            <a:pathLst>
              <a:path w="3741769" h="941692" fill="norm" stroke="1" extrusionOk="0">
                <a:moveTo>
                  <a:pt x="66672" y="0"/>
                </a:moveTo>
                <a:lnTo>
                  <a:pt x="3675097" y="0"/>
                </a:lnTo>
                <a:cubicBezTo>
                  <a:pt x="3711919" y="0"/>
                  <a:pt x="3741769" y="29850"/>
                  <a:pt x="3741769" y="66672"/>
                </a:cubicBezTo>
                <a:lnTo>
                  <a:pt x="3741769" y="875021"/>
                </a:lnTo>
                <a:cubicBezTo>
                  <a:pt x="3741769" y="911842"/>
                  <a:pt x="3711919" y="941692"/>
                  <a:pt x="3675097" y="941692"/>
                </a:cubicBezTo>
                <a:lnTo>
                  <a:pt x="66672" y="941692"/>
                </a:lnTo>
                <a:cubicBezTo>
                  <a:pt x="29850" y="941692"/>
                  <a:pt x="0" y="911842"/>
                  <a:pt x="0" y="875021"/>
                </a:cubicBezTo>
                <a:lnTo>
                  <a:pt x="0" y="66672"/>
                </a:lnTo>
                <a:cubicBezTo>
                  <a:pt x="0" y="29850"/>
                  <a:pt x="29850" y="0"/>
                  <a:pt x="666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27995306" name="Shape 63"/>
          <p:cNvSpPr/>
          <p:nvPr/>
        </p:nvSpPr>
        <p:spPr bwMode="auto">
          <a:xfrm>
            <a:off x="9895323" y="5845993"/>
            <a:ext cx="175005" cy="200005"/>
          </a:xfrm>
          <a:custGeom>
            <a:avLst/>
            <a:gdLst/>
            <a:ahLst/>
            <a:cxnLst/>
            <a:rect l="l" t="t" r="r" b="b"/>
            <a:pathLst>
              <a:path w="175005" h="200005" fill="norm" stroke="1" extrusionOk="0">
                <a:moveTo>
                  <a:pt x="65627" y="12500"/>
                </a:moveTo>
                <a:lnTo>
                  <a:pt x="9375" y="12500"/>
                </a:lnTo>
                <a:cubicBezTo>
                  <a:pt x="4180" y="12500"/>
                  <a:pt x="0" y="16680"/>
                  <a:pt x="0" y="21876"/>
                </a:cubicBezTo>
                <a:lnTo>
                  <a:pt x="0" y="78127"/>
                </a:lnTo>
                <a:cubicBezTo>
                  <a:pt x="0" y="81916"/>
                  <a:pt x="2266" y="85354"/>
                  <a:pt x="5781" y="86799"/>
                </a:cubicBezTo>
                <a:cubicBezTo>
                  <a:pt x="9297" y="88245"/>
                  <a:pt x="13321" y="87424"/>
                  <a:pt x="16016" y="84768"/>
                </a:cubicBezTo>
                <a:lnTo>
                  <a:pt x="31641" y="69143"/>
                </a:lnTo>
                <a:lnTo>
                  <a:pt x="62502" y="100003"/>
                </a:lnTo>
                <a:lnTo>
                  <a:pt x="31641" y="130863"/>
                </a:lnTo>
                <a:lnTo>
                  <a:pt x="16016" y="115238"/>
                </a:lnTo>
                <a:cubicBezTo>
                  <a:pt x="13321" y="112542"/>
                  <a:pt x="9297" y="111761"/>
                  <a:pt x="5781" y="113206"/>
                </a:cubicBezTo>
                <a:cubicBezTo>
                  <a:pt x="2266" y="114652"/>
                  <a:pt x="0" y="118089"/>
                  <a:pt x="0" y="121878"/>
                </a:cubicBezTo>
                <a:lnTo>
                  <a:pt x="0" y="178130"/>
                </a:lnTo>
                <a:cubicBezTo>
                  <a:pt x="0" y="183325"/>
                  <a:pt x="4180" y="187505"/>
                  <a:pt x="9375" y="187505"/>
                </a:cubicBezTo>
                <a:lnTo>
                  <a:pt x="65627" y="187505"/>
                </a:lnTo>
                <a:cubicBezTo>
                  <a:pt x="69416" y="187505"/>
                  <a:pt x="72854" y="185239"/>
                  <a:pt x="74299" y="181724"/>
                </a:cubicBezTo>
                <a:cubicBezTo>
                  <a:pt x="75744" y="178208"/>
                  <a:pt x="74963" y="174184"/>
                  <a:pt x="72268" y="171489"/>
                </a:cubicBezTo>
                <a:lnTo>
                  <a:pt x="56642" y="155864"/>
                </a:lnTo>
                <a:lnTo>
                  <a:pt x="87502" y="125003"/>
                </a:lnTo>
                <a:lnTo>
                  <a:pt x="118363" y="155864"/>
                </a:lnTo>
                <a:lnTo>
                  <a:pt x="102737" y="171489"/>
                </a:lnTo>
                <a:cubicBezTo>
                  <a:pt x="100042" y="174184"/>
                  <a:pt x="99261" y="178208"/>
                  <a:pt x="100706" y="181724"/>
                </a:cubicBezTo>
                <a:cubicBezTo>
                  <a:pt x="102151" y="185239"/>
                  <a:pt x="105589" y="187505"/>
                  <a:pt x="109378" y="187505"/>
                </a:cubicBezTo>
                <a:lnTo>
                  <a:pt x="165630" y="187505"/>
                </a:lnTo>
                <a:cubicBezTo>
                  <a:pt x="170825" y="187505"/>
                  <a:pt x="175005" y="183325"/>
                  <a:pt x="175005" y="178130"/>
                </a:cubicBezTo>
                <a:lnTo>
                  <a:pt x="175005" y="121878"/>
                </a:lnTo>
                <a:cubicBezTo>
                  <a:pt x="175005" y="118089"/>
                  <a:pt x="172739" y="114652"/>
                  <a:pt x="169223" y="113206"/>
                </a:cubicBezTo>
                <a:cubicBezTo>
                  <a:pt x="165708" y="111761"/>
                  <a:pt x="161684" y="112542"/>
                  <a:pt x="158989" y="115238"/>
                </a:cubicBezTo>
                <a:lnTo>
                  <a:pt x="143363" y="130863"/>
                </a:lnTo>
                <a:lnTo>
                  <a:pt x="112503" y="100003"/>
                </a:lnTo>
                <a:lnTo>
                  <a:pt x="143363" y="69143"/>
                </a:lnTo>
                <a:lnTo>
                  <a:pt x="158989" y="84768"/>
                </a:lnTo>
                <a:cubicBezTo>
                  <a:pt x="161684" y="87463"/>
                  <a:pt x="165708" y="88245"/>
                  <a:pt x="169223" y="86799"/>
                </a:cubicBezTo>
                <a:cubicBezTo>
                  <a:pt x="172739" y="85354"/>
                  <a:pt x="175005" y="81916"/>
                  <a:pt x="175005" y="78127"/>
                </a:cubicBezTo>
                <a:lnTo>
                  <a:pt x="175005" y="21876"/>
                </a:lnTo>
                <a:cubicBezTo>
                  <a:pt x="175005" y="16680"/>
                  <a:pt x="170825" y="12500"/>
                  <a:pt x="165630" y="12500"/>
                </a:cubicBezTo>
                <a:lnTo>
                  <a:pt x="109378" y="12500"/>
                </a:lnTo>
                <a:cubicBezTo>
                  <a:pt x="105589" y="12500"/>
                  <a:pt x="102151" y="14766"/>
                  <a:pt x="100706" y="18282"/>
                </a:cubicBezTo>
                <a:cubicBezTo>
                  <a:pt x="99261" y="21797"/>
                  <a:pt x="100081" y="25821"/>
                  <a:pt x="102737" y="28516"/>
                </a:cubicBezTo>
                <a:lnTo>
                  <a:pt x="118363" y="44142"/>
                </a:lnTo>
                <a:lnTo>
                  <a:pt x="87502" y="75002"/>
                </a:lnTo>
                <a:lnTo>
                  <a:pt x="56642" y="44142"/>
                </a:lnTo>
                <a:lnTo>
                  <a:pt x="72268" y="28516"/>
                </a:lnTo>
                <a:cubicBezTo>
                  <a:pt x="74963" y="25821"/>
                  <a:pt x="75744" y="21797"/>
                  <a:pt x="74299" y="18282"/>
                </a:cubicBezTo>
                <a:cubicBezTo>
                  <a:pt x="72854" y="14766"/>
                  <a:pt x="69416" y="12500"/>
                  <a:pt x="65627" y="1250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51145304" name="Text 64"/>
          <p:cNvSpPr/>
          <p:nvPr/>
        </p:nvSpPr>
        <p:spPr bwMode="auto">
          <a:xfrm>
            <a:off x="8214678" y="6112667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Постепенный переход</a:t>
            </a:r>
            <a:endParaRPr lang="en-US" sz="1600"/>
          </a:p>
        </p:txBody>
      </p:sp>
      <p:sp>
        <p:nvSpPr>
          <p:cNvPr id="147697885" name="Text 65"/>
          <p:cNvSpPr/>
          <p:nvPr/>
        </p:nvSpPr>
        <p:spPr bwMode="auto">
          <a:xfrm>
            <a:off x="8214678" y="6312673"/>
            <a:ext cx="353343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От shadow к CDC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328942" name="Shape 0"/>
          <p:cNvSpPr/>
          <p:nvPr/>
        </p:nvSpPr>
        <p:spPr bwMode="auto">
          <a:xfrm>
            <a:off x="320000" y="320000"/>
            <a:ext cx="32000" cy="320000"/>
          </a:xfrm>
          <a:custGeom>
            <a:avLst/>
            <a:gdLst/>
            <a:ahLst/>
            <a:cxnLst/>
            <a:rect l="l" t="t" r="r" b="b"/>
            <a:pathLst>
              <a:path w="32000" h="320000" fill="norm" stroke="1" extrusionOk="0">
                <a:moveTo>
                  <a:pt x="0" y="0"/>
                </a:moveTo>
                <a:lnTo>
                  <a:pt x="32000" y="0"/>
                </a:lnTo>
                <a:lnTo>
                  <a:pt x="32000" y="320000"/>
                </a:lnTo>
                <a:lnTo>
                  <a:pt x="0" y="320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9992408" name="Text 1"/>
          <p:cNvSpPr/>
          <p:nvPr/>
        </p:nvSpPr>
        <p:spPr bwMode="auto">
          <a:xfrm>
            <a:off x="448000" y="384000"/>
            <a:ext cx="144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 spc="50">
                <a:solidFill>
                  <a:srgbClr val="C0A062"/>
                </a:solidFill>
                <a:latin typeface="Liter"/>
                <a:ea typeface="Liter"/>
                <a:cs typeface="Liter"/>
              </a:rPr>
              <a:t>ФИНАНСОВЫЕ ЯДРА</a:t>
            </a:r>
            <a:endParaRPr lang="en-US" sz="1600"/>
          </a:p>
        </p:txBody>
      </p:sp>
      <p:sp>
        <p:nvSpPr>
          <p:cNvPr id="222980768" name="Text 2"/>
          <p:cNvSpPr/>
          <p:nvPr/>
        </p:nvSpPr>
        <p:spPr bwMode="auto">
          <a:xfrm>
            <a:off x="320000" y="736000"/>
            <a:ext cx="11744000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Deterministic Financial Engines</a:t>
            </a:r>
            <a:endParaRPr lang="en-US" sz="1600"/>
          </a:p>
        </p:txBody>
      </p:sp>
      <p:sp>
        <p:nvSpPr>
          <p:cNvPr id="1318070677" name="Shape 3"/>
          <p:cNvSpPr/>
          <p:nvPr/>
        </p:nvSpPr>
        <p:spPr bwMode="auto">
          <a:xfrm>
            <a:off x="336000" y="1280000"/>
            <a:ext cx="11536000" cy="792000"/>
          </a:xfrm>
          <a:custGeom>
            <a:avLst/>
            <a:gdLst/>
            <a:ahLst/>
            <a:cxnLst/>
            <a:rect l="l" t="t" r="r" b="b"/>
            <a:pathLst>
              <a:path w="11536000" h="792000" fill="norm" stroke="1" extrusionOk="0">
                <a:moveTo>
                  <a:pt x="0" y="0"/>
                </a:moveTo>
                <a:lnTo>
                  <a:pt x="11471998" y="0"/>
                </a:lnTo>
                <a:cubicBezTo>
                  <a:pt x="11507346" y="0"/>
                  <a:pt x="11536000" y="28654"/>
                  <a:pt x="11536000" y="64002"/>
                </a:cubicBezTo>
                <a:lnTo>
                  <a:pt x="11536000" y="727998"/>
                </a:lnTo>
                <a:cubicBezTo>
                  <a:pt x="11536000" y="763346"/>
                  <a:pt x="11507346" y="792000"/>
                  <a:pt x="11471998" y="792000"/>
                </a:cubicBezTo>
                <a:lnTo>
                  <a:pt x="0" y="79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5015126" name="Shape 4"/>
          <p:cNvSpPr/>
          <p:nvPr/>
        </p:nvSpPr>
        <p:spPr bwMode="auto">
          <a:xfrm>
            <a:off x="336000" y="1280000"/>
            <a:ext cx="32000" cy="792000"/>
          </a:xfrm>
          <a:custGeom>
            <a:avLst/>
            <a:gdLst/>
            <a:ahLst/>
            <a:cxnLst/>
            <a:rect l="l" t="t" r="r" b="b"/>
            <a:pathLst>
              <a:path w="32000" h="792000" fill="norm" stroke="1" extrusionOk="0">
                <a:moveTo>
                  <a:pt x="0" y="0"/>
                </a:moveTo>
                <a:lnTo>
                  <a:pt x="32000" y="0"/>
                </a:lnTo>
                <a:lnTo>
                  <a:pt x="32000" y="792000"/>
                </a:lnTo>
                <a:lnTo>
                  <a:pt x="0" y="792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0895461" name="Text 5"/>
          <p:cNvSpPr/>
          <p:nvPr/>
        </p:nvSpPr>
        <p:spPr bwMode="auto">
          <a:xfrm>
            <a:off x="512000" y="1440000"/>
            <a:ext cx="11272000" cy="4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REVENANT — это </a:t>
            </a:r>
            <a:r>
              <a:rPr lang="en-US" sz="115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не только routing gateway</a:t>
            </a:r>
            <a:r>
              <a:rPr lang="en-US" sz="115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. За Gateway работают </a:t>
            </a:r>
            <a:r>
              <a:rPr lang="en-US" sz="1150" b="1">
                <a:solidFill>
                  <a:srgbClr val="EDF2F4"/>
                </a:solidFill>
                <a:highlight>
                  <a:srgbClr val="C0A062">
                    <a:alpha val="30000"/>
                  </a:srgbClr>
                </a:highlight>
                <a:latin typeface="Quattrocento Sans"/>
                <a:ea typeface="Quattrocento Sans"/>
                <a:cs typeface="Quattrocento Sans"/>
              </a:rPr>
              <a:t>deterministic financial engines </a:t>
            </a:r>
            <a:r>
              <a:rPr lang="en-US" sz="115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, обеспечивающие real-time financial risk simulation and control на уровне всей банковской системы.</a:t>
            </a:r>
            <a:endParaRPr lang="en-US" sz="1600"/>
          </a:p>
        </p:txBody>
      </p:sp>
      <p:sp>
        <p:nvSpPr>
          <p:cNvPr id="2132897074" name="Shape 6"/>
          <p:cNvSpPr/>
          <p:nvPr/>
        </p:nvSpPr>
        <p:spPr bwMode="auto">
          <a:xfrm>
            <a:off x="328000" y="2236000"/>
            <a:ext cx="3728000" cy="3400000"/>
          </a:xfrm>
          <a:custGeom>
            <a:avLst/>
            <a:gdLst/>
            <a:ahLst/>
            <a:cxnLst/>
            <a:rect l="l" t="t" r="r" b="b"/>
            <a:pathLst>
              <a:path w="3728000" h="3400000" fill="norm" stroke="1" extrusionOk="0">
                <a:moveTo>
                  <a:pt x="63988" y="0"/>
                </a:moveTo>
                <a:lnTo>
                  <a:pt x="3664012" y="0"/>
                </a:lnTo>
                <a:cubicBezTo>
                  <a:pt x="3699352" y="0"/>
                  <a:pt x="3728000" y="28648"/>
                  <a:pt x="3728000" y="63988"/>
                </a:cubicBezTo>
                <a:lnTo>
                  <a:pt x="3728000" y="3336012"/>
                </a:lnTo>
                <a:cubicBezTo>
                  <a:pt x="3728000" y="3371352"/>
                  <a:pt x="3699352" y="3400000"/>
                  <a:pt x="3664012" y="3400000"/>
                </a:cubicBezTo>
                <a:lnTo>
                  <a:pt x="63988" y="3400000"/>
                </a:lnTo>
                <a:cubicBezTo>
                  <a:pt x="28648" y="3400000"/>
                  <a:pt x="0" y="3371352"/>
                  <a:pt x="0" y="3336012"/>
                </a:cubicBezTo>
                <a:lnTo>
                  <a:pt x="0" y="63988"/>
                </a:lnTo>
                <a:cubicBezTo>
                  <a:pt x="0" y="28672"/>
                  <a:pt x="28672" y="0"/>
                  <a:pt x="63988" y="0"/>
                </a:cubicBezTo>
                <a:close/>
              </a:path>
            </a:pathLst>
          </a:custGeom>
          <a:gradFill>
            <a:gsLst>
              <a:gs pos="0">
                <a:srgbClr val="C0A062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2086033745" name="Shape 7"/>
          <p:cNvSpPr/>
          <p:nvPr/>
        </p:nvSpPr>
        <p:spPr bwMode="auto">
          <a:xfrm>
            <a:off x="496000" y="2404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 fill="norm" stroke="1" extrusionOk="0">
                <a:moveTo>
                  <a:pt x="64000" y="0"/>
                </a:moveTo>
                <a:lnTo>
                  <a:pt x="448000" y="0"/>
                </a:lnTo>
                <a:cubicBezTo>
                  <a:pt x="483346" y="0"/>
                  <a:pt x="512000" y="28654"/>
                  <a:pt x="512000" y="64000"/>
                </a:cubicBezTo>
                <a:lnTo>
                  <a:pt x="512000" y="448000"/>
                </a:lnTo>
                <a:cubicBezTo>
                  <a:pt x="512000" y="483346"/>
                  <a:pt x="483346" y="512000"/>
                  <a:pt x="448000" y="512000"/>
                </a:cubicBezTo>
                <a:lnTo>
                  <a:pt x="64000" y="512000"/>
                </a:lnTo>
                <a:cubicBezTo>
                  <a:pt x="28654" y="512000"/>
                  <a:pt x="0" y="483346"/>
                  <a:pt x="0" y="448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85013599" name="Shape 8"/>
          <p:cNvSpPr/>
          <p:nvPr/>
        </p:nvSpPr>
        <p:spPr bwMode="auto">
          <a:xfrm>
            <a:off x="634000" y="2540000"/>
            <a:ext cx="240000" cy="240000"/>
          </a:xfrm>
          <a:custGeom>
            <a:avLst/>
            <a:gdLst/>
            <a:ahLst/>
            <a:cxnLst/>
            <a:rect l="l" t="t" r="r" b="b"/>
            <a:pathLst>
              <a:path w="240000" h="240000" fill="norm" stroke="1" extrusionOk="0">
                <a:moveTo>
                  <a:pt x="30000" y="30000"/>
                </a:moveTo>
                <a:cubicBezTo>
                  <a:pt x="30000" y="21703"/>
                  <a:pt x="23297" y="15000"/>
                  <a:pt x="15000" y="15000"/>
                </a:cubicBezTo>
                <a:cubicBezTo>
                  <a:pt x="6703" y="15000"/>
                  <a:pt x="0" y="21703"/>
                  <a:pt x="0" y="30000"/>
                </a:cubicBezTo>
                <a:lnTo>
                  <a:pt x="0" y="187500"/>
                </a:lnTo>
                <a:cubicBezTo>
                  <a:pt x="0" y="208219"/>
                  <a:pt x="16781" y="225000"/>
                  <a:pt x="37500" y="225000"/>
                </a:cubicBezTo>
                <a:lnTo>
                  <a:pt x="225000" y="225000"/>
                </a:lnTo>
                <a:cubicBezTo>
                  <a:pt x="233297" y="225000"/>
                  <a:pt x="240000" y="218297"/>
                  <a:pt x="240000" y="210000"/>
                </a:cubicBezTo>
                <a:cubicBezTo>
                  <a:pt x="240000" y="201703"/>
                  <a:pt x="233297" y="195000"/>
                  <a:pt x="225000" y="195000"/>
                </a:cubicBezTo>
                <a:lnTo>
                  <a:pt x="37500" y="195000"/>
                </a:lnTo>
                <a:cubicBezTo>
                  <a:pt x="33375" y="195000"/>
                  <a:pt x="30000" y="191625"/>
                  <a:pt x="30000" y="187500"/>
                </a:cubicBezTo>
                <a:lnTo>
                  <a:pt x="30000" y="30000"/>
                </a:lnTo>
                <a:close/>
                <a:moveTo>
                  <a:pt x="220594" y="70594"/>
                </a:moveTo>
                <a:cubicBezTo>
                  <a:pt x="226453" y="64734"/>
                  <a:pt x="226453" y="55219"/>
                  <a:pt x="220594" y="49359"/>
                </a:cubicBezTo>
                <a:cubicBezTo>
                  <a:pt x="214734" y="43500"/>
                  <a:pt x="205219" y="43500"/>
                  <a:pt x="199359" y="49359"/>
                </a:cubicBezTo>
                <a:lnTo>
                  <a:pt x="150000" y="98766"/>
                </a:lnTo>
                <a:lnTo>
                  <a:pt x="123094" y="71906"/>
                </a:lnTo>
                <a:cubicBezTo>
                  <a:pt x="117234" y="66047"/>
                  <a:pt x="107719" y="66047"/>
                  <a:pt x="101859" y="71906"/>
                </a:cubicBezTo>
                <a:lnTo>
                  <a:pt x="56859" y="116906"/>
                </a:lnTo>
                <a:cubicBezTo>
                  <a:pt x="51000" y="122766"/>
                  <a:pt x="51000" y="132281"/>
                  <a:pt x="56859" y="138141"/>
                </a:cubicBezTo>
                <a:cubicBezTo>
                  <a:pt x="62719" y="144000"/>
                  <a:pt x="72234" y="144000"/>
                  <a:pt x="78094" y="138141"/>
                </a:cubicBezTo>
                <a:lnTo>
                  <a:pt x="112500" y="103734"/>
                </a:lnTo>
                <a:lnTo>
                  <a:pt x="139406" y="130641"/>
                </a:lnTo>
                <a:cubicBezTo>
                  <a:pt x="145266" y="136500"/>
                  <a:pt x="154781" y="136500"/>
                  <a:pt x="160641" y="130641"/>
                </a:cubicBezTo>
                <a:lnTo>
                  <a:pt x="220641" y="7064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75197659" name="Text 9"/>
          <p:cNvSpPr/>
          <p:nvPr/>
        </p:nvSpPr>
        <p:spPr bwMode="auto">
          <a:xfrm>
            <a:off x="1104000" y="2436000"/>
            <a:ext cx="107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Risk Engine</a:t>
            </a:r>
            <a:endParaRPr lang="en-US" sz="1600"/>
          </a:p>
        </p:txBody>
      </p:sp>
      <p:sp>
        <p:nvSpPr>
          <p:cNvPr id="1549651538" name="Text 10"/>
          <p:cNvSpPr/>
          <p:nvPr/>
        </p:nvSpPr>
        <p:spPr bwMode="auto">
          <a:xfrm>
            <a:off x="1104000" y="2692000"/>
            <a:ext cx="104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Оценка риска</a:t>
            </a:r>
            <a:endParaRPr lang="en-US" sz="1600"/>
          </a:p>
        </p:txBody>
      </p:sp>
      <p:sp>
        <p:nvSpPr>
          <p:cNvPr id="1076654675" name="Shape 11"/>
          <p:cNvSpPr/>
          <p:nvPr/>
        </p:nvSpPr>
        <p:spPr bwMode="auto">
          <a:xfrm>
            <a:off x="500000" y="3048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61837551" name="Shape 12"/>
          <p:cNvSpPr/>
          <p:nvPr/>
        </p:nvSpPr>
        <p:spPr bwMode="auto">
          <a:xfrm>
            <a:off x="602000" y="3188000"/>
            <a:ext cx="140000" cy="112000"/>
          </a:xfrm>
          <a:custGeom>
            <a:avLst/>
            <a:gdLst/>
            <a:ahLst/>
            <a:cxnLst/>
            <a:rect l="l" t="t" r="r" b="b"/>
            <a:pathLst>
              <a:path w="140000" h="112000" fill="norm" stroke="1" extrusionOk="0">
                <a:moveTo>
                  <a:pt x="84000" y="7000"/>
                </a:moveTo>
                <a:lnTo>
                  <a:pt x="112000" y="7000"/>
                </a:lnTo>
                <a:cubicBezTo>
                  <a:pt x="115872" y="7000"/>
                  <a:pt x="119000" y="10128"/>
                  <a:pt x="119000" y="14000"/>
                </a:cubicBezTo>
                <a:cubicBezTo>
                  <a:pt x="119000" y="17872"/>
                  <a:pt x="115872" y="21000"/>
                  <a:pt x="112000" y="21000"/>
                </a:cubicBezTo>
                <a:lnTo>
                  <a:pt x="87150" y="21000"/>
                </a:lnTo>
                <a:cubicBezTo>
                  <a:pt x="86013" y="26644"/>
                  <a:pt x="82141" y="31303"/>
                  <a:pt x="77000" y="33534"/>
                </a:cubicBezTo>
                <a:lnTo>
                  <a:pt x="77000" y="98000"/>
                </a:lnTo>
                <a:lnTo>
                  <a:pt x="112000" y="98000"/>
                </a:lnTo>
                <a:cubicBezTo>
                  <a:pt x="115872" y="98000"/>
                  <a:pt x="119000" y="101128"/>
                  <a:pt x="119000" y="105000"/>
                </a:cubicBezTo>
                <a:cubicBezTo>
                  <a:pt x="119000" y="108872"/>
                  <a:pt x="115872" y="112000"/>
                  <a:pt x="112000" y="112000"/>
                </a:cubicBezTo>
                <a:lnTo>
                  <a:pt x="28000" y="112000"/>
                </a:lnTo>
                <a:cubicBezTo>
                  <a:pt x="24128" y="112000"/>
                  <a:pt x="21000" y="108872"/>
                  <a:pt x="21000" y="105000"/>
                </a:cubicBezTo>
                <a:cubicBezTo>
                  <a:pt x="21000" y="101128"/>
                  <a:pt x="24128" y="98000"/>
                  <a:pt x="28000" y="98000"/>
                </a:cubicBezTo>
                <a:lnTo>
                  <a:pt x="63000" y="98000"/>
                </a:lnTo>
                <a:lnTo>
                  <a:pt x="63000" y="33534"/>
                </a:lnTo>
                <a:cubicBezTo>
                  <a:pt x="57859" y="31281"/>
                  <a:pt x="53988" y="26622"/>
                  <a:pt x="52850" y="21000"/>
                </a:cubicBezTo>
                <a:lnTo>
                  <a:pt x="28000" y="21000"/>
                </a:lnTo>
                <a:cubicBezTo>
                  <a:pt x="24128" y="21000"/>
                  <a:pt x="21000" y="17872"/>
                  <a:pt x="21000" y="14000"/>
                </a:cubicBezTo>
                <a:cubicBezTo>
                  <a:pt x="21000" y="10128"/>
                  <a:pt x="24128" y="7000"/>
                  <a:pt x="28000" y="7000"/>
                </a:cubicBezTo>
                <a:lnTo>
                  <a:pt x="56000" y="7000"/>
                </a:lnTo>
                <a:cubicBezTo>
                  <a:pt x="59194" y="2756"/>
                  <a:pt x="64269" y="0"/>
                  <a:pt x="70000" y="0"/>
                </a:cubicBezTo>
                <a:cubicBezTo>
                  <a:pt x="75731" y="0"/>
                  <a:pt x="80806" y="2756"/>
                  <a:pt x="84000" y="7000"/>
                </a:cubicBezTo>
                <a:close/>
                <a:moveTo>
                  <a:pt x="96163" y="70000"/>
                </a:moveTo>
                <a:lnTo>
                  <a:pt x="127838" y="70000"/>
                </a:lnTo>
                <a:lnTo>
                  <a:pt x="112000" y="42831"/>
                </a:lnTo>
                <a:lnTo>
                  <a:pt x="96163" y="70000"/>
                </a:lnTo>
                <a:close/>
                <a:moveTo>
                  <a:pt x="112000" y="91000"/>
                </a:moveTo>
                <a:cubicBezTo>
                  <a:pt x="98241" y="91000"/>
                  <a:pt x="86800" y="83563"/>
                  <a:pt x="84438" y="73741"/>
                </a:cubicBezTo>
                <a:cubicBezTo>
                  <a:pt x="83869" y="71334"/>
                  <a:pt x="84656" y="68863"/>
                  <a:pt x="85903" y="66719"/>
                </a:cubicBezTo>
                <a:lnTo>
                  <a:pt x="106728" y="31019"/>
                </a:lnTo>
                <a:cubicBezTo>
                  <a:pt x="107822" y="29138"/>
                  <a:pt x="109834" y="28000"/>
                  <a:pt x="112000" y="28000"/>
                </a:cubicBezTo>
                <a:cubicBezTo>
                  <a:pt x="114166" y="28000"/>
                  <a:pt x="116178" y="29159"/>
                  <a:pt x="117272" y="31019"/>
                </a:cubicBezTo>
                <a:lnTo>
                  <a:pt x="138097" y="66719"/>
                </a:lnTo>
                <a:cubicBezTo>
                  <a:pt x="139344" y="68863"/>
                  <a:pt x="140131" y="71334"/>
                  <a:pt x="139563" y="73741"/>
                </a:cubicBezTo>
                <a:cubicBezTo>
                  <a:pt x="137200" y="83541"/>
                  <a:pt x="125759" y="91000"/>
                  <a:pt x="112000" y="91000"/>
                </a:cubicBezTo>
                <a:close/>
                <a:moveTo>
                  <a:pt x="27738" y="42831"/>
                </a:moveTo>
                <a:lnTo>
                  <a:pt x="11900" y="70000"/>
                </a:lnTo>
                <a:lnTo>
                  <a:pt x="43597" y="70000"/>
                </a:lnTo>
                <a:lnTo>
                  <a:pt x="27738" y="42831"/>
                </a:lnTo>
                <a:close/>
                <a:moveTo>
                  <a:pt x="197" y="73741"/>
                </a:moveTo>
                <a:cubicBezTo>
                  <a:pt x="-372" y="71334"/>
                  <a:pt x="416" y="68863"/>
                  <a:pt x="1663" y="66719"/>
                </a:cubicBezTo>
                <a:lnTo>
                  <a:pt x="22488" y="31019"/>
                </a:lnTo>
                <a:cubicBezTo>
                  <a:pt x="23581" y="29138"/>
                  <a:pt x="25594" y="28000"/>
                  <a:pt x="27759" y="28000"/>
                </a:cubicBezTo>
                <a:cubicBezTo>
                  <a:pt x="29925" y="28000"/>
                  <a:pt x="31937" y="29159"/>
                  <a:pt x="33031" y="31019"/>
                </a:cubicBezTo>
                <a:lnTo>
                  <a:pt x="53856" y="66719"/>
                </a:lnTo>
                <a:cubicBezTo>
                  <a:pt x="55103" y="68863"/>
                  <a:pt x="55891" y="71334"/>
                  <a:pt x="55322" y="73741"/>
                </a:cubicBezTo>
                <a:cubicBezTo>
                  <a:pt x="52959" y="83541"/>
                  <a:pt x="41519" y="91000"/>
                  <a:pt x="27759" y="91000"/>
                </a:cubicBezTo>
                <a:cubicBezTo>
                  <a:pt x="14000" y="91000"/>
                  <a:pt x="2559" y="83563"/>
                  <a:pt x="197" y="7374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97520312" name="Text 13"/>
          <p:cNvSpPr/>
          <p:nvPr/>
        </p:nvSpPr>
        <p:spPr bwMode="auto">
          <a:xfrm>
            <a:off x="804000" y="3148000"/>
            <a:ext cx="1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Basel-style weighting</a:t>
            </a:r>
            <a:endParaRPr lang="en-US" sz="1600"/>
          </a:p>
        </p:txBody>
      </p:sp>
      <p:sp>
        <p:nvSpPr>
          <p:cNvPr id="1057829573" name="Text 14"/>
          <p:cNvSpPr/>
          <p:nvPr/>
        </p:nvSpPr>
        <p:spPr bwMode="auto">
          <a:xfrm>
            <a:off x="600000" y="3404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Риск-взвешивание активов по стандартам Базеля</a:t>
            </a:r>
            <a:endParaRPr lang="en-US" sz="1600"/>
          </a:p>
        </p:txBody>
      </p:sp>
      <p:sp>
        <p:nvSpPr>
          <p:cNvPr id="1596351387" name="Shape 15"/>
          <p:cNvSpPr/>
          <p:nvPr/>
        </p:nvSpPr>
        <p:spPr bwMode="auto">
          <a:xfrm>
            <a:off x="500000" y="3800000"/>
            <a:ext cx="3384000" cy="840000"/>
          </a:xfrm>
          <a:custGeom>
            <a:avLst/>
            <a:gdLst/>
            <a:ahLst/>
            <a:cxnLst/>
            <a:rect l="l" t="t" r="r" b="b"/>
            <a:pathLst>
              <a:path w="3384000" h="840000" fill="norm" stroke="1" extrusionOk="0">
                <a:moveTo>
                  <a:pt x="64000" y="0"/>
                </a:moveTo>
                <a:lnTo>
                  <a:pt x="3320000" y="0"/>
                </a:lnTo>
                <a:cubicBezTo>
                  <a:pt x="3355346" y="0"/>
                  <a:pt x="3384000" y="28654"/>
                  <a:pt x="3384000" y="64000"/>
                </a:cubicBezTo>
                <a:lnTo>
                  <a:pt x="3384000" y="776000"/>
                </a:lnTo>
                <a:cubicBezTo>
                  <a:pt x="3384000" y="811346"/>
                  <a:pt x="3355346" y="840000"/>
                  <a:pt x="3320000" y="840000"/>
                </a:cubicBezTo>
                <a:lnTo>
                  <a:pt x="64000" y="840000"/>
                </a:lnTo>
                <a:cubicBezTo>
                  <a:pt x="28654" y="840000"/>
                  <a:pt x="0" y="811346"/>
                  <a:pt x="0" y="77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819934714" name="Shape 16"/>
          <p:cNvSpPr/>
          <p:nvPr/>
        </p:nvSpPr>
        <p:spPr bwMode="auto">
          <a:xfrm>
            <a:off x="602000" y="3940000"/>
            <a:ext cx="140000" cy="112000"/>
          </a:xfrm>
          <a:custGeom>
            <a:avLst/>
            <a:gdLst/>
            <a:ahLst/>
            <a:cxnLst/>
            <a:rect l="l" t="t" r="r" b="b"/>
            <a:pathLst>
              <a:path w="140000" h="112000" fill="norm" stroke="1" extrusionOk="0">
                <a:moveTo>
                  <a:pt x="90978" y="46047"/>
                </a:moveTo>
                <a:cubicBezTo>
                  <a:pt x="93647" y="45325"/>
                  <a:pt x="96447" y="46594"/>
                  <a:pt x="97650" y="49066"/>
                </a:cubicBezTo>
                <a:lnTo>
                  <a:pt x="101719" y="57291"/>
                </a:lnTo>
                <a:cubicBezTo>
                  <a:pt x="103972" y="57597"/>
                  <a:pt x="106181" y="58209"/>
                  <a:pt x="108259" y="59063"/>
                </a:cubicBezTo>
                <a:lnTo>
                  <a:pt x="115916" y="53966"/>
                </a:lnTo>
                <a:cubicBezTo>
                  <a:pt x="118213" y="52434"/>
                  <a:pt x="121253" y="52741"/>
                  <a:pt x="123200" y="54688"/>
                </a:cubicBezTo>
                <a:lnTo>
                  <a:pt x="127400" y="58888"/>
                </a:lnTo>
                <a:cubicBezTo>
                  <a:pt x="129347" y="60834"/>
                  <a:pt x="129653" y="63897"/>
                  <a:pt x="128122" y="66172"/>
                </a:cubicBezTo>
                <a:lnTo>
                  <a:pt x="123025" y="73806"/>
                </a:lnTo>
                <a:cubicBezTo>
                  <a:pt x="123441" y="74834"/>
                  <a:pt x="123813" y="75906"/>
                  <a:pt x="124119" y="77022"/>
                </a:cubicBezTo>
                <a:cubicBezTo>
                  <a:pt x="124425" y="78138"/>
                  <a:pt x="124622" y="79231"/>
                  <a:pt x="124775" y="80347"/>
                </a:cubicBezTo>
                <a:lnTo>
                  <a:pt x="133022" y="84416"/>
                </a:lnTo>
                <a:cubicBezTo>
                  <a:pt x="135494" y="85641"/>
                  <a:pt x="136763" y="88441"/>
                  <a:pt x="136041" y="91088"/>
                </a:cubicBezTo>
                <a:lnTo>
                  <a:pt x="134509" y="96819"/>
                </a:lnTo>
                <a:cubicBezTo>
                  <a:pt x="133788" y="99466"/>
                  <a:pt x="131316" y="101259"/>
                  <a:pt x="128559" y="101084"/>
                </a:cubicBezTo>
                <a:lnTo>
                  <a:pt x="119372" y="100494"/>
                </a:lnTo>
                <a:cubicBezTo>
                  <a:pt x="117994" y="102266"/>
                  <a:pt x="116397" y="103906"/>
                  <a:pt x="114581" y="105306"/>
                </a:cubicBezTo>
                <a:lnTo>
                  <a:pt x="115172" y="114472"/>
                </a:lnTo>
                <a:cubicBezTo>
                  <a:pt x="115347" y="117228"/>
                  <a:pt x="113553" y="119722"/>
                  <a:pt x="110906" y="120422"/>
                </a:cubicBezTo>
                <a:lnTo>
                  <a:pt x="105175" y="121953"/>
                </a:lnTo>
                <a:cubicBezTo>
                  <a:pt x="102506" y="122675"/>
                  <a:pt x="99728" y="121406"/>
                  <a:pt x="98503" y="118934"/>
                </a:cubicBezTo>
                <a:lnTo>
                  <a:pt x="94434" y="110709"/>
                </a:lnTo>
                <a:cubicBezTo>
                  <a:pt x="92181" y="110403"/>
                  <a:pt x="89972" y="109791"/>
                  <a:pt x="87894" y="108938"/>
                </a:cubicBezTo>
                <a:lnTo>
                  <a:pt x="80238" y="114034"/>
                </a:lnTo>
                <a:cubicBezTo>
                  <a:pt x="77941" y="115566"/>
                  <a:pt x="74900" y="115259"/>
                  <a:pt x="72953" y="113313"/>
                </a:cubicBezTo>
                <a:lnTo>
                  <a:pt x="68753" y="109113"/>
                </a:lnTo>
                <a:cubicBezTo>
                  <a:pt x="66806" y="107166"/>
                  <a:pt x="66500" y="104125"/>
                  <a:pt x="68031" y="101828"/>
                </a:cubicBezTo>
                <a:lnTo>
                  <a:pt x="73128" y="94172"/>
                </a:lnTo>
                <a:cubicBezTo>
                  <a:pt x="72713" y="93144"/>
                  <a:pt x="72341" y="92072"/>
                  <a:pt x="72034" y="90956"/>
                </a:cubicBezTo>
                <a:cubicBezTo>
                  <a:pt x="71728" y="89841"/>
                  <a:pt x="71531" y="88725"/>
                  <a:pt x="71378" y="87631"/>
                </a:cubicBezTo>
                <a:lnTo>
                  <a:pt x="63131" y="83563"/>
                </a:lnTo>
                <a:cubicBezTo>
                  <a:pt x="60659" y="82338"/>
                  <a:pt x="59413" y="79538"/>
                  <a:pt x="60113" y="76891"/>
                </a:cubicBezTo>
                <a:lnTo>
                  <a:pt x="61644" y="71159"/>
                </a:lnTo>
                <a:cubicBezTo>
                  <a:pt x="62366" y="68512"/>
                  <a:pt x="64838" y="66719"/>
                  <a:pt x="67594" y="66894"/>
                </a:cubicBezTo>
                <a:lnTo>
                  <a:pt x="76759" y="67484"/>
                </a:lnTo>
                <a:cubicBezTo>
                  <a:pt x="78138" y="65713"/>
                  <a:pt x="79734" y="64072"/>
                  <a:pt x="81550" y="62672"/>
                </a:cubicBezTo>
                <a:lnTo>
                  <a:pt x="80959" y="53528"/>
                </a:lnTo>
                <a:cubicBezTo>
                  <a:pt x="80784" y="50772"/>
                  <a:pt x="82578" y="48278"/>
                  <a:pt x="85225" y="47578"/>
                </a:cubicBezTo>
                <a:lnTo>
                  <a:pt x="90956" y="46047"/>
                </a:lnTo>
                <a:close/>
                <a:moveTo>
                  <a:pt x="98088" y="74375"/>
                </a:moveTo>
                <a:cubicBezTo>
                  <a:pt x="92775" y="74381"/>
                  <a:pt x="88467" y="78699"/>
                  <a:pt x="88473" y="84011"/>
                </a:cubicBezTo>
                <a:cubicBezTo>
                  <a:pt x="88479" y="89323"/>
                  <a:pt x="92797" y="93631"/>
                  <a:pt x="98109" y="93625"/>
                </a:cubicBezTo>
                <a:cubicBezTo>
                  <a:pt x="103422" y="93619"/>
                  <a:pt x="107729" y="89301"/>
                  <a:pt x="107723" y="83989"/>
                </a:cubicBezTo>
                <a:cubicBezTo>
                  <a:pt x="107717" y="78677"/>
                  <a:pt x="103400" y="74369"/>
                  <a:pt x="98088" y="74375"/>
                </a:cubicBezTo>
                <a:close/>
                <a:moveTo>
                  <a:pt x="49197" y="-9953"/>
                </a:moveTo>
                <a:lnTo>
                  <a:pt x="54928" y="-8422"/>
                </a:lnTo>
                <a:cubicBezTo>
                  <a:pt x="57575" y="-7700"/>
                  <a:pt x="59369" y="-5206"/>
                  <a:pt x="59194" y="-2472"/>
                </a:cubicBezTo>
                <a:lnTo>
                  <a:pt x="58603" y="6672"/>
                </a:lnTo>
                <a:cubicBezTo>
                  <a:pt x="60419" y="8072"/>
                  <a:pt x="62016" y="9691"/>
                  <a:pt x="63394" y="11484"/>
                </a:cubicBezTo>
                <a:lnTo>
                  <a:pt x="72581" y="10894"/>
                </a:lnTo>
                <a:cubicBezTo>
                  <a:pt x="75316" y="10719"/>
                  <a:pt x="77809" y="12513"/>
                  <a:pt x="78531" y="15159"/>
                </a:cubicBezTo>
                <a:lnTo>
                  <a:pt x="80063" y="20891"/>
                </a:lnTo>
                <a:cubicBezTo>
                  <a:pt x="80763" y="23538"/>
                  <a:pt x="79516" y="26338"/>
                  <a:pt x="77044" y="27563"/>
                </a:cubicBezTo>
                <a:lnTo>
                  <a:pt x="68797" y="31631"/>
                </a:lnTo>
                <a:cubicBezTo>
                  <a:pt x="68644" y="32747"/>
                  <a:pt x="68425" y="33863"/>
                  <a:pt x="68141" y="34956"/>
                </a:cubicBezTo>
                <a:cubicBezTo>
                  <a:pt x="67856" y="36050"/>
                  <a:pt x="67463" y="37144"/>
                  <a:pt x="67047" y="38172"/>
                </a:cubicBezTo>
                <a:lnTo>
                  <a:pt x="72144" y="45828"/>
                </a:lnTo>
                <a:cubicBezTo>
                  <a:pt x="73675" y="48125"/>
                  <a:pt x="73369" y="51166"/>
                  <a:pt x="71422" y="53113"/>
                </a:cubicBezTo>
                <a:lnTo>
                  <a:pt x="67222" y="57313"/>
                </a:lnTo>
                <a:cubicBezTo>
                  <a:pt x="65275" y="59259"/>
                  <a:pt x="62234" y="59566"/>
                  <a:pt x="59938" y="58034"/>
                </a:cubicBezTo>
                <a:lnTo>
                  <a:pt x="52281" y="52938"/>
                </a:lnTo>
                <a:cubicBezTo>
                  <a:pt x="50203" y="53791"/>
                  <a:pt x="47994" y="54403"/>
                  <a:pt x="45741" y="54709"/>
                </a:cubicBezTo>
                <a:lnTo>
                  <a:pt x="41672" y="62934"/>
                </a:lnTo>
                <a:cubicBezTo>
                  <a:pt x="40447" y="65406"/>
                  <a:pt x="37647" y="66653"/>
                  <a:pt x="35000" y="65953"/>
                </a:cubicBezTo>
                <a:lnTo>
                  <a:pt x="29269" y="64422"/>
                </a:lnTo>
                <a:cubicBezTo>
                  <a:pt x="26600" y="63700"/>
                  <a:pt x="24828" y="61206"/>
                  <a:pt x="25003" y="58472"/>
                </a:cubicBezTo>
                <a:lnTo>
                  <a:pt x="25594" y="49306"/>
                </a:lnTo>
                <a:cubicBezTo>
                  <a:pt x="23778" y="47906"/>
                  <a:pt x="22181" y="46287"/>
                  <a:pt x="20803" y="44494"/>
                </a:cubicBezTo>
                <a:lnTo>
                  <a:pt x="11616" y="45084"/>
                </a:lnTo>
                <a:cubicBezTo>
                  <a:pt x="8881" y="45259"/>
                  <a:pt x="6388" y="43466"/>
                  <a:pt x="5666" y="40819"/>
                </a:cubicBezTo>
                <a:lnTo>
                  <a:pt x="4134" y="35088"/>
                </a:lnTo>
                <a:cubicBezTo>
                  <a:pt x="3434" y="32441"/>
                  <a:pt x="4681" y="29641"/>
                  <a:pt x="7153" y="28416"/>
                </a:cubicBezTo>
                <a:lnTo>
                  <a:pt x="15400" y="24347"/>
                </a:lnTo>
                <a:cubicBezTo>
                  <a:pt x="15553" y="23231"/>
                  <a:pt x="15772" y="22138"/>
                  <a:pt x="16056" y="21022"/>
                </a:cubicBezTo>
                <a:cubicBezTo>
                  <a:pt x="16363" y="19906"/>
                  <a:pt x="16713" y="18834"/>
                  <a:pt x="17150" y="17806"/>
                </a:cubicBezTo>
                <a:lnTo>
                  <a:pt x="12053" y="10172"/>
                </a:lnTo>
                <a:cubicBezTo>
                  <a:pt x="10522" y="7875"/>
                  <a:pt x="10828" y="4834"/>
                  <a:pt x="12775" y="2888"/>
                </a:cubicBezTo>
                <a:lnTo>
                  <a:pt x="16975" y="-1312"/>
                </a:lnTo>
                <a:cubicBezTo>
                  <a:pt x="18922" y="-3259"/>
                  <a:pt x="21963" y="-3566"/>
                  <a:pt x="24259" y="-2034"/>
                </a:cubicBezTo>
                <a:lnTo>
                  <a:pt x="31916" y="3063"/>
                </a:lnTo>
                <a:cubicBezTo>
                  <a:pt x="33994" y="2209"/>
                  <a:pt x="36203" y="1597"/>
                  <a:pt x="38456" y="1291"/>
                </a:cubicBezTo>
                <a:lnTo>
                  <a:pt x="42525" y="-6934"/>
                </a:lnTo>
                <a:cubicBezTo>
                  <a:pt x="43750" y="-9406"/>
                  <a:pt x="46528" y="-10653"/>
                  <a:pt x="49197" y="-9953"/>
                </a:cubicBezTo>
                <a:close/>
                <a:moveTo>
                  <a:pt x="42088" y="18375"/>
                </a:moveTo>
                <a:cubicBezTo>
                  <a:pt x="36775" y="18375"/>
                  <a:pt x="32463" y="22688"/>
                  <a:pt x="32463" y="28000"/>
                </a:cubicBezTo>
                <a:cubicBezTo>
                  <a:pt x="32463" y="33312"/>
                  <a:pt x="36775" y="37625"/>
                  <a:pt x="42088" y="37625"/>
                </a:cubicBezTo>
                <a:cubicBezTo>
                  <a:pt x="47400" y="37625"/>
                  <a:pt x="51713" y="33312"/>
                  <a:pt x="51713" y="28000"/>
                </a:cubicBezTo>
                <a:cubicBezTo>
                  <a:pt x="51713" y="22688"/>
                  <a:pt x="47400" y="18375"/>
                  <a:pt x="42088" y="183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40750035" name="Text 17"/>
          <p:cNvSpPr/>
          <p:nvPr/>
        </p:nvSpPr>
        <p:spPr bwMode="auto">
          <a:xfrm>
            <a:off x="804000" y="3900000"/>
            <a:ext cx="109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Deterministic rules</a:t>
            </a:r>
            <a:endParaRPr lang="en-US" sz="1600"/>
          </a:p>
        </p:txBody>
      </p:sp>
      <p:sp>
        <p:nvSpPr>
          <p:cNvPr id="1152856324" name="Text 18"/>
          <p:cNvSpPr/>
          <p:nvPr/>
        </p:nvSpPr>
        <p:spPr bwMode="auto">
          <a:xfrm>
            <a:off x="600000" y="4156000"/>
            <a:ext cx="3248000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Предсказуемая оценка правил без ML-неопределённости</a:t>
            </a:r>
            <a:endParaRPr lang="en-US" sz="1600"/>
          </a:p>
        </p:txBody>
      </p:sp>
      <p:sp>
        <p:nvSpPr>
          <p:cNvPr id="1712583980" name="Shape 19"/>
          <p:cNvSpPr/>
          <p:nvPr/>
        </p:nvSpPr>
        <p:spPr bwMode="auto">
          <a:xfrm>
            <a:off x="500000" y="4744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496742392" name="Shape 20"/>
          <p:cNvSpPr/>
          <p:nvPr/>
        </p:nvSpPr>
        <p:spPr bwMode="auto">
          <a:xfrm>
            <a:off x="602000" y="4884000"/>
            <a:ext cx="140000" cy="112000"/>
          </a:xfrm>
          <a:custGeom>
            <a:avLst/>
            <a:gdLst/>
            <a:ahLst/>
            <a:cxnLst/>
            <a:rect l="l" t="t" r="r" b="b"/>
            <a:pathLst>
              <a:path w="140000" h="112000" fill="norm" stroke="1" extrusionOk="0">
                <a:moveTo>
                  <a:pt x="29750" y="28000"/>
                </a:moveTo>
                <a:cubicBezTo>
                  <a:pt x="29750" y="13512"/>
                  <a:pt x="41512" y="1750"/>
                  <a:pt x="56000" y="1750"/>
                </a:cubicBezTo>
                <a:cubicBezTo>
                  <a:pt x="70488" y="1750"/>
                  <a:pt x="82250" y="13512"/>
                  <a:pt x="82250" y="28000"/>
                </a:cubicBezTo>
                <a:cubicBezTo>
                  <a:pt x="82250" y="42488"/>
                  <a:pt x="70488" y="54250"/>
                  <a:pt x="56000" y="54250"/>
                </a:cubicBezTo>
                <a:cubicBezTo>
                  <a:pt x="41512" y="54250"/>
                  <a:pt x="29750" y="42488"/>
                  <a:pt x="29750" y="28000"/>
                </a:cubicBezTo>
                <a:close/>
                <a:moveTo>
                  <a:pt x="10500" y="105503"/>
                </a:moveTo>
                <a:cubicBezTo>
                  <a:pt x="10500" y="83956"/>
                  <a:pt x="27956" y="66500"/>
                  <a:pt x="49503" y="66500"/>
                </a:cubicBezTo>
                <a:lnTo>
                  <a:pt x="62497" y="66500"/>
                </a:lnTo>
                <a:cubicBezTo>
                  <a:pt x="84044" y="66500"/>
                  <a:pt x="101500" y="83956"/>
                  <a:pt x="101500" y="105503"/>
                </a:cubicBezTo>
                <a:cubicBezTo>
                  <a:pt x="101500" y="109091"/>
                  <a:pt x="98591" y="112000"/>
                  <a:pt x="95003" y="112000"/>
                </a:cubicBezTo>
                <a:lnTo>
                  <a:pt x="16997" y="112000"/>
                </a:lnTo>
                <a:cubicBezTo>
                  <a:pt x="13409" y="112000"/>
                  <a:pt x="10500" y="109091"/>
                  <a:pt x="10500" y="105503"/>
                </a:cubicBezTo>
                <a:close/>
                <a:moveTo>
                  <a:pt x="133963" y="29028"/>
                </a:moveTo>
                <a:lnTo>
                  <a:pt x="116462" y="57028"/>
                </a:lnTo>
                <a:cubicBezTo>
                  <a:pt x="115544" y="58494"/>
                  <a:pt x="113969" y="59412"/>
                  <a:pt x="112241" y="59500"/>
                </a:cubicBezTo>
                <a:cubicBezTo>
                  <a:pt x="110513" y="59588"/>
                  <a:pt x="108850" y="58800"/>
                  <a:pt x="107822" y="57400"/>
                </a:cubicBezTo>
                <a:lnTo>
                  <a:pt x="97322" y="43400"/>
                </a:lnTo>
                <a:cubicBezTo>
                  <a:pt x="95572" y="41081"/>
                  <a:pt x="96053" y="37800"/>
                  <a:pt x="98372" y="36050"/>
                </a:cubicBezTo>
                <a:cubicBezTo>
                  <a:pt x="100691" y="34300"/>
                  <a:pt x="103972" y="34781"/>
                  <a:pt x="105722" y="37100"/>
                </a:cubicBezTo>
                <a:lnTo>
                  <a:pt x="111628" y="44975"/>
                </a:lnTo>
                <a:lnTo>
                  <a:pt x="125059" y="23472"/>
                </a:lnTo>
                <a:cubicBezTo>
                  <a:pt x="126591" y="21022"/>
                  <a:pt x="129828" y="20256"/>
                  <a:pt x="132300" y="21809"/>
                </a:cubicBezTo>
                <a:cubicBezTo>
                  <a:pt x="134772" y="23363"/>
                  <a:pt x="135516" y="26578"/>
                  <a:pt x="133963" y="2905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5773868" name="Text 21"/>
          <p:cNvSpPr/>
          <p:nvPr/>
        </p:nvSpPr>
        <p:spPr bwMode="auto">
          <a:xfrm>
            <a:off x="804000" y="4844000"/>
            <a:ext cx="102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Counterparty risk</a:t>
            </a:r>
            <a:endParaRPr lang="en-US" sz="1600"/>
          </a:p>
        </p:txBody>
      </p:sp>
      <p:sp>
        <p:nvSpPr>
          <p:cNvPr id="1044994763" name="Text 22"/>
          <p:cNvSpPr/>
          <p:nvPr/>
        </p:nvSpPr>
        <p:spPr bwMode="auto">
          <a:xfrm>
            <a:off x="600000" y="5100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Оценка риска контрагентов в реальном времени</a:t>
            </a:r>
            <a:endParaRPr lang="en-US" sz="1600"/>
          </a:p>
        </p:txBody>
      </p:sp>
      <p:sp>
        <p:nvSpPr>
          <p:cNvPr id="1475736598" name="Shape 23"/>
          <p:cNvSpPr/>
          <p:nvPr/>
        </p:nvSpPr>
        <p:spPr bwMode="auto">
          <a:xfrm>
            <a:off x="4230750" y="2236000"/>
            <a:ext cx="3728000" cy="3400000"/>
          </a:xfrm>
          <a:custGeom>
            <a:avLst/>
            <a:gdLst/>
            <a:ahLst/>
            <a:cxnLst/>
            <a:rect l="l" t="t" r="r" b="b"/>
            <a:pathLst>
              <a:path w="3728000" h="3400000" fill="norm" stroke="1" extrusionOk="0">
                <a:moveTo>
                  <a:pt x="63988" y="0"/>
                </a:moveTo>
                <a:lnTo>
                  <a:pt x="3664012" y="0"/>
                </a:lnTo>
                <a:cubicBezTo>
                  <a:pt x="3699352" y="0"/>
                  <a:pt x="3728000" y="28648"/>
                  <a:pt x="3728000" y="63988"/>
                </a:cubicBezTo>
                <a:lnTo>
                  <a:pt x="3728000" y="3336012"/>
                </a:lnTo>
                <a:cubicBezTo>
                  <a:pt x="3728000" y="3371352"/>
                  <a:pt x="3699352" y="3400000"/>
                  <a:pt x="3664012" y="3400000"/>
                </a:cubicBezTo>
                <a:lnTo>
                  <a:pt x="63988" y="3400000"/>
                </a:lnTo>
                <a:cubicBezTo>
                  <a:pt x="28648" y="3400000"/>
                  <a:pt x="0" y="3371352"/>
                  <a:pt x="0" y="3336012"/>
                </a:cubicBezTo>
                <a:lnTo>
                  <a:pt x="0" y="63988"/>
                </a:lnTo>
                <a:cubicBezTo>
                  <a:pt x="0" y="28672"/>
                  <a:pt x="28672" y="0"/>
                  <a:pt x="6398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54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3727662" name="Shape 24"/>
          <p:cNvSpPr/>
          <p:nvPr/>
        </p:nvSpPr>
        <p:spPr bwMode="auto">
          <a:xfrm>
            <a:off x="4398750" y="2404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 fill="norm" stroke="1" extrusionOk="0">
                <a:moveTo>
                  <a:pt x="64000" y="0"/>
                </a:moveTo>
                <a:lnTo>
                  <a:pt x="448000" y="0"/>
                </a:lnTo>
                <a:cubicBezTo>
                  <a:pt x="483346" y="0"/>
                  <a:pt x="512000" y="28654"/>
                  <a:pt x="512000" y="64000"/>
                </a:cubicBezTo>
                <a:lnTo>
                  <a:pt x="512000" y="448000"/>
                </a:lnTo>
                <a:cubicBezTo>
                  <a:pt x="512000" y="483346"/>
                  <a:pt x="483346" y="512000"/>
                  <a:pt x="448000" y="512000"/>
                </a:cubicBezTo>
                <a:lnTo>
                  <a:pt x="64000" y="512000"/>
                </a:lnTo>
                <a:cubicBezTo>
                  <a:pt x="28654" y="512000"/>
                  <a:pt x="0" y="483346"/>
                  <a:pt x="0" y="448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479111168" name="Shape 25"/>
          <p:cNvSpPr/>
          <p:nvPr/>
        </p:nvSpPr>
        <p:spPr bwMode="auto">
          <a:xfrm>
            <a:off x="4536750" y="2540000"/>
            <a:ext cx="240000" cy="240000"/>
          </a:xfrm>
          <a:custGeom>
            <a:avLst/>
            <a:gdLst/>
            <a:ahLst/>
            <a:cxnLst/>
            <a:rect l="l" t="t" r="r" b="b"/>
            <a:pathLst>
              <a:path w="240000" h="240000" fill="norm" stroke="1" extrusionOk="0">
                <a:moveTo>
                  <a:pt x="192469" y="58172"/>
                </a:moveTo>
                <a:cubicBezTo>
                  <a:pt x="202172" y="65484"/>
                  <a:pt x="214031" y="72562"/>
                  <a:pt x="227250" y="74344"/>
                </a:cubicBezTo>
                <a:cubicBezTo>
                  <a:pt x="233391" y="75188"/>
                  <a:pt x="239062" y="70828"/>
                  <a:pt x="239906" y="64688"/>
                </a:cubicBezTo>
                <a:cubicBezTo>
                  <a:pt x="240750" y="58547"/>
                  <a:pt x="236391" y="52875"/>
                  <a:pt x="230250" y="52031"/>
                </a:cubicBezTo>
                <a:cubicBezTo>
                  <a:pt x="222797" y="51047"/>
                  <a:pt x="214687" y="46734"/>
                  <a:pt x="206016" y="40219"/>
                </a:cubicBezTo>
                <a:cubicBezTo>
                  <a:pt x="188016" y="26625"/>
                  <a:pt x="163594" y="26625"/>
                  <a:pt x="145547" y="40219"/>
                </a:cubicBezTo>
                <a:cubicBezTo>
                  <a:pt x="134297" y="48703"/>
                  <a:pt x="126469" y="52547"/>
                  <a:pt x="120000" y="52547"/>
                </a:cubicBezTo>
                <a:cubicBezTo>
                  <a:pt x="113531" y="52547"/>
                  <a:pt x="105703" y="48703"/>
                  <a:pt x="94453" y="40219"/>
                </a:cubicBezTo>
                <a:cubicBezTo>
                  <a:pt x="76453" y="26625"/>
                  <a:pt x="52031" y="26625"/>
                  <a:pt x="33984" y="40219"/>
                </a:cubicBezTo>
                <a:cubicBezTo>
                  <a:pt x="25313" y="46734"/>
                  <a:pt x="17203" y="51047"/>
                  <a:pt x="9750" y="52031"/>
                </a:cubicBezTo>
                <a:cubicBezTo>
                  <a:pt x="3609" y="52875"/>
                  <a:pt x="-750" y="58500"/>
                  <a:pt x="94" y="64688"/>
                </a:cubicBezTo>
                <a:cubicBezTo>
                  <a:pt x="937" y="70875"/>
                  <a:pt x="6562" y="75188"/>
                  <a:pt x="12750" y="74344"/>
                </a:cubicBezTo>
                <a:cubicBezTo>
                  <a:pt x="25969" y="72562"/>
                  <a:pt x="37875" y="65484"/>
                  <a:pt x="47531" y="58172"/>
                </a:cubicBezTo>
                <a:cubicBezTo>
                  <a:pt x="57516" y="50625"/>
                  <a:pt x="70922" y="50625"/>
                  <a:pt x="80906" y="58172"/>
                </a:cubicBezTo>
                <a:cubicBezTo>
                  <a:pt x="92250" y="66750"/>
                  <a:pt x="105422" y="75000"/>
                  <a:pt x="120000" y="75000"/>
                </a:cubicBezTo>
                <a:cubicBezTo>
                  <a:pt x="134578" y="75000"/>
                  <a:pt x="147703" y="66703"/>
                  <a:pt x="159094" y="58172"/>
                </a:cubicBezTo>
                <a:cubicBezTo>
                  <a:pt x="169078" y="50625"/>
                  <a:pt x="182484" y="50625"/>
                  <a:pt x="192469" y="58172"/>
                </a:cubicBezTo>
                <a:close/>
                <a:moveTo>
                  <a:pt x="192469" y="125672"/>
                </a:moveTo>
                <a:cubicBezTo>
                  <a:pt x="202172" y="132984"/>
                  <a:pt x="214031" y="140063"/>
                  <a:pt x="227250" y="141844"/>
                </a:cubicBezTo>
                <a:cubicBezTo>
                  <a:pt x="233391" y="142688"/>
                  <a:pt x="239062" y="138328"/>
                  <a:pt x="239906" y="132188"/>
                </a:cubicBezTo>
                <a:cubicBezTo>
                  <a:pt x="240750" y="126047"/>
                  <a:pt x="236391" y="120375"/>
                  <a:pt x="230250" y="119531"/>
                </a:cubicBezTo>
                <a:cubicBezTo>
                  <a:pt x="222797" y="118547"/>
                  <a:pt x="214687" y="114234"/>
                  <a:pt x="206016" y="107719"/>
                </a:cubicBezTo>
                <a:cubicBezTo>
                  <a:pt x="188016" y="94125"/>
                  <a:pt x="163594" y="94125"/>
                  <a:pt x="145547" y="107719"/>
                </a:cubicBezTo>
                <a:cubicBezTo>
                  <a:pt x="134297" y="116203"/>
                  <a:pt x="126469" y="120047"/>
                  <a:pt x="120000" y="120047"/>
                </a:cubicBezTo>
                <a:cubicBezTo>
                  <a:pt x="113531" y="120047"/>
                  <a:pt x="105703" y="116203"/>
                  <a:pt x="94453" y="107719"/>
                </a:cubicBezTo>
                <a:cubicBezTo>
                  <a:pt x="76453" y="94125"/>
                  <a:pt x="52031" y="94125"/>
                  <a:pt x="33984" y="107719"/>
                </a:cubicBezTo>
                <a:cubicBezTo>
                  <a:pt x="25313" y="114234"/>
                  <a:pt x="17203" y="118547"/>
                  <a:pt x="9750" y="119531"/>
                </a:cubicBezTo>
                <a:cubicBezTo>
                  <a:pt x="3609" y="120328"/>
                  <a:pt x="-750" y="126000"/>
                  <a:pt x="94" y="132188"/>
                </a:cubicBezTo>
                <a:cubicBezTo>
                  <a:pt x="937" y="138375"/>
                  <a:pt x="6562" y="142688"/>
                  <a:pt x="12750" y="141844"/>
                </a:cubicBezTo>
                <a:cubicBezTo>
                  <a:pt x="25969" y="140063"/>
                  <a:pt x="37875" y="132984"/>
                  <a:pt x="47531" y="125672"/>
                </a:cubicBezTo>
                <a:cubicBezTo>
                  <a:pt x="57516" y="118125"/>
                  <a:pt x="70922" y="118125"/>
                  <a:pt x="80906" y="125672"/>
                </a:cubicBezTo>
                <a:cubicBezTo>
                  <a:pt x="92250" y="134250"/>
                  <a:pt x="105422" y="142500"/>
                  <a:pt x="120000" y="142500"/>
                </a:cubicBezTo>
                <a:cubicBezTo>
                  <a:pt x="134578" y="142500"/>
                  <a:pt x="147703" y="134203"/>
                  <a:pt x="159094" y="125672"/>
                </a:cubicBezTo>
                <a:cubicBezTo>
                  <a:pt x="169078" y="118125"/>
                  <a:pt x="182484" y="118125"/>
                  <a:pt x="192469" y="125672"/>
                </a:cubicBezTo>
                <a:close/>
                <a:moveTo>
                  <a:pt x="159094" y="193172"/>
                </a:moveTo>
                <a:cubicBezTo>
                  <a:pt x="169078" y="185625"/>
                  <a:pt x="182484" y="185625"/>
                  <a:pt x="192469" y="193172"/>
                </a:cubicBezTo>
                <a:cubicBezTo>
                  <a:pt x="202172" y="200484"/>
                  <a:pt x="214031" y="207563"/>
                  <a:pt x="227250" y="209344"/>
                </a:cubicBezTo>
                <a:cubicBezTo>
                  <a:pt x="233391" y="210187"/>
                  <a:pt x="239062" y="205828"/>
                  <a:pt x="239906" y="199688"/>
                </a:cubicBezTo>
                <a:cubicBezTo>
                  <a:pt x="240750" y="193547"/>
                  <a:pt x="236391" y="187875"/>
                  <a:pt x="230250" y="187031"/>
                </a:cubicBezTo>
                <a:cubicBezTo>
                  <a:pt x="222797" y="186047"/>
                  <a:pt x="214687" y="181734"/>
                  <a:pt x="206016" y="175219"/>
                </a:cubicBezTo>
                <a:cubicBezTo>
                  <a:pt x="188016" y="161625"/>
                  <a:pt x="163594" y="161625"/>
                  <a:pt x="145547" y="175219"/>
                </a:cubicBezTo>
                <a:cubicBezTo>
                  <a:pt x="134297" y="183703"/>
                  <a:pt x="126469" y="187547"/>
                  <a:pt x="120000" y="187547"/>
                </a:cubicBezTo>
                <a:cubicBezTo>
                  <a:pt x="113531" y="187547"/>
                  <a:pt x="105703" y="183703"/>
                  <a:pt x="94453" y="175219"/>
                </a:cubicBezTo>
                <a:cubicBezTo>
                  <a:pt x="76453" y="161625"/>
                  <a:pt x="52031" y="161625"/>
                  <a:pt x="33984" y="175219"/>
                </a:cubicBezTo>
                <a:cubicBezTo>
                  <a:pt x="25313" y="181734"/>
                  <a:pt x="17203" y="186047"/>
                  <a:pt x="9750" y="187031"/>
                </a:cubicBezTo>
                <a:cubicBezTo>
                  <a:pt x="3609" y="187875"/>
                  <a:pt x="-750" y="193500"/>
                  <a:pt x="94" y="199688"/>
                </a:cubicBezTo>
                <a:cubicBezTo>
                  <a:pt x="937" y="205875"/>
                  <a:pt x="6562" y="210187"/>
                  <a:pt x="12750" y="209344"/>
                </a:cubicBezTo>
                <a:cubicBezTo>
                  <a:pt x="25969" y="207563"/>
                  <a:pt x="37875" y="200484"/>
                  <a:pt x="47531" y="193172"/>
                </a:cubicBezTo>
                <a:cubicBezTo>
                  <a:pt x="57516" y="185625"/>
                  <a:pt x="70922" y="185625"/>
                  <a:pt x="80906" y="193172"/>
                </a:cubicBezTo>
                <a:cubicBezTo>
                  <a:pt x="92250" y="201750"/>
                  <a:pt x="105422" y="210000"/>
                  <a:pt x="120000" y="210000"/>
                </a:cubicBezTo>
                <a:cubicBezTo>
                  <a:pt x="134578" y="210000"/>
                  <a:pt x="147703" y="201703"/>
                  <a:pt x="159094" y="19317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43272287" name="Text 26"/>
          <p:cNvSpPr/>
          <p:nvPr/>
        </p:nvSpPr>
        <p:spPr bwMode="auto">
          <a:xfrm>
            <a:off x="5006750" y="2436000"/>
            <a:ext cx="1456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Liquidity Engine</a:t>
            </a:r>
            <a:endParaRPr lang="en-US" sz="1600"/>
          </a:p>
        </p:txBody>
      </p:sp>
      <p:sp>
        <p:nvSpPr>
          <p:cNvPr id="1352461929" name="Text 27"/>
          <p:cNvSpPr/>
          <p:nvPr/>
        </p:nvSpPr>
        <p:spPr bwMode="auto">
          <a:xfrm>
            <a:off x="5006750" y="2692000"/>
            <a:ext cx="142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Ликвидность</a:t>
            </a:r>
            <a:endParaRPr lang="en-US" sz="1600"/>
          </a:p>
        </p:txBody>
      </p:sp>
      <p:sp>
        <p:nvSpPr>
          <p:cNvPr id="281036794" name="Shape 28"/>
          <p:cNvSpPr/>
          <p:nvPr/>
        </p:nvSpPr>
        <p:spPr bwMode="auto">
          <a:xfrm>
            <a:off x="4402750" y="3048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751933456" name="Shape 29"/>
          <p:cNvSpPr/>
          <p:nvPr/>
        </p:nvSpPr>
        <p:spPr bwMode="auto">
          <a:xfrm>
            <a:off x="4518750" y="3188000"/>
            <a:ext cx="112000" cy="112000"/>
          </a:xfrm>
          <a:custGeom>
            <a:avLst/>
            <a:gdLst/>
            <a:ahLst/>
            <a:cxnLst/>
            <a:rect l="l" t="t" r="r" b="b"/>
            <a:pathLst>
              <a:path w="112000" h="112000" fill="norm" stroke="1" extrusionOk="0">
                <a:moveTo>
                  <a:pt x="74944" y="2056"/>
                </a:moveTo>
                <a:cubicBezTo>
                  <a:pt x="72209" y="-678"/>
                  <a:pt x="67769" y="-678"/>
                  <a:pt x="65034" y="2056"/>
                </a:cubicBezTo>
                <a:cubicBezTo>
                  <a:pt x="62300" y="4791"/>
                  <a:pt x="62300" y="9231"/>
                  <a:pt x="65034" y="11966"/>
                </a:cubicBezTo>
                <a:lnTo>
                  <a:pt x="67091" y="14000"/>
                </a:lnTo>
                <a:lnTo>
                  <a:pt x="6147" y="74944"/>
                </a:lnTo>
                <a:cubicBezTo>
                  <a:pt x="2209" y="78881"/>
                  <a:pt x="0" y="84219"/>
                  <a:pt x="0" y="89797"/>
                </a:cubicBezTo>
                <a:lnTo>
                  <a:pt x="0" y="91000"/>
                </a:lnTo>
                <a:cubicBezTo>
                  <a:pt x="0" y="102594"/>
                  <a:pt x="9406" y="112000"/>
                  <a:pt x="21000" y="112000"/>
                </a:cubicBezTo>
                <a:lnTo>
                  <a:pt x="22203" y="112000"/>
                </a:lnTo>
                <a:cubicBezTo>
                  <a:pt x="27781" y="112000"/>
                  <a:pt x="33119" y="109791"/>
                  <a:pt x="37056" y="105853"/>
                </a:cubicBezTo>
                <a:lnTo>
                  <a:pt x="98000" y="44909"/>
                </a:lnTo>
                <a:lnTo>
                  <a:pt x="100056" y="46966"/>
                </a:lnTo>
                <a:cubicBezTo>
                  <a:pt x="102791" y="49700"/>
                  <a:pt x="107231" y="49700"/>
                  <a:pt x="109966" y="46966"/>
                </a:cubicBezTo>
                <a:cubicBezTo>
                  <a:pt x="112700" y="44231"/>
                  <a:pt x="112700" y="39791"/>
                  <a:pt x="109966" y="37056"/>
                </a:cubicBezTo>
                <a:lnTo>
                  <a:pt x="74966" y="2056"/>
                </a:lnTo>
                <a:close/>
                <a:moveTo>
                  <a:pt x="44909" y="56000"/>
                </a:moveTo>
                <a:lnTo>
                  <a:pt x="77000" y="23909"/>
                </a:lnTo>
                <a:lnTo>
                  <a:pt x="88091" y="35000"/>
                </a:lnTo>
                <a:lnTo>
                  <a:pt x="67091" y="56000"/>
                </a:lnTo>
                <a:lnTo>
                  <a:pt x="44888" y="560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70534954" name="Text 30"/>
          <p:cNvSpPr/>
          <p:nvPr/>
        </p:nvSpPr>
        <p:spPr bwMode="auto">
          <a:xfrm>
            <a:off x="4706750" y="3148000"/>
            <a:ext cx="100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Stress simulation</a:t>
            </a:r>
            <a:endParaRPr lang="en-US" sz="1600"/>
          </a:p>
        </p:txBody>
      </p:sp>
      <p:sp>
        <p:nvSpPr>
          <p:cNvPr id="1823880006" name="Text 31"/>
          <p:cNvSpPr/>
          <p:nvPr/>
        </p:nvSpPr>
        <p:spPr bwMode="auto">
          <a:xfrm>
            <a:off x="4502750" y="3404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Моделирование стресс-сценариев ликвидности</a:t>
            </a:r>
            <a:endParaRPr lang="en-US" sz="1600"/>
          </a:p>
        </p:txBody>
      </p:sp>
      <p:sp>
        <p:nvSpPr>
          <p:cNvPr id="1335528726" name="Shape 32"/>
          <p:cNvSpPr/>
          <p:nvPr/>
        </p:nvSpPr>
        <p:spPr bwMode="auto">
          <a:xfrm>
            <a:off x="4402750" y="3800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79302948" name="Shape 33"/>
          <p:cNvSpPr/>
          <p:nvPr/>
        </p:nvSpPr>
        <p:spPr bwMode="auto">
          <a:xfrm>
            <a:off x="4511750" y="3940000"/>
            <a:ext cx="126000" cy="112000"/>
          </a:xfrm>
          <a:custGeom>
            <a:avLst/>
            <a:gdLst/>
            <a:ahLst/>
            <a:cxnLst/>
            <a:rect l="l" t="t" r="r" b="b"/>
            <a:pathLst>
              <a:path w="126000" h="112000" fill="norm" stroke="1" extrusionOk="0">
                <a:moveTo>
                  <a:pt x="63000" y="7000"/>
                </a:moveTo>
                <a:cubicBezTo>
                  <a:pt x="45325" y="7000"/>
                  <a:pt x="31172" y="15050"/>
                  <a:pt x="20869" y="24631"/>
                </a:cubicBezTo>
                <a:cubicBezTo>
                  <a:pt x="10631" y="34147"/>
                  <a:pt x="3784" y="45500"/>
                  <a:pt x="525" y="53309"/>
                </a:cubicBezTo>
                <a:cubicBezTo>
                  <a:pt x="-197" y="55038"/>
                  <a:pt x="-197" y="56963"/>
                  <a:pt x="525" y="58691"/>
                </a:cubicBezTo>
                <a:cubicBezTo>
                  <a:pt x="3784" y="66500"/>
                  <a:pt x="10631" y="77875"/>
                  <a:pt x="20869" y="87369"/>
                </a:cubicBezTo>
                <a:cubicBezTo>
                  <a:pt x="31172" y="96928"/>
                  <a:pt x="45325" y="105000"/>
                  <a:pt x="63000" y="105000"/>
                </a:cubicBezTo>
                <a:cubicBezTo>
                  <a:pt x="80675" y="105000"/>
                  <a:pt x="94828" y="96950"/>
                  <a:pt x="105131" y="87369"/>
                </a:cubicBezTo>
                <a:cubicBezTo>
                  <a:pt x="115369" y="77853"/>
                  <a:pt x="122216" y="66500"/>
                  <a:pt x="125475" y="58691"/>
                </a:cubicBezTo>
                <a:cubicBezTo>
                  <a:pt x="126197" y="56963"/>
                  <a:pt x="126197" y="55038"/>
                  <a:pt x="125475" y="53309"/>
                </a:cubicBezTo>
                <a:cubicBezTo>
                  <a:pt x="122216" y="45500"/>
                  <a:pt x="115369" y="34125"/>
                  <a:pt x="105131" y="24631"/>
                </a:cubicBezTo>
                <a:cubicBezTo>
                  <a:pt x="94828" y="15072"/>
                  <a:pt x="80675" y="7000"/>
                  <a:pt x="63000" y="7000"/>
                </a:cubicBezTo>
                <a:close/>
                <a:moveTo>
                  <a:pt x="31500" y="56000"/>
                </a:moveTo>
                <a:cubicBezTo>
                  <a:pt x="31500" y="38615"/>
                  <a:pt x="45615" y="24500"/>
                  <a:pt x="63000" y="24500"/>
                </a:cubicBezTo>
                <a:cubicBezTo>
                  <a:pt x="80385" y="24500"/>
                  <a:pt x="94500" y="38615"/>
                  <a:pt x="94500" y="56000"/>
                </a:cubicBezTo>
                <a:cubicBezTo>
                  <a:pt x="94500" y="73385"/>
                  <a:pt x="80385" y="87500"/>
                  <a:pt x="63000" y="87500"/>
                </a:cubicBezTo>
                <a:cubicBezTo>
                  <a:pt x="45615" y="87500"/>
                  <a:pt x="31500" y="73385"/>
                  <a:pt x="31500" y="56000"/>
                </a:cubicBezTo>
                <a:close/>
                <a:moveTo>
                  <a:pt x="63000" y="42000"/>
                </a:moveTo>
                <a:cubicBezTo>
                  <a:pt x="63000" y="49722"/>
                  <a:pt x="56722" y="56000"/>
                  <a:pt x="49000" y="56000"/>
                </a:cubicBezTo>
                <a:cubicBezTo>
                  <a:pt x="46484" y="56000"/>
                  <a:pt x="44122" y="55344"/>
                  <a:pt x="42066" y="54163"/>
                </a:cubicBezTo>
                <a:cubicBezTo>
                  <a:pt x="41847" y="56547"/>
                  <a:pt x="42044" y="58997"/>
                  <a:pt x="42700" y="61425"/>
                </a:cubicBezTo>
                <a:cubicBezTo>
                  <a:pt x="45697" y="72625"/>
                  <a:pt x="57225" y="79275"/>
                  <a:pt x="68425" y="76278"/>
                </a:cubicBezTo>
                <a:cubicBezTo>
                  <a:pt x="79625" y="73281"/>
                  <a:pt x="86275" y="61753"/>
                  <a:pt x="83278" y="50553"/>
                </a:cubicBezTo>
                <a:cubicBezTo>
                  <a:pt x="80609" y="40556"/>
                  <a:pt x="71138" y="34191"/>
                  <a:pt x="61163" y="35066"/>
                </a:cubicBezTo>
                <a:cubicBezTo>
                  <a:pt x="62322" y="37100"/>
                  <a:pt x="63000" y="39463"/>
                  <a:pt x="63000" y="4200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39282426" name="Text 34"/>
          <p:cNvSpPr/>
          <p:nvPr/>
        </p:nvSpPr>
        <p:spPr bwMode="auto">
          <a:xfrm>
            <a:off x="4706750" y="3900000"/>
            <a:ext cx="121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Exposure monitoring</a:t>
            </a:r>
            <a:endParaRPr lang="en-US" sz="1600"/>
          </a:p>
        </p:txBody>
      </p:sp>
      <p:sp>
        <p:nvSpPr>
          <p:cNvPr id="881975181" name="Text 35"/>
          <p:cNvSpPr/>
          <p:nvPr/>
        </p:nvSpPr>
        <p:spPr bwMode="auto">
          <a:xfrm>
            <a:off x="4502750" y="4156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Мониторинг экспозиций в реальном времени</a:t>
            </a:r>
            <a:endParaRPr lang="en-US" sz="1600"/>
          </a:p>
        </p:txBody>
      </p:sp>
      <p:sp>
        <p:nvSpPr>
          <p:cNvPr id="136926190" name="Shape 36"/>
          <p:cNvSpPr/>
          <p:nvPr/>
        </p:nvSpPr>
        <p:spPr bwMode="auto">
          <a:xfrm>
            <a:off x="4402750" y="4552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819154207" name="Shape 37"/>
          <p:cNvSpPr/>
          <p:nvPr/>
        </p:nvSpPr>
        <p:spPr bwMode="auto">
          <a:xfrm>
            <a:off x="4525750" y="4692000"/>
            <a:ext cx="98000" cy="112000"/>
          </a:xfrm>
          <a:custGeom>
            <a:avLst/>
            <a:gdLst/>
            <a:ahLst/>
            <a:cxnLst/>
            <a:rect l="l" t="t" r="r" b="b"/>
            <a:pathLst>
              <a:path w="98000" h="112000" fill="norm" stroke="1" extrusionOk="0">
                <a:moveTo>
                  <a:pt x="28000" y="0"/>
                </a:moveTo>
                <a:cubicBezTo>
                  <a:pt x="31872" y="0"/>
                  <a:pt x="35000" y="3128"/>
                  <a:pt x="35000" y="7000"/>
                </a:cubicBezTo>
                <a:lnTo>
                  <a:pt x="35000" y="14000"/>
                </a:lnTo>
                <a:lnTo>
                  <a:pt x="63000" y="14000"/>
                </a:lnTo>
                <a:lnTo>
                  <a:pt x="63000" y="7000"/>
                </a:lnTo>
                <a:cubicBezTo>
                  <a:pt x="63000" y="3128"/>
                  <a:pt x="66128" y="0"/>
                  <a:pt x="70000" y="0"/>
                </a:cubicBezTo>
                <a:cubicBezTo>
                  <a:pt x="73872" y="0"/>
                  <a:pt x="77000" y="3128"/>
                  <a:pt x="77000" y="7000"/>
                </a:cubicBezTo>
                <a:lnTo>
                  <a:pt x="77000" y="14000"/>
                </a:lnTo>
                <a:lnTo>
                  <a:pt x="84000" y="14000"/>
                </a:lnTo>
                <a:cubicBezTo>
                  <a:pt x="91722" y="14000"/>
                  <a:pt x="98000" y="20278"/>
                  <a:pt x="98000" y="28000"/>
                </a:cubicBezTo>
                <a:lnTo>
                  <a:pt x="98000" y="91000"/>
                </a:lnTo>
                <a:cubicBezTo>
                  <a:pt x="98000" y="98722"/>
                  <a:pt x="91722" y="105000"/>
                  <a:pt x="84000" y="105000"/>
                </a:cubicBezTo>
                <a:lnTo>
                  <a:pt x="14000" y="105000"/>
                </a:lnTo>
                <a:cubicBezTo>
                  <a:pt x="6278" y="105000"/>
                  <a:pt x="0" y="98722"/>
                  <a:pt x="0" y="91000"/>
                </a:cubicBezTo>
                <a:lnTo>
                  <a:pt x="0" y="28000"/>
                </a:lnTo>
                <a:cubicBezTo>
                  <a:pt x="0" y="20278"/>
                  <a:pt x="6278" y="14000"/>
                  <a:pt x="14000" y="14000"/>
                </a:cubicBezTo>
                <a:lnTo>
                  <a:pt x="21000" y="14000"/>
                </a:lnTo>
                <a:lnTo>
                  <a:pt x="21000" y="7000"/>
                </a:lnTo>
                <a:cubicBezTo>
                  <a:pt x="21000" y="3128"/>
                  <a:pt x="24128" y="0"/>
                  <a:pt x="28000" y="0"/>
                </a:cubicBezTo>
                <a:close/>
                <a:moveTo>
                  <a:pt x="14000" y="52500"/>
                </a:moveTo>
                <a:lnTo>
                  <a:pt x="14000" y="59500"/>
                </a:lnTo>
                <a:cubicBezTo>
                  <a:pt x="14000" y="61425"/>
                  <a:pt x="15575" y="63000"/>
                  <a:pt x="17500" y="63000"/>
                </a:cubicBezTo>
                <a:lnTo>
                  <a:pt x="24500" y="63000"/>
                </a:lnTo>
                <a:cubicBezTo>
                  <a:pt x="26425" y="63000"/>
                  <a:pt x="28000" y="61425"/>
                  <a:pt x="28000" y="59500"/>
                </a:cubicBezTo>
                <a:lnTo>
                  <a:pt x="28000" y="52500"/>
                </a:lnTo>
                <a:cubicBezTo>
                  <a:pt x="28000" y="50575"/>
                  <a:pt x="26425" y="49000"/>
                  <a:pt x="24500" y="49000"/>
                </a:cubicBezTo>
                <a:lnTo>
                  <a:pt x="17500" y="49000"/>
                </a:lnTo>
                <a:cubicBezTo>
                  <a:pt x="15575" y="49000"/>
                  <a:pt x="14000" y="50575"/>
                  <a:pt x="14000" y="52500"/>
                </a:cubicBezTo>
                <a:close/>
                <a:moveTo>
                  <a:pt x="42000" y="52500"/>
                </a:moveTo>
                <a:lnTo>
                  <a:pt x="42000" y="59500"/>
                </a:lnTo>
                <a:cubicBezTo>
                  <a:pt x="42000" y="61425"/>
                  <a:pt x="43575" y="63000"/>
                  <a:pt x="45500" y="63000"/>
                </a:cubicBezTo>
                <a:lnTo>
                  <a:pt x="52500" y="63000"/>
                </a:lnTo>
                <a:cubicBezTo>
                  <a:pt x="54425" y="63000"/>
                  <a:pt x="56000" y="61425"/>
                  <a:pt x="56000" y="59500"/>
                </a:cubicBezTo>
                <a:lnTo>
                  <a:pt x="56000" y="52500"/>
                </a:lnTo>
                <a:cubicBezTo>
                  <a:pt x="56000" y="50575"/>
                  <a:pt x="54425" y="49000"/>
                  <a:pt x="52500" y="49000"/>
                </a:cubicBezTo>
                <a:lnTo>
                  <a:pt x="45500" y="49000"/>
                </a:lnTo>
                <a:cubicBezTo>
                  <a:pt x="43575" y="49000"/>
                  <a:pt x="42000" y="50575"/>
                  <a:pt x="42000" y="52500"/>
                </a:cubicBezTo>
                <a:close/>
                <a:moveTo>
                  <a:pt x="73500" y="49000"/>
                </a:moveTo>
                <a:cubicBezTo>
                  <a:pt x="71575" y="49000"/>
                  <a:pt x="70000" y="50575"/>
                  <a:pt x="70000" y="52500"/>
                </a:cubicBezTo>
                <a:lnTo>
                  <a:pt x="70000" y="59500"/>
                </a:lnTo>
                <a:cubicBezTo>
                  <a:pt x="70000" y="61425"/>
                  <a:pt x="71575" y="63000"/>
                  <a:pt x="73500" y="63000"/>
                </a:cubicBezTo>
                <a:lnTo>
                  <a:pt x="80500" y="63000"/>
                </a:lnTo>
                <a:cubicBezTo>
                  <a:pt x="82425" y="63000"/>
                  <a:pt x="84000" y="61425"/>
                  <a:pt x="84000" y="59500"/>
                </a:cubicBezTo>
                <a:lnTo>
                  <a:pt x="84000" y="52500"/>
                </a:lnTo>
                <a:cubicBezTo>
                  <a:pt x="84000" y="50575"/>
                  <a:pt x="82425" y="49000"/>
                  <a:pt x="80500" y="49000"/>
                </a:cubicBezTo>
                <a:lnTo>
                  <a:pt x="73500" y="49000"/>
                </a:lnTo>
                <a:close/>
                <a:moveTo>
                  <a:pt x="14000" y="80500"/>
                </a:moveTo>
                <a:lnTo>
                  <a:pt x="14000" y="87500"/>
                </a:lnTo>
                <a:cubicBezTo>
                  <a:pt x="14000" y="89425"/>
                  <a:pt x="15575" y="91000"/>
                  <a:pt x="17500" y="91000"/>
                </a:cubicBezTo>
                <a:lnTo>
                  <a:pt x="24500" y="91000"/>
                </a:lnTo>
                <a:cubicBezTo>
                  <a:pt x="26425" y="91000"/>
                  <a:pt x="28000" y="89425"/>
                  <a:pt x="28000" y="87500"/>
                </a:cubicBezTo>
                <a:lnTo>
                  <a:pt x="28000" y="80500"/>
                </a:lnTo>
                <a:cubicBezTo>
                  <a:pt x="28000" y="78575"/>
                  <a:pt x="26425" y="77000"/>
                  <a:pt x="24500" y="77000"/>
                </a:cubicBezTo>
                <a:lnTo>
                  <a:pt x="17500" y="77000"/>
                </a:lnTo>
                <a:cubicBezTo>
                  <a:pt x="15575" y="77000"/>
                  <a:pt x="14000" y="78575"/>
                  <a:pt x="14000" y="80500"/>
                </a:cubicBezTo>
                <a:close/>
                <a:moveTo>
                  <a:pt x="45500" y="77000"/>
                </a:moveTo>
                <a:cubicBezTo>
                  <a:pt x="43575" y="77000"/>
                  <a:pt x="42000" y="78575"/>
                  <a:pt x="42000" y="80500"/>
                </a:cubicBezTo>
                <a:lnTo>
                  <a:pt x="42000" y="87500"/>
                </a:lnTo>
                <a:cubicBezTo>
                  <a:pt x="42000" y="89425"/>
                  <a:pt x="43575" y="91000"/>
                  <a:pt x="45500" y="91000"/>
                </a:cubicBezTo>
                <a:lnTo>
                  <a:pt x="52500" y="91000"/>
                </a:lnTo>
                <a:cubicBezTo>
                  <a:pt x="54425" y="91000"/>
                  <a:pt x="56000" y="89425"/>
                  <a:pt x="56000" y="87500"/>
                </a:cubicBezTo>
                <a:lnTo>
                  <a:pt x="56000" y="80500"/>
                </a:lnTo>
                <a:cubicBezTo>
                  <a:pt x="56000" y="78575"/>
                  <a:pt x="54425" y="77000"/>
                  <a:pt x="52500" y="77000"/>
                </a:cubicBezTo>
                <a:lnTo>
                  <a:pt x="45500" y="77000"/>
                </a:lnTo>
                <a:close/>
                <a:moveTo>
                  <a:pt x="70000" y="80500"/>
                </a:moveTo>
                <a:lnTo>
                  <a:pt x="70000" y="87500"/>
                </a:lnTo>
                <a:cubicBezTo>
                  <a:pt x="70000" y="89425"/>
                  <a:pt x="71575" y="91000"/>
                  <a:pt x="73500" y="91000"/>
                </a:cubicBezTo>
                <a:lnTo>
                  <a:pt x="80500" y="91000"/>
                </a:lnTo>
                <a:cubicBezTo>
                  <a:pt x="82425" y="91000"/>
                  <a:pt x="84000" y="89425"/>
                  <a:pt x="84000" y="87500"/>
                </a:cubicBezTo>
                <a:lnTo>
                  <a:pt x="84000" y="80500"/>
                </a:lnTo>
                <a:cubicBezTo>
                  <a:pt x="84000" y="78575"/>
                  <a:pt x="82425" y="77000"/>
                  <a:pt x="80500" y="77000"/>
                </a:cubicBezTo>
                <a:lnTo>
                  <a:pt x="73500" y="77000"/>
                </a:lnTo>
                <a:cubicBezTo>
                  <a:pt x="71575" y="77000"/>
                  <a:pt x="70000" y="78575"/>
                  <a:pt x="70000" y="8050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5446948" name="Text 38"/>
          <p:cNvSpPr/>
          <p:nvPr/>
        </p:nvSpPr>
        <p:spPr bwMode="auto">
          <a:xfrm>
            <a:off x="4706750" y="4652000"/>
            <a:ext cx="125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Cash flow forecasting</a:t>
            </a:r>
            <a:endParaRPr lang="en-US" sz="1600"/>
          </a:p>
        </p:txBody>
      </p:sp>
      <p:sp>
        <p:nvSpPr>
          <p:cNvPr id="791952963" name="Text 39"/>
          <p:cNvSpPr/>
          <p:nvPr/>
        </p:nvSpPr>
        <p:spPr bwMode="auto">
          <a:xfrm>
            <a:off x="4502750" y="4908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Прогнозирование денежных потоков</a:t>
            </a:r>
            <a:endParaRPr lang="en-US" sz="1600"/>
          </a:p>
        </p:txBody>
      </p:sp>
      <p:sp>
        <p:nvSpPr>
          <p:cNvPr id="960150286" name="Shape 40"/>
          <p:cNvSpPr/>
          <p:nvPr/>
        </p:nvSpPr>
        <p:spPr bwMode="auto">
          <a:xfrm>
            <a:off x="8133500" y="2236000"/>
            <a:ext cx="3728000" cy="3400000"/>
          </a:xfrm>
          <a:custGeom>
            <a:avLst/>
            <a:gdLst/>
            <a:ahLst/>
            <a:cxnLst/>
            <a:rect l="l" t="t" r="r" b="b"/>
            <a:pathLst>
              <a:path w="3728000" h="3400000" fill="norm" stroke="1" extrusionOk="0">
                <a:moveTo>
                  <a:pt x="63988" y="0"/>
                </a:moveTo>
                <a:lnTo>
                  <a:pt x="3664012" y="0"/>
                </a:lnTo>
                <a:cubicBezTo>
                  <a:pt x="3699352" y="0"/>
                  <a:pt x="3728000" y="28648"/>
                  <a:pt x="3728000" y="63988"/>
                </a:cubicBezTo>
                <a:lnTo>
                  <a:pt x="3728000" y="3336012"/>
                </a:lnTo>
                <a:cubicBezTo>
                  <a:pt x="3728000" y="3371352"/>
                  <a:pt x="3699352" y="3400000"/>
                  <a:pt x="3664012" y="3400000"/>
                </a:cubicBezTo>
                <a:lnTo>
                  <a:pt x="63988" y="3400000"/>
                </a:lnTo>
                <a:cubicBezTo>
                  <a:pt x="28648" y="3400000"/>
                  <a:pt x="0" y="3371352"/>
                  <a:pt x="0" y="3336012"/>
                </a:cubicBezTo>
                <a:lnTo>
                  <a:pt x="0" y="63988"/>
                </a:lnTo>
                <a:cubicBezTo>
                  <a:pt x="0" y="28672"/>
                  <a:pt x="28672" y="0"/>
                  <a:pt x="6398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54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669832298" name="Shape 41"/>
          <p:cNvSpPr/>
          <p:nvPr/>
        </p:nvSpPr>
        <p:spPr bwMode="auto">
          <a:xfrm>
            <a:off x="8301500" y="2404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 fill="norm" stroke="1" extrusionOk="0">
                <a:moveTo>
                  <a:pt x="64000" y="0"/>
                </a:moveTo>
                <a:lnTo>
                  <a:pt x="448000" y="0"/>
                </a:lnTo>
                <a:cubicBezTo>
                  <a:pt x="483346" y="0"/>
                  <a:pt x="512000" y="28654"/>
                  <a:pt x="512000" y="64000"/>
                </a:cubicBezTo>
                <a:lnTo>
                  <a:pt x="512000" y="448000"/>
                </a:lnTo>
                <a:cubicBezTo>
                  <a:pt x="512000" y="483346"/>
                  <a:pt x="483346" y="512000"/>
                  <a:pt x="448000" y="512000"/>
                </a:cubicBezTo>
                <a:lnTo>
                  <a:pt x="64000" y="512000"/>
                </a:lnTo>
                <a:cubicBezTo>
                  <a:pt x="28654" y="512000"/>
                  <a:pt x="0" y="483346"/>
                  <a:pt x="0" y="448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590666487" name="Shape 42"/>
          <p:cNvSpPr/>
          <p:nvPr/>
        </p:nvSpPr>
        <p:spPr bwMode="auto">
          <a:xfrm>
            <a:off x="8439500" y="2540000"/>
            <a:ext cx="240000" cy="240000"/>
          </a:xfrm>
          <a:custGeom>
            <a:avLst/>
            <a:gdLst/>
            <a:ahLst/>
            <a:cxnLst/>
            <a:rect l="l" t="t" r="r" b="b"/>
            <a:pathLst>
              <a:path w="240000" h="240000" fill="norm" stroke="1" extrusionOk="0">
                <a:moveTo>
                  <a:pt x="0" y="37500"/>
                </a:moveTo>
                <a:cubicBezTo>
                  <a:pt x="0" y="25078"/>
                  <a:pt x="10078" y="15000"/>
                  <a:pt x="22500" y="15000"/>
                </a:cubicBezTo>
                <a:lnTo>
                  <a:pt x="67500" y="15000"/>
                </a:lnTo>
                <a:cubicBezTo>
                  <a:pt x="79922" y="15000"/>
                  <a:pt x="90000" y="25078"/>
                  <a:pt x="90000" y="37500"/>
                </a:cubicBezTo>
                <a:lnTo>
                  <a:pt x="90000" y="45000"/>
                </a:lnTo>
                <a:lnTo>
                  <a:pt x="150000" y="45000"/>
                </a:lnTo>
                <a:lnTo>
                  <a:pt x="150000" y="37500"/>
                </a:lnTo>
                <a:cubicBezTo>
                  <a:pt x="150000" y="25078"/>
                  <a:pt x="160078" y="15000"/>
                  <a:pt x="172500" y="15000"/>
                </a:cubicBezTo>
                <a:lnTo>
                  <a:pt x="217500" y="15000"/>
                </a:lnTo>
                <a:cubicBezTo>
                  <a:pt x="229922" y="15000"/>
                  <a:pt x="240000" y="25078"/>
                  <a:pt x="240000" y="37500"/>
                </a:cubicBezTo>
                <a:lnTo>
                  <a:pt x="240000" y="82500"/>
                </a:lnTo>
                <a:cubicBezTo>
                  <a:pt x="240000" y="94922"/>
                  <a:pt x="229922" y="105000"/>
                  <a:pt x="217500" y="105000"/>
                </a:cubicBezTo>
                <a:lnTo>
                  <a:pt x="172500" y="105000"/>
                </a:lnTo>
                <a:cubicBezTo>
                  <a:pt x="160078" y="105000"/>
                  <a:pt x="150000" y="94922"/>
                  <a:pt x="150000" y="82500"/>
                </a:cubicBezTo>
                <a:lnTo>
                  <a:pt x="150000" y="75000"/>
                </a:lnTo>
                <a:lnTo>
                  <a:pt x="90000" y="75000"/>
                </a:lnTo>
                <a:lnTo>
                  <a:pt x="90000" y="82500"/>
                </a:lnTo>
                <a:cubicBezTo>
                  <a:pt x="90000" y="85922"/>
                  <a:pt x="89203" y="89203"/>
                  <a:pt x="87844" y="92109"/>
                </a:cubicBezTo>
                <a:lnTo>
                  <a:pt x="120000" y="135000"/>
                </a:lnTo>
                <a:lnTo>
                  <a:pt x="157500" y="135000"/>
                </a:lnTo>
                <a:cubicBezTo>
                  <a:pt x="169922" y="135000"/>
                  <a:pt x="180000" y="145078"/>
                  <a:pt x="180000" y="157500"/>
                </a:cubicBezTo>
                <a:lnTo>
                  <a:pt x="180000" y="202500"/>
                </a:lnTo>
                <a:cubicBezTo>
                  <a:pt x="180000" y="214922"/>
                  <a:pt x="169922" y="225000"/>
                  <a:pt x="157500" y="225000"/>
                </a:cubicBezTo>
                <a:lnTo>
                  <a:pt x="112500" y="225000"/>
                </a:lnTo>
                <a:cubicBezTo>
                  <a:pt x="100078" y="225000"/>
                  <a:pt x="90000" y="214922"/>
                  <a:pt x="90000" y="202500"/>
                </a:cubicBezTo>
                <a:lnTo>
                  <a:pt x="90000" y="157500"/>
                </a:lnTo>
                <a:cubicBezTo>
                  <a:pt x="90000" y="154078"/>
                  <a:pt x="90797" y="150797"/>
                  <a:pt x="92156" y="147891"/>
                </a:cubicBezTo>
                <a:lnTo>
                  <a:pt x="60000" y="105000"/>
                </a:lnTo>
                <a:lnTo>
                  <a:pt x="22500" y="105000"/>
                </a:lnTo>
                <a:cubicBezTo>
                  <a:pt x="10078" y="105000"/>
                  <a:pt x="0" y="94922"/>
                  <a:pt x="0" y="82500"/>
                </a:cubicBezTo>
                <a:lnTo>
                  <a:pt x="0" y="375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07557513" name="Text 43"/>
          <p:cNvSpPr/>
          <p:nvPr/>
        </p:nvSpPr>
        <p:spPr bwMode="auto">
          <a:xfrm>
            <a:off x="8909500" y="2436000"/>
            <a:ext cx="159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Contagion Engine</a:t>
            </a:r>
            <a:endParaRPr lang="en-US" sz="1600"/>
          </a:p>
        </p:txBody>
      </p:sp>
      <p:sp>
        <p:nvSpPr>
          <p:cNvPr id="1129303629" name="Text 44"/>
          <p:cNvSpPr/>
          <p:nvPr/>
        </p:nvSpPr>
        <p:spPr bwMode="auto">
          <a:xfrm>
            <a:off x="8909500" y="2692000"/>
            <a:ext cx="156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Контагион</a:t>
            </a:r>
            <a:endParaRPr lang="en-US" sz="1600"/>
          </a:p>
        </p:txBody>
      </p:sp>
      <p:sp>
        <p:nvSpPr>
          <p:cNvPr id="1147289098" name="Shape 45"/>
          <p:cNvSpPr/>
          <p:nvPr/>
        </p:nvSpPr>
        <p:spPr bwMode="auto">
          <a:xfrm>
            <a:off x="8305500" y="3048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734207158" name="Shape 46"/>
          <p:cNvSpPr/>
          <p:nvPr/>
        </p:nvSpPr>
        <p:spPr bwMode="auto">
          <a:xfrm>
            <a:off x="8414500" y="3188000"/>
            <a:ext cx="126000" cy="112000"/>
          </a:xfrm>
          <a:custGeom>
            <a:avLst/>
            <a:gdLst/>
            <a:ahLst/>
            <a:cxnLst/>
            <a:rect l="l" t="t" r="r" b="b"/>
            <a:pathLst>
              <a:path w="126000" h="112000" fill="norm" stroke="1" extrusionOk="0">
                <a:moveTo>
                  <a:pt x="54250" y="19250"/>
                </a:moveTo>
                <a:lnTo>
                  <a:pt x="71750" y="19250"/>
                </a:lnTo>
                <a:lnTo>
                  <a:pt x="71750" y="29750"/>
                </a:lnTo>
                <a:lnTo>
                  <a:pt x="54250" y="29750"/>
                </a:lnTo>
                <a:lnTo>
                  <a:pt x="54250" y="19250"/>
                </a:lnTo>
                <a:close/>
                <a:moveTo>
                  <a:pt x="52500" y="7000"/>
                </a:moveTo>
                <a:cubicBezTo>
                  <a:pt x="46703" y="7000"/>
                  <a:pt x="42000" y="11703"/>
                  <a:pt x="42000" y="17500"/>
                </a:cubicBezTo>
                <a:lnTo>
                  <a:pt x="42000" y="31500"/>
                </a:lnTo>
                <a:cubicBezTo>
                  <a:pt x="42000" y="37297"/>
                  <a:pt x="46703" y="42000"/>
                  <a:pt x="52500" y="42000"/>
                </a:cubicBezTo>
                <a:lnTo>
                  <a:pt x="56000" y="42000"/>
                </a:lnTo>
                <a:lnTo>
                  <a:pt x="56000" y="49000"/>
                </a:lnTo>
                <a:lnTo>
                  <a:pt x="7000" y="49000"/>
                </a:lnTo>
                <a:cubicBezTo>
                  <a:pt x="3128" y="49000"/>
                  <a:pt x="0" y="52128"/>
                  <a:pt x="0" y="56000"/>
                </a:cubicBezTo>
                <a:cubicBezTo>
                  <a:pt x="0" y="59872"/>
                  <a:pt x="3128" y="63000"/>
                  <a:pt x="7000" y="63000"/>
                </a:cubicBezTo>
                <a:lnTo>
                  <a:pt x="28000" y="63000"/>
                </a:lnTo>
                <a:lnTo>
                  <a:pt x="28000" y="70000"/>
                </a:lnTo>
                <a:lnTo>
                  <a:pt x="24500" y="70000"/>
                </a:lnTo>
                <a:cubicBezTo>
                  <a:pt x="18703" y="70000"/>
                  <a:pt x="14000" y="74703"/>
                  <a:pt x="14000" y="80500"/>
                </a:cubicBezTo>
                <a:lnTo>
                  <a:pt x="14000" y="94500"/>
                </a:lnTo>
                <a:cubicBezTo>
                  <a:pt x="14000" y="100297"/>
                  <a:pt x="18703" y="105000"/>
                  <a:pt x="24500" y="105000"/>
                </a:cubicBezTo>
                <a:lnTo>
                  <a:pt x="45500" y="105000"/>
                </a:lnTo>
                <a:cubicBezTo>
                  <a:pt x="51297" y="105000"/>
                  <a:pt x="56000" y="100297"/>
                  <a:pt x="56000" y="94500"/>
                </a:cubicBezTo>
                <a:lnTo>
                  <a:pt x="56000" y="80500"/>
                </a:lnTo>
                <a:cubicBezTo>
                  <a:pt x="56000" y="74703"/>
                  <a:pt x="51297" y="70000"/>
                  <a:pt x="45500" y="70000"/>
                </a:cubicBezTo>
                <a:lnTo>
                  <a:pt x="42000" y="70000"/>
                </a:lnTo>
                <a:lnTo>
                  <a:pt x="42000" y="63000"/>
                </a:lnTo>
                <a:lnTo>
                  <a:pt x="84000" y="63000"/>
                </a:lnTo>
                <a:lnTo>
                  <a:pt x="84000" y="70000"/>
                </a:lnTo>
                <a:lnTo>
                  <a:pt x="80500" y="70000"/>
                </a:lnTo>
                <a:cubicBezTo>
                  <a:pt x="74703" y="70000"/>
                  <a:pt x="70000" y="74703"/>
                  <a:pt x="70000" y="80500"/>
                </a:cubicBezTo>
                <a:lnTo>
                  <a:pt x="70000" y="94500"/>
                </a:lnTo>
                <a:cubicBezTo>
                  <a:pt x="70000" y="100297"/>
                  <a:pt x="74703" y="105000"/>
                  <a:pt x="80500" y="105000"/>
                </a:cubicBezTo>
                <a:lnTo>
                  <a:pt x="101500" y="105000"/>
                </a:lnTo>
                <a:cubicBezTo>
                  <a:pt x="107297" y="105000"/>
                  <a:pt x="112000" y="100297"/>
                  <a:pt x="112000" y="94500"/>
                </a:cubicBezTo>
                <a:lnTo>
                  <a:pt x="112000" y="80500"/>
                </a:lnTo>
                <a:cubicBezTo>
                  <a:pt x="112000" y="74703"/>
                  <a:pt x="107297" y="70000"/>
                  <a:pt x="101500" y="70000"/>
                </a:cubicBezTo>
                <a:lnTo>
                  <a:pt x="98000" y="70000"/>
                </a:lnTo>
                <a:lnTo>
                  <a:pt x="98000" y="63000"/>
                </a:lnTo>
                <a:lnTo>
                  <a:pt x="119000" y="63000"/>
                </a:lnTo>
                <a:cubicBezTo>
                  <a:pt x="122872" y="63000"/>
                  <a:pt x="126000" y="59872"/>
                  <a:pt x="126000" y="56000"/>
                </a:cubicBezTo>
                <a:cubicBezTo>
                  <a:pt x="126000" y="52128"/>
                  <a:pt x="122872" y="49000"/>
                  <a:pt x="119000" y="49000"/>
                </a:cubicBezTo>
                <a:lnTo>
                  <a:pt x="70000" y="49000"/>
                </a:lnTo>
                <a:lnTo>
                  <a:pt x="70000" y="42000"/>
                </a:lnTo>
                <a:lnTo>
                  <a:pt x="73500" y="42000"/>
                </a:lnTo>
                <a:cubicBezTo>
                  <a:pt x="79297" y="42000"/>
                  <a:pt x="84000" y="37297"/>
                  <a:pt x="84000" y="31500"/>
                </a:cubicBezTo>
                <a:lnTo>
                  <a:pt x="84000" y="17500"/>
                </a:lnTo>
                <a:cubicBezTo>
                  <a:pt x="84000" y="11703"/>
                  <a:pt x="79297" y="7000"/>
                  <a:pt x="73500" y="7000"/>
                </a:cubicBezTo>
                <a:lnTo>
                  <a:pt x="52500" y="7000"/>
                </a:lnTo>
                <a:close/>
                <a:moveTo>
                  <a:pt x="98000" y="82250"/>
                </a:moveTo>
                <a:lnTo>
                  <a:pt x="99750" y="82250"/>
                </a:lnTo>
                <a:lnTo>
                  <a:pt x="99750" y="92750"/>
                </a:lnTo>
                <a:lnTo>
                  <a:pt x="82250" y="92750"/>
                </a:lnTo>
                <a:lnTo>
                  <a:pt x="82250" y="82250"/>
                </a:lnTo>
                <a:lnTo>
                  <a:pt x="98000" y="82250"/>
                </a:lnTo>
                <a:close/>
                <a:moveTo>
                  <a:pt x="42000" y="82250"/>
                </a:moveTo>
                <a:lnTo>
                  <a:pt x="43750" y="82250"/>
                </a:lnTo>
                <a:lnTo>
                  <a:pt x="43750" y="92750"/>
                </a:lnTo>
                <a:lnTo>
                  <a:pt x="26250" y="92750"/>
                </a:lnTo>
                <a:lnTo>
                  <a:pt x="26250" y="82250"/>
                </a:lnTo>
                <a:lnTo>
                  <a:pt x="42000" y="8225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6747114" name="Text 47"/>
          <p:cNvSpPr/>
          <p:nvPr/>
        </p:nvSpPr>
        <p:spPr bwMode="auto">
          <a:xfrm>
            <a:off x="8609500" y="3148000"/>
            <a:ext cx="108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Network modeling</a:t>
            </a:r>
            <a:endParaRPr lang="en-US" sz="1600"/>
          </a:p>
        </p:txBody>
      </p:sp>
      <p:sp>
        <p:nvSpPr>
          <p:cNvPr id="1032415378" name="Text 48"/>
          <p:cNvSpPr/>
          <p:nvPr/>
        </p:nvSpPr>
        <p:spPr bwMode="auto">
          <a:xfrm>
            <a:off x="8405500" y="3404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Моделирование финансовых сетей и связей</a:t>
            </a:r>
            <a:endParaRPr lang="en-US" sz="1600"/>
          </a:p>
        </p:txBody>
      </p:sp>
      <p:sp>
        <p:nvSpPr>
          <p:cNvPr id="1996633036" name="Shape 49"/>
          <p:cNvSpPr/>
          <p:nvPr/>
        </p:nvSpPr>
        <p:spPr bwMode="auto">
          <a:xfrm>
            <a:off x="8305500" y="3800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842257853" name="Shape 50"/>
          <p:cNvSpPr/>
          <p:nvPr/>
        </p:nvSpPr>
        <p:spPr bwMode="auto">
          <a:xfrm>
            <a:off x="8421500" y="3940000"/>
            <a:ext cx="112000" cy="112000"/>
          </a:xfrm>
          <a:custGeom>
            <a:avLst/>
            <a:gdLst/>
            <a:ahLst/>
            <a:cxnLst/>
            <a:rect l="l" t="t" r="r" b="b"/>
            <a:pathLst>
              <a:path w="112000" h="112000" fill="norm" stroke="1" extrusionOk="0">
                <a:moveTo>
                  <a:pt x="56000" y="0"/>
                </a:moveTo>
                <a:cubicBezTo>
                  <a:pt x="59216" y="0"/>
                  <a:pt x="62169" y="1772"/>
                  <a:pt x="63700" y="4594"/>
                </a:cubicBezTo>
                <a:lnTo>
                  <a:pt x="110950" y="92094"/>
                </a:lnTo>
                <a:cubicBezTo>
                  <a:pt x="112416" y="94806"/>
                  <a:pt x="112350" y="98088"/>
                  <a:pt x="110775" y="100734"/>
                </a:cubicBezTo>
                <a:cubicBezTo>
                  <a:pt x="109200" y="103381"/>
                  <a:pt x="106334" y="105000"/>
                  <a:pt x="103250" y="105000"/>
                </a:cubicBezTo>
                <a:lnTo>
                  <a:pt x="8750" y="105000"/>
                </a:lnTo>
                <a:cubicBezTo>
                  <a:pt x="5666" y="105000"/>
                  <a:pt x="2822" y="103381"/>
                  <a:pt x="1225" y="100734"/>
                </a:cubicBezTo>
                <a:cubicBezTo>
                  <a:pt x="-372" y="98088"/>
                  <a:pt x="-416" y="94806"/>
                  <a:pt x="1050" y="92094"/>
                </a:cubicBezTo>
                <a:lnTo>
                  <a:pt x="48300" y="4594"/>
                </a:lnTo>
                <a:cubicBezTo>
                  <a:pt x="49831" y="1772"/>
                  <a:pt x="52784" y="0"/>
                  <a:pt x="56000" y="0"/>
                </a:cubicBezTo>
                <a:close/>
                <a:moveTo>
                  <a:pt x="56000" y="36750"/>
                </a:moveTo>
                <a:cubicBezTo>
                  <a:pt x="53091" y="36750"/>
                  <a:pt x="50750" y="39091"/>
                  <a:pt x="50750" y="42000"/>
                </a:cubicBezTo>
                <a:lnTo>
                  <a:pt x="50750" y="66500"/>
                </a:lnTo>
                <a:cubicBezTo>
                  <a:pt x="50750" y="69409"/>
                  <a:pt x="53091" y="71750"/>
                  <a:pt x="56000" y="71750"/>
                </a:cubicBezTo>
                <a:cubicBezTo>
                  <a:pt x="58909" y="71750"/>
                  <a:pt x="61250" y="69409"/>
                  <a:pt x="61250" y="66500"/>
                </a:cubicBezTo>
                <a:lnTo>
                  <a:pt x="61250" y="42000"/>
                </a:lnTo>
                <a:cubicBezTo>
                  <a:pt x="61250" y="39091"/>
                  <a:pt x="58909" y="36750"/>
                  <a:pt x="56000" y="36750"/>
                </a:cubicBezTo>
                <a:close/>
                <a:moveTo>
                  <a:pt x="61841" y="84000"/>
                </a:moveTo>
                <a:cubicBezTo>
                  <a:pt x="61973" y="81832"/>
                  <a:pt x="60892" y="79769"/>
                  <a:pt x="59034" y="78645"/>
                </a:cubicBezTo>
                <a:cubicBezTo>
                  <a:pt x="57175" y="77521"/>
                  <a:pt x="54847" y="77521"/>
                  <a:pt x="52988" y="78645"/>
                </a:cubicBezTo>
                <a:cubicBezTo>
                  <a:pt x="51130" y="79769"/>
                  <a:pt x="50048" y="81832"/>
                  <a:pt x="50181" y="84000"/>
                </a:cubicBezTo>
                <a:cubicBezTo>
                  <a:pt x="50048" y="86168"/>
                  <a:pt x="51130" y="88231"/>
                  <a:pt x="52988" y="89355"/>
                </a:cubicBezTo>
                <a:cubicBezTo>
                  <a:pt x="54847" y="90479"/>
                  <a:pt x="57175" y="90479"/>
                  <a:pt x="59034" y="89355"/>
                </a:cubicBezTo>
                <a:cubicBezTo>
                  <a:pt x="60892" y="88231"/>
                  <a:pt x="61973" y="86168"/>
                  <a:pt x="61841" y="8400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35473775" name="Text 51"/>
          <p:cNvSpPr/>
          <p:nvPr/>
        </p:nvSpPr>
        <p:spPr bwMode="auto">
          <a:xfrm>
            <a:off x="8609500" y="3900000"/>
            <a:ext cx="112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Systemic detection</a:t>
            </a:r>
            <a:endParaRPr lang="en-US" sz="1600"/>
          </a:p>
        </p:txBody>
      </p:sp>
      <p:sp>
        <p:nvSpPr>
          <p:cNvPr id="2145147147" name="Text 52"/>
          <p:cNvSpPr/>
          <p:nvPr/>
        </p:nvSpPr>
        <p:spPr bwMode="auto">
          <a:xfrm>
            <a:off x="8405500" y="4156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Обнаружение системных рисков</a:t>
            </a:r>
            <a:endParaRPr lang="en-US" sz="1600"/>
          </a:p>
        </p:txBody>
      </p:sp>
      <p:sp>
        <p:nvSpPr>
          <p:cNvPr id="231112605" name="Shape 53"/>
          <p:cNvSpPr/>
          <p:nvPr/>
        </p:nvSpPr>
        <p:spPr bwMode="auto">
          <a:xfrm>
            <a:off x="8305500" y="4552000"/>
            <a:ext cx="3384000" cy="648000"/>
          </a:xfrm>
          <a:custGeom>
            <a:avLst/>
            <a:gdLst/>
            <a:ahLst/>
            <a:cxnLst/>
            <a:rect l="l" t="t" r="r" b="b"/>
            <a:pathLst>
              <a:path w="3384000" h="648000" fill="norm" stroke="1" extrusionOk="0">
                <a:moveTo>
                  <a:pt x="64003" y="0"/>
                </a:moveTo>
                <a:lnTo>
                  <a:pt x="3319997" y="0"/>
                </a:lnTo>
                <a:cubicBezTo>
                  <a:pt x="3355345" y="0"/>
                  <a:pt x="3384000" y="28655"/>
                  <a:pt x="3384000" y="64003"/>
                </a:cubicBezTo>
                <a:lnTo>
                  <a:pt x="3384000" y="583997"/>
                </a:lnTo>
                <a:cubicBezTo>
                  <a:pt x="3384000" y="619345"/>
                  <a:pt x="3355345" y="648000"/>
                  <a:pt x="3319997" y="648000"/>
                </a:cubicBezTo>
                <a:lnTo>
                  <a:pt x="64003" y="648000"/>
                </a:lnTo>
                <a:cubicBezTo>
                  <a:pt x="28655" y="648000"/>
                  <a:pt x="0" y="619345"/>
                  <a:pt x="0" y="583997"/>
                </a:cubicBezTo>
                <a:lnTo>
                  <a:pt x="0" y="64003"/>
                </a:lnTo>
                <a:cubicBezTo>
                  <a:pt x="0" y="28679"/>
                  <a:pt x="28679" y="0"/>
                  <a:pt x="640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408330208" name="Shape 54"/>
          <p:cNvSpPr/>
          <p:nvPr/>
        </p:nvSpPr>
        <p:spPr bwMode="auto">
          <a:xfrm>
            <a:off x="8421500" y="4692000"/>
            <a:ext cx="112000" cy="112000"/>
          </a:xfrm>
          <a:custGeom>
            <a:avLst/>
            <a:gdLst/>
            <a:ahLst/>
            <a:cxnLst/>
            <a:rect l="l" t="t" r="r" b="b"/>
            <a:pathLst>
              <a:path w="112000" h="112000" fill="norm" stroke="1" extrusionOk="0">
                <a:moveTo>
                  <a:pt x="14000" y="21000"/>
                </a:moveTo>
                <a:cubicBezTo>
                  <a:pt x="14000" y="17128"/>
                  <a:pt x="17128" y="14000"/>
                  <a:pt x="21000" y="14000"/>
                </a:cubicBezTo>
                <a:lnTo>
                  <a:pt x="56000" y="14000"/>
                </a:lnTo>
                <a:cubicBezTo>
                  <a:pt x="59872" y="14000"/>
                  <a:pt x="63000" y="17128"/>
                  <a:pt x="63000" y="21000"/>
                </a:cubicBezTo>
                <a:lnTo>
                  <a:pt x="63000" y="84000"/>
                </a:lnTo>
                <a:lnTo>
                  <a:pt x="84000" y="84000"/>
                </a:lnTo>
                <a:lnTo>
                  <a:pt x="84000" y="56000"/>
                </a:lnTo>
                <a:cubicBezTo>
                  <a:pt x="84000" y="52128"/>
                  <a:pt x="87128" y="49000"/>
                  <a:pt x="91000" y="49000"/>
                </a:cubicBezTo>
                <a:lnTo>
                  <a:pt x="105000" y="49000"/>
                </a:lnTo>
                <a:cubicBezTo>
                  <a:pt x="108872" y="49000"/>
                  <a:pt x="112000" y="52128"/>
                  <a:pt x="112000" y="56000"/>
                </a:cubicBezTo>
                <a:cubicBezTo>
                  <a:pt x="112000" y="59872"/>
                  <a:pt x="108872" y="63000"/>
                  <a:pt x="105000" y="63000"/>
                </a:cubicBezTo>
                <a:lnTo>
                  <a:pt x="98000" y="63000"/>
                </a:lnTo>
                <a:lnTo>
                  <a:pt x="98000" y="91000"/>
                </a:lnTo>
                <a:cubicBezTo>
                  <a:pt x="98000" y="94872"/>
                  <a:pt x="94872" y="98000"/>
                  <a:pt x="91000" y="98000"/>
                </a:cubicBezTo>
                <a:lnTo>
                  <a:pt x="56000" y="98000"/>
                </a:lnTo>
                <a:cubicBezTo>
                  <a:pt x="52128" y="98000"/>
                  <a:pt x="49000" y="94872"/>
                  <a:pt x="49000" y="91000"/>
                </a:cubicBezTo>
                <a:lnTo>
                  <a:pt x="49000" y="28000"/>
                </a:lnTo>
                <a:lnTo>
                  <a:pt x="28000" y="28000"/>
                </a:lnTo>
                <a:lnTo>
                  <a:pt x="28000" y="56000"/>
                </a:lnTo>
                <a:cubicBezTo>
                  <a:pt x="28000" y="59872"/>
                  <a:pt x="24872" y="63000"/>
                  <a:pt x="21000" y="63000"/>
                </a:cubicBezTo>
                <a:lnTo>
                  <a:pt x="7000" y="63000"/>
                </a:lnTo>
                <a:cubicBezTo>
                  <a:pt x="3128" y="63000"/>
                  <a:pt x="0" y="59872"/>
                  <a:pt x="0" y="56000"/>
                </a:cubicBezTo>
                <a:cubicBezTo>
                  <a:pt x="0" y="52128"/>
                  <a:pt x="3128" y="49000"/>
                  <a:pt x="7000" y="49000"/>
                </a:cubicBezTo>
                <a:lnTo>
                  <a:pt x="14000" y="49000"/>
                </a:lnTo>
                <a:lnTo>
                  <a:pt x="14000" y="210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07359636" name="Text 55"/>
          <p:cNvSpPr/>
          <p:nvPr/>
        </p:nvSpPr>
        <p:spPr bwMode="auto">
          <a:xfrm>
            <a:off x="8609500" y="4652000"/>
            <a:ext cx="100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Cascade analysis</a:t>
            </a:r>
            <a:endParaRPr lang="en-US" sz="1600"/>
          </a:p>
        </p:txBody>
      </p:sp>
      <p:sp>
        <p:nvSpPr>
          <p:cNvPr id="224188879" name="Text 56"/>
          <p:cNvSpPr/>
          <p:nvPr/>
        </p:nvSpPr>
        <p:spPr bwMode="auto">
          <a:xfrm>
            <a:off x="8405500" y="4908000"/>
            <a:ext cx="324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Анализ каскадных дефолтов</a:t>
            </a:r>
            <a:endParaRPr lang="en-US" sz="1600"/>
          </a:p>
        </p:txBody>
      </p:sp>
      <p:sp>
        <p:nvSpPr>
          <p:cNvPr id="280469158" name="Shape 57"/>
          <p:cNvSpPr/>
          <p:nvPr/>
        </p:nvSpPr>
        <p:spPr bwMode="auto">
          <a:xfrm>
            <a:off x="328000" y="5808000"/>
            <a:ext cx="11536000" cy="720000"/>
          </a:xfrm>
          <a:custGeom>
            <a:avLst/>
            <a:gdLst/>
            <a:ahLst/>
            <a:cxnLst/>
            <a:rect l="l" t="t" r="r" b="b"/>
            <a:pathLst>
              <a:path w="11536000" h="720000" fill="norm" stroke="1" extrusionOk="0">
                <a:moveTo>
                  <a:pt x="64001" y="0"/>
                </a:moveTo>
                <a:lnTo>
                  <a:pt x="11471999" y="0"/>
                </a:lnTo>
                <a:cubicBezTo>
                  <a:pt x="11507346" y="0"/>
                  <a:pt x="11536000" y="28654"/>
                  <a:pt x="11536000" y="64001"/>
                </a:cubicBezTo>
                <a:lnTo>
                  <a:pt x="11536000" y="655999"/>
                </a:lnTo>
                <a:cubicBezTo>
                  <a:pt x="11536000" y="691346"/>
                  <a:pt x="11507346" y="720000"/>
                  <a:pt x="11471999" y="720000"/>
                </a:cubicBezTo>
                <a:lnTo>
                  <a:pt x="64001" y="720000"/>
                </a:lnTo>
                <a:cubicBezTo>
                  <a:pt x="28654" y="720000"/>
                  <a:pt x="0" y="691346"/>
                  <a:pt x="0" y="655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1875128715" name="Shape 58"/>
          <p:cNvSpPr/>
          <p:nvPr/>
        </p:nvSpPr>
        <p:spPr bwMode="auto">
          <a:xfrm>
            <a:off x="496000" y="6048000"/>
            <a:ext cx="240000" cy="240000"/>
          </a:xfrm>
          <a:custGeom>
            <a:avLst/>
            <a:gdLst/>
            <a:ahLst/>
            <a:cxnLst/>
            <a:rect l="l" t="t" r="r" b="b"/>
            <a:pathLst>
              <a:path w="240000" h="240000" fill="norm" stroke="1" extrusionOk="0">
                <a:moveTo>
                  <a:pt x="56250" y="26250"/>
                </a:moveTo>
                <a:cubicBezTo>
                  <a:pt x="56250" y="11766"/>
                  <a:pt x="68016" y="0"/>
                  <a:pt x="82500" y="0"/>
                </a:cubicBezTo>
                <a:lnTo>
                  <a:pt x="93750" y="0"/>
                </a:lnTo>
                <a:cubicBezTo>
                  <a:pt x="102047" y="0"/>
                  <a:pt x="108750" y="6703"/>
                  <a:pt x="108750" y="15000"/>
                </a:cubicBezTo>
                <a:lnTo>
                  <a:pt x="108750" y="225000"/>
                </a:lnTo>
                <a:cubicBezTo>
                  <a:pt x="108750" y="233297"/>
                  <a:pt x="102047" y="240000"/>
                  <a:pt x="93750" y="240000"/>
                </a:cubicBezTo>
                <a:lnTo>
                  <a:pt x="78750" y="240000"/>
                </a:lnTo>
                <a:cubicBezTo>
                  <a:pt x="64781" y="240000"/>
                  <a:pt x="53016" y="230438"/>
                  <a:pt x="49687" y="217500"/>
                </a:cubicBezTo>
                <a:cubicBezTo>
                  <a:pt x="49359" y="217500"/>
                  <a:pt x="49078" y="217500"/>
                  <a:pt x="48750" y="217500"/>
                </a:cubicBezTo>
                <a:cubicBezTo>
                  <a:pt x="28031" y="217500"/>
                  <a:pt x="11250" y="200719"/>
                  <a:pt x="11250" y="180000"/>
                </a:cubicBezTo>
                <a:cubicBezTo>
                  <a:pt x="11250" y="171562"/>
                  <a:pt x="14062" y="163781"/>
                  <a:pt x="18750" y="157500"/>
                </a:cubicBezTo>
                <a:cubicBezTo>
                  <a:pt x="9656" y="150656"/>
                  <a:pt x="3750" y="139781"/>
                  <a:pt x="3750" y="127500"/>
                </a:cubicBezTo>
                <a:cubicBezTo>
                  <a:pt x="3750" y="113016"/>
                  <a:pt x="12000" y="100406"/>
                  <a:pt x="24000" y="94172"/>
                </a:cubicBezTo>
                <a:cubicBezTo>
                  <a:pt x="20672" y="88547"/>
                  <a:pt x="18750" y="81984"/>
                  <a:pt x="18750" y="75000"/>
                </a:cubicBezTo>
                <a:cubicBezTo>
                  <a:pt x="18750" y="54281"/>
                  <a:pt x="35531" y="37500"/>
                  <a:pt x="56250" y="37500"/>
                </a:cubicBezTo>
                <a:lnTo>
                  <a:pt x="56250" y="26250"/>
                </a:lnTo>
                <a:close/>
                <a:moveTo>
                  <a:pt x="183750" y="26250"/>
                </a:moveTo>
                <a:lnTo>
                  <a:pt x="183750" y="37500"/>
                </a:lnTo>
                <a:cubicBezTo>
                  <a:pt x="204469" y="37500"/>
                  <a:pt x="221250" y="54281"/>
                  <a:pt x="221250" y="75000"/>
                </a:cubicBezTo>
                <a:cubicBezTo>
                  <a:pt x="221250" y="82031"/>
                  <a:pt x="219328" y="88594"/>
                  <a:pt x="216000" y="94172"/>
                </a:cubicBezTo>
                <a:cubicBezTo>
                  <a:pt x="228047" y="100406"/>
                  <a:pt x="236250" y="112969"/>
                  <a:pt x="236250" y="127500"/>
                </a:cubicBezTo>
                <a:cubicBezTo>
                  <a:pt x="236250" y="139781"/>
                  <a:pt x="230344" y="150656"/>
                  <a:pt x="221250" y="157500"/>
                </a:cubicBezTo>
                <a:cubicBezTo>
                  <a:pt x="225938" y="163781"/>
                  <a:pt x="228750" y="171562"/>
                  <a:pt x="228750" y="180000"/>
                </a:cubicBezTo>
                <a:cubicBezTo>
                  <a:pt x="228750" y="200719"/>
                  <a:pt x="211969" y="217500"/>
                  <a:pt x="191250" y="217500"/>
                </a:cubicBezTo>
                <a:cubicBezTo>
                  <a:pt x="190922" y="217500"/>
                  <a:pt x="190641" y="217500"/>
                  <a:pt x="190313" y="217500"/>
                </a:cubicBezTo>
                <a:cubicBezTo>
                  <a:pt x="186984" y="230438"/>
                  <a:pt x="175219" y="240000"/>
                  <a:pt x="161250" y="240000"/>
                </a:cubicBezTo>
                <a:lnTo>
                  <a:pt x="146250" y="240000"/>
                </a:lnTo>
                <a:cubicBezTo>
                  <a:pt x="137953" y="240000"/>
                  <a:pt x="131250" y="233297"/>
                  <a:pt x="131250" y="225000"/>
                </a:cubicBezTo>
                <a:lnTo>
                  <a:pt x="131250" y="15000"/>
                </a:lnTo>
                <a:cubicBezTo>
                  <a:pt x="131250" y="6703"/>
                  <a:pt x="137953" y="0"/>
                  <a:pt x="146250" y="0"/>
                </a:cubicBezTo>
                <a:lnTo>
                  <a:pt x="157500" y="0"/>
                </a:lnTo>
                <a:cubicBezTo>
                  <a:pt x="171984" y="0"/>
                  <a:pt x="183750" y="11766"/>
                  <a:pt x="183750" y="2625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21102219" name="Text 59"/>
          <p:cNvSpPr/>
          <p:nvPr/>
        </p:nvSpPr>
        <p:spPr bwMode="auto">
          <a:xfrm>
            <a:off x="892000" y="5960000"/>
            <a:ext cx="3528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Financial Brain</a:t>
            </a:r>
            <a:endParaRPr lang="en-US" sz="1600"/>
          </a:p>
        </p:txBody>
      </p:sp>
      <p:sp>
        <p:nvSpPr>
          <p:cNvPr id="785266447" name="Text 60"/>
          <p:cNvSpPr/>
          <p:nvPr/>
        </p:nvSpPr>
        <p:spPr bwMode="auto">
          <a:xfrm>
            <a:off x="892000" y="6184000"/>
            <a:ext cx="3512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Три ядра работают в унисон для полного контроля рисков</a:t>
            </a:r>
            <a:endParaRPr lang="en-US" sz="1600"/>
          </a:p>
        </p:txBody>
      </p:sp>
      <p:sp>
        <p:nvSpPr>
          <p:cNvPr id="1378798565" name="Text 61"/>
          <p:cNvSpPr/>
          <p:nvPr/>
        </p:nvSpPr>
        <p:spPr bwMode="auto">
          <a:xfrm>
            <a:off x="11084375" y="5944000"/>
            <a:ext cx="64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Latency</a:t>
            </a:r>
            <a:endParaRPr lang="en-US" sz="1600"/>
          </a:p>
        </p:txBody>
      </p:sp>
      <p:sp>
        <p:nvSpPr>
          <p:cNvPr id="1096586301" name="Text 62"/>
          <p:cNvSpPr/>
          <p:nvPr/>
        </p:nvSpPr>
        <p:spPr bwMode="auto">
          <a:xfrm>
            <a:off x="11052375" y="6136000"/>
            <a:ext cx="67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  <a:defRPr/>
            </a:pPr>
            <a:r>
              <a:rPr lang="en-US" sz="15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&lt;100 мс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822387" name="Shape 0"/>
          <p:cNvSpPr/>
          <p:nvPr/>
        </p:nvSpPr>
        <p:spPr bwMode="auto">
          <a:xfrm>
            <a:off x="341274" y="341274"/>
            <a:ext cx="34127" cy="341274"/>
          </a:xfrm>
          <a:custGeom>
            <a:avLst/>
            <a:gdLst/>
            <a:ahLst/>
            <a:cxnLst/>
            <a:rect l="l" t="t" r="r" b="b"/>
            <a:pathLst>
              <a:path w="34127" h="341274" fill="norm" stroke="1" extrusionOk="0">
                <a:moveTo>
                  <a:pt x="0" y="0"/>
                </a:moveTo>
                <a:lnTo>
                  <a:pt x="34127" y="0"/>
                </a:lnTo>
                <a:lnTo>
                  <a:pt x="34127" y="341274"/>
                </a:lnTo>
                <a:lnTo>
                  <a:pt x="0" y="341274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80883119" name="Text 1"/>
          <p:cNvSpPr/>
          <p:nvPr/>
        </p:nvSpPr>
        <p:spPr bwMode="auto">
          <a:xfrm>
            <a:off x="477783" y="409528"/>
            <a:ext cx="153573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 spc="54">
                <a:solidFill>
                  <a:srgbClr val="C0A062"/>
                </a:solidFill>
                <a:latin typeface="Liter"/>
                <a:ea typeface="Liter"/>
                <a:cs typeface="Liter"/>
              </a:rPr>
              <a:t>РОЗНИЧНЫЙ КАНАЛ</a:t>
            </a:r>
            <a:endParaRPr lang="en-US" sz="1600"/>
          </a:p>
        </p:txBody>
      </p:sp>
      <p:sp>
        <p:nvSpPr>
          <p:cNvPr id="1106964205" name="Text 2"/>
          <p:cNvSpPr/>
          <p:nvPr/>
        </p:nvSpPr>
        <p:spPr bwMode="auto">
          <a:xfrm>
            <a:off x="341274" y="784929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5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Бесшовная доступность: AI + E-IMZO</a:t>
            </a:r>
            <a:endParaRPr lang="en-US" sz="1600"/>
          </a:p>
        </p:txBody>
      </p:sp>
      <p:sp>
        <p:nvSpPr>
          <p:cNvPr id="900451" name="Shape 3"/>
          <p:cNvSpPr/>
          <p:nvPr/>
        </p:nvSpPr>
        <p:spPr bwMode="auto">
          <a:xfrm>
            <a:off x="358337" y="1365094"/>
            <a:ext cx="6006416" cy="2994676"/>
          </a:xfrm>
          <a:custGeom>
            <a:avLst/>
            <a:gdLst/>
            <a:ahLst/>
            <a:cxnLst/>
            <a:rect l="l" t="t" r="r" b="b"/>
            <a:pathLst>
              <a:path w="6006416" h="2994676" fill="norm" stroke="1" extrusionOk="0">
                <a:moveTo>
                  <a:pt x="0" y="0"/>
                </a:moveTo>
                <a:lnTo>
                  <a:pt x="5938167" y="0"/>
                </a:lnTo>
                <a:cubicBezTo>
                  <a:pt x="5975860" y="0"/>
                  <a:pt x="6006416" y="30556"/>
                  <a:pt x="6006416" y="68249"/>
                </a:cubicBezTo>
                <a:lnTo>
                  <a:pt x="6006416" y="2926427"/>
                </a:lnTo>
                <a:cubicBezTo>
                  <a:pt x="6006416" y="2964120"/>
                  <a:pt x="5975860" y="2994676"/>
                  <a:pt x="5938167" y="2994676"/>
                </a:cubicBezTo>
                <a:lnTo>
                  <a:pt x="0" y="299467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47175733" name="Shape 4"/>
          <p:cNvSpPr/>
          <p:nvPr/>
        </p:nvSpPr>
        <p:spPr bwMode="auto">
          <a:xfrm>
            <a:off x="358337" y="1365094"/>
            <a:ext cx="34127" cy="2994676"/>
          </a:xfrm>
          <a:custGeom>
            <a:avLst/>
            <a:gdLst/>
            <a:ahLst/>
            <a:cxnLst/>
            <a:rect l="l" t="t" r="r" b="b"/>
            <a:pathLst>
              <a:path w="34127" h="2994676" fill="norm" stroke="1" extrusionOk="0">
                <a:moveTo>
                  <a:pt x="0" y="0"/>
                </a:moveTo>
                <a:lnTo>
                  <a:pt x="34127" y="0"/>
                </a:lnTo>
                <a:lnTo>
                  <a:pt x="34127" y="2994676"/>
                </a:lnTo>
                <a:lnTo>
                  <a:pt x="0" y="2994676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33203976" name="Text 5"/>
          <p:cNvSpPr/>
          <p:nvPr/>
        </p:nvSpPr>
        <p:spPr bwMode="auto">
          <a:xfrm>
            <a:off x="546038" y="1535731"/>
            <a:ext cx="573339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Retail AI Assistant</a:t>
            </a:r>
            <a:endParaRPr lang="en-US" sz="1600"/>
          </a:p>
        </p:txBody>
      </p:sp>
      <p:sp>
        <p:nvSpPr>
          <p:cNvPr id="821614018" name="Text 6"/>
          <p:cNvSpPr/>
          <p:nvPr/>
        </p:nvSpPr>
        <p:spPr bwMode="auto">
          <a:xfrm>
            <a:off x="546038" y="1877005"/>
            <a:ext cx="5724865" cy="503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Цель — </a:t>
            </a:r>
            <a:r>
              <a:rPr lang="en-US" sz="12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снижение friction для СМБ и физических лиц</a:t>
            </a:r>
            <a:r>
              <a:rPr lang="en-US" sz="12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 при проведении платежей и работе с документами.</a:t>
            </a:r>
            <a:endParaRPr lang="en-US" sz="1600"/>
          </a:p>
        </p:txBody>
      </p:sp>
      <p:sp>
        <p:nvSpPr>
          <p:cNvPr id="382786181" name="Shape 7"/>
          <p:cNvSpPr/>
          <p:nvPr/>
        </p:nvSpPr>
        <p:spPr bwMode="auto">
          <a:xfrm>
            <a:off x="550304" y="2482766"/>
            <a:ext cx="2764316" cy="895843"/>
          </a:xfrm>
          <a:custGeom>
            <a:avLst/>
            <a:gdLst/>
            <a:ahLst/>
            <a:cxnLst/>
            <a:rect l="l" t="t" r="r" b="b"/>
            <a:pathLst>
              <a:path w="2764316" h="895843" fill="norm" stroke="1" extrusionOk="0">
                <a:moveTo>
                  <a:pt x="68254" y="0"/>
                </a:moveTo>
                <a:lnTo>
                  <a:pt x="2696062" y="0"/>
                </a:lnTo>
                <a:cubicBezTo>
                  <a:pt x="2733758" y="0"/>
                  <a:pt x="2764316" y="30558"/>
                  <a:pt x="2764316" y="68254"/>
                </a:cubicBezTo>
                <a:lnTo>
                  <a:pt x="2764316" y="827589"/>
                </a:lnTo>
                <a:cubicBezTo>
                  <a:pt x="2764316" y="865285"/>
                  <a:pt x="2733758" y="895843"/>
                  <a:pt x="2696062" y="895843"/>
                </a:cubicBezTo>
                <a:lnTo>
                  <a:pt x="68254" y="895843"/>
                </a:lnTo>
                <a:cubicBezTo>
                  <a:pt x="30558" y="895843"/>
                  <a:pt x="0" y="865285"/>
                  <a:pt x="0" y="827589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056505830" name="Shape 8"/>
          <p:cNvSpPr/>
          <p:nvPr/>
        </p:nvSpPr>
        <p:spPr bwMode="auto">
          <a:xfrm>
            <a:off x="691079" y="2623541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 fill="norm" stroke="1" extrusionOk="0">
                <a:moveTo>
                  <a:pt x="17064" y="0"/>
                </a:moveTo>
                <a:cubicBezTo>
                  <a:pt x="7652" y="0"/>
                  <a:pt x="0" y="7652"/>
                  <a:pt x="0" y="17064"/>
                </a:cubicBezTo>
                <a:lnTo>
                  <a:pt x="0" y="119446"/>
                </a:lnTo>
                <a:cubicBezTo>
                  <a:pt x="0" y="128857"/>
                  <a:pt x="7652" y="136509"/>
                  <a:pt x="17064" y="136509"/>
                </a:cubicBezTo>
                <a:lnTo>
                  <a:pt x="85318" y="136509"/>
                </a:lnTo>
                <a:cubicBezTo>
                  <a:pt x="94730" y="136509"/>
                  <a:pt x="102382" y="128857"/>
                  <a:pt x="102382" y="119446"/>
                </a:cubicBezTo>
                <a:lnTo>
                  <a:pt x="102382" y="45459"/>
                </a:lnTo>
                <a:cubicBezTo>
                  <a:pt x="102382" y="40926"/>
                  <a:pt x="100596" y="36580"/>
                  <a:pt x="97396" y="33381"/>
                </a:cubicBezTo>
                <a:lnTo>
                  <a:pt x="68975" y="4986"/>
                </a:lnTo>
                <a:cubicBezTo>
                  <a:pt x="65775" y="1786"/>
                  <a:pt x="61456" y="0"/>
                  <a:pt x="56923" y="0"/>
                </a:cubicBezTo>
                <a:lnTo>
                  <a:pt x="17064" y="0"/>
                </a:lnTo>
                <a:close/>
                <a:moveTo>
                  <a:pt x="86785" y="46925"/>
                </a:moveTo>
                <a:lnTo>
                  <a:pt x="61856" y="46925"/>
                </a:lnTo>
                <a:cubicBezTo>
                  <a:pt x="58310" y="46925"/>
                  <a:pt x="55457" y="44072"/>
                  <a:pt x="55457" y="40526"/>
                </a:cubicBezTo>
                <a:lnTo>
                  <a:pt x="55457" y="15597"/>
                </a:lnTo>
                <a:lnTo>
                  <a:pt x="86785" y="46925"/>
                </a:lnTo>
                <a:close/>
                <a:moveTo>
                  <a:pt x="17064" y="102382"/>
                </a:moveTo>
                <a:lnTo>
                  <a:pt x="17064" y="85318"/>
                </a:lnTo>
                <a:cubicBezTo>
                  <a:pt x="17064" y="80599"/>
                  <a:pt x="20876" y="76787"/>
                  <a:pt x="25596" y="76787"/>
                </a:cubicBezTo>
                <a:lnTo>
                  <a:pt x="76787" y="76787"/>
                </a:lnTo>
                <a:cubicBezTo>
                  <a:pt x="81506" y="76787"/>
                  <a:pt x="85318" y="80599"/>
                  <a:pt x="85318" y="85318"/>
                </a:cubicBezTo>
                <a:lnTo>
                  <a:pt x="85318" y="102382"/>
                </a:lnTo>
                <a:cubicBezTo>
                  <a:pt x="85318" y="107101"/>
                  <a:pt x="81506" y="110914"/>
                  <a:pt x="76787" y="110914"/>
                </a:cubicBezTo>
                <a:lnTo>
                  <a:pt x="25596" y="110914"/>
                </a:lnTo>
                <a:cubicBezTo>
                  <a:pt x="20876" y="110914"/>
                  <a:pt x="17064" y="107101"/>
                  <a:pt x="17064" y="102382"/>
                </a:cubicBezTo>
                <a:close/>
                <a:moveTo>
                  <a:pt x="23463" y="17064"/>
                </a:moveTo>
                <a:lnTo>
                  <a:pt x="36260" y="17064"/>
                </a:lnTo>
                <a:cubicBezTo>
                  <a:pt x="39806" y="17064"/>
                  <a:pt x="42659" y="19917"/>
                  <a:pt x="42659" y="23463"/>
                </a:cubicBezTo>
                <a:cubicBezTo>
                  <a:pt x="42659" y="27009"/>
                  <a:pt x="39806" y="29861"/>
                  <a:pt x="36260" y="29861"/>
                </a:cubicBezTo>
                <a:lnTo>
                  <a:pt x="23463" y="29861"/>
                </a:lnTo>
                <a:cubicBezTo>
                  <a:pt x="19917" y="29861"/>
                  <a:pt x="17064" y="27009"/>
                  <a:pt x="17064" y="23463"/>
                </a:cubicBezTo>
                <a:cubicBezTo>
                  <a:pt x="17064" y="19917"/>
                  <a:pt x="19917" y="17064"/>
                  <a:pt x="23463" y="17064"/>
                </a:cubicBezTo>
                <a:close/>
                <a:moveTo>
                  <a:pt x="23463" y="42659"/>
                </a:moveTo>
                <a:lnTo>
                  <a:pt x="36260" y="42659"/>
                </a:lnTo>
                <a:cubicBezTo>
                  <a:pt x="39806" y="42659"/>
                  <a:pt x="42659" y="45512"/>
                  <a:pt x="42659" y="49058"/>
                </a:cubicBezTo>
                <a:cubicBezTo>
                  <a:pt x="42659" y="52604"/>
                  <a:pt x="39806" y="55457"/>
                  <a:pt x="36260" y="55457"/>
                </a:cubicBezTo>
                <a:lnTo>
                  <a:pt x="23463" y="55457"/>
                </a:lnTo>
                <a:cubicBezTo>
                  <a:pt x="19917" y="55457"/>
                  <a:pt x="17064" y="52604"/>
                  <a:pt x="17064" y="49058"/>
                </a:cubicBezTo>
                <a:cubicBezTo>
                  <a:pt x="17064" y="45512"/>
                  <a:pt x="19917" y="42659"/>
                  <a:pt x="23463" y="4265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01554735" name="Text 9"/>
          <p:cNvSpPr/>
          <p:nvPr/>
        </p:nvSpPr>
        <p:spPr bwMode="auto">
          <a:xfrm>
            <a:off x="895843" y="2589414"/>
            <a:ext cx="139069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Чтение документов</a:t>
            </a:r>
            <a:endParaRPr lang="en-US" sz="1600"/>
          </a:p>
        </p:txBody>
      </p:sp>
      <p:sp>
        <p:nvSpPr>
          <p:cNvPr id="393960322" name="Text 10"/>
          <p:cNvSpPr/>
          <p:nvPr/>
        </p:nvSpPr>
        <p:spPr bwMode="auto">
          <a:xfrm>
            <a:off x="656951" y="2862432"/>
            <a:ext cx="2619275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AI читает инвойсы и финансовые документы</a:t>
            </a:r>
            <a:endParaRPr lang="en-US" sz="1600"/>
          </a:p>
        </p:txBody>
      </p:sp>
      <p:sp>
        <p:nvSpPr>
          <p:cNvPr id="461683059" name="Shape 11"/>
          <p:cNvSpPr/>
          <p:nvPr/>
        </p:nvSpPr>
        <p:spPr bwMode="auto">
          <a:xfrm>
            <a:off x="3424734" y="2482766"/>
            <a:ext cx="2764316" cy="895843"/>
          </a:xfrm>
          <a:custGeom>
            <a:avLst/>
            <a:gdLst/>
            <a:ahLst/>
            <a:cxnLst/>
            <a:rect l="l" t="t" r="r" b="b"/>
            <a:pathLst>
              <a:path w="2764316" h="895843" fill="norm" stroke="1" extrusionOk="0">
                <a:moveTo>
                  <a:pt x="68254" y="0"/>
                </a:moveTo>
                <a:lnTo>
                  <a:pt x="2696062" y="0"/>
                </a:lnTo>
                <a:cubicBezTo>
                  <a:pt x="2733758" y="0"/>
                  <a:pt x="2764316" y="30558"/>
                  <a:pt x="2764316" y="68254"/>
                </a:cubicBezTo>
                <a:lnTo>
                  <a:pt x="2764316" y="827589"/>
                </a:lnTo>
                <a:cubicBezTo>
                  <a:pt x="2764316" y="865285"/>
                  <a:pt x="2733758" y="895843"/>
                  <a:pt x="2696062" y="895843"/>
                </a:cubicBezTo>
                <a:lnTo>
                  <a:pt x="68254" y="895843"/>
                </a:lnTo>
                <a:cubicBezTo>
                  <a:pt x="30558" y="895843"/>
                  <a:pt x="0" y="865285"/>
                  <a:pt x="0" y="827589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307494301" name="Shape 12"/>
          <p:cNvSpPr/>
          <p:nvPr/>
        </p:nvSpPr>
        <p:spPr bwMode="auto">
          <a:xfrm>
            <a:off x="3556978" y="2623541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 fill="norm" stroke="1" extrusionOk="0">
                <a:moveTo>
                  <a:pt x="68255" y="42659"/>
                </a:moveTo>
                <a:lnTo>
                  <a:pt x="68255" y="68255"/>
                </a:lnTo>
                <a:lnTo>
                  <a:pt x="102382" y="68255"/>
                </a:lnTo>
                <a:lnTo>
                  <a:pt x="102382" y="42659"/>
                </a:lnTo>
                <a:lnTo>
                  <a:pt x="68255" y="42659"/>
                </a:lnTo>
                <a:close/>
                <a:moveTo>
                  <a:pt x="51191" y="42659"/>
                </a:moveTo>
                <a:lnTo>
                  <a:pt x="17064" y="42659"/>
                </a:lnTo>
                <a:lnTo>
                  <a:pt x="17064" y="68255"/>
                </a:lnTo>
                <a:lnTo>
                  <a:pt x="51191" y="68255"/>
                </a:lnTo>
                <a:lnTo>
                  <a:pt x="51191" y="42659"/>
                </a:lnTo>
                <a:close/>
                <a:moveTo>
                  <a:pt x="0" y="85318"/>
                </a:moveTo>
                <a:lnTo>
                  <a:pt x="0" y="25596"/>
                </a:lnTo>
                <a:cubicBezTo>
                  <a:pt x="0" y="16184"/>
                  <a:pt x="7652" y="8532"/>
                  <a:pt x="17064" y="8532"/>
                </a:cubicBezTo>
                <a:lnTo>
                  <a:pt x="102382" y="8532"/>
                </a:lnTo>
                <a:cubicBezTo>
                  <a:pt x="111794" y="8532"/>
                  <a:pt x="119446" y="16184"/>
                  <a:pt x="119446" y="25596"/>
                </a:cubicBezTo>
                <a:lnTo>
                  <a:pt x="119446" y="110914"/>
                </a:lnTo>
                <a:cubicBezTo>
                  <a:pt x="119446" y="120326"/>
                  <a:pt x="111794" y="127978"/>
                  <a:pt x="102382" y="127978"/>
                </a:cubicBezTo>
                <a:lnTo>
                  <a:pt x="17064" y="127978"/>
                </a:lnTo>
                <a:cubicBezTo>
                  <a:pt x="7652" y="127978"/>
                  <a:pt x="0" y="120326"/>
                  <a:pt x="0" y="110914"/>
                </a:cubicBezTo>
                <a:lnTo>
                  <a:pt x="0" y="85318"/>
                </a:lnTo>
                <a:close/>
                <a:moveTo>
                  <a:pt x="102382" y="85318"/>
                </a:moveTo>
                <a:lnTo>
                  <a:pt x="68255" y="85318"/>
                </a:lnTo>
                <a:lnTo>
                  <a:pt x="68255" y="110914"/>
                </a:lnTo>
                <a:lnTo>
                  <a:pt x="102382" y="110914"/>
                </a:lnTo>
                <a:lnTo>
                  <a:pt x="102382" y="85318"/>
                </a:lnTo>
                <a:close/>
                <a:moveTo>
                  <a:pt x="51191" y="110914"/>
                </a:moveTo>
                <a:lnTo>
                  <a:pt x="51191" y="85318"/>
                </a:lnTo>
                <a:lnTo>
                  <a:pt x="17064" y="85318"/>
                </a:lnTo>
                <a:lnTo>
                  <a:pt x="17064" y="110914"/>
                </a:lnTo>
                <a:lnTo>
                  <a:pt x="51191" y="11091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30039179" name="Text 13"/>
          <p:cNvSpPr/>
          <p:nvPr/>
        </p:nvSpPr>
        <p:spPr bwMode="auto">
          <a:xfrm>
            <a:off x="3770274" y="2589414"/>
            <a:ext cx="143334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Извлечение данных</a:t>
            </a:r>
            <a:endParaRPr lang="en-US" sz="1600"/>
          </a:p>
        </p:txBody>
      </p:sp>
      <p:sp>
        <p:nvSpPr>
          <p:cNvPr id="1529966504" name="Text 14"/>
          <p:cNvSpPr/>
          <p:nvPr/>
        </p:nvSpPr>
        <p:spPr bwMode="auto">
          <a:xfrm>
            <a:off x="3531382" y="2862432"/>
            <a:ext cx="26192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Структурированные платёжные данные</a:t>
            </a:r>
            <a:endParaRPr lang="en-US" sz="1600"/>
          </a:p>
        </p:txBody>
      </p:sp>
      <p:sp>
        <p:nvSpPr>
          <p:cNvPr id="895922066" name="Shape 15"/>
          <p:cNvSpPr/>
          <p:nvPr/>
        </p:nvSpPr>
        <p:spPr bwMode="auto">
          <a:xfrm>
            <a:off x="550304" y="3489523"/>
            <a:ext cx="2764316" cy="691079"/>
          </a:xfrm>
          <a:custGeom>
            <a:avLst/>
            <a:gdLst/>
            <a:ahLst/>
            <a:cxnLst/>
            <a:rect l="l" t="t" r="r" b="b"/>
            <a:pathLst>
              <a:path w="2764316" h="691079" fill="norm" stroke="1" extrusionOk="0">
                <a:moveTo>
                  <a:pt x="68258" y="0"/>
                </a:moveTo>
                <a:lnTo>
                  <a:pt x="2696058" y="0"/>
                </a:lnTo>
                <a:cubicBezTo>
                  <a:pt x="2733756" y="0"/>
                  <a:pt x="2764316" y="30560"/>
                  <a:pt x="2764316" y="68258"/>
                </a:cubicBezTo>
                <a:lnTo>
                  <a:pt x="2764316" y="622821"/>
                </a:lnTo>
                <a:cubicBezTo>
                  <a:pt x="2764316" y="660519"/>
                  <a:pt x="2733756" y="691079"/>
                  <a:pt x="2696058" y="691079"/>
                </a:cubicBezTo>
                <a:lnTo>
                  <a:pt x="68258" y="691079"/>
                </a:lnTo>
                <a:cubicBezTo>
                  <a:pt x="30560" y="691079"/>
                  <a:pt x="0" y="660519"/>
                  <a:pt x="0" y="622821"/>
                </a:cubicBezTo>
                <a:lnTo>
                  <a:pt x="0" y="68258"/>
                </a:lnTo>
                <a:cubicBezTo>
                  <a:pt x="0" y="30560"/>
                  <a:pt x="30560" y="0"/>
                  <a:pt x="682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545047344" name="Shape 16"/>
          <p:cNvSpPr/>
          <p:nvPr/>
        </p:nvSpPr>
        <p:spPr bwMode="auto">
          <a:xfrm>
            <a:off x="691079" y="3630298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 fill="norm" stroke="1" extrusionOk="0">
                <a:moveTo>
                  <a:pt x="66628" y="17810"/>
                </a:moveTo>
                <a:cubicBezTo>
                  <a:pt x="69401" y="13998"/>
                  <a:pt x="68548" y="8665"/>
                  <a:pt x="64735" y="5892"/>
                </a:cubicBezTo>
                <a:cubicBezTo>
                  <a:pt x="60923" y="3119"/>
                  <a:pt x="55590" y="3973"/>
                  <a:pt x="52817" y="7785"/>
                </a:cubicBezTo>
                <a:lnTo>
                  <a:pt x="24556" y="46632"/>
                </a:lnTo>
                <a:lnTo>
                  <a:pt x="14557" y="36634"/>
                </a:lnTo>
                <a:cubicBezTo>
                  <a:pt x="11225" y="33301"/>
                  <a:pt x="5812" y="33301"/>
                  <a:pt x="2480" y="36634"/>
                </a:cubicBezTo>
                <a:cubicBezTo>
                  <a:pt x="-853" y="39966"/>
                  <a:pt x="-853" y="45379"/>
                  <a:pt x="2480" y="48711"/>
                </a:cubicBezTo>
                <a:lnTo>
                  <a:pt x="19543" y="65775"/>
                </a:lnTo>
                <a:cubicBezTo>
                  <a:pt x="21303" y="67535"/>
                  <a:pt x="23756" y="68441"/>
                  <a:pt x="26235" y="68255"/>
                </a:cubicBezTo>
                <a:cubicBezTo>
                  <a:pt x="28715" y="68068"/>
                  <a:pt x="31008" y="66788"/>
                  <a:pt x="32474" y="64762"/>
                </a:cubicBezTo>
                <a:lnTo>
                  <a:pt x="66602" y="17837"/>
                </a:lnTo>
                <a:close/>
                <a:moveTo>
                  <a:pt x="100756" y="54071"/>
                </a:moveTo>
                <a:cubicBezTo>
                  <a:pt x="103529" y="50258"/>
                  <a:pt x="102675" y="44925"/>
                  <a:pt x="98863" y="42153"/>
                </a:cubicBezTo>
                <a:cubicBezTo>
                  <a:pt x="95050" y="39380"/>
                  <a:pt x="89718" y="40233"/>
                  <a:pt x="86945" y="44046"/>
                </a:cubicBezTo>
                <a:lnTo>
                  <a:pt x="41619" y="106355"/>
                </a:lnTo>
                <a:lnTo>
                  <a:pt x="23089" y="87825"/>
                </a:lnTo>
                <a:cubicBezTo>
                  <a:pt x="19757" y="84492"/>
                  <a:pt x="14344" y="84492"/>
                  <a:pt x="11011" y="87825"/>
                </a:cubicBezTo>
                <a:cubicBezTo>
                  <a:pt x="7679" y="91157"/>
                  <a:pt x="7679" y="96570"/>
                  <a:pt x="11011" y="99903"/>
                </a:cubicBezTo>
                <a:lnTo>
                  <a:pt x="36607" y="125498"/>
                </a:lnTo>
                <a:cubicBezTo>
                  <a:pt x="38367" y="127258"/>
                  <a:pt x="40820" y="128164"/>
                  <a:pt x="43299" y="127978"/>
                </a:cubicBezTo>
                <a:cubicBezTo>
                  <a:pt x="45779" y="127791"/>
                  <a:pt x="48072" y="126511"/>
                  <a:pt x="49538" y="124485"/>
                </a:cubicBezTo>
                <a:lnTo>
                  <a:pt x="100729" y="5409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3046930" name="Text 17"/>
          <p:cNvSpPr/>
          <p:nvPr/>
        </p:nvSpPr>
        <p:spPr bwMode="auto">
          <a:xfrm>
            <a:off x="895843" y="3596171"/>
            <a:ext cx="136509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Подготовка payload</a:t>
            </a:r>
            <a:endParaRPr lang="en-US" sz="1600"/>
          </a:p>
        </p:txBody>
      </p:sp>
      <p:sp>
        <p:nvSpPr>
          <p:cNvPr id="88933425" name="Text 18"/>
          <p:cNvSpPr/>
          <p:nvPr/>
        </p:nvSpPr>
        <p:spPr bwMode="auto">
          <a:xfrm>
            <a:off x="656951" y="3869190"/>
            <a:ext cx="26192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Compliant transaction payloads</a:t>
            </a:r>
            <a:endParaRPr lang="en-US" sz="1600"/>
          </a:p>
        </p:txBody>
      </p:sp>
      <p:sp>
        <p:nvSpPr>
          <p:cNvPr id="846046309" name="Shape 19"/>
          <p:cNvSpPr/>
          <p:nvPr/>
        </p:nvSpPr>
        <p:spPr bwMode="auto">
          <a:xfrm>
            <a:off x="3424734" y="3489523"/>
            <a:ext cx="2764316" cy="691079"/>
          </a:xfrm>
          <a:custGeom>
            <a:avLst/>
            <a:gdLst/>
            <a:ahLst/>
            <a:cxnLst/>
            <a:rect l="l" t="t" r="r" b="b"/>
            <a:pathLst>
              <a:path w="2764316" h="691079" fill="norm" stroke="1" extrusionOk="0">
                <a:moveTo>
                  <a:pt x="68258" y="0"/>
                </a:moveTo>
                <a:lnTo>
                  <a:pt x="2696058" y="0"/>
                </a:lnTo>
                <a:cubicBezTo>
                  <a:pt x="2733756" y="0"/>
                  <a:pt x="2764316" y="30560"/>
                  <a:pt x="2764316" y="68258"/>
                </a:cubicBezTo>
                <a:lnTo>
                  <a:pt x="2764316" y="622821"/>
                </a:lnTo>
                <a:cubicBezTo>
                  <a:pt x="2764316" y="660519"/>
                  <a:pt x="2733756" y="691079"/>
                  <a:pt x="2696058" y="691079"/>
                </a:cubicBezTo>
                <a:lnTo>
                  <a:pt x="68258" y="691079"/>
                </a:lnTo>
                <a:cubicBezTo>
                  <a:pt x="30560" y="691079"/>
                  <a:pt x="0" y="660519"/>
                  <a:pt x="0" y="622821"/>
                </a:cubicBezTo>
                <a:lnTo>
                  <a:pt x="0" y="68258"/>
                </a:lnTo>
                <a:cubicBezTo>
                  <a:pt x="0" y="30560"/>
                  <a:pt x="30560" y="0"/>
                  <a:pt x="682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175556339" name="Shape 20"/>
          <p:cNvSpPr/>
          <p:nvPr/>
        </p:nvSpPr>
        <p:spPr bwMode="auto">
          <a:xfrm>
            <a:off x="3548446" y="3630298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 fill="norm" stroke="1" extrusionOk="0">
                <a:moveTo>
                  <a:pt x="106248" y="3253"/>
                </a:moveTo>
                <a:lnTo>
                  <a:pt x="82732" y="26769"/>
                </a:lnTo>
                <a:lnTo>
                  <a:pt x="109741" y="53777"/>
                </a:lnTo>
                <a:lnTo>
                  <a:pt x="133257" y="30261"/>
                </a:lnTo>
                <a:cubicBezTo>
                  <a:pt x="135336" y="28155"/>
                  <a:pt x="136509" y="25329"/>
                  <a:pt x="136509" y="22396"/>
                </a:cubicBezTo>
                <a:cubicBezTo>
                  <a:pt x="136509" y="19463"/>
                  <a:pt x="135336" y="16637"/>
                  <a:pt x="133257" y="14531"/>
                </a:cubicBezTo>
                <a:lnTo>
                  <a:pt x="121979" y="3253"/>
                </a:lnTo>
                <a:cubicBezTo>
                  <a:pt x="119872" y="1173"/>
                  <a:pt x="117046" y="0"/>
                  <a:pt x="114113" y="0"/>
                </a:cubicBezTo>
                <a:cubicBezTo>
                  <a:pt x="111181" y="0"/>
                  <a:pt x="108354" y="1173"/>
                  <a:pt x="106248" y="3253"/>
                </a:cubicBezTo>
                <a:close/>
                <a:moveTo>
                  <a:pt x="73694" y="35807"/>
                </a:moveTo>
                <a:lnTo>
                  <a:pt x="3253" y="106248"/>
                </a:lnTo>
                <a:cubicBezTo>
                  <a:pt x="1173" y="108354"/>
                  <a:pt x="0" y="111181"/>
                  <a:pt x="0" y="114113"/>
                </a:cubicBezTo>
                <a:cubicBezTo>
                  <a:pt x="0" y="117046"/>
                  <a:pt x="1173" y="119872"/>
                  <a:pt x="3253" y="121979"/>
                </a:cubicBezTo>
                <a:lnTo>
                  <a:pt x="14531" y="133257"/>
                </a:lnTo>
                <a:cubicBezTo>
                  <a:pt x="16637" y="135336"/>
                  <a:pt x="19463" y="136509"/>
                  <a:pt x="22396" y="136509"/>
                </a:cubicBezTo>
                <a:cubicBezTo>
                  <a:pt x="25329" y="136509"/>
                  <a:pt x="28155" y="135336"/>
                  <a:pt x="30261" y="133257"/>
                </a:cubicBezTo>
                <a:lnTo>
                  <a:pt x="100702" y="62816"/>
                </a:lnTo>
                <a:lnTo>
                  <a:pt x="73694" y="358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3301311" name="Text 21"/>
          <p:cNvSpPr/>
          <p:nvPr/>
        </p:nvSpPr>
        <p:spPr bwMode="auto">
          <a:xfrm>
            <a:off x="3770274" y="3596171"/>
            <a:ext cx="9726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Auto-fill engine</a:t>
            </a:r>
            <a:endParaRPr lang="en-US" sz="1600"/>
          </a:p>
        </p:txBody>
      </p:sp>
      <p:sp>
        <p:nvSpPr>
          <p:cNvPr id="432664793" name="Text 22"/>
          <p:cNvSpPr/>
          <p:nvPr/>
        </p:nvSpPr>
        <p:spPr bwMode="auto">
          <a:xfrm>
            <a:off x="3531382" y="3869190"/>
            <a:ext cx="26192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Автозаполнение платёжных форм</a:t>
            </a:r>
            <a:endParaRPr lang="en-US" sz="1600"/>
          </a:p>
        </p:txBody>
      </p:sp>
      <p:sp>
        <p:nvSpPr>
          <p:cNvPr id="1004946614" name="Shape 23"/>
          <p:cNvSpPr/>
          <p:nvPr/>
        </p:nvSpPr>
        <p:spPr bwMode="auto">
          <a:xfrm>
            <a:off x="349805" y="4500546"/>
            <a:ext cx="6006416" cy="1040885"/>
          </a:xfrm>
          <a:custGeom>
            <a:avLst/>
            <a:gdLst/>
            <a:ahLst/>
            <a:cxnLst/>
            <a:rect l="l" t="t" r="r" b="b"/>
            <a:pathLst>
              <a:path w="6006416" h="1040885" fill="norm" stroke="1" extrusionOk="0">
                <a:moveTo>
                  <a:pt x="68251" y="0"/>
                </a:moveTo>
                <a:lnTo>
                  <a:pt x="5938165" y="0"/>
                </a:lnTo>
                <a:cubicBezTo>
                  <a:pt x="5975859" y="0"/>
                  <a:pt x="6006416" y="30557"/>
                  <a:pt x="6006416" y="68251"/>
                </a:cubicBezTo>
                <a:lnTo>
                  <a:pt x="6006416" y="972634"/>
                </a:lnTo>
                <a:cubicBezTo>
                  <a:pt x="6006416" y="1010328"/>
                  <a:pt x="5975859" y="1040885"/>
                  <a:pt x="5938165" y="1040885"/>
                </a:cubicBezTo>
                <a:lnTo>
                  <a:pt x="68251" y="1040885"/>
                </a:lnTo>
                <a:cubicBezTo>
                  <a:pt x="30557" y="1040885"/>
                  <a:pt x="0" y="1010328"/>
                  <a:pt x="0" y="972634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2540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194453126" name="Shape 24"/>
          <p:cNvSpPr/>
          <p:nvPr/>
        </p:nvSpPr>
        <p:spPr bwMode="auto">
          <a:xfrm>
            <a:off x="494847" y="4645587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 fill="norm" stroke="1" extrusionOk="0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795248807" name="Shape 25"/>
          <p:cNvSpPr/>
          <p:nvPr/>
        </p:nvSpPr>
        <p:spPr bwMode="auto">
          <a:xfrm>
            <a:off x="614293" y="4765033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 fill="norm" stroke="1" extrusionOk="0">
                <a:moveTo>
                  <a:pt x="85318" y="0"/>
                </a:moveTo>
                <a:cubicBezTo>
                  <a:pt x="90218" y="0"/>
                  <a:pt x="94717" y="2700"/>
                  <a:pt x="97050" y="6999"/>
                </a:cubicBezTo>
                <a:lnTo>
                  <a:pt x="169037" y="140309"/>
                </a:lnTo>
                <a:cubicBezTo>
                  <a:pt x="171270" y="144441"/>
                  <a:pt x="171170" y="149441"/>
                  <a:pt x="168770" y="153473"/>
                </a:cubicBezTo>
                <a:cubicBezTo>
                  <a:pt x="166371" y="157506"/>
                  <a:pt x="162005" y="159972"/>
                  <a:pt x="157306" y="159972"/>
                </a:cubicBezTo>
                <a:lnTo>
                  <a:pt x="13331" y="159972"/>
                </a:lnTo>
                <a:cubicBezTo>
                  <a:pt x="8632" y="159972"/>
                  <a:pt x="4299" y="157506"/>
                  <a:pt x="1866" y="153473"/>
                </a:cubicBezTo>
                <a:cubicBezTo>
                  <a:pt x="-567" y="149441"/>
                  <a:pt x="-633" y="144441"/>
                  <a:pt x="1600" y="140309"/>
                </a:cubicBezTo>
                <a:lnTo>
                  <a:pt x="73587" y="6999"/>
                </a:lnTo>
                <a:cubicBezTo>
                  <a:pt x="75920" y="2700"/>
                  <a:pt x="80419" y="0"/>
                  <a:pt x="85318" y="0"/>
                </a:cubicBezTo>
                <a:close/>
                <a:moveTo>
                  <a:pt x="85318" y="55990"/>
                </a:moveTo>
                <a:cubicBezTo>
                  <a:pt x="80886" y="55990"/>
                  <a:pt x="77320" y="59556"/>
                  <a:pt x="77320" y="63989"/>
                </a:cubicBezTo>
                <a:lnTo>
                  <a:pt x="77320" y="101316"/>
                </a:lnTo>
                <a:cubicBezTo>
                  <a:pt x="77320" y="105748"/>
                  <a:pt x="80886" y="109314"/>
                  <a:pt x="85318" y="109314"/>
                </a:cubicBezTo>
                <a:cubicBezTo>
                  <a:pt x="89751" y="109314"/>
                  <a:pt x="93317" y="105748"/>
                  <a:pt x="93317" y="101316"/>
                </a:cubicBezTo>
                <a:lnTo>
                  <a:pt x="93317" y="63989"/>
                </a:lnTo>
                <a:cubicBezTo>
                  <a:pt x="93317" y="59556"/>
                  <a:pt x="89751" y="55990"/>
                  <a:pt x="85318" y="55990"/>
                </a:cubicBezTo>
                <a:close/>
                <a:moveTo>
                  <a:pt x="94217" y="127978"/>
                </a:moveTo>
                <a:cubicBezTo>
                  <a:pt x="94419" y="124675"/>
                  <a:pt x="92772" y="121532"/>
                  <a:pt x="89941" y="119819"/>
                </a:cubicBezTo>
                <a:cubicBezTo>
                  <a:pt x="87109" y="118107"/>
                  <a:pt x="83561" y="118107"/>
                  <a:pt x="80730" y="119819"/>
                </a:cubicBezTo>
                <a:cubicBezTo>
                  <a:pt x="77898" y="121532"/>
                  <a:pt x="76251" y="124675"/>
                  <a:pt x="76453" y="127978"/>
                </a:cubicBezTo>
                <a:cubicBezTo>
                  <a:pt x="76251" y="131281"/>
                  <a:pt x="77898" y="134423"/>
                  <a:pt x="80730" y="136136"/>
                </a:cubicBezTo>
                <a:cubicBezTo>
                  <a:pt x="83561" y="137849"/>
                  <a:pt x="87109" y="137849"/>
                  <a:pt x="89941" y="136136"/>
                </a:cubicBezTo>
                <a:cubicBezTo>
                  <a:pt x="92772" y="134423"/>
                  <a:pt x="94419" y="131281"/>
                  <a:pt x="94217" y="1279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17314889" name="Text 26"/>
          <p:cNvSpPr/>
          <p:nvPr/>
        </p:nvSpPr>
        <p:spPr bwMode="auto">
          <a:xfrm>
            <a:off x="1040885" y="4645587"/>
            <a:ext cx="524708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6467"/>
                </a:solidFill>
                <a:latin typeface="Liter"/>
                <a:ea typeface="Liter"/>
                <a:cs typeface="Liter"/>
              </a:rPr>
              <a:t>Критически важное правило</a:t>
            </a:r>
            <a:endParaRPr lang="en-US" sz="1600"/>
          </a:p>
        </p:txBody>
      </p:sp>
      <p:sp>
        <p:nvSpPr>
          <p:cNvPr id="668981209" name="Text 27"/>
          <p:cNvSpPr/>
          <p:nvPr/>
        </p:nvSpPr>
        <p:spPr bwMode="auto">
          <a:xfrm>
            <a:off x="1040885" y="4952733"/>
            <a:ext cx="5238550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 b="1">
                <a:solidFill>
                  <a:srgbClr val="EDF2F4"/>
                </a:solidFill>
                <a:highlight>
                  <a:srgbClr val="FB2C36">
                    <a:alpha val="30000"/>
                  </a:srgbClr>
                </a:highlight>
                <a:latin typeface="Quattrocento Sans"/>
                <a:ea typeface="Quattrocento Sans"/>
                <a:cs typeface="Quattrocento Sans"/>
              </a:rPr>
              <a:t>AI никогда не принимает решения о деньгах </a:t>
            </a:r>
            <a:r>
              <a:rPr lang="en-US" sz="11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. AI только подготавливает данные. Финальное решение всегда принимает человек через E-IMZO подпись.</a:t>
            </a:r>
            <a:endParaRPr lang="en-US" sz="1600"/>
          </a:p>
        </p:txBody>
      </p:sp>
      <p:sp>
        <p:nvSpPr>
          <p:cNvPr id="658463162" name="Shape 28"/>
          <p:cNvSpPr/>
          <p:nvPr/>
        </p:nvSpPr>
        <p:spPr bwMode="auto">
          <a:xfrm>
            <a:off x="345540" y="5690738"/>
            <a:ext cx="1928196" cy="929971"/>
          </a:xfrm>
          <a:custGeom>
            <a:avLst/>
            <a:gdLst/>
            <a:ahLst/>
            <a:cxnLst/>
            <a:rect l="l" t="t" r="r" b="b"/>
            <a:pathLst>
              <a:path w="1928196" h="929971" fill="norm" stroke="1" extrusionOk="0">
                <a:moveTo>
                  <a:pt x="68251" y="0"/>
                </a:moveTo>
                <a:lnTo>
                  <a:pt x="1859945" y="0"/>
                </a:lnTo>
                <a:cubicBezTo>
                  <a:pt x="1897639" y="0"/>
                  <a:pt x="1928196" y="30557"/>
                  <a:pt x="1928196" y="68251"/>
                </a:cubicBezTo>
                <a:lnTo>
                  <a:pt x="1928196" y="861720"/>
                </a:lnTo>
                <a:cubicBezTo>
                  <a:pt x="1928196" y="899414"/>
                  <a:pt x="1897639" y="929971"/>
                  <a:pt x="1859945" y="929971"/>
                </a:cubicBezTo>
                <a:lnTo>
                  <a:pt x="68251" y="929971"/>
                </a:lnTo>
                <a:cubicBezTo>
                  <a:pt x="30557" y="929971"/>
                  <a:pt x="0" y="899414"/>
                  <a:pt x="0" y="861720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90109423" name="Shape 29"/>
          <p:cNvSpPr/>
          <p:nvPr/>
        </p:nvSpPr>
        <p:spPr bwMode="auto">
          <a:xfrm>
            <a:off x="1225386" y="579738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 fill="norm" stroke="1" extrusionOk="0">
                <a:moveTo>
                  <a:pt x="85318" y="0"/>
                </a:moveTo>
                <a:cubicBezTo>
                  <a:pt x="132407" y="0"/>
                  <a:pt x="170637" y="38230"/>
                  <a:pt x="170637" y="85318"/>
                </a:cubicBezTo>
                <a:cubicBezTo>
                  <a:pt x="170637" y="132407"/>
                  <a:pt x="132407" y="170637"/>
                  <a:pt x="85318" y="170637"/>
                </a:cubicBezTo>
                <a:cubicBezTo>
                  <a:pt x="38230" y="170637"/>
                  <a:pt x="0" y="132407"/>
                  <a:pt x="0" y="85318"/>
                </a:cubicBezTo>
                <a:cubicBezTo>
                  <a:pt x="0" y="38230"/>
                  <a:pt x="38230" y="0"/>
                  <a:pt x="85318" y="0"/>
                </a:cubicBezTo>
                <a:close/>
                <a:moveTo>
                  <a:pt x="77320" y="39993"/>
                </a:moveTo>
                <a:lnTo>
                  <a:pt x="77320" y="85318"/>
                </a:lnTo>
                <a:cubicBezTo>
                  <a:pt x="77320" y="87985"/>
                  <a:pt x="78653" y="90484"/>
                  <a:pt x="80886" y="91984"/>
                </a:cubicBezTo>
                <a:lnTo>
                  <a:pt x="112880" y="113314"/>
                </a:lnTo>
                <a:cubicBezTo>
                  <a:pt x="116546" y="115780"/>
                  <a:pt x="121512" y="114780"/>
                  <a:pt x="123978" y="111081"/>
                </a:cubicBezTo>
                <a:cubicBezTo>
                  <a:pt x="126445" y="107381"/>
                  <a:pt x="125445" y="102449"/>
                  <a:pt x="121745" y="99983"/>
                </a:cubicBezTo>
                <a:lnTo>
                  <a:pt x="93317" y="81052"/>
                </a:lnTo>
                <a:lnTo>
                  <a:pt x="93317" y="39993"/>
                </a:lnTo>
                <a:cubicBezTo>
                  <a:pt x="93317" y="35560"/>
                  <a:pt x="89751" y="31994"/>
                  <a:pt x="85318" y="31994"/>
                </a:cubicBezTo>
                <a:cubicBezTo>
                  <a:pt x="80886" y="31994"/>
                  <a:pt x="77320" y="35560"/>
                  <a:pt x="77320" y="3999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42708023" name="Text 30"/>
          <p:cNvSpPr/>
          <p:nvPr/>
        </p:nvSpPr>
        <p:spPr bwMode="auto">
          <a:xfrm>
            <a:off x="418060" y="6036277"/>
            <a:ext cx="17831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Время на платёж</a:t>
            </a:r>
            <a:endParaRPr lang="en-US" sz="1600"/>
          </a:p>
        </p:txBody>
      </p:sp>
      <p:sp>
        <p:nvSpPr>
          <p:cNvPr id="915719661" name="Text 31"/>
          <p:cNvSpPr/>
          <p:nvPr/>
        </p:nvSpPr>
        <p:spPr bwMode="auto">
          <a:xfrm>
            <a:off x="400997" y="6241041"/>
            <a:ext cx="181728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-70%</a:t>
            </a:r>
            <a:endParaRPr lang="en-US" sz="1600"/>
          </a:p>
        </p:txBody>
      </p:sp>
      <p:sp>
        <p:nvSpPr>
          <p:cNvPr id="434468707" name="Shape 32"/>
          <p:cNvSpPr/>
          <p:nvPr/>
        </p:nvSpPr>
        <p:spPr bwMode="auto">
          <a:xfrm>
            <a:off x="2386916" y="5690738"/>
            <a:ext cx="1928196" cy="929971"/>
          </a:xfrm>
          <a:custGeom>
            <a:avLst/>
            <a:gdLst/>
            <a:ahLst/>
            <a:cxnLst/>
            <a:rect l="l" t="t" r="r" b="b"/>
            <a:pathLst>
              <a:path w="1928196" h="929971" fill="norm" stroke="1" extrusionOk="0">
                <a:moveTo>
                  <a:pt x="68251" y="0"/>
                </a:moveTo>
                <a:lnTo>
                  <a:pt x="1859945" y="0"/>
                </a:lnTo>
                <a:cubicBezTo>
                  <a:pt x="1897639" y="0"/>
                  <a:pt x="1928196" y="30557"/>
                  <a:pt x="1928196" y="68251"/>
                </a:cubicBezTo>
                <a:lnTo>
                  <a:pt x="1928196" y="861720"/>
                </a:lnTo>
                <a:cubicBezTo>
                  <a:pt x="1928196" y="899414"/>
                  <a:pt x="1897639" y="929971"/>
                  <a:pt x="1859945" y="929971"/>
                </a:cubicBezTo>
                <a:lnTo>
                  <a:pt x="68251" y="929971"/>
                </a:lnTo>
                <a:cubicBezTo>
                  <a:pt x="30557" y="929971"/>
                  <a:pt x="0" y="899414"/>
                  <a:pt x="0" y="861720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87544324" name="Shape 33"/>
          <p:cNvSpPr/>
          <p:nvPr/>
        </p:nvSpPr>
        <p:spPr bwMode="auto">
          <a:xfrm>
            <a:off x="3266895" y="579738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 fill="norm" stroke="1" extrusionOk="0">
                <a:moveTo>
                  <a:pt x="85318" y="170637"/>
                </a:moveTo>
                <a:cubicBezTo>
                  <a:pt x="132407" y="170637"/>
                  <a:pt x="170637" y="132407"/>
                  <a:pt x="170637" y="85318"/>
                </a:cubicBezTo>
                <a:cubicBezTo>
                  <a:pt x="170637" y="38230"/>
                  <a:pt x="132407" y="0"/>
                  <a:pt x="85318" y="0"/>
                </a:cubicBezTo>
                <a:cubicBezTo>
                  <a:pt x="38230" y="0"/>
                  <a:pt x="0" y="38230"/>
                  <a:pt x="0" y="85318"/>
                </a:cubicBezTo>
                <a:cubicBezTo>
                  <a:pt x="0" y="132407"/>
                  <a:pt x="38230" y="170637"/>
                  <a:pt x="85318" y="170637"/>
                </a:cubicBezTo>
                <a:close/>
                <a:moveTo>
                  <a:pt x="55657" y="55657"/>
                </a:moveTo>
                <a:cubicBezTo>
                  <a:pt x="58790" y="52524"/>
                  <a:pt x="63855" y="52524"/>
                  <a:pt x="66955" y="55657"/>
                </a:cubicBezTo>
                <a:lnTo>
                  <a:pt x="85285" y="73987"/>
                </a:lnTo>
                <a:lnTo>
                  <a:pt x="103615" y="55657"/>
                </a:lnTo>
                <a:cubicBezTo>
                  <a:pt x="106748" y="52524"/>
                  <a:pt x="111814" y="52524"/>
                  <a:pt x="114913" y="55657"/>
                </a:cubicBezTo>
                <a:cubicBezTo>
                  <a:pt x="118013" y="58790"/>
                  <a:pt x="118046" y="63855"/>
                  <a:pt x="114913" y="66955"/>
                </a:cubicBezTo>
                <a:lnTo>
                  <a:pt x="96583" y="85285"/>
                </a:lnTo>
                <a:lnTo>
                  <a:pt x="114913" y="103615"/>
                </a:lnTo>
                <a:cubicBezTo>
                  <a:pt x="118046" y="106748"/>
                  <a:pt x="118046" y="111814"/>
                  <a:pt x="114913" y="114913"/>
                </a:cubicBezTo>
                <a:cubicBezTo>
                  <a:pt x="111780" y="118013"/>
                  <a:pt x="106715" y="118046"/>
                  <a:pt x="103615" y="114913"/>
                </a:cubicBezTo>
                <a:lnTo>
                  <a:pt x="85285" y="96583"/>
                </a:lnTo>
                <a:lnTo>
                  <a:pt x="66955" y="114913"/>
                </a:lnTo>
                <a:cubicBezTo>
                  <a:pt x="63822" y="118046"/>
                  <a:pt x="58756" y="118046"/>
                  <a:pt x="55657" y="114913"/>
                </a:cubicBezTo>
                <a:cubicBezTo>
                  <a:pt x="52557" y="111780"/>
                  <a:pt x="52524" y="106715"/>
                  <a:pt x="55657" y="103615"/>
                </a:cubicBezTo>
                <a:lnTo>
                  <a:pt x="73987" y="85285"/>
                </a:lnTo>
                <a:lnTo>
                  <a:pt x="55657" y="66955"/>
                </a:lnTo>
                <a:cubicBezTo>
                  <a:pt x="52524" y="63822"/>
                  <a:pt x="52524" y="58756"/>
                  <a:pt x="55657" y="5565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18072190" name="Text 34"/>
          <p:cNvSpPr/>
          <p:nvPr/>
        </p:nvSpPr>
        <p:spPr bwMode="auto">
          <a:xfrm>
            <a:off x="2459436" y="6036277"/>
            <a:ext cx="17831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Ошибки ввода</a:t>
            </a:r>
            <a:endParaRPr lang="en-US" sz="1600"/>
          </a:p>
        </p:txBody>
      </p:sp>
      <p:sp>
        <p:nvSpPr>
          <p:cNvPr id="730555655" name="Text 35"/>
          <p:cNvSpPr/>
          <p:nvPr/>
        </p:nvSpPr>
        <p:spPr bwMode="auto">
          <a:xfrm>
            <a:off x="2442372" y="6241041"/>
            <a:ext cx="181728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-90%</a:t>
            </a:r>
            <a:endParaRPr lang="en-US" sz="1600"/>
          </a:p>
        </p:txBody>
      </p:sp>
      <p:sp>
        <p:nvSpPr>
          <p:cNvPr id="1543531779" name="Shape 36"/>
          <p:cNvSpPr/>
          <p:nvPr/>
        </p:nvSpPr>
        <p:spPr bwMode="auto">
          <a:xfrm>
            <a:off x="4428425" y="5690738"/>
            <a:ext cx="1928196" cy="929971"/>
          </a:xfrm>
          <a:custGeom>
            <a:avLst/>
            <a:gdLst/>
            <a:ahLst/>
            <a:cxnLst/>
            <a:rect l="l" t="t" r="r" b="b"/>
            <a:pathLst>
              <a:path w="1928196" h="929971" fill="norm" stroke="1" extrusionOk="0">
                <a:moveTo>
                  <a:pt x="68251" y="0"/>
                </a:moveTo>
                <a:lnTo>
                  <a:pt x="1859945" y="0"/>
                </a:lnTo>
                <a:cubicBezTo>
                  <a:pt x="1897639" y="0"/>
                  <a:pt x="1928196" y="30557"/>
                  <a:pt x="1928196" y="68251"/>
                </a:cubicBezTo>
                <a:lnTo>
                  <a:pt x="1928196" y="861720"/>
                </a:lnTo>
                <a:cubicBezTo>
                  <a:pt x="1928196" y="899414"/>
                  <a:pt x="1897639" y="929971"/>
                  <a:pt x="1859945" y="929971"/>
                </a:cubicBezTo>
                <a:lnTo>
                  <a:pt x="68251" y="929971"/>
                </a:lnTo>
                <a:cubicBezTo>
                  <a:pt x="30557" y="929971"/>
                  <a:pt x="0" y="899414"/>
                  <a:pt x="0" y="861720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95452393" name="Shape 37"/>
          <p:cNvSpPr/>
          <p:nvPr/>
        </p:nvSpPr>
        <p:spPr bwMode="auto">
          <a:xfrm>
            <a:off x="5308404" y="579738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 fill="norm" stroke="1" extrusionOk="0">
                <a:moveTo>
                  <a:pt x="85318" y="170637"/>
                </a:moveTo>
                <a:cubicBezTo>
                  <a:pt x="132407" y="170637"/>
                  <a:pt x="170637" y="132407"/>
                  <a:pt x="170637" y="85318"/>
                </a:cubicBezTo>
                <a:cubicBezTo>
                  <a:pt x="170637" y="38230"/>
                  <a:pt x="132407" y="0"/>
                  <a:pt x="85318" y="0"/>
                </a:cubicBezTo>
                <a:cubicBezTo>
                  <a:pt x="38230" y="0"/>
                  <a:pt x="0" y="38230"/>
                  <a:pt x="0" y="85318"/>
                </a:cubicBezTo>
                <a:cubicBezTo>
                  <a:pt x="0" y="132407"/>
                  <a:pt x="38230" y="170637"/>
                  <a:pt x="85318" y="170637"/>
                </a:cubicBezTo>
                <a:close/>
                <a:moveTo>
                  <a:pt x="55124" y="107281"/>
                </a:moveTo>
                <a:cubicBezTo>
                  <a:pt x="61922" y="116613"/>
                  <a:pt x="72921" y="122645"/>
                  <a:pt x="85318" y="122645"/>
                </a:cubicBezTo>
                <a:cubicBezTo>
                  <a:pt x="97716" y="122645"/>
                  <a:pt x="108714" y="116613"/>
                  <a:pt x="115513" y="107281"/>
                </a:cubicBezTo>
                <a:cubicBezTo>
                  <a:pt x="118113" y="103715"/>
                  <a:pt x="123112" y="102915"/>
                  <a:pt x="126678" y="105515"/>
                </a:cubicBezTo>
                <a:cubicBezTo>
                  <a:pt x="130244" y="108114"/>
                  <a:pt x="131044" y="113114"/>
                  <a:pt x="128444" y="116680"/>
                </a:cubicBezTo>
                <a:cubicBezTo>
                  <a:pt x="118746" y="129977"/>
                  <a:pt x="103049" y="138642"/>
                  <a:pt x="85318" y="138642"/>
                </a:cubicBezTo>
                <a:cubicBezTo>
                  <a:pt x="67588" y="138642"/>
                  <a:pt x="51891" y="129977"/>
                  <a:pt x="42193" y="116680"/>
                </a:cubicBezTo>
                <a:cubicBezTo>
                  <a:pt x="39593" y="113114"/>
                  <a:pt x="40393" y="108114"/>
                  <a:pt x="43959" y="105515"/>
                </a:cubicBezTo>
                <a:cubicBezTo>
                  <a:pt x="47525" y="102915"/>
                  <a:pt x="52524" y="103715"/>
                  <a:pt x="55124" y="107281"/>
                </a:cubicBezTo>
                <a:close/>
                <a:moveTo>
                  <a:pt x="47992" y="69321"/>
                </a:moveTo>
                <a:cubicBezTo>
                  <a:pt x="47992" y="63435"/>
                  <a:pt x="52770" y="58656"/>
                  <a:pt x="58656" y="58656"/>
                </a:cubicBezTo>
                <a:cubicBezTo>
                  <a:pt x="64542" y="58656"/>
                  <a:pt x="69321" y="63435"/>
                  <a:pt x="69321" y="69321"/>
                </a:cubicBezTo>
                <a:cubicBezTo>
                  <a:pt x="69321" y="75207"/>
                  <a:pt x="64542" y="79986"/>
                  <a:pt x="58656" y="79986"/>
                </a:cubicBezTo>
                <a:cubicBezTo>
                  <a:pt x="52770" y="79986"/>
                  <a:pt x="47992" y="75207"/>
                  <a:pt x="47992" y="69321"/>
                </a:cubicBezTo>
                <a:close/>
                <a:moveTo>
                  <a:pt x="111980" y="58656"/>
                </a:moveTo>
                <a:cubicBezTo>
                  <a:pt x="117866" y="58656"/>
                  <a:pt x="122645" y="63435"/>
                  <a:pt x="122645" y="69321"/>
                </a:cubicBezTo>
                <a:cubicBezTo>
                  <a:pt x="122645" y="75207"/>
                  <a:pt x="117866" y="79986"/>
                  <a:pt x="111980" y="79986"/>
                </a:cubicBezTo>
                <a:cubicBezTo>
                  <a:pt x="106094" y="79986"/>
                  <a:pt x="101316" y="75207"/>
                  <a:pt x="101316" y="69321"/>
                </a:cubicBezTo>
                <a:cubicBezTo>
                  <a:pt x="101316" y="63435"/>
                  <a:pt x="106094" y="58656"/>
                  <a:pt x="111980" y="586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83919965" name="Text 38"/>
          <p:cNvSpPr/>
          <p:nvPr/>
        </p:nvSpPr>
        <p:spPr bwMode="auto">
          <a:xfrm>
            <a:off x="4500946" y="6036277"/>
            <a:ext cx="17831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CSAT</a:t>
            </a:r>
            <a:endParaRPr lang="en-US" sz="1600"/>
          </a:p>
        </p:txBody>
      </p:sp>
      <p:sp>
        <p:nvSpPr>
          <p:cNvPr id="1585263448" name="Text 39"/>
          <p:cNvSpPr/>
          <p:nvPr/>
        </p:nvSpPr>
        <p:spPr bwMode="auto">
          <a:xfrm>
            <a:off x="4483882" y="6241041"/>
            <a:ext cx="181728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+45%</a:t>
            </a:r>
            <a:endParaRPr lang="en-US" sz="1600"/>
          </a:p>
        </p:txBody>
      </p:sp>
      <p:sp>
        <p:nvSpPr>
          <p:cNvPr id="2123983722" name="Shape 40"/>
          <p:cNvSpPr/>
          <p:nvPr/>
        </p:nvSpPr>
        <p:spPr bwMode="auto">
          <a:xfrm>
            <a:off x="6572317" y="1369360"/>
            <a:ext cx="5281209" cy="5485972"/>
          </a:xfrm>
          <a:custGeom>
            <a:avLst/>
            <a:gdLst/>
            <a:ahLst/>
            <a:cxnLst/>
            <a:rect l="l" t="t" r="r" b="b"/>
            <a:pathLst>
              <a:path w="5281209" h="5485973" fill="norm" stroke="1" extrusionOk="0">
                <a:moveTo>
                  <a:pt x="68233" y="0"/>
                </a:moveTo>
                <a:lnTo>
                  <a:pt x="5212976" y="0"/>
                </a:lnTo>
                <a:cubicBezTo>
                  <a:pt x="5250660" y="0"/>
                  <a:pt x="5281209" y="30549"/>
                  <a:pt x="5281209" y="68233"/>
                </a:cubicBezTo>
                <a:lnTo>
                  <a:pt x="5281209" y="5417740"/>
                </a:lnTo>
                <a:cubicBezTo>
                  <a:pt x="5281209" y="5455424"/>
                  <a:pt x="5250660" y="5485973"/>
                  <a:pt x="5212976" y="5485973"/>
                </a:cubicBezTo>
                <a:lnTo>
                  <a:pt x="68233" y="5485973"/>
                </a:lnTo>
                <a:cubicBezTo>
                  <a:pt x="30549" y="5485973"/>
                  <a:pt x="0" y="5455424"/>
                  <a:pt x="0" y="5417740"/>
                </a:cubicBezTo>
                <a:lnTo>
                  <a:pt x="0" y="68233"/>
                </a:lnTo>
                <a:cubicBezTo>
                  <a:pt x="0" y="30549"/>
                  <a:pt x="30549" y="0"/>
                  <a:pt x="68233" y="0"/>
                </a:cubicBezTo>
                <a:close/>
              </a:path>
            </a:pathLst>
          </a:custGeom>
          <a:gradFill>
            <a:gsLst>
              <a:gs pos="0">
                <a:srgbClr val="4A5C6A">
                  <a:alpha val="30000"/>
                </a:srgbClr>
              </a:gs>
              <a:gs pos="100000">
                <a:srgbClr val="1A1D21">
                  <a:alpha val="50000"/>
                </a:srgbClr>
              </a:gs>
            </a:gsLst>
            <a:lin ang="2700000" scaled="1"/>
          </a:gradFill>
          <a:ln w="12700">
            <a:solidFill>
              <a:srgbClr val="C0A062">
                <a:alpha val="30195"/>
              </a:srgbClr>
            </a:solidFill>
            <a:prstDash val="solid"/>
          </a:ln>
        </p:spPr>
      </p:sp>
      <p:sp>
        <p:nvSpPr>
          <p:cNvPr id="2045377272" name="Shape 41"/>
          <p:cNvSpPr/>
          <p:nvPr/>
        </p:nvSpPr>
        <p:spPr bwMode="auto">
          <a:xfrm>
            <a:off x="6747219" y="1578390"/>
            <a:ext cx="213296" cy="170637"/>
          </a:xfrm>
          <a:custGeom>
            <a:avLst/>
            <a:gdLst/>
            <a:ahLst/>
            <a:cxnLst/>
            <a:rect l="l" t="t" r="r" b="b"/>
            <a:pathLst>
              <a:path w="213296" h="170637" fill="norm" stroke="1" extrusionOk="0">
                <a:moveTo>
                  <a:pt x="63989" y="42659"/>
                </a:moveTo>
                <a:cubicBezTo>
                  <a:pt x="63989" y="36760"/>
                  <a:pt x="68755" y="31994"/>
                  <a:pt x="74654" y="31994"/>
                </a:cubicBezTo>
                <a:cubicBezTo>
                  <a:pt x="80553" y="31994"/>
                  <a:pt x="85318" y="36760"/>
                  <a:pt x="85318" y="42659"/>
                </a:cubicBezTo>
                <a:lnTo>
                  <a:pt x="85318" y="45259"/>
                </a:lnTo>
                <a:cubicBezTo>
                  <a:pt x="85318" y="54490"/>
                  <a:pt x="84519" y="63689"/>
                  <a:pt x="82952" y="72754"/>
                </a:cubicBezTo>
                <a:lnTo>
                  <a:pt x="54824" y="81186"/>
                </a:lnTo>
                <a:cubicBezTo>
                  <a:pt x="41293" y="85252"/>
                  <a:pt x="32028" y="97716"/>
                  <a:pt x="32028" y="111847"/>
                </a:cubicBezTo>
                <a:lnTo>
                  <a:pt x="32028" y="122645"/>
                </a:lnTo>
                <a:lnTo>
                  <a:pt x="8032" y="122645"/>
                </a:lnTo>
                <a:cubicBezTo>
                  <a:pt x="3599" y="122645"/>
                  <a:pt x="33" y="126211"/>
                  <a:pt x="33" y="130644"/>
                </a:cubicBezTo>
                <a:cubicBezTo>
                  <a:pt x="33" y="135076"/>
                  <a:pt x="3599" y="138642"/>
                  <a:pt x="8032" y="138642"/>
                </a:cubicBezTo>
                <a:lnTo>
                  <a:pt x="32194" y="138642"/>
                </a:lnTo>
                <a:cubicBezTo>
                  <a:pt x="33594" y="150640"/>
                  <a:pt x="43792" y="159972"/>
                  <a:pt x="56190" y="159972"/>
                </a:cubicBezTo>
                <a:cubicBezTo>
                  <a:pt x="64855" y="159972"/>
                  <a:pt x="72854" y="155339"/>
                  <a:pt x="77153" y="147807"/>
                </a:cubicBezTo>
                <a:lnTo>
                  <a:pt x="81786" y="139709"/>
                </a:lnTo>
                <a:cubicBezTo>
                  <a:pt x="90717" y="124045"/>
                  <a:pt x="97283" y="107148"/>
                  <a:pt x="101249" y="89551"/>
                </a:cubicBezTo>
                <a:lnTo>
                  <a:pt x="132710" y="80119"/>
                </a:lnTo>
                <a:lnTo>
                  <a:pt x="128544" y="92617"/>
                </a:lnTo>
                <a:cubicBezTo>
                  <a:pt x="127444" y="95883"/>
                  <a:pt x="128011" y="99449"/>
                  <a:pt x="130011" y="102215"/>
                </a:cubicBezTo>
                <a:cubicBezTo>
                  <a:pt x="132010" y="104982"/>
                  <a:pt x="135210" y="106648"/>
                  <a:pt x="138642" y="106648"/>
                </a:cubicBezTo>
                <a:lnTo>
                  <a:pt x="181302" y="106648"/>
                </a:lnTo>
                <a:cubicBezTo>
                  <a:pt x="187201" y="106648"/>
                  <a:pt x="191966" y="101882"/>
                  <a:pt x="191966" y="95983"/>
                </a:cubicBezTo>
                <a:cubicBezTo>
                  <a:pt x="191966" y="90084"/>
                  <a:pt x="187201" y="85318"/>
                  <a:pt x="181302" y="85318"/>
                </a:cubicBezTo>
                <a:lnTo>
                  <a:pt x="153440" y="85318"/>
                </a:lnTo>
                <a:lnTo>
                  <a:pt x="159439" y="67355"/>
                </a:lnTo>
                <a:cubicBezTo>
                  <a:pt x="160705" y="63589"/>
                  <a:pt x="159739" y="59423"/>
                  <a:pt x="156973" y="56557"/>
                </a:cubicBezTo>
                <a:cubicBezTo>
                  <a:pt x="154206" y="53691"/>
                  <a:pt x="150074" y="52624"/>
                  <a:pt x="146241" y="53757"/>
                </a:cubicBezTo>
                <a:lnTo>
                  <a:pt x="105448" y="66022"/>
                </a:lnTo>
                <a:cubicBezTo>
                  <a:pt x="106248" y="59123"/>
                  <a:pt x="106648" y="52224"/>
                  <a:pt x="106648" y="45259"/>
                </a:cubicBezTo>
                <a:lnTo>
                  <a:pt x="106648" y="42659"/>
                </a:lnTo>
                <a:cubicBezTo>
                  <a:pt x="106648" y="24996"/>
                  <a:pt x="92317" y="10665"/>
                  <a:pt x="74654" y="10665"/>
                </a:cubicBezTo>
                <a:cubicBezTo>
                  <a:pt x="56990" y="10665"/>
                  <a:pt x="42659" y="24996"/>
                  <a:pt x="42659" y="42659"/>
                </a:cubicBezTo>
                <a:lnTo>
                  <a:pt x="42659" y="53324"/>
                </a:lnTo>
                <a:cubicBezTo>
                  <a:pt x="42659" y="59223"/>
                  <a:pt x="47425" y="63989"/>
                  <a:pt x="53324" y="63989"/>
                </a:cubicBezTo>
                <a:cubicBezTo>
                  <a:pt x="59223" y="63989"/>
                  <a:pt x="63989" y="59223"/>
                  <a:pt x="63989" y="53324"/>
                </a:cubicBezTo>
                <a:lnTo>
                  <a:pt x="63989" y="42659"/>
                </a:lnTo>
                <a:close/>
                <a:moveTo>
                  <a:pt x="60923" y="101649"/>
                </a:moveTo>
                <a:lnTo>
                  <a:pt x="77253" y="96750"/>
                </a:lnTo>
                <a:cubicBezTo>
                  <a:pt x="73787" y="108014"/>
                  <a:pt x="69088" y="118879"/>
                  <a:pt x="63222" y="129144"/>
                </a:cubicBezTo>
                <a:lnTo>
                  <a:pt x="58590" y="137243"/>
                </a:lnTo>
                <a:cubicBezTo>
                  <a:pt x="58090" y="138109"/>
                  <a:pt x="57157" y="138676"/>
                  <a:pt x="56124" y="138676"/>
                </a:cubicBezTo>
                <a:cubicBezTo>
                  <a:pt x="54557" y="138676"/>
                  <a:pt x="53291" y="137409"/>
                  <a:pt x="53291" y="135843"/>
                </a:cubicBezTo>
                <a:lnTo>
                  <a:pt x="53291" y="111880"/>
                </a:lnTo>
                <a:cubicBezTo>
                  <a:pt x="53291" y="107181"/>
                  <a:pt x="56390" y="103015"/>
                  <a:pt x="60889" y="101649"/>
                </a:cubicBezTo>
                <a:close/>
                <a:moveTo>
                  <a:pt x="205297" y="138642"/>
                </a:moveTo>
                <a:cubicBezTo>
                  <a:pt x="209730" y="138642"/>
                  <a:pt x="213296" y="135076"/>
                  <a:pt x="213296" y="130644"/>
                </a:cubicBezTo>
                <a:cubicBezTo>
                  <a:pt x="213296" y="126211"/>
                  <a:pt x="209730" y="122645"/>
                  <a:pt x="205297" y="122645"/>
                </a:cubicBezTo>
                <a:lnTo>
                  <a:pt x="107681" y="122645"/>
                </a:lnTo>
                <a:cubicBezTo>
                  <a:pt x="105515" y="128078"/>
                  <a:pt x="103115" y="133410"/>
                  <a:pt x="100482" y="138642"/>
                </a:cubicBezTo>
                <a:lnTo>
                  <a:pt x="205297" y="13864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20033476" name="Text 42"/>
          <p:cNvSpPr/>
          <p:nvPr/>
        </p:nvSpPr>
        <p:spPr bwMode="auto">
          <a:xfrm>
            <a:off x="6960515" y="1544263"/>
            <a:ext cx="480342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E-IMZO Workflow</a:t>
            </a:r>
            <a:endParaRPr lang="en-US" sz="1600"/>
          </a:p>
        </p:txBody>
      </p:sp>
      <p:sp>
        <p:nvSpPr>
          <p:cNvPr id="327979248" name="Shape 43"/>
          <p:cNvSpPr/>
          <p:nvPr/>
        </p:nvSpPr>
        <p:spPr bwMode="auto">
          <a:xfrm>
            <a:off x="6751485" y="1923930"/>
            <a:ext cx="4922872" cy="895843"/>
          </a:xfrm>
          <a:custGeom>
            <a:avLst/>
            <a:gdLst/>
            <a:ahLst/>
            <a:cxnLst/>
            <a:rect l="l" t="t" r="r" b="b"/>
            <a:pathLst>
              <a:path w="4922872" h="895843" fill="norm" stroke="1" extrusionOk="0">
                <a:moveTo>
                  <a:pt x="68254" y="0"/>
                </a:moveTo>
                <a:lnTo>
                  <a:pt x="4854618" y="0"/>
                </a:lnTo>
                <a:cubicBezTo>
                  <a:pt x="4892313" y="0"/>
                  <a:pt x="4922872" y="30558"/>
                  <a:pt x="4922872" y="68254"/>
                </a:cubicBezTo>
                <a:lnTo>
                  <a:pt x="4922872" y="827589"/>
                </a:lnTo>
                <a:cubicBezTo>
                  <a:pt x="4922872" y="865285"/>
                  <a:pt x="4892313" y="895843"/>
                  <a:pt x="4854618" y="895843"/>
                </a:cubicBezTo>
                <a:lnTo>
                  <a:pt x="68254" y="895843"/>
                </a:lnTo>
                <a:cubicBezTo>
                  <a:pt x="30558" y="895843"/>
                  <a:pt x="0" y="865285"/>
                  <a:pt x="0" y="827589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674848492" name="Shape 44"/>
          <p:cNvSpPr/>
          <p:nvPr/>
        </p:nvSpPr>
        <p:spPr bwMode="auto">
          <a:xfrm>
            <a:off x="6892261" y="2064705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 fill="norm" stroke="1" extrusionOk="0">
                <a:moveTo>
                  <a:pt x="170637" y="0"/>
                </a:moveTo>
                <a:lnTo>
                  <a:pt x="170637" y="0"/>
                </a:lnTo>
                <a:cubicBezTo>
                  <a:pt x="264877" y="0"/>
                  <a:pt x="341274" y="76397"/>
                  <a:pt x="341274" y="170637"/>
                </a:cubicBezTo>
                <a:lnTo>
                  <a:pt x="341274" y="170637"/>
                </a:lnTo>
                <a:cubicBezTo>
                  <a:pt x="341274" y="264877"/>
                  <a:pt x="264877" y="341274"/>
                  <a:pt x="170637" y="341274"/>
                </a:cubicBezTo>
                <a:lnTo>
                  <a:pt x="170637" y="341274"/>
                </a:lnTo>
                <a:cubicBezTo>
                  <a:pt x="76397" y="341274"/>
                  <a:pt x="0" y="264877"/>
                  <a:pt x="0" y="170637"/>
                </a:cubicBezTo>
                <a:lnTo>
                  <a:pt x="0" y="170637"/>
                </a:lnTo>
                <a:cubicBezTo>
                  <a:pt x="0" y="76397"/>
                  <a:pt x="76397" y="0"/>
                  <a:pt x="170637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73814512" name="Text 45"/>
          <p:cNvSpPr/>
          <p:nvPr/>
        </p:nvSpPr>
        <p:spPr bwMode="auto">
          <a:xfrm>
            <a:off x="6858133" y="2064705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1662509935" name="Text 46"/>
          <p:cNvSpPr/>
          <p:nvPr/>
        </p:nvSpPr>
        <p:spPr bwMode="auto">
          <a:xfrm>
            <a:off x="7335916" y="2115896"/>
            <a:ext cx="154426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AI парсит документ</a:t>
            </a:r>
            <a:endParaRPr lang="en-US" sz="1600"/>
          </a:p>
        </p:txBody>
      </p:sp>
      <p:sp>
        <p:nvSpPr>
          <p:cNvPr id="704752671" name="Text 47"/>
          <p:cNvSpPr/>
          <p:nvPr/>
        </p:nvSpPr>
        <p:spPr bwMode="auto">
          <a:xfrm>
            <a:off x="7335916" y="2474234"/>
            <a:ext cx="426592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Извлечение реквизитов, сумм, назначения</a:t>
            </a:r>
            <a:endParaRPr lang="en-US" sz="1600"/>
          </a:p>
        </p:txBody>
      </p:sp>
      <p:sp>
        <p:nvSpPr>
          <p:cNvPr id="938888146" name="Shape 48"/>
          <p:cNvSpPr/>
          <p:nvPr/>
        </p:nvSpPr>
        <p:spPr bwMode="auto">
          <a:xfrm>
            <a:off x="9146800" y="2926420"/>
            <a:ext cx="127977" cy="170637"/>
          </a:xfrm>
          <a:custGeom>
            <a:avLst/>
            <a:gdLst/>
            <a:ahLst/>
            <a:cxnLst/>
            <a:rect l="l" t="t" r="r" b="b"/>
            <a:pathLst>
              <a:path w="127978" h="170637" fill="norm" stroke="1" extrusionOk="0">
                <a:moveTo>
                  <a:pt x="56457" y="167504"/>
                </a:moveTo>
                <a:cubicBezTo>
                  <a:pt x="60623" y="171670"/>
                  <a:pt x="67388" y="171670"/>
                  <a:pt x="71554" y="167504"/>
                </a:cubicBezTo>
                <a:lnTo>
                  <a:pt x="124878" y="114180"/>
                </a:lnTo>
                <a:cubicBezTo>
                  <a:pt x="129044" y="110014"/>
                  <a:pt x="129044" y="103249"/>
                  <a:pt x="124878" y="99083"/>
                </a:cubicBezTo>
                <a:cubicBezTo>
                  <a:pt x="120712" y="94917"/>
                  <a:pt x="113947" y="94917"/>
                  <a:pt x="109781" y="99083"/>
                </a:cubicBezTo>
                <a:lnTo>
                  <a:pt x="74654" y="134210"/>
                </a:lnTo>
                <a:lnTo>
                  <a:pt x="74654" y="10665"/>
                </a:lnTo>
                <a:cubicBezTo>
                  <a:pt x="74654" y="4766"/>
                  <a:pt x="69888" y="0"/>
                  <a:pt x="63989" y="0"/>
                </a:cubicBezTo>
                <a:cubicBezTo>
                  <a:pt x="58090" y="0"/>
                  <a:pt x="53324" y="4766"/>
                  <a:pt x="53324" y="10665"/>
                </a:cubicBezTo>
                <a:lnTo>
                  <a:pt x="53324" y="134210"/>
                </a:lnTo>
                <a:lnTo>
                  <a:pt x="18197" y="99083"/>
                </a:lnTo>
                <a:cubicBezTo>
                  <a:pt x="14031" y="94917"/>
                  <a:pt x="7265" y="94917"/>
                  <a:pt x="3099" y="99083"/>
                </a:cubicBezTo>
                <a:cubicBezTo>
                  <a:pt x="-1066" y="103249"/>
                  <a:pt x="-1066" y="110014"/>
                  <a:pt x="3099" y="114180"/>
                </a:cubicBezTo>
                <a:lnTo>
                  <a:pt x="56423" y="16750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93949126" name="Shape 49"/>
          <p:cNvSpPr/>
          <p:nvPr/>
        </p:nvSpPr>
        <p:spPr bwMode="auto">
          <a:xfrm>
            <a:off x="6751485" y="3203706"/>
            <a:ext cx="4922872" cy="895843"/>
          </a:xfrm>
          <a:custGeom>
            <a:avLst/>
            <a:gdLst/>
            <a:ahLst/>
            <a:cxnLst/>
            <a:rect l="l" t="t" r="r" b="b"/>
            <a:pathLst>
              <a:path w="4922872" h="895843" fill="norm" stroke="1" extrusionOk="0">
                <a:moveTo>
                  <a:pt x="68254" y="0"/>
                </a:moveTo>
                <a:lnTo>
                  <a:pt x="4854618" y="0"/>
                </a:lnTo>
                <a:cubicBezTo>
                  <a:pt x="4892313" y="0"/>
                  <a:pt x="4922872" y="30558"/>
                  <a:pt x="4922872" y="68254"/>
                </a:cubicBezTo>
                <a:lnTo>
                  <a:pt x="4922872" y="827589"/>
                </a:lnTo>
                <a:cubicBezTo>
                  <a:pt x="4922872" y="865285"/>
                  <a:pt x="4892313" y="895843"/>
                  <a:pt x="4854618" y="895843"/>
                </a:cubicBezTo>
                <a:lnTo>
                  <a:pt x="68254" y="895843"/>
                </a:lnTo>
                <a:cubicBezTo>
                  <a:pt x="30558" y="895843"/>
                  <a:pt x="0" y="865285"/>
                  <a:pt x="0" y="827589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450368179" name="Shape 50"/>
          <p:cNvSpPr/>
          <p:nvPr/>
        </p:nvSpPr>
        <p:spPr bwMode="auto">
          <a:xfrm>
            <a:off x="6892261" y="3344481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 fill="norm" stroke="1" extrusionOk="0">
                <a:moveTo>
                  <a:pt x="170637" y="0"/>
                </a:moveTo>
                <a:lnTo>
                  <a:pt x="170637" y="0"/>
                </a:lnTo>
                <a:cubicBezTo>
                  <a:pt x="264877" y="0"/>
                  <a:pt x="341274" y="76397"/>
                  <a:pt x="341274" y="170637"/>
                </a:cubicBezTo>
                <a:lnTo>
                  <a:pt x="341274" y="170637"/>
                </a:lnTo>
                <a:cubicBezTo>
                  <a:pt x="341274" y="264877"/>
                  <a:pt x="264877" y="341274"/>
                  <a:pt x="170637" y="341274"/>
                </a:cubicBezTo>
                <a:lnTo>
                  <a:pt x="170637" y="341274"/>
                </a:lnTo>
                <a:cubicBezTo>
                  <a:pt x="76397" y="341274"/>
                  <a:pt x="0" y="264877"/>
                  <a:pt x="0" y="170637"/>
                </a:cubicBezTo>
                <a:lnTo>
                  <a:pt x="0" y="170637"/>
                </a:lnTo>
                <a:cubicBezTo>
                  <a:pt x="0" y="76397"/>
                  <a:pt x="76397" y="0"/>
                  <a:pt x="170637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435525" name="Text 51"/>
          <p:cNvSpPr/>
          <p:nvPr/>
        </p:nvSpPr>
        <p:spPr bwMode="auto">
          <a:xfrm>
            <a:off x="6858133" y="3344481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1010828468" name="Text 52"/>
          <p:cNvSpPr/>
          <p:nvPr/>
        </p:nvSpPr>
        <p:spPr bwMode="auto">
          <a:xfrm>
            <a:off x="7335916" y="3395672"/>
            <a:ext cx="2337724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Пользователь верифицирует</a:t>
            </a:r>
            <a:endParaRPr lang="en-US" sz="1600"/>
          </a:p>
        </p:txBody>
      </p:sp>
      <p:sp>
        <p:nvSpPr>
          <p:cNvPr id="740367917" name="Text 53"/>
          <p:cNvSpPr/>
          <p:nvPr/>
        </p:nvSpPr>
        <p:spPr bwMode="auto">
          <a:xfrm>
            <a:off x="7335916" y="3754010"/>
            <a:ext cx="426592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Проверка и корректировка данных</a:t>
            </a:r>
            <a:endParaRPr lang="en-US" sz="1600"/>
          </a:p>
        </p:txBody>
      </p:sp>
      <p:sp>
        <p:nvSpPr>
          <p:cNvPr id="779169181" name="Shape 54"/>
          <p:cNvSpPr/>
          <p:nvPr/>
        </p:nvSpPr>
        <p:spPr bwMode="auto">
          <a:xfrm>
            <a:off x="9146800" y="4206197"/>
            <a:ext cx="127977" cy="170637"/>
          </a:xfrm>
          <a:custGeom>
            <a:avLst/>
            <a:gdLst/>
            <a:ahLst/>
            <a:cxnLst/>
            <a:rect l="l" t="t" r="r" b="b"/>
            <a:pathLst>
              <a:path w="127978" h="170637" fill="norm" stroke="1" extrusionOk="0">
                <a:moveTo>
                  <a:pt x="56457" y="167504"/>
                </a:moveTo>
                <a:cubicBezTo>
                  <a:pt x="60623" y="171670"/>
                  <a:pt x="67388" y="171670"/>
                  <a:pt x="71554" y="167504"/>
                </a:cubicBezTo>
                <a:lnTo>
                  <a:pt x="124878" y="114180"/>
                </a:lnTo>
                <a:cubicBezTo>
                  <a:pt x="129044" y="110014"/>
                  <a:pt x="129044" y="103249"/>
                  <a:pt x="124878" y="99083"/>
                </a:cubicBezTo>
                <a:cubicBezTo>
                  <a:pt x="120712" y="94917"/>
                  <a:pt x="113947" y="94917"/>
                  <a:pt x="109781" y="99083"/>
                </a:cubicBezTo>
                <a:lnTo>
                  <a:pt x="74654" y="134210"/>
                </a:lnTo>
                <a:lnTo>
                  <a:pt x="74654" y="10665"/>
                </a:lnTo>
                <a:cubicBezTo>
                  <a:pt x="74654" y="4766"/>
                  <a:pt x="69888" y="0"/>
                  <a:pt x="63989" y="0"/>
                </a:cubicBezTo>
                <a:cubicBezTo>
                  <a:pt x="58090" y="0"/>
                  <a:pt x="53324" y="4766"/>
                  <a:pt x="53324" y="10665"/>
                </a:cubicBezTo>
                <a:lnTo>
                  <a:pt x="53324" y="134210"/>
                </a:lnTo>
                <a:lnTo>
                  <a:pt x="18197" y="99083"/>
                </a:lnTo>
                <a:cubicBezTo>
                  <a:pt x="14031" y="94917"/>
                  <a:pt x="7265" y="94917"/>
                  <a:pt x="3099" y="99083"/>
                </a:cubicBezTo>
                <a:cubicBezTo>
                  <a:pt x="-1066" y="103249"/>
                  <a:pt x="-1066" y="110014"/>
                  <a:pt x="3099" y="114180"/>
                </a:cubicBezTo>
                <a:lnTo>
                  <a:pt x="56423" y="16750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28428195" name="Shape 55"/>
          <p:cNvSpPr/>
          <p:nvPr/>
        </p:nvSpPr>
        <p:spPr bwMode="auto">
          <a:xfrm>
            <a:off x="6751485" y="4483482"/>
            <a:ext cx="4922872" cy="895843"/>
          </a:xfrm>
          <a:custGeom>
            <a:avLst/>
            <a:gdLst/>
            <a:ahLst/>
            <a:cxnLst/>
            <a:rect l="l" t="t" r="r" b="b"/>
            <a:pathLst>
              <a:path w="4922872" h="895843" fill="norm" stroke="1" extrusionOk="0">
                <a:moveTo>
                  <a:pt x="68254" y="0"/>
                </a:moveTo>
                <a:lnTo>
                  <a:pt x="4854618" y="0"/>
                </a:lnTo>
                <a:cubicBezTo>
                  <a:pt x="4892313" y="0"/>
                  <a:pt x="4922872" y="30558"/>
                  <a:pt x="4922872" y="68254"/>
                </a:cubicBezTo>
                <a:lnTo>
                  <a:pt x="4922872" y="827589"/>
                </a:lnTo>
                <a:cubicBezTo>
                  <a:pt x="4922872" y="865285"/>
                  <a:pt x="4892313" y="895843"/>
                  <a:pt x="4854618" y="895843"/>
                </a:cubicBezTo>
                <a:lnTo>
                  <a:pt x="68254" y="895843"/>
                </a:lnTo>
                <a:cubicBezTo>
                  <a:pt x="30558" y="895843"/>
                  <a:pt x="0" y="865285"/>
                  <a:pt x="0" y="827589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506807004" name="Shape 56"/>
          <p:cNvSpPr/>
          <p:nvPr/>
        </p:nvSpPr>
        <p:spPr bwMode="auto">
          <a:xfrm>
            <a:off x="6892261" y="4624258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 fill="norm" stroke="1" extrusionOk="0">
                <a:moveTo>
                  <a:pt x="170637" y="0"/>
                </a:moveTo>
                <a:lnTo>
                  <a:pt x="170637" y="0"/>
                </a:lnTo>
                <a:cubicBezTo>
                  <a:pt x="264877" y="0"/>
                  <a:pt x="341274" y="76397"/>
                  <a:pt x="341274" y="170637"/>
                </a:cubicBezTo>
                <a:lnTo>
                  <a:pt x="341274" y="170637"/>
                </a:lnTo>
                <a:cubicBezTo>
                  <a:pt x="341274" y="264877"/>
                  <a:pt x="264877" y="341274"/>
                  <a:pt x="170637" y="341274"/>
                </a:cubicBezTo>
                <a:lnTo>
                  <a:pt x="170637" y="341274"/>
                </a:lnTo>
                <a:cubicBezTo>
                  <a:pt x="76397" y="341274"/>
                  <a:pt x="0" y="264877"/>
                  <a:pt x="0" y="170637"/>
                </a:cubicBezTo>
                <a:lnTo>
                  <a:pt x="0" y="170637"/>
                </a:lnTo>
                <a:cubicBezTo>
                  <a:pt x="0" y="76397"/>
                  <a:pt x="76397" y="0"/>
                  <a:pt x="170637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13350738" name="Text 57"/>
          <p:cNvSpPr/>
          <p:nvPr/>
        </p:nvSpPr>
        <p:spPr bwMode="auto">
          <a:xfrm>
            <a:off x="6858133" y="4624258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  <p:sp>
        <p:nvSpPr>
          <p:cNvPr id="383826328" name="Text 58"/>
          <p:cNvSpPr/>
          <p:nvPr/>
        </p:nvSpPr>
        <p:spPr bwMode="auto">
          <a:xfrm>
            <a:off x="7335916" y="4675449"/>
            <a:ext cx="129684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E-IMZO подпись</a:t>
            </a:r>
            <a:endParaRPr lang="en-US" sz="1600"/>
          </a:p>
        </p:txBody>
      </p:sp>
      <p:sp>
        <p:nvSpPr>
          <p:cNvPr id="1782898942" name="Text 59"/>
          <p:cNvSpPr/>
          <p:nvPr/>
        </p:nvSpPr>
        <p:spPr bwMode="auto">
          <a:xfrm>
            <a:off x="7335916" y="5033786"/>
            <a:ext cx="426592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Юридически значимая электронная подпись</a:t>
            </a:r>
            <a:endParaRPr lang="en-US" sz="1600"/>
          </a:p>
        </p:txBody>
      </p:sp>
      <p:sp>
        <p:nvSpPr>
          <p:cNvPr id="1254729011" name="Shape 60"/>
          <p:cNvSpPr/>
          <p:nvPr/>
        </p:nvSpPr>
        <p:spPr bwMode="auto">
          <a:xfrm>
            <a:off x="9146800" y="5485972"/>
            <a:ext cx="127977" cy="170637"/>
          </a:xfrm>
          <a:custGeom>
            <a:avLst/>
            <a:gdLst/>
            <a:ahLst/>
            <a:cxnLst/>
            <a:rect l="l" t="t" r="r" b="b"/>
            <a:pathLst>
              <a:path w="127978" h="170637" fill="norm" stroke="1" extrusionOk="0">
                <a:moveTo>
                  <a:pt x="56457" y="167504"/>
                </a:moveTo>
                <a:cubicBezTo>
                  <a:pt x="60623" y="171670"/>
                  <a:pt x="67388" y="171670"/>
                  <a:pt x="71554" y="167504"/>
                </a:cubicBezTo>
                <a:lnTo>
                  <a:pt x="124878" y="114180"/>
                </a:lnTo>
                <a:cubicBezTo>
                  <a:pt x="129044" y="110014"/>
                  <a:pt x="129044" y="103249"/>
                  <a:pt x="124878" y="99083"/>
                </a:cubicBezTo>
                <a:cubicBezTo>
                  <a:pt x="120712" y="94917"/>
                  <a:pt x="113947" y="94917"/>
                  <a:pt x="109781" y="99083"/>
                </a:cubicBezTo>
                <a:lnTo>
                  <a:pt x="74654" y="134210"/>
                </a:lnTo>
                <a:lnTo>
                  <a:pt x="74654" y="10665"/>
                </a:lnTo>
                <a:cubicBezTo>
                  <a:pt x="74654" y="4766"/>
                  <a:pt x="69888" y="0"/>
                  <a:pt x="63989" y="0"/>
                </a:cubicBezTo>
                <a:cubicBezTo>
                  <a:pt x="58090" y="0"/>
                  <a:pt x="53324" y="4766"/>
                  <a:pt x="53324" y="10665"/>
                </a:cubicBezTo>
                <a:lnTo>
                  <a:pt x="53324" y="134210"/>
                </a:lnTo>
                <a:lnTo>
                  <a:pt x="18197" y="99083"/>
                </a:lnTo>
                <a:cubicBezTo>
                  <a:pt x="14031" y="94917"/>
                  <a:pt x="7265" y="94917"/>
                  <a:pt x="3099" y="99083"/>
                </a:cubicBezTo>
                <a:cubicBezTo>
                  <a:pt x="-1066" y="103249"/>
                  <a:pt x="-1066" y="110014"/>
                  <a:pt x="3099" y="114180"/>
                </a:cubicBezTo>
                <a:lnTo>
                  <a:pt x="56423" y="16750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7393714" name="Shape 61"/>
          <p:cNvSpPr/>
          <p:nvPr/>
        </p:nvSpPr>
        <p:spPr bwMode="auto">
          <a:xfrm>
            <a:off x="6755751" y="5767524"/>
            <a:ext cx="4914340" cy="904375"/>
          </a:xfrm>
          <a:custGeom>
            <a:avLst/>
            <a:gdLst/>
            <a:ahLst/>
            <a:cxnLst/>
            <a:rect l="l" t="t" r="r" b="b"/>
            <a:pathLst>
              <a:path w="4914340" h="904375" fill="norm" stroke="1" extrusionOk="0">
                <a:moveTo>
                  <a:pt x="68253" y="0"/>
                </a:moveTo>
                <a:lnTo>
                  <a:pt x="4846087" y="0"/>
                </a:lnTo>
                <a:cubicBezTo>
                  <a:pt x="4883782" y="0"/>
                  <a:pt x="4914340" y="30558"/>
                  <a:pt x="4914340" y="68253"/>
                </a:cubicBezTo>
                <a:lnTo>
                  <a:pt x="4914340" y="836122"/>
                </a:lnTo>
                <a:cubicBezTo>
                  <a:pt x="4914340" y="873817"/>
                  <a:pt x="4883782" y="904375"/>
                  <a:pt x="4846087" y="904375"/>
                </a:cubicBezTo>
                <a:lnTo>
                  <a:pt x="68253" y="904375"/>
                </a:lnTo>
                <a:cubicBezTo>
                  <a:pt x="30558" y="904375"/>
                  <a:pt x="0" y="873817"/>
                  <a:pt x="0" y="836122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306463376" name="Shape 62"/>
          <p:cNvSpPr/>
          <p:nvPr/>
        </p:nvSpPr>
        <p:spPr bwMode="auto">
          <a:xfrm>
            <a:off x="6900793" y="5912565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 fill="norm" stroke="1" extrusionOk="0">
                <a:moveTo>
                  <a:pt x="170637" y="0"/>
                </a:moveTo>
                <a:lnTo>
                  <a:pt x="170637" y="0"/>
                </a:lnTo>
                <a:cubicBezTo>
                  <a:pt x="264877" y="0"/>
                  <a:pt x="341274" y="76397"/>
                  <a:pt x="341274" y="170637"/>
                </a:cubicBezTo>
                <a:lnTo>
                  <a:pt x="341274" y="170637"/>
                </a:lnTo>
                <a:cubicBezTo>
                  <a:pt x="341274" y="264877"/>
                  <a:pt x="264877" y="341274"/>
                  <a:pt x="170637" y="341274"/>
                </a:cubicBezTo>
                <a:lnTo>
                  <a:pt x="170637" y="341274"/>
                </a:lnTo>
                <a:cubicBezTo>
                  <a:pt x="76397" y="341274"/>
                  <a:pt x="0" y="264877"/>
                  <a:pt x="0" y="170637"/>
                </a:cubicBezTo>
                <a:lnTo>
                  <a:pt x="0" y="170637"/>
                </a:lnTo>
                <a:cubicBezTo>
                  <a:pt x="0" y="76397"/>
                  <a:pt x="76397" y="0"/>
                  <a:pt x="170637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09584164" name="Text 63"/>
          <p:cNvSpPr/>
          <p:nvPr/>
        </p:nvSpPr>
        <p:spPr bwMode="auto">
          <a:xfrm>
            <a:off x="6866665" y="5912565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600"/>
          </a:p>
        </p:txBody>
      </p:sp>
      <p:sp>
        <p:nvSpPr>
          <p:cNvPr id="1271372502" name="Text 64"/>
          <p:cNvSpPr/>
          <p:nvPr/>
        </p:nvSpPr>
        <p:spPr bwMode="auto">
          <a:xfrm>
            <a:off x="7344448" y="5963756"/>
            <a:ext cx="184287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REVENANT авторизация</a:t>
            </a:r>
            <a:endParaRPr lang="en-US" sz="1600"/>
          </a:p>
        </p:txBody>
      </p:sp>
      <p:sp>
        <p:nvSpPr>
          <p:cNvPr id="1403722678" name="Text 65"/>
          <p:cNvSpPr/>
          <p:nvPr/>
        </p:nvSpPr>
        <p:spPr bwMode="auto">
          <a:xfrm>
            <a:off x="7344448" y="6322094"/>
            <a:ext cx="424885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Risk checks → Core banking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686005" name="Shape 0"/>
          <p:cNvSpPr/>
          <p:nvPr/>
        </p:nvSpPr>
        <p:spPr bwMode="auto">
          <a:xfrm>
            <a:off x="352625" y="352625"/>
            <a:ext cx="35262" cy="352625"/>
          </a:xfrm>
          <a:custGeom>
            <a:avLst/>
            <a:gdLst/>
            <a:ahLst/>
            <a:cxnLst/>
            <a:rect l="l" t="t" r="r" b="b"/>
            <a:pathLst>
              <a:path w="35262" h="352625" fill="norm" stroke="1" extrusionOk="0">
                <a:moveTo>
                  <a:pt x="0" y="0"/>
                </a:moveTo>
                <a:lnTo>
                  <a:pt x="35262" y="0"/>
                </a:lnTo>
                <a:lnTo>
                  <a:pt x="35262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73560619" name="Text 1"/>
          <p:cNvSpPr/>
          <p:nvPr/>
        </p:nvSpPr>
        <p:spPr bwMode="auto">
          <a:xfrm>
            <a:off x="493674" y="423150"/>
            <a:ext cx="265350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 spc="56">
                <a:solidFill>
                  <a:srgbClr val="C0A062"/>
                </a:solidFill>
                <a:latin typeface="Liter"/>
                <a:ea typeface="Liter"/>
                <a:cs typeface="Liter"/>
              </a:rPr>
              <a:t>УПРАВЛЕНИЕ И ИНФРАСТРУКТУРА</a:t>
            </a:r>
            <a:endParaRPr lang="en-US" sz="1600"/>
          </a:p>
        </p:txBody>
      </p:sp>
      <p:sp>
        <p:nvSpPr>
          <p:cNvPr id="1544179147" name="Text 2"/>
          <p:cNvSpPr/>
          <p:nvPr/>
        </p:nvSpPr>
        <p:spPr bwMode="auto">
          <a:xfrm>
            <a:off x="352625" y="811037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35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Purple Override Governance &amp; CPU-First AI</a:t>
            </a:r>
            <a:endParaRPr lang="en-US" sz="1600"/>
          </a:p>
        </p:txBody>
      </p:sp>
      <p:sp>
        <p:nvSpPr>
          <p:cNvPr id="1160882725" name="Shape 3"/>
          <p:cNvSpPr/>
          <p:nvPr/>
        </p:nvSpPr>
        <p:spPr bwMode="auto">
          <a:xfrm>
            <a:off x="361439" y="1419315"/>
            <a:ext cx="5624364" cy="4390178"/>
          </a:xfrm>
          <a:custGeom>
            <a:avLst/>
            <a:gdLst/>
            <a:ahLst/>
            <a:cxnLst/>
            <a:rect l="l" t="t" r="r" b="b"/>
            <a:pathLst>
              <a:path w="5624364" h="4390178" fill="norm" stroke="1" extrusionOk="0">
                <a:moveTo>
                  <a:pt x="70506" y="0"/>
                </a:moveTo>
                <a:lnTo>
                  <a:pt x="5553858" y="0"/>
                </a:lnTo>
                <a:cubicBezTo>
                  <a:pt x="5592798" y="0"/>
                  <a:pt x="5624364" y="31567"/>
                  <a:pt x="5624364" y="70506"/>
                </a:cubicBezTo>
                <a:lnTo>
                  <a:pt x="5624364" y="4319672"/>
                </a:lnTo>
                <a:cubicBezTo>
                  <a:pt x="5624364" y="4358611"/>
                  <a:pt x="5592798" y="4390178"/>
                  <a:pt x="5553858" y="4390178"/>
                </a:cubicBezTo>
                <a:lnTo>
                  <a:pt x="70506" y="4390178"/>
                </a:lnTo>
                <a:cubicBezTo>
                  <a:pt x="31567" y="4390178"/>
                  <a:pt x="0" y="4358611"/>
                  <a:pt x="0" y="4319672"/>
                </a:cubicBezTo>
                <a:lnTo>
                  <a:pt x="0" y="70506"/>
                </a:lnTo>
                <a:cubicBezTo>
                  <a:pt x="0" y="31593"/>
                  <a:pt x="31593" y="0"/>
                  <a:pt x="70506" y="0"/>
                </a:cubicBezTo>
                <a:close/>
              </a:path>
            </a:pathLst>
          </a:custGeom>
          <a:gradFill>
            <a:gsLst>
              <a:gs pos="0">
                <a:srgbClr val="59168B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</p:sp>
      <p:sp>
        <p:nvSpPr>
          <p:cNvPr id="745070318" name="Shape 4"/>
          <p:cNvSpPr/>
          <p:nvPr/>
        </p:nvSpPr>
        <p:spPr bwMode="auto">
          <a:xfrm>
            <a:off x="546568" y="1604443"/>
            <a:ext cx="493674" cy="493674"/>
          </a:xfrm>
          <a:custGeom>
            <a:avLst/>
            <a:gdLst/>
            <a:ahLst/>
            <a:cxnLst/>
            <a:rect l="l" t="t" r="r" b="b"/>
            <a:pathLst>
              <a:path w="493675" h="493675" fill="norm" stroke="1" extrusionOk="0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</p:sp>
      <p:sp>
        <p:nvSpPr>
          <p:cNvPr id="832137618" name="Shape 5"/>
          <p:cNvSpPr/>
          <p:nvPr/>
        </p:nvSpPr>
        <p:spPr bwMode="auto">
          <a:xfrm>
            <a:off x="674395" y="1745492"/>
            <a:ext cx="238022" cy="211575"/>
          </a:xfrm>
          <a:custGeom>
            <a:avLst/>
            <a:gdLst/>
            <a:ahLst/>
            <a:cxnLst/>
            <a:rect l="l" t="t" r="r" b="b"/>
            <a:pathLst>
              <a:path w="238022" h="211575" fill="norm" stroke="1" extrusionOk="0">
                <a:moveTo>
                  <a:pt x="92564" y="102482"/>
                </a:moveTo>
                <a:cubicBezTo>
                  <a:pt x="119932" y="102482"/>
                  <a:pt x="142152" y="80262"/>
                  <a:pt x="142152" y="52894"/>
                </a:cubicBezTo>
                <a:cubicBezTo>
                  <a:pt x="142152" y="25525"/>
                  <a:pt x="119932" y="3306"/>
                  <a:pt x="92564" y="3306"/>
                </a:cubicBezTo>
                <a:cubicBezTo>
                  <a:pt x="65196" y="3306"/>
                  <a:pt x="42976" y="25525"/>
                  <a:pt x="42976" y="52894"/>
                </a:cubicBezTo>
                <a:cubicBezTo>
                  <a:pt x="42976" y="80262"/>
                  <a:pt x="65196" y="102482"/>
                  <a:pt x="92564" y="102482"/>
                </a:cubicBezTo>
                <a:close/>
                <a:moveTo>
                  <a:pt x="80291" y="125623"/>
                </a:moveTo>
                <a:cubicBezTo>
                  <a:pt x="39588" y="125623"/>
                  <a:pt x="6612" y="158598"/>
                  <a:pt x="6612" y="199302"/>
                </a:cubicBezTo>
                <a:cubicBezTo>
                  <a:pt x="6612" y="206079"/>
                  <a:pt x="12108" y="211575"/>
                  <a:pt x="18885" y="211575"/>
                </a:cubicBezTo>
                <a:lnTo>
                  <a:pt x="122813" y="211575"/>
                </a:lnTo>
                <a:cubicBezTo>
                  <a:pt x="107854" y="193971"/>
                  <a:pt x="99176" y="171285"/>
                  <a:pt x="99176" y="147276"/>
                </a:cubicBezTo>
                <a:lnTo>
                  <a:pt x="99176" y="134424"/>
                </a:lnTo>
                <a:cubicBezTo>
                  <a:pt x="99176" y="131408"/>
                  <a:pt x="99589" y="128433"/>
                  <a:pt x="100374" y="125623"/>
                </a:cubicBezTo>
                <a:lnTo>
                  <a:pt x="80291" y="125623"/>
                </a:lnTo>
                <a:close/>
                <a:moveTo>
                  <a:pt x="184012" y="201864"/>
                </a:moveTo>
                <a:lnTo>
                  <a:pt x="178516" y="204467"/>
                </a:lnTo>
                <a:lnTo>
                  <a:pt x="178516" y="126738"/>
                </a:lnTo>
                <a:lnTo>
                  <a:pt x="218187" y="139962"/>
                </a:lnTo>
                <a:lnTo>
                  <a:pt x="218187" y="148061"/>
                </a:lnTo>
                <a:cubicBezTo>
                  <a:pt x="218187" y="171119"/>
                  <a:pt x="204880" y="192070"/>
                  <a:pt x="184012" y="201905"/>
                </a:cubicBezTo>
                <a:close/>
                <a:moveTo>
                  <a:pt x="174343" y="107234"/>
                </a:moveTo>
                <a:lnTo>
                  <a:pt x="128061" y="122647"/>
                </a:lnTo>
                <a:cubicBezTo>
                  <a:pt x="122647" y="124466"/>
                  <a:pt x="119011" y="129507"/>
                  <a:pt x="119011" y="135210"/>
                </a:cubicBezTo>
                <a:lnTo>
                  <a:pt x="119011" y="148061"/>
                </a:lnTo>
                <a:cubicBezTo>
                  <a:pt x="119011" y="178806"/>
                  <a:pt x="136780" y="206781"/>
                  <a:pt x="164549" y="219839"/>
                </a:cubicBezTo>
                <a:lnTo>
                  <a:pt x="172194" y="223435"/>
                </a:lnTo>
                <a:cubicBezTo>
                  <a:pt x="174177" y="224344"/>
                  <a:pt x="176326" y="224840"/>
                  <a:pt x="178475" y="224840"/>
                </a:cubicBezTo>
                <a:cubicBezTo>
                  <a:pt x="180624" y="224840"/>
                  <a:pt x="182814" y="224344"/>
                  <a:pt x="184756" y="223435"/>
                </a:cubicBezTo>
                <a:lnTo>
                  <a:pt x="192401" y="219839"/>
                </a:lnTo>
                <a:cubicBezTo>
                  <a:pt x="220253" y="206740"/>
                  <a:pt x="238022" y="178764"/>
                  <a:pt x="238022" y="148020"/>
                </a:cubicBezTo>
                <a:lnTo>
                  <a:pt x="238022" y="135168"/>
                </a:lnTo>
                <a:cubicBezTo>
                  <a:pt x="238022" y="129466"/>
                  <a:pt x="234385" y="124424"/>
                  <a:pt x="228972" y="122606"/>
                </a:cubicBezTo>
                <a:lnTo>
                  <a:pt x="182690" y="107192"/>
                </a:lnTo>
                <a:cubicBezTo>
                  <a:pt x="179963" y="106283"/>
                  <a:pt x="177029" y="106283"/>
                  <a:pt x="174343" y="107192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769283623" name="Text 6"/>
          <p:cNvSpPr/>
          <p:nvPr/>
        </p:nvSpPr>
        <p:spPr bwMode="auto">
          <a:xfrm>
            <a:off x="1146030" y="1604443"/>
            <a:ext cx="200114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C27AFF"/>
                </a:solidFill>
                <a:latin typeface="Liter"/>
                <a:ea typeface="Liter"/>
                <a:cs typeface="Liter"/>
              </a:rPr>
              <a:t>Purple Override</a:t>
            </a:r>
            <a:endParaRPr lang="en-US" sz="1600"/>
          </a:p>
        </p:txBody>
      </p:sp>
      <p:sp>
        <p:nvSpPr>
          <p:cNvPr id="147140449" name="Text 7"/>
          <p:cNvSpPr/>
          <p:nvPr/>
        </p:nvSpPr>
        <p:spPr bwMode="auto">
          <a:xfrm>
            <a:off x="1146030" y="1886542"/>
            <a:ext cx="196588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Executive Override Mechanism</a:t>
            </a:r>
            <a:endParaRPr lang="en-US" sz="1600"/>
          </a:p>
        </p:txBody>
      </p:sp>
      <p:sp>
        <p:nvSpPr>
          <p:cNvPr id="166862670" name="Shape 8"/>
          <p:cNvSpPr/>
          <p:nvPr/>
        </p:nvSpPr>
        <p:spPr bwMode="auto">
          <a:xfrm>
            <a:off x="550976" y="2243575"/>
            <a:ext cx="5245293" cy="925640"/>
          </a:xfrm>
          <a:custGeom>
            <a:avLst/>
            <a:gdLst/>
            <a:ahLst/>
            <a:cxnLst/>
            <a:rect l="l" t="t" r="r" b="b"/>
            <a:pathLst>
              <a:path w="5245293" h="925640" fill="norm" stroke="1" extrusionOk="0">
                <a:moveTo>
                  <a:pt x="70525" y="0"/>
                </a:moveTo>
                <a:lnTo>
                  <a:pt x="5174768" y="0"/>
                </a:lnTo>
                <a:cubicBezTo>
                  <a:pt x="5213718" y="0"/>
                  <a:pt x="5245293" y="31575"/>
                  <a:pt x="5245293" y="70525"/>
                </a:cubicBezTo>
                <a:lnTo>
                  <a:pt x="5245293" y="855115"/>
                </a:lnTo>
                <a:cubicBezTo>
                  <a:pt x="5245293" y="894065"/>
                  <a:pt x="5213718" y="925640"/>
                  <a:pt x="5174768" y="925640"/>
                </a:cubicBezTo>
                <a:lnTo>
                  <a:pt x="70525" y="925640"/>
                </a:lnTo>
                <a:cubicBezTo>
                  <a:pt x="31575" y="925640"/>
                  <a:pt x="0" y="894065"/>
                  <a:pt x="0" y="85511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AD46FF">
                <a:alpha val="30195"/>
              </a:srgbClr>
            </a:solidFill>
            <a:prstDash val="solid"/>
          </a:ln>
        </p:spPr>
      </p:sp>
      <p:sp>
        <p:nvSpPr>
          <p:cNvPr id="1677230592" name="Text 9"/>
          <p:cNvSpPr/>
          <p:nvPr/>
        </p:nvSpPr>
        <p:spPr bwMode="auto">
          <a:xfrm>
            <a:off x="661171" y="2353769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Назначение:</a:t>
            </a:r>
            <a:endParaRPr lang="en-US" sz="1600"/>
          </a:p>
        </p:txBody>
      </p:sp>
      <p:sp>
        <p:nvSpPr>
          <p:cNvPr id="385591016" name="Text 10"/>
          <p:cNvSpPr/>
          <p:nvPr/>
        </p:nvSpPr>
        <p:spPr bwMode="auto">
          <a:xfrm>
            <a:off x="661171" y="2635870"/>
            <a:ext cx="5095427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C27AFF"/>
                </a:solidFill>
                <a:latin typeface="Quattrocento Sans"/>
                <a:ea typeface="Quattrocento Sans"/>
                <a:cs typeface="Quattrocento Sans"/>
              </a:rPr>
              <a:t>Emergency safety valve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для критических ситуаций, когда автоматизированные системы не могут принять решение</a:t>
            </a:r>
            <a:endParaRPr lang="en-US" sz="1600"/>
          </a:p>
        </p:txBody>
      </p:sp>
      <p:sp>
        <p:nvSpPr>
          <p:cNvPr id="522410839" name="Shape 11"/>
          <p:cNvSpPr/>
          <p:nvPr/>
        </p:nvSpPr>
        <p:spPr bwMode="auto">
          <a:xfrm>
            <a:off x="550976" y="3283818"/>
            <a:ext cx="5245293" cy="1278265"/>
          </a:xfrm>
          <a:custGeom>
            <a:avLst/>
            <a:gdLst/>
            <a:ahLst/>
            <a:cxnLst/>
            <a:rect l="l" t="t" r="r" b="b"/>
            <a:pathLst>
              <a:path w="5245293" h="1278265" fill="norm" stroke="1" extrusionOk="0">
                <a:moveTo>
                  <a:pt x="70522" y="0"/>
                </a:moveTo>
                <a:lnTo>
                  <a:pt x="5174771" y="0"/>
                </a:lnTo>
                <a:cubicBezTo>
                  <a:pt x="5213719" y="0"/>
                  <a:pt x="5245293" y="31574"/>
                  <a:pt x="5245293" y="70522"/>
                </a:cubicBezTo>
                <a:lnTo>
                  <a:pt x="5245293" y="1207743"/>
                </a:lnTo>
                <a:cubicBezTo>
                  <a:pt x="5245293" y="1246691"/>
                  <a:pt x="5213719" y="1278265"/>
                  <a:pt x="5174771" y="1278265"/>
                </a:cubicBezTo>
                <a:lnTo>
                  <a:pt x="70522" y="1278265"/>
                </a:lnTo>
                <a:cubicBezTo>
                  <a:pt x="31574" y="1278265"/>
                  <a:pt x="0" y="1246691"/>
                  <a:pt x="0" y="1207743"/>
                </a:cubicBezTo>
                <a:lnTo>
                  <a:pt x="0" y="70522"/>
                </a:lnTo>
                <a:cubicBezTo>
                  <a:pt x="0" y="31574"/>
                  <a:pt x="31574" y="0"/>
                  <a:pt x="705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AD46FF">
                <a:alpha val="30195"/>
              </a:srgbClr>
            </a:solidFill>
            <a:prstDash val="solid"/>
          </a:ln>
        </p:spPr>
      </p:sp>
      <p:sp>
        <p:nvSpPr>
          <p:cNvPr id="1913783849" name="Text 12"/>
          <p:cNvSpPr/>
          <p:nvPr/>
        </p:nvSpPr>
        <p:spPr bwMode="auto">
          <a:xfrm>
            <a:off x="661171" y="3394013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Условия активации:</a:t>
            </a:r>
            <a:endParaRPr lang="en-US" sz="1600"/>
          </a:p>
        </p:txBody>
      </p:sp>
      <p:sp>
        <p:nvSpPr>
          <p:cNvPr id="1562153888" name="Shape 13"/>
          <p:cNvSpPr/>
          <p:nvPr/>
        </p:nvSpPr>
        <p:spPr bwMode="auto">
          <a:xfrm>
            <a:off x="686516" y="3711375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 fill="norm" stroke="1" extrusionOk="0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519595015" name="Text 14"/>
          <p:cNvSpPr/>
          <p:nvPr/>
        </p:nvSpPr>
        <p:spPr bwMode="auto">
          <a:xfrm>
            <a:off x="885970" y="3702560"/>
            <a:ext cx="2136548" cy="158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Two executive E-IMZO signatures</a:t>
            </a:r>
            <a:endParaRPr lang="en-US" sz="1600"/>
          </a:p>
        </p:txBody>
      </p:sp>
      <p:sp>
        <p:nvSpPr>
          <p:cNvPr id="1425064502" name="Shape 15"/>
          <p:cNvSpPr/>
          <p:nvPr/>
        </p:nvSpPr>
        <p:spPr bwMode="auto">
          <a:xfrm>
            <a:off x="686516" y="3993475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 fill="norm" stroke="1" extrusionOk="0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035788830" name="Text 16"/>
          <p:cNvSpPr/>
          <p:nvPr/>
        </p:nvSpPr>
        <p:spPr bwMode="auto">
          <a:xfrm>
            <a:off x="885970" y="3958213"/>
            <a:ext cx="309428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Structured justification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обоснование решения</a:t>
            </a:r>
            <a:endParaRPr lang="en-US" sz="1600"/>
          </a:p>
        </p:txBody>
      </p:sp>
      <p:sp>
        <p:nvSpPr>
          <p:cNvPr id="1045237049" name="Shape 17"/>
          <p:cNvSpPr/>
          <p:nvPr/>
        </p:nvSpPr>
        <p:spPr bwMode="auto">
          <a:xfrm>
            <a:off x="686516" y="4275575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 fill="norm" stroke="1" extrusionOk="0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851390815" name="Text 18"/>
          <p:cNvSpPr/>
          <p:nvPr/>
        </p:nvSpPr>
        <p:spPr bwMode="auto">
          <a:xfrm>
            <a:off x="885970" y="4240312"/>
            <a:ext cx="319125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Immutable ledger logging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— неизменяемый аудит</a:t>
            </a:r>
            <a:endParaRPr lang="en-US" sz="1600"/>
          </a:p>
        </p:txBody>
      </p:sp>
      <p:sp>
        <p:nvSpPr>
          <p:cNvPr id="719056354" name="Shape 19"/>
          <p:cNvSpPr/>
          <p:nvPr/>
        </p:nvSpPr>
        <p:spPr bwMode="auto">
          <a:xfrm>
            <a:off x="550976" y="4676685"/>
            <a:ext cx="5245293" cy="714065"/>
          </a:xfrm>
          <a:custGeom>
            <a:avLst/>
            <a:gdLst/>
            <a:ahLst/>
            <a:cxnLst/>
            <a:rect l="l" t="t" r="r" b="b"/>
            <a:pathLst>
              <a:path w="5245293" h="714065" fill="norm" stroke="1" extrusionOk="0">
                <a:moveTo>
                  <a:pt x="70528" y="0"/>
                </a:moveTo>
                <a:lnTo>
                  <a:pt x="5174765" y="0"/>
                </a:lnTo>
                <a:cubicBezTo>
                  <a:pt x="5213716" y="0"/>
                  <a:pt x="5245293" y="31577"/>
                  <a:pt x="5245293" y="70528"/>
                </a:cubicBezTo>
                <a:lnTo>
                  <a:pt x="5245293" y="643537"/>
                </a:lnTo>
                <a:cubicBezTo>
                  <a:pt x="5245293" y="682489"/>
                  <a:pt x="5213716" y="714065"/>
                  <a:pt x="5174765" y="714065"/>
                </a:cubicBezTo>
                <a:lnTo>
                  <a:pt x="70528" y="714065"/>
                </a:lnTo>
                <a:cubicBezTo>
                  <a:pt x="31577" y="714065"/>
                  <a:pt x="0" y="682489"/>
                  <a:pt x="0" y="643537"/>
                </a:cubicBezTo>
                <a:lnTo>
                  <a:pt x="0" y="70528"/>
                </a:lnTo>
                <a:cubicBezTo>
                  <a:pt x="0" y="31577"/>
                  <a:pt x="31577" y="0"/>
                  <a:pt x="70528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 w="12700">
            <a:solidFill>
              <a:srgbClr val="AD46FF">
                <a:alpha val="30195"/>
              </a:srgbClr>
            </a:solidFill>
            <a:prstDash val="solid"/>
          </a:ln>
        </p:spPr>
      </p:sp>
      <p:sp>
        <p:nvSpPr>
          <p:cNvPr id="423615583" name="Text 20"/>
          <p:cNvSpPr/>
          <p:nvPr/>
        </p:nvSpPr>
        <p:spPr bwMode="auto">
          <a:xfrm>
            <a:off x="661171" y="4786881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Обеспечивает:</a:t>
            </a:r>
            <a:endParaRPr lang="en-US" sz="1600"/>
          </a:p>
        </p:txBody>
      </p:sp>
      <p:sp>
        <p:nvSpPr>
          <p:cNvPr id="216114935" name="Shape 21"/>
          <p:cNvSpPr/>
          <p:nvPr/>
        </p:nvSpPr>
        <p:spPr bwMode="auto">
          <a:xfrm>
            <a:off x="678803" y="5104243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 fill="norm" stroke="1" extrusionOk="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472937815" name="Text 22"/>
          <p:cNvSpPr/>
          <p:nvPr/>
        </p:nvSpPr>
        <p:spPr bwMode="auto">
          <a:xfrm>
            <a:off x="861961" y="5068980"/>
            <a:ext cx="143891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Operational continuity</a:t>
            </a:r>
            <a:endParaRPr lang="en-US" sz="1600"/>
          </a:p>
        </p:txBody>
      </p:sp>
      <p:sp>
        <p:nvSpPr>
          <p:cNvPr id="1804798257" name="Shape 23"/>
          <p:cNvSpPr/>
          <p:nvPr/>
        </p:nvSpPr>
        <p:spPr bwMode="auto">
          <a:xfrm>
            <a:off x="2388482" y="5104243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 fill="norm" stroke="1" extrusionOk="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572096308" name="Text 24"/>
          <p:cNvSpPr/>
          <p:nvPr/>
        </p:nvSpPr>
        <p:spPr bwMode="auto">
          <a:xfrm>
            <a:off x="2571639" y="5068980"/>
            <a:ext cx="95405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Accountability</a:t>
            </a:r>
            <a:endParaRPr lang="en-US" sz="1600"/>
          </a:p>
        </p:txBody>
      </p:sp>
      <p:sp>
        <p:nvSpPr>
          <p:cNvPr id="457318763" name="Shape 25"/>
          <p:cNvSpPr/>
          <p:nvPr/>
        </p:nvSpPr>
        <p:spPr bwMode="auto">
          <a:xfrm>
            <a:off x="3615643" y="5104243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 fill="norm" stroke="1" extrusionOk="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791999868" name="Text 26"/>
          <p:cNvSpPr/>
          <p:nvPr/>
        </p:nvSpPr>
        <p:spPr bwMode="auto">
          <a:xfrm>
            <a:off x="3798801" y="5068980"/>
            <a:ext cx="1271419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Regulatory visibility</a:t>
            </a:r>
            <a:endParaRPr lang="en-US" sz="1600"/>
          </a:p>
        </p:txBody>
      </p:sp>
      <p:sp>
        <p:nvSpPr>
          <p:cNvPr id="1522117573" name="Shape 27"/>
          <p:cNvSpPr/>
          <p:nvPr/>
        </p:nvSpPr>
        <p:spPr bwMode="auto">
          <a:xfrm>
            <a:off x="6211016" y="1419315"/>
            <a:ext cx="5624364" cy="4390178"/>
          </a:xfrm>
          <a:custGeom>
            <a:avLst/>
            <a:gdLst/>
            <a:ahLst/>
            <a:cxnLst/>
            <a:rect l="l" t="t" r="r" b="b"/>
            <a:pathLst>
              <a:path w="5624364" h="4390178" fill="norm" stroke="1" extrusionOk="0">
                <a:moveTo>
                  <a:pt x="70506" y="0"/>
                </a:moveTo>
                <a:lnTo>
                  <a:pt x="5553858" y="0"/>
                </a:lnTo>
                <a:cubicBezTo>
                  <a:pt x="5592798" y="0"/>
                  <a:pt x="5624364" y="31567"/>
                  <a:pt x="5624364" y="70506"/>
                </a:cubicBezTo>
                <a:lnTo>
                  <a:pt x="5624364" y="4319672"/>
                </a:lnTo>
                <a:cubicBezTo>
                  <a:pt x="5624364" y="4358611"/>
                  <a:pt x="5592798" y="4390178"/>
                  <a:pt x="5553858" y="4390178"/>
                </a:cubicBezTo>
                <a:lnTo>
                  <a:pt x="70506" y="4390178"/>
                </a:lnTo>
                <a:cubicBezTo>
                  <a:pt x="31567" y="4390178"/>
                  <a:pt x="0" y="4358611"/>
                  <a:pt x="0" y="4319672"/>
                </a:cubicBezTo>
                <a:lnTo>
                  <a:pt x="0" y="70506"/>
                </a:lnTo>
                <a:cubicBezTo>
                  <a:pt x="0" y="31593"/>
                  <a:pt x="31593" y="0"/>
                  <a:pt x="70506" y="0"/>
                </a:cubicBezTo>
                <a:close/>
              </a:path>
            </a:pathLst>
          </a:custGeom>
          <a:gradFill>
            <a:gsLst>
              <a:gs pos="0">
                <a:srgbClr val="C0A062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592557208" name="Shape 28"/>
          <p:cNvSpPr/>
          <p:nvPr/>
        </p:nvSpPr>
        <p:spPr bwMode="auto">
          <a:xfrm>
            <a:off x="6396144" y="1604443"/>
            <a:ext cx="493674" cy="493674"/>
          </a:xfrm>
          <a:custGeom>
            <a:avLst/>
            <a:gdLst/>
            <a:ahLst/>
            <a:cxnLst/>
            <a:rect l="l" t="t" r="r" b="b"/>
            <a:pathLst>
              <a:path w="493675" h="493675" fill="norm" stroke="1" extrusionOk="0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47242210" name="Shape 29"/>
          <p:cNvSpPr/>
          <p:nvPr/>
        </p:nvSpPr>
        <p:spPr bwMode="auto">
          <a:xfrm>
            <a:off x="6537194" y="1745492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 fill="norm" stroke="1" extrusionOk="0">
                <a:moveTo>
                  <a:pt x="72729" y="9918"/>
                </a:moveTo>
                <a:cubicBezTo>
                  <a:pt x="72729" y="4422"/>
                  <a:pt x="68307" y="0"/>
                  <a:pt x="62811" y="0"/>
                </a:cubicBezTo>
                <a:cubicBezTo>
                  <a:pt x="57315" y="0"/>
                  <a:pt x="52894" y="4422"/>
                  <a:pt x="52894" y="9918"/>
                </a:cubicBezTo>
                <a:lnTo>
                  <a:pt x="52894" y="26447"/>
                </a:lnTo>
                <a:cubicBezTo>
                  <a:pt x="38307" y="26447"/>
                  <a:pt x="26447" y="38307"/>
                  <a:pt x="26447" y="52894"/>
                </a:cubicBezTo>
                <a:lnTo>
                  <a:pt x="9918" y="52894"/>
                </a:lnTo>
                <a:cubicBezTo>
                  <a:pt x="4422" y="52894"/>
                  <a:pt x="0" y="57315"/>
                  <a:pt x="0" y="62811"/>
                </a:cubicBezTo>
                <a:cubicBezTo>
                  <a:pt x="0" y="68307"/>
                  <a:pt x="4422" y="72729"/>
                  <a:pt x="9918" y="72729"/>
                </a:cubicBezTo>
                <a:lnTo>
                  <a:pt x="26447" y="72729"/>
                </a:lnTo>
                <a:lnTo>
                  <a:pt x="26447" y="95870"/>
                </a:lnTo>
                <a:lnTo>
                  <a:pt x="9918" y="95870"/>
                </a:lnTo>
                <a:cubicBezTo>
                  <a:pt x="4422" y="95870"/>
                  <a:pt x="0" y="100291"/>
                  <a:pt x="0" y="105787"/>
                </a:cubicBezTo>
                <a:cubicBezTo>
                  <a:pt x="0" y="111283"/>
                  <a:pt x="4422" y="115705"/>
                  <a:pt x="9918" y="115705"/>
                </a:cubicBezTo>
                <a:lnTo>
                  <a:pt x="26447" y="115705"/>
                </a:lnTo>
                <a:lnTo>
                  <a:pt x="26447" y="138846"/>
                </a:lnTo>
                <a:lnTo>
                  <a:pt x="9918" y="138846"/>
                </a:lnTo>
                <a:cubicBezTo>
                  <a:pt x="4422" y="138846"/>
                  <a:pt x="0" y="143268"/>
                  <a:pt x="0" y="148764"/>
                </a:cubicBezTo>
                <a:cubicBezTo>
                  <a:pt x="0" y="154260"/>
                  <a:pt x="4422" y="158681"/>
                  <a:pt x="9918" y="158681"/>
                </a:cubicBezTo>
                <a:lnTo>
                  <a:pt x="26447" y="158681"/>
                </a:lnTo>
                <a:cubicBezTo>
                  <a:pt x="26447" y="173268"/>
                  <a:pt x="38307" y="185128"/>
                  <a:pt x="52894" y="185128"/>
                </a:cubicBezTo>
                <a:lnTo>
                  <a:pt x="52894" y="201657"/>
                </a:lnTo>
                <a:cubicBezTo>
                  <a:pt x="52894" y="207153"/>
                  <a:pt x="57315" y="211575"/>
                  <a:pt x="62811" y="211575"/>
                </a:cubicBezTo>
                <a:cubicBezTo>
                  <a:pt x="68307" y="211575"/>
                  <a:pt x="72729" y="207153"/>
                  <a:pt x="72729" y="201657"/>
                </a:cubicBezTo>
                <a:lnTo>
                  <a:pt x="72729" y="185128"/>
                </a:lnTo>
                <a:lnTo>
                  <a:pt x="95870" y="185128"/>
                </a:lnTo>
                <a:lnTo>
                  <a:pt x="95870" y="201657"/>
                </a:lnTo>
                <a:cubicBezTo>
                  <a:pt x="95870" y="207153"/>
                  <a:pt x="100291" y="211575"/>
                  <a:pt x="105787" y="211575"/>
                </a:cubicBezTo>
                <a:cubicBezTo>
                  <a:pt x="111283" y="211575"/>
                  <a:pt x="115705" y="207153"/>
                  <a:pt x="115705" y="201657"/>
                </a:cubicBezTo>
                <a:lnTo>
                  <a:pt x="115705" y="185128"/>
                </a:lnTo>
                <a:lnTo>
                  <a:pt x="138846" y="185128"/>
                </a:lnTo>
                <a:lnTo>
                  <a:pt x="138846" y="201657"/>
                </a:lnTo>
                <a:cubicBezTo>
                  <a:pt x="138846" y="207153"/>
                  <a:pt x="143268" y="211575"/>
                  <a:pt x="148764" y="211575"/>
                </a:cubicBezTo>
                <a:cubicBezTo>
                  <a:pt x="154260" y="211575"/>
                  <a:pt x="158681" y="207153"/>
                  <a:pt x="158681" y="201657"/>
                </a:cubicBezTo>
                <a:lnTo>
                  <a:pt x="158681" y="185128"/>
                </a:lnTo>
                <a:cubicBezTo>
                  <a:pt x="173268" y="185128"/>
                  <a:pt x="185128" y="173268"/>
                  <a:pt x="185128" y="158681"/>
                </a:cubicBezTo>
                <a:lnTo>
                  <a:pt x="201657" y="158681"/>
                </a:lnTo>
                <a:cubicBezTo>
                  <a:pt x="207153" y="158681"/>
                  <a:pt x="211575" y="154260"/>
                  <a:pt x="211575" y="148764"/>
                </a:cubicBezTo>
                <a:cubicBezTo>
                  <a:pt x="211575" y="143268"/>
                  <a:pt x="207153" y="138846"/>
                  <a:pt x="201657" y="138846"/>
                </a:cubicBezTo>
                <a:lnTo>
                  <a:pt x="185128" y="138846"/>
                </a:lnTo>
                <a:lnTo>
                  <a:pt x="185128" y="115705"/>
                </a:lnTo>
                <a:lnTo>
                  <a:pt x="201657" y="115705"/>
                </a:lnTo>
                <a:cubicBezTo>
                  <a:pt x="207153" y="115705"/>
                  <a:pt x="211575" y="111283"/>
                  <a:pt x="211575" y="105787"/>
                </a:cubicBezTo>
                <a:cubicBezTo>
                  <a:pt x="211575" y="100291"/>
                  <a:pt x="207153" y="95870"/>
                  <a:pt x="201657" y="95870"/>
                </a:cubicBezTo>
                <a:lnTo>
                  <a:pt x="185128" y="95870"/>
                </a:lnTo>
                <a:lnTo>
                  <a:pt x="185128" y="72729"/>
                </a:lnTo>
                <a:lnTo>
                  <a:pt x="201657" y="72729"/>
                </a:lnTo>
                <a:cubicBezTo>
                  <a:pt x="207153" y="72729"/>
                  <a:pt x="211575" y="68307"/>
                  <a:pt x="211575" y="62811"/>
                </a:cubicBezTo>
                <a:cubicBezTo>
                  <a:pt x="211575" y="57315"/>
                  <a:pt x="207153" y="52894"/>
                  <a:pt x="201657" y="52894"/>
                </a:cubicBezTo>
                <a:lnTo>
                  <a:pt x="185128" y="52894"/>
                </a:lnTo>
                <a:cubicBezTo>
                  <a:pt x="185128" y="38307"/>
                  <a:pt x="173268" y="26447"/>
                  <a:pt x="158681" y="26447"/>
                </a:cubicBezTo>
                <a:lnTo>
                  <a:pt x="158681" y="9918"/>
                </a:lnTo>
                <a:cubicBezTo>
                  <a:pt x="158681" y="4422"/>
                  <a:pt x="154260" y="0"/>
                  <a:pt x="148764" y="0"/>
                </a:cubicBezTo>
                <a:cubicBezTo>
                  <a:pt x="143268" y="0"/>
                  <a:pt x="138846" y="4422"/>
                  <a:pt x="138846" y="9918"/>
                </a:cubicBezTo>
                <a:lnTo>
                  <a:pt x="138846" y="26447"/>
                </a:lnTo>
                <a:lnTo>
                  <a:pt x="115705" y="26447"/>
                </a:lnTo>
                <a:lnTo>
                  <a:pt x="115705" y="9918"/>
                </a:lnTo>
                <a:cubicBezTo>
                  <a:pt x="115705" y="4422"/>
                  <a:pt x="111283" y="0"/>
                  <a:pt x="105787" y="0"/>
                </a:cubicBezTo>
                <a:cubicBezTo>
                  <a:pt x="100291" y="0"/>
                  <a:pt x="95870" y="4422"/>
                  <a:pt x="95870" y="9918"/>
                </a:cubicBezTo>
                <a:lnTo>
                  <a:pt x="95870" y="26447"/>
                </a:lnTo>
                <a:lnTo>
                  <a:pt x="72729" y="26447"/>
                </a:lnTo>
                <a:lnTo>
                  <a:pt x="72729" y="9918"/>
                </a:lnTo>
                <a:close/>
                <a:moveTo>
                  <a:pt x="66117" y="52894"/>
                </a:moveTo>
                <a:lnTo>
                  <a:pt x="145458" y="52894"/>
                </a:lnTo>
                <a:cubicBezTo>
                  <a:pt x="152772" y="52894"/>
                  <a:pt x="158681" y="58803"/>
                  <a:pt x="158681" y="66117"/>
                </a:cubicBezTo>
                <a:lnTo>
                  <a:pt x="158681" y="145458"/>
                </a:lnTo>
                <a:cubicBezTo>
                  <a:pt x="158681" y="152772"/>
                  <a:pt x="152772" y="158681"/>
                  <a:pt x="145458" y="158681"/>
                </a:cubicBezTo>
                <a:lnTo>
                  <a:pt x="66117" y="158681"/>
                </a:lnTo>
                <a:cubicBezTo>
                  <a:pt x="58803" y="158681"/>
                  <a:pt x="52894" y="152772"/>
                  <a:pt x="52894" y="145458"/>
                </a:cubicBezTo>
                <a:lnTo>
                  <a:pt x="52894" y="66117"/>
                </a:lnTo>
                <a:cubicBezTo>
                  <a:pt x="52894" y="58803"/>
                  <a:pt x="58803" y="52894"/>
                  <a:pt x="66117" y="52894"/>
                </a:cubicBezTo>
                <a:close/>
                <a:moveTo>
                  <a:pt x="72729" y="72729"/>
                </a:moveTo>
                <a:lnTo>
                  <a:pt x="72729" y="138846"/>
                </a:lnTo>
                <a:lnTo>
                  <a:pt x="138846" y="138846"/>
                </a:lnTo>
                <a:lnTo>
                  <a:pt x="138846" y="72729"/>
                </a:lnTo>
                <a:lnTo>
                  <a:pt x="72729" y="727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4329843" name="Text 30"/>
          <p:cNvSpPr/>
          <p:nvPr/>
        </p:nvSpPr>
        <p:spPr bwMode="auto">
          <a:xfrm>
            <a:off x="6995606" y="1604443"/>
            <a:ext cx="2080486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CPU-First AI</a:t>
            </a:r>
            <a:endParaRPr lang="en-US" sz="1600"/>
          </a:p>
        </p:txBody>
      </p:sp>
      <p:sp>
        <p:nvSpPr>
          <p:cNvPr id="1182395740" name="Text 31"/>
          <p:cNvSpPr/>
          <p:nvPr/>
        </p:nvSpPr>
        <p:spPr bwMode="auto">
          <a:xfrm>
            <a:off x="6995606" y="1886542"/>
            <a:ext cx="20452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Реалистичное развёртывание</a:t>
            </a:r>
            <a:endParaRPr lang="en-US" sz="1600"/>
          </a:p>
        </p:txBody>
      </p:sp>
      <p:sp>
        <p:nvSpPr>
          <p:cNvPr id="1765894903" name="Shape 32"/>
          <p:cNvSpPr/>
          <p:nvPr/>
        </p:nvSpPr>
        <p:spPr bwMode="auto">
          <a:xfrm>
            <a:off x="6400552" y="2243575"/>
            <a:ext cx="5245293" cy="714065"/>
          </a:xfrm>
          <a:custGeom>
            <a:avLst/>
            <a:gdLst/>
            <a:ahLst/>
            <a:cxnLst/>
            <a:rect l="l" t="t" r="r" b="b"/>
            <a:pathLst>
              <a:path w="5245293" h="714065" fill="norm" stroke="1" extrusionOk="0">
                <a:moveTo>
                  <a:pt x="70528" y="0"/>
                </a:moveTo>
                <a:lnTo>
                  <a:pt x="5174765" y="0"/>
                </a:lnTo>
                <a:cubicBezTo>
                  <a:pt x="5213716" y="0"/>
                  <a:pt x="5245293" y="31577"/>
                  <a:pt x="5245293" y="70528"/>
                </a:cubicBezTo>
                <a:lnTo>
                  <a:pt x="5245293" y="643537"/>
                </a:lnTo>
                <a:cubicBezTo>
                  <a:pt x="5245293" y="682489"/>
                  <a:pt x="5213716" y="714065"/>
                  <a:pt x="5174765" y="714065"/>
                </a:cubicBezTo>
                <a:lnTo>
                  <a:pt x="70528" y="714065"/>
                </a:lnTo>
                <a:cubicBezTo>
                  <a:pt x="31577" y="714065"/>
                  <a:pt x="0" y="682489"/>
                  <a:pt x="0" y="643537"/>
                </a:cubicBezTo>
                <a:lnTo>
                  <a:pt x="0" y="70528"/>
                </a:lnTo>
                <a:cubicBezTo>
                  <a:pt x="0" y="31577"/>
                  <a:pt x="31577" y="0"/>
                  <a:pt x="7052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787472483" name="Text 33"/>
          <p:cNvSpPr/>
          <p:nvPr/>
        </p:nvSpPr>
        <p:spPr bwMode="auto">
          <a:xfrm>
            <a:off x="6510747" y="2353769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Проблема:</a:t>
            </a:r>
            <a:endParaRPr lang="en-US" sz="1600"/>
          </a:p>
        </p:txBody>
      </p:sp>
      <p:sp>
        <p:nvSpPr>
          <p:cNvPr id="1399567697" name="Text 34"/>
          <p:cNvSpPr/>
          <p:nvPr/>
        </p:nvSpPr>
        <p:spPr bwMode="auto">
          <a:xfrm>
            <a:off x="6510747" y="2635870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Многие банки не имеют больших </a:t>
            </a: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GPU-кластеров</a:t>
            </a: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 для AI-нагрузок</a:t>
            </a:r>
            <a:endParaRPr lang="en-US" sz="1600"/>
          </a:p>
        </p:txBody>
      </p:sp>
      <p:sp>
        <p:nvSpPr>
          <p:cNvPr id="2078527827" name="Shape 35"/>
          <p:cNvSpPr/>
          <p:nvPr/>
        </p:nvSpPr>
        <p:spPr bwMode="auto">
          <a:xfrm>
            <a:off x="6400552" y="3072243"/>
            <a:ext cx="5245293" cy="714065"/>
          </a:xfrm>
          <a:custGeom>
            <a:avLst/>
            <a:gdLst/>
            <a:ahLst/>
            <a:cxnLst/>
            <a:rect l="l" t="t" r="r" b="b"/>
            <a:pathLst>
              <a:path w="5245293" h="714065" fill="norm" stroke="1" extrusionOk="0">
                <a:moveTo>
                  <a:pt x="70528" y="0"/>
                </a:moveTo>
                <a:lnTo>
                  <a:pt x="5174765" y="0"/>
                </a:lnTo>
                <a:cubicBezTo>
                  <a:pt x="5213716" y="0"/>
                  <a:pt x="5245293" y="31577"/>
                  <a:pt x="5245293" y="70528"/>
                </a:cubicBezTo>
                <a:lnTo>
                  <a:pt x="5245293" y="643537"/>
                </a:lnTo>
                <a:cubicBezTo>
                  <a:pt x="5245293" y="682489"/>
                  <a:pt x="5213716" y="714065"/>
                  <a:pt x="5174765" y="714065"/>
                </a:cubicBezTo>
                <a:lnTo>
                  <a:pt x="70528" y="714065"/>
                </a:lnTo>
                <a:cubicBezTo>
                  <a:pt x="31577" y="714065"/>
                  <a:pt x="0" y="682489"/>
                  <a:pt x="0" y="643537"/>
                </a:cubicBezTo>
                <a:lnTo>
                  <a:pt x="0" y="70528"/>
                </a:lnTo>
                <a:cubicBezTo>
                  <a:pt x="0" y="31577"/>
                  <a:pt x="31577" y="0"/>
                  <a:pt x="7052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2019349729" name="Text 36"/>
          <p:cNvSpPr/>
          <p:nvPr/>
        </p:nvSpPr>
        <p:spPr bwMode="auto">
          <a:xfrm>
            <a:off x="6510747" y="3182438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Решение REVENANT:</a:t>
            </a:r>
            <a:endParaRPr lang="en-US" sz="1600"/>
          </a:p>
        </p:txBody>
      </p:sp>
      <p:sp>
        <p:nvSpPr>
          <p:cNvPr id="1067236476" name="Text 37"/>
          <p:cNvSpPr/>
          <p:nvPr/>
        </p:nvSpPr>
        <p:spPr bwMode="auto">
          <a:xfrm>
            <a:off x="6510747" y="3464538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AI оптимизирован для </a:t>
            </a: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CPU clusters using quantized models</a:t>
            </a:r>
            <a:endParaRPr lang="en-US" sz="1600"/>
          </a:p>
        </p:txBody>
      </p:sp>
      <p:sp>
        <p:nvSpPr>
          <p:cNvPr id="308361423" name="Shape 38"/>
          <p:cNvSpPr/>
          <p:nvPr/>
        </p:nvSpPr>
        <p:spPr bwMode="auto">
          <a:xfrm>
            <a:off x="6400552" y="3900911"/>
            <a:ext cx="2565345" cy="925640"/>
          </a:xfrm>
          <a:custGeom>
            <a:avLst/>
            <a:gdLst/>
            <a:ahLst/>
            <a:cxnLst/>
            <a:rect l="l" t="t" r="r" b="b"/>
            <a:pathLst>
              <a:path w="2565345" h="925640" fill="norm" stroke="1" extrusionOk="0">
                <a:moveTo>
                  <a:pt x="70525" y="0"/>
                </a:moveTo>
                <a:lnTo>
                  <a:pt x="2494820" y="0"/>
                </a:lnTo>
                <a:cubicBezTo>
                  <a:pt x="2533770" y="0"/>
                  <a:pt x="2565345" y="31575"/>
                  <a:pt x="2565345" y="70525"/>
                </a:cubicBezTo>
                <a:lnTo>
                  <a:pt x="2565345" y="855115"/>
                </a:lnTo>
                <a:cubicBezTo>
                  <a:pt x="2565345" y="894065"/>
                  <a:pt x="2533770" y="925640"/>
                  <a:pt x="2494820" y="925640"/>
                </a:cubicBezTo>
                <a:lnTo>
                  <a:pt x="70525" y="925640"/>
                </a:lnTo>
                <a:cubicBezTo>
                  <a:pt x="31575" y="925640"/>
                  <a:pt x="0" y="894065"/>
                  <a:pt x="0" y="85511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2089004989" name="Shape 39"/>
          <p:cNvSpPr/>
          <p:nvPr/>
        </p:nvSpPr>
        <p:spPr bwMode="auto">
          <a:xfrm>
            <a:off x="6537194" y="4046369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 fill="norm" stroke="1" extrusionOk="0">
                <a:moveTo>
                  <a:pt x="17631" y="8816"/>
                </a:moveTo>
                <a:cubicBezTo>
                  <a:pt x="7907" y="8816"/>
                  <a:pt x="0" y="16722"/>
                  <a:pt x="0" y="26447"/>
                </a:cubicBezTo>
                <a:lnTo>
                  <a:pt x="0" y="44078"/>
                </a:lnTo>
                <a:cubicBezTo>
                  <a:pt x="0" y="53803"/>
                  <a:pt x="7907" y="61709"/>
                  <a:pt x="17631" y="61709"/>
                </a:cubicBezTo>
                <a:lnTo>
                  <a:pt x="105787" y="61709"/>
                </a:lnTo>
                <a:cubicBezTo>
                  <a:pt x="115512" y="61709"/>
                  <a:pt x="123419" y="53803"/>
                  <a:pt x="123419" y="44078"/>
                </a:cubicBezTo>
                <a:lnTo>
                  <a:pt x="123419" y="26447"/>
                </a:lnTo>
                <a:cubicBezTo>
                  <a:pt x="123419" y="16722"/>
                  <a:pt x="115512" y="8816"/>
                  <a:pt x="105787" y="8816"/>
                </a:cubicBezTo>
                <a:lnTo>
                  <a:pt x="17631" y="8816"/>
                </a:lnTo>
                <a:close/>
                <a:moveTo>
                  <a:pt x="77137" y="28651"/>
                </a:moveTo>
                <a:cubicBezTo>
                  <a:pt x="80786" y="28651"/>
                  <a:pt x="83748" y="31613"/>
                  <a:pt x="83748" y="35262"/>
                </a:cubicBezTo>
                <a:cubicBezTo>
                  <a:pt x="83748" y="38912"/>
                  <a:pt x="80786" y="41874"/>
                  <a:pt x="77137" y="41874"/>
                </a:cubicBezTo>
                <a:cubicBezTo>
                  <a:pt x="73488" y="41874"/>
                  <a:pt x="70525" y="38912"/>
                  <a:pt x="70525" y="35262"/>
                </a:cubicBezTo>
                <a:cubicBezTo>
                  <a:pt x="70525" y="31613"/>
                  <a:pt x="73488" y="28651"/>
                  <a:pt x="77137" y="28651"/>
                </a:cubicBezTo>
                <a:close/>
                <a:moveTo>
                  <a:pt x="92564" y="35262"/>
                </a:moveTo>
                <a:cubicBezTo>
                  <a:pt x="92564" y="31613"/>
                  <a:pt x="95527" y="28651"/>
                  <a:pt x="99176" y="28651"/>
                </a:cubicBezTo>
                <a:cubicBezTo>
                  <a:pt x="102825" y="28651"/>
                  <a:pt x="105787" y="31613"/>
                  <a:pt x="105787" y="35262"/>
                </a:cubicBezTo>
                <a:cubicBezTo>
                  <a:pt x="105787" y="38912"/>
                  <a:pt x="102825" y="41874"/>
                  <a:pt x="99176" y="41874"/>
                </a:cubicBezTo>
                <a:cubicBezTo>
                  <a:pt x="95527" y="41874"/>
                  <a:pt x="92564" y="38912"/>
                  <a:pt x="92564" y="35262"/>
                </a:cubicBezTo>
                <a:close/>
                <a:moveTo>
                  <a:pt x="17631" y="79341"/>
                </a:moveTo>
                <a:cubicBezTo>
                  <a:pt x="7907" y="79341"/>
                  <a:pt x="0" y="87247"/>
                  <a:pt x="0" y="96972"/>
                </a:cubicBezTo>
                <a:lnTo>
                  <a:pt x="0" y="114603"/>
                </a:lnTo>
                <a:cubicBezTo>
                  <a:pt x="0" y="124328"/>
                  <a:pt x="7907" y="132234"/>
                  <a:pt x="17631" y="132234"/>
                </a:cubicBezTo>
                <a:lnTo>
                  <a:pt x="105787" y="132234"/>
                </a:lnTo>
                <a:cubicBezTo>
                  <a:pt x="115512" y="132234"/>
                  <a:pt x="123419" y="124328"/>
                  <a:pt x="123419" y="114603"/>
                </a:cubicBezTo>
                <a:lnTo>
                  <a:pt x="123419" y="96972"/>
                </a:lnTo>
                <a:cubicBezTo>
                  <a:pt x="123419" y="87247"/>
                  <a:pt x="115512" y="79341"/>
                  <a:pt x="105787" y="79341"/>
                </a:cubicBezTo>
                <a:lnTo>
                  <a:pt x="17631" y="79341"/>
                </a:lnTo>
                <a:close/>
                <a:moveTo>
                  <a:pt x="77137" y="99176"/>
                </a:moveTo>
                <a:cubicBezTo>
                  <a:pt x="80786" y="99176"/>
                  <a:pt x="83748" y="102138"/>
                  <a:pt x="83748" y="105787"/>
                </a:cubicBezTo>
                <a:cubicBezTo>
                  <a:pt x="83748" y="109437"/>
                  <a:pt x="80786" y="112399"/>
                  <a:pt x="77137" y="112399"/>
                </a:cubicBezTo>
                <a:cubicBezTo>
                  <a:pt x="73488" y="112399"/>
                  <a:pt x="70525" y="109437"/>
                  <a:pt x="70525" y="105787"/>
                </a:cubicBezTo>
                <a:cubicBezTo>
                  <a:pt x="70525" y="102138"/>
                  <a:pt x="73488" y="99176"/>
                  <a:pt x="77137" y="99176"/>
                </a:cubicBezTo>
                <a:close/>
                <a:moveTo>
                  <a:pt x="92564" y="105787"/>
                </a:moveTo>
                <a:cubicBezTo>
                  <a:pt x="92564" y="102138"/>
                  <a:pt x="95527" y="99176"/>
                  <a:pt x="99176" y="99176"/>
                </a:cubicBezTo>
                <a:cubicBezTo>
                  <a:pt x="102825" y="99176"/>
                  <a:pt x="105787" y="102138"/>
                  <a:pt x="105787" y="105787"/>
                </a:cubicBezTo>
                <a:cubicBezTo>
                  <a:pt x="105787" y="109437"/>
                  <a:pt x="102825" y="112399"/>
                  <a:pt x="99176" y="112399"/>
                </a:cubicBezTo>
                <a:cubicBezTo>
                  <a:pt x="95527" y="112399"/>
                  <a:pt x="92564" y="109437"/>
                  <a:pt x="92564" y="10578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4471123" name="Text 40"/>
          <p:cNvSpPr/>
          <p:nvPr/>
        </p:nvSpPr>
        <p:spPr bwMode="auto">
          <a:xfrm>
            <a:off x="6757585" y="4011106"/>
            <a:ext cx="72288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CPU Mode</a:t>
            </a:r>
            <a:endParaRPr lang="en-US" sz="1600"/>
          </a:p>
        </p:txBody>
      </p:sp>
      <p:sp>
        <p:nvSpPr>
          <p:cNvPr id="1912804736" name="Text 41"/>
          <p:cNvSpPr/>
          <p:nvPr/>
        </p:nvSpPr>
        <p:spPr bwMode="auto">
          <a:xfrm>
            <a:off x="6510747" y="4293206"/>
            <a:ext cx="2415479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Standard deployment для большинства банков</a:t>
            </a:r>
            <a:endParaRPr lang="en-US" sz="1600"/>
          </a:p>
        </p:txBody>
      </p:sp>
      <p:sp>
        <p:nvSpPr>
          <p:cNvPr id="1591228405" name="Shape 42"/>
          <p:cNvSpPr/>
          <p:nvPr/>
        </p:nvSpPr>
        <p:spPr bwMode="auto">
          <a:xfrm>
            <a:off x="9078572" y="3900911"/>
            <a:ext cx="2565345" cy="925640"/>
          </a:xfrm>
          <a:custGeom>
            <a:avLst/>
            <a:gdLst/>
            <a:ahLst/>
            <a:cxnLst/>
            <a:rect l="l" t="t" r="r" b="b"/>
            <a:pathLst>
              <a:path w="2565345" h="925640" fill="norm" stroke="1" extrusionOk="0">
                <a:moveTo>
                  <a:pt x="70525" y="0"/>
                </a:moveTo>
                <a:lnTo>
                  <a:pt x="2494820" y="0"/>
                </a:lnTo>
                <a:cubicBezTo>
                  <a:pt x="2533770" y="0"/>
                  <a:pt x="2565345" y="31575"/>
                  <a:pt x="2565345" y="70525"/>
                </a:cubicBezTo>
                <a:lnTo>
                  <a:pt x="2565345" y="855115"/>
                </a:lnTo>
                <a:cubicBezTo>
                  <a:pt x="2565345" y="894065"/>
                  <a:pt x="2533770" y="925640"/>
                  <a:pt x="2494820" y="925640"/>
                </a:cubicBezTo>
                <a:lnTo>
                  <a:pt x="70525" y="925640"/>
                </a:lnTo>
                <a:cubicBezTo>
                  <a:pt x="31575" y="925640"/>
                  <a:pt x="0" y="894065"/>
                  <a:pt x="0" y="85511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34614888" name="Shape 43"/>
          <p:cNvSpPr/>
          <p:nvPr/>
        </p:nvSpPr>
        <p:spPr bwMode="auto">
          <a:xfrm>
            <a:off x="9215214" y="4046369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 fill="norm" stroke="1" extrusionOk="0">
                <a:moveTo>
                  <a:pt x="93335" y="-2727"/>
                </a:moveTo>
                <a:cubicBezTo>
                  <a:pt x="96614" y="-358"/>
                  <a:pt x="97826" y="3939"/>
                  <a:pt x="96338" y="7686"/>
                </a:cubicBezTo>
                <a:lnTo>
                  <a:pt x="74740" y="61709"/>
                </a:lnTo>
                <a:lnTo>
                  <a:pt x="114603" y="61709"/>
                </a:lnTo>
                <a:cubicBezTo>
                  <a:pt x="118322" y="61709"/>
                  <a:pt x="121628" y="64023"/>
                  <a:pt x="122895" y="67522"/>
                </a:cubicBezTo>
                <a:cubicBezTo>
                  <a:pt x="124162" y="71021"/>
                  <a:pt x="123088" y="74933"/>
                  <a:pt x="120251" y="77302"/>
                </a:cubicBezTo>
                <a:lnTo>
                  <a:pt x="40910" y="143419"/>
                </a:lnTo>
                <a:cubicBezTo>
                  <a:pt x="37797" y="146009"/>
                  <a:pt x="33362" y="146146"/>
                  <a:pt x="30083" y="143777"/>
                </a:cubicBezTo>
                <a:cubicBezTo>
                  <a:pt x="26805" y="141408"/>
                  <a:pt x="25593" y="137110"/>
                  <a:pt x="27080" y="133364"/>
                </a:cubicBezTo>
                <a:lnTo>
                  <a:pt x="48679" y="79341"/>
                </a:lnTo>
                <a:lnTo>
                  <a:pt x="8816" y="79341"/>
                </a:lnTo>
                <a:cubicBezTo>
                  <a:pt x="5097" y="79341"/>
                  <a:pt x="1791" y="77026"/>
                  <a:pt x="523" y="73528"/>
                </a:cubicBezTo>
                <a:cubicBezTo>
                  <a:pt x="-744" y="70029"/>
                  <a:pt x="331" y="66117"/>
                  <a:pt x="3168" y="63748"/>
                </a:cubicBezTo>
                <a:lnTo>
                  <a:pt x="82509" y="-2369"/>
                </a:lnTo>
                <a:cubicBezTo>
                  <a:pt x="85622" y="-4959"/>
                  <a:pt x="90057" y="-5097"/>
                  <a:pt x="93335" y="-272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12793654" name="Text 44"/>
          <p:cNvSpPr/>
          <p:nvPr/>
        </p:nvSpPr>
        <p:spPr bwMode="auto">
          <a:xfrm>
            <a:off x="9435604" y="4011106"/>
            <a:ext cx="72288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GPU Mode</a:t>
            </a:r>
            <a:endParaRPr lang="en-US" sz="1600"/>
          </a:p>
        </p:txBody>
      </p:sp>
      <p:sp>
        <p:nvSpPr>
          <p:cNvPr id="388474505" name="Text 45"/>
          <p:cNvSpPr/>
          <p:nvPr/>
        </p:nvSpPr>
        <p:spPr bwMode="auto">
          <a:xfrm>
            <a:off x="9188767" y="4293206"/>
            <a:ext cx="2415479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Optional acceleration при наличии GPU</a:t>
            </a:r>
            <a:endParaRPr lang="en-US" sz="1600"/>
          </a:p>
        </p:txBody>
      </p:sp>
      <p:sp>
        <p:nvSpPr>
          <p:cNvPr id="655440265" name="Shape 46"/>
          <p:cNvSpPr/>
          <p:nvPr/>
        </p:nvSpPr>
        <p:spPr bwMode="auto">
          <a:xfrm>
            <a:off x="6400552" y="4941154"/>
            <a:ext cx="5245293" cy="678803"/>
          </a:xfrm>
          <a:custGeom>
            <a:avLst/>
            <a:gdLst/>
            <a:ahLst/>
            <a:cxnLst/>
            <a:rect l="l" t="t" r="r" b="b"/>
            <a:pathLst>
              <a:path w="5245293" h="678803" fill="norm" stroke="1" extrusionOk="0">
                <a:moveTo>
                  <a:pt x="70528" y="0"/>
                </a:moveTo>
                <a:lnTo>
                  <a:pt x="5174765" y="0"/>
                </a:lnTo>
                <a:cubicBezTo>
                  <a:pt x="5213717" y="0"/>
                  <a:pt x="5245293" y="31576"/>
                  <a:pt x="5245293" y="70528"/>
                </a:cubicBezTo>
                <a:lnTo>
                  <a:pt x="5245293" y="608275"/>
                </a:lnTo>
                <a:cubicBezTo>
                  <a:pt x="5245293" y="647226"/>
                  <a:pt x="5213717" y="678803"/>
                  <a:pt x="5174765" y="678803"/>
                </a:cubicBezTo>
                <a:lnTo>
                  <a:pt x="70528" y="678803"/>
                </a:lnTo>
                <a:cubicBezTo>
                  <a:pt x="31576" y="678803"/>
                  <a:pt x="0" y="647226"/>
                  <a:pt x="0" y="608275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5"/>
              </a:srgbClr>
            </a:solidFill>
            <a:prstDash val="solid"/>
          </a:ln>
        </p:spPr>
      </p:sp>
      <p:sp>
        <p:nvSpPr>
          <p:cNvPr id="152755313" name="Text 47"/>
          <p:cNvSpPr/>
          <p:nvPr/>
        </p:nvSpPr>
        <p:spPr bwMode="auto">
          <a:xfrm>
            <a:off x="6510747" y="5051349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Преимущество:</a:t>
            </a:r>
            <a:endParaRPr lang="en-US" sz="1600"/>
          </a:p>
        </p:txBody>
      </p:sp>
      <p:sp>
        <p:nvSpPr>
          <p:cNvPr id="828026284" name="Text 48"/>
          <p:cNvSpPr/>
          <p:nvPr/>
        </p:nvSpPr>
        <p:spPr bwMode="auto">
          <a:xfrm>
            <a:off x="6510747" y="5298187"/>
            <a:ext cx="50954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Быстрое on-prem deployment без дорогой GPU-инфраструктуры</a:t>
            </a:r>
            <a:endParaRPr lang="en-US" sz="1600"/>
          </a:p>
        </p:txBody>
      </p:sp>
      <p:sp>
        <p:nvSpPr>
          <p:cNvPr id="568544409" name="Shape 49"/>
          <p:cNvSpPr/>
          <p:nvPr/>
        </p:nvSpPr>
        <p:spPr bwMode="auto">
          <a:xfrm>
            <a:off x="357033" y="5963766"/>
            <a:ext cx="2759289" cy="890377"/>
          </a:xfrm>
          <a:custGeom>
            <a:avLst/>
            <a:gdLst/>
            <a:ahLst/>
            <a:cxnLst/>
            <a:rect l="l" t="t" r="r" b="b"/>
            <a:pathLst>
              <a:path w="2759289" h="890377" fill="norm" stroke="1" extrusionOk="0">
                <a:moveTo>
                  <a:pt x="70527" y="0"/>
                </a:moveTo>
                <a:lnTo>
                  <a:pt x="2688762" y="0"/>
                </a:lnTo>
                <a:cubicBezTo>
                  <a:pt x="2727713" y="0"/>
                  <a:pt x="2759289" y="31576"/>
                  <a:pt x="2759289" y="70527"/>
                </a:cubicBezTo>
                <a:lnTo>
                  <a:pt x="2759289" y="819851"/>
                </a:lnTo>
                <a:cubicBezTo>
                  <a:pt x="2759289" y="858802"/>
                  <a:pt x="2727713" y="890377"/>
                  <a:pt x="2688762" y="890377"/>
                </a:cubicBezTo>
                <a:lnTo>
                  <a:pt x="70527" y="890377"/>
                </a:lnTo>
                <a:cubicBezTo>
                  <a:pt x="31602" y="890377"/>
                  <a:pt x="0" y="858775"/>
                  <a:pt x="0" y="819851"/>
                </a:cubicBezTo>
                <a:lnTo>
                  <a:pt x="0" y="70527"/>
                </a:lnTo>
                <a:cubicBezTo>
                  <a:pt x="0" y="31576"/>
                  <a:pt x="31576" y="0"/>
                  <a:pt x="7052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89211607" name="Shape 50"/>
          <p:cNvSpPr/>
          <p:nvPr/>
        </p:nvSpPr>
        <p:spPr bwMode="auto">
          <a:xfrm>
            <a:off x="1647419" y="6073961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 fill="norm" stroke="1" extrusionOk="0">
                <a:moveTo>
                  <a:pt x="88156" y="0"/>
                </a:moveTo>
                <a:cubicBezTo>
                  <a:pt x="89740" y="0"/>
                  <a:pt x="91324" y="344"/>
                  <a:pt x="92771" y="999"/>
                </a:cubicBezTo>
                <a:lnTo>
                  <a:pt x="157648" y="28513"/>
                </a:lnTo>
                <a:cubicBezTo>
                  <a:pt x="165224" y="31716"/>
                  <a:pt x="170871" y="39188"/>
                  <a:pt x="170837" y="48210"/>
                </a:cubicBezTo>
                <a:cubicBezTo>
                  <a:pt x="170665" y="82371"/>
                  <a:pt x="156615" y="144872"/>
                  <a:pt x="97282" y="173282"/>
                </a:cubicBezTo>
                <a:cubicBezTo>
                  <a:pt x="91531" y="176037"/>
                  <a:pt x="84850" y="176037"/>
                  <a:pt x="79100" y="173282"/>
                </a:cubicBezTo>
                <a:cubicBezTo>
                  <a:pt x="19732" y="144872"/>
                  <a:pt x="5716" y="82371"/>
                  <a:pt x="5544" y="48210"/>
                </a:cubicBezTo>
                <a:cubicBezTo>
                  <a:pt x="5510" y="39188"/>
                  <a:pt x="11157" y="31716"/>
                  <a:pt x="18733" y="28513"/>
                </a:cubicBezTo>
                <a:lnTo>
                  <a:pt x="83576" y="999"/>
                </a:lnTo>
                <a:cubicBezTo>
                  <a:pt x="85023" y="344"/>
                  <a:pt x="86572" y="0"/>
                  <a:pt x="88156" y="0"/>
                </a:cubicBezTo>
                <a:close/>
                <a:moveTo>
                  <a:pt x="88156" y="23003"/>
                </a:moveTo>
                <a:lnTo>
                  <a:pt x="88156" y="153206"/>
                </a:lnTo>
                <a:cubicBezTo>
                  <a:pt x="135678" y="130203"/>
                  <a:pt x="148454" y="79237"/>
                  <a:pt x="148764" y="48727"/>
                </a:cubicBezTo>
                <a:lnTo>
                  <a:pt x="88156" y="23038"/>
                </a:lnTo>
                <a:lnTo>
                  <a:pt x="88156" y="2303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62315819" name="Text 51"/>
          <p:cNvSpPr/>
          <p:nvPr/>
        </p:nvSpPr>
        <p:spPr bwMode="auto">
          <a:xfrm>
            <a:off x="431965" y="6320798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Безопасность</a:t>
            </a:r>
            <a:endParaRPr lang="en-US" sz="1600"/>
          </a:p>
        </p:txBody>
      </p:sp>
      <p:sp>
        <p:nvSpPr>
          <p:cNvPr id="947373154" name="Text 52"/>
          <p:cNvSpPr/>
          <p:nvPr/>
        </p:nvSpPr>
        <p:spPr bwMode="auto">
          <a:xfrm>
            <a:off x="431965" y="6532373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Многоуровневый контроль</a:t>
            </a:r>
            <a:endParaRPr lang="en-US" sz="1600"/>
          </a:p>
        </p:txBody>
      </p:sp>
      <p:sp>
        <p:nvSpPr>
          <p:cNvPr id="74891533" name="Shape 53"/>
          <p:cNvSpPr/>
          <p:nvPr/>
        </p:nvSpPr>
        <p:spPr bwMode="auto">
          <a:xfrm>
            <a:off x="3264120" y="5963766"/>
            <a:ext cx="2759289" cy="890377"/>
          </a:xfrm>
          <a:custGeom>
            <a:avLst/>
            <a:gdLst/>
            <a:ahLst/>
            <a:cxnLst/>
            <a:rect l="l" t="t" r="r" b="b"/>
            <a:pathLst>
              <a:path w="2759289" h="890377" fill="norm" stroke="1" extrusionOk="0">
                <a:moveTo>
                  <a:pt x="70527" y="0"/>
                </a:moveTo>
                <a:lnTo>
                  <a:pt x="2688762" y="0"/>
                </a:lnTo>
                <a:cubicBezTo>
                  <a:pt x="2727713" y="0"/>
                  <a:pt x="2759289" y="31576"/>
                  <a:pt x="2759289" y="70527"/>
                </a:cubicBezTo>
                <a:lnTo>
                  <a:pt x="2759289" y="819851"/>
                </a:lnTo>
                <a:cubicBezTo>
                  <a:pt x="2759289" y="858802"/>
                  <a:pt x="2727713" y="890377"/>
                  <a:pt x="2688762" y="890377"/>
                </a:cubicBezTo>
                <a:lnTo>
                  <a:pt x="70527" y="890377"/>
                </a:lnTo>
                <a:cubicBezTo>
                  <a:pt x="31602" y="890377"/>
                  <a:pt x="0" y="858775"/>
                  <a:pt x="0" y="819851"/>
                </a:cubicBezTo>
                <a:lnTo>
                  <a:pt x="0" y="70527"/>
                </a:lnTo>
                <a:cubicBezTo>
                  <a:pt x="0" y="31576"/>
                  <a:pt x="31576" y="0"/>
                  <a:pt x="7052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22415933" name="Shape 54"/>
          <p:cNvSpPr/>
          <p:nvPr/>
        </p:nvSpPr>
        <p:spPr bwMode="auto">
          <a:xfrm>
            <a:off x="4532605" y="6073961"/>
            <a:ext cx="220390" cy="176312"/>
          </a:xfrm>
          <a:custGeom>
            <a:avLst/>
            <a:gdLst/>
            <a:ahLst/>
            <a:cxnLst/>
            <a:rect l="l" t="t" r="r" b="b"/>
            <a:pathLst>
              <a:path w="220390" h="176312" fill="norm" stroke="1" extrusionOk="0">
                <a:moveTo>
                  <a:pt x="132234" y="11020"/>
                </a:moveTo>
                <a:lnTo>
                  <a:pt x="176312" y="11020"/>
                </a:lnTo>
                <a:cubicBezTo>
                  <a:pt x="182408" y="11020"/>
                  <a:pt x="187332" y="15944"/>
                  <a:pt x="187332" y="22039"/>
                </a:cubicBezTo>
                <a:cubicBezTo>
                  <a:pt x="187332" y="28134"/>
                  <a:pt x="182408" y="33059"/>
                  <a:pt x="176312" y="33059"/>
                </a:cubicBezTo>
                <a:lnTo>
                  <a:pt x="137193" y="33059"/>
                </a:lnTo>
                <a:cubicBezTo>
                  <a:pt x="135402" y="41943"/>
                  <a:pt x="129307" y="49278"/>
                  <a:pt x="121215" y="52790"/>
                </a:cubicBezTo>
                <a:lnTo>
                  <a:pt x="121215" y="154273"/>
                </a:lnTo>
                <a:lnTo>
                  <a:pt x="176312" y="154273"/>
                </a:lnTo>
                <a:cubicBezTo>
                  <a:pt x="182408" y="154273"/>
                  <a:pt x="187332" y="159198"/>
                  <a:pt x="187332" y="165293"/>
                </a:cubicBezTo>
                <a:cubicBezTo>
                  <a:pt x="187332" y="171388"/>
                  <a:pt x="182408" y="176312"/>
                  <a:pt x="176312" y="176312"/>
                </a:cubicBezTo>
                <a:lnTo>
                  <a:pt x="44078" y="176312"/>
                </a:lnTo>
                <a:cubicBezTo>
                  <a:pt x="37983" y="176312"/>
                  <a:pt x="33059" y="171388"/>
                  <a:pt x="33059" y="165293"/>
                </a:cubicBezTo>
                <a:cubicBezTo>
                  <a:pt x="33059" y="159198"/>
                  <a:pt x="37983" y="154273"/>
                  <a:pt x="44078" y="154273"/>
                </a:cubicBezTo>
                <a:lnTo>
                  <a:pt x="99176" y="154273"/>
                </a:lnTo>
                <a:lnTo>
                  <a:pt x="99176" y="52790"/>
                </a:lnTo>
                <a:cubicBezTo>
                  <a:pt x="91083" y="49243"/>
                  <a:pt x="84988" y="41909"/>
                  <a:pt x="83197" y="33059"/>
                </a:cubicBezTo>
                <a:lnTo>
                  <a:pt x="44078" y="33059"/>
                </a:lnTo>
                <a:cubicBezTo>
                  <a:pt x="37983" y="33059"/>
                  <a:pt x="33059" y="28134"/>
                  <a:pt x="33059" y="22039"/>
                </a:cubicBezTo>
                <a:cubicBezTo>
                  <a:pt x="33059" y="15944"/>
                  <a:pt x="37983" y="11020"/>
                  <a:pt x="44078" y="11020"/>
                </a:cubicBezTo>
                <a:lnTo>
                  <a:pt x="88156" y="11020"/>
                </a:lnTo>
                <a:cubicBezTo>
                  <a:pt x="93184" y="4339"/>
                  <a:pt x="101173" y="0"/>
                  <a:pt x="110195" y="0"/>
                </a:cubicBezTo>
                <a:cubicBezTo>
                  <a:pt x="119217" y="0"/>
                  <a:pt x="127207" y="4339"/>
                  <a:pt x="132234" y="11020"/>
                </a:cubicBezTo>
                <a:close/>
                <a:moveTo>
                  <a:pt x="151381" y="110195"/>
                </a:moveTo>
                <a:lnTo>
                  <a:pt x="201244" y="110195"/>
                </a:lnTo>
                <a:lnTo>
                  <a:pt x="176312" y="67426"/>
                </a:lnTo>
                <a:lnTo>
                  <a:pt x="151381" y="110195"/>
                </a:lnTo>
                <a:close/>
                <a:moveTo>
                  <a:pt x="176312" y="143254"/>
                </a:moveTo>
                <a:cubicBezTo>
                  <a:pt x="154652" y="143254"/>
                  <a:pt x="136642" y="131546"/>
                  <a:pt x="132923" y="116084"/>
                </a:cubicBezTo>
                <a:cubicBezTo>
                  <a:pt x="132028" y="112296"/>
                  <a:pt x="133267" y="108405"/>
                  <a:pt x="135230" y="105030"/>
                </a:cubicBezTo>
                <a:lnTo>
                  <a:pt x="168013" y="48830"/>
                </a:lnTo>
                <a:cubicBezTo>
                  <a:pt x="169735" y="45869"/>
                  <a:pt x="172903" y="44078"/>
                  <a:pt x="176312" y="44078"/>
                </a:cubicBezTo>
                <a:cubicBezTo>
                  <a:pt x="179722" y="44078"/>
                  <a:pt x="182890" y="45903"/>
                  <a:pt x="184611" y="48830"/>
                </a:cubicBezTo>
                <a:lnTo>
                  <a:pt x="217395" y="105030"/>
                </a:lnTo>
                <a:cubicBezTo>
                  <a:pt x="219357" y="108405"/>
                  <a:pt x="220597" y="112296"/>
                  <a:pt x="219702" y="116084"/>
                </a:cubicBezTo>
                <a:cubicBezTo>
                  <a:pt x="215983" y="131511"/>
                  <a:pt x="197973" y="143254"/>
                  <a:pt x="176312" y="143254"/>
                </a:cubicBezTo>
                <a:close/>
                <a:moveTo>
                  <a:pt x="43665" y="67426"/>
                </a:moveTo>
                <a:lnTo>
                  <a:pt x="18733" y="110195"/>
                </a:lnTo>
                <a:lnTo>
                  <a:pt x="68631" y="110195"/>
                </a:lnTo>
                <a:lnTo>
                  <a:pt x="43665" y="67426"/>
                </a:lnTo>
                <a:close/>
                <a:moveTo>
                  <a:pt x="310" y="116084"/>
                </a:moveTo>
                <a:cubicBezTo>
                  <a:pt x="-585" y="112296"/>
                  <a:pt x="654" y="108405"/>
                  <a:pt x="2617" y="105030"/>
                </a:cubicBezTo>
                <a:lnTo>
                  <a:pt x="35400" y="48830"/>
                </a:lnTo>
                <a:cubicBezTo>
                  <a:pt x="37122" y="45869"/>
                  <a:pt x="40290" y="44078"/>
                  <a:pt x="43699" y="44078"/>
                </a:cubicBezTo>
                <a:cubicBezTo>
                  <a:pt x="47108" y="44078"/>
                  <a:pt x="50277" y="45903"/>
                  <a:pt x="51998" y="48830"/>
                </a:cubicBezTo>
                <a:lnTo>
                  <a:pt x="84781" y="105030"/>
                </a:lnTo>
                <a:cubicBezTo>
                  <a:pt x="86744" y="108405"/>
                  <a:pt x="87984" y="112296"/>
                  <a:pt x="87089" y="116084"/>
                </a:cubicBezTo>
                <a:cubicBezTo>
                  <a:pt x="83370" y="131511"/>
                  <a:pt x="65360" y="143254"/>
                  <a:pt x="43699" y="143254"/>
                </a:cubicBezTo>
                <a:cubicBezTo>
                  <a:pt x="22039" y="143254"/>
                  <a:pt x="4029" y="131546"/>
                  <a:pt x="310" y="11608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56858898" name="Text 55"/>
          <p:cNvSpPr/>
          <p:nvPr/>
        </p:nvSpPr>
        <p:spPr bwMode="auto">
          <a:xfrm>
            <a:off x="3339053" y="6320798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Аудит</a:t>
            </a:r>
            <a:endParaRPr lang="en-US" sz="1600"/>
          </a:p>
        </p:txBody>
      </p:sp>
      <p:sp>
        <p:nvSpPr>
          <p:cNvPr id="1131154697" name="Text 56"/>
          <p:cNvSpPr/>
          <p:nvPr/>
        </p:nvSpPr>
        <p:spPr bwMode="auto">
          <a:xfrm>
            <a:off x="3339053" y="6532373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Полная прослеживаемость</a:t>
            </a:r>
            <a:endParaRPr lang="en-US" sz="1600"/>
          </a:p>
        </p:txBody>
      </p:sp>
      <p:sp>
        <p:nvSpPr>
          <p:cNvPr id="2030048904" name="Shape 57"/>
          <p:cNvSpPr/>
          <p:nvPr/>
        </p:nvSpPr>
        <p:spPr bwMode="auto">
          <a:xfrm>
            <a:off x="6171346" y="5963766"/>
            <a:ext cx="2759289" cy="890377"/>
          </a:xfrm>
          <a:custGeom>
            <a:avLst/>
            <a:gdLst/>
            <a:ahLst/>
            <a:cxnLst/>
            <a:rect l="l" t="t" r="r" b="b"/>
            <a:pathLst>
              <a:path w="2759289" h="890377" fill="norm" stroke="1" extrusionOk="0">
                <a:moveTo>
                  <a:pt x="70527" y="0"/>
                </a:moveTo>
                <a:lnTo>
                  <a:pt x="2688762" y="0"/>
                </a:lnTo>
                <a:cubicBezTo>
                  <a:pt x="2727713" y="0"/>
                  <a:pt x="2759289" y="31576"/>
                  <a:pt x="2759289" y="70527"/>
                </a:cubicBezTo>
                <a:lnTo>
                  <a:pt x="2759289" y="819851"/>
                </a:lnTo>
                <a:cubicBezTo>
                  <a:pt x="2759289" y="858802"/>
                  <a:pt x="2727713" y="890377"/>
                  <a:pt x="2688762" y="890377"/>
                </a:cubicBezTo>
                <a:lnTo>
                  <a:pt x="70527" y="890377"/>
                </a:lnTo>
                <a:cubicBezTo>
                  <a:pt x="31602" y="890377"/>
                  <a:pt x="0" y="858775"/>
                  <a:pt x="0" y="819851"/>
                </a:cubicBezTo>
                <a:lnTo>
                  <a:pt x="0" y="70527"/>
                </a:lnTo>
                <a:cubicBezTo>
                  <a:pt x="0" y="31576"/>
                  <a:pt x="31576" y="0"/>
                  <a:pt x="7052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97382594" name="Shape 58"/>
          <p:cNvSpPr/>
          <p:nvPr/>
        </p:nvSpPr>
        <p:spPr bwMode="auto">
          <a:xfrm>
            <a:off x="7472889" y="6073961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 fill="norm" stroke="1" extrusionOk="0">
                <a:moveTo>
                  <a:pt x="22039" y="11020"/>
                </a:moveTo>
                <a:cubicBezTo>
                  <a:pt x="9883" y="11020"/>
                  <a:pt x="0" y="20903"/>
                  <a:pt x="0" y="33059"/>
                </a:cubicBezTo>
                <a:lnTo>
                  <a:pt x="0" y="55098"/>
                </a:lnTo>
                <a:cubicBezTo>
                  <a:pt x="0" y="67254"/>
                  <a:pt x="9883" y="77137"/>
                  <a:pt x="22039" y="77137"/>
                </a:cubicBezTo>
                <a:lnTo>
                  <a:pt x="132234" y="77137"/>
                </a:lnTo>
                <a:cubicBezTo>
                  <a:pt x="144390" y="77137"/>
                  <a:pt x="154273" y="67254"/>
                  <a:pt x="154273" y="55098"/>
                </a:cubicBezTo>
                <a:lnTo>
                  <a:pt x="154273" y="33059"/>
                </a:lnTo>
                <a:cubicBezTo>
                  <a:pt x="154273" y="20903"/>
                  <a:pt x="144390" y="11020"/>
                  <a:pt x="132234" y="11020"/>
                </a:cubicBezTo>
                <a:lnTo>
                  <a:pt x="22039" y="11020"/>
                </a:lnTo>
                <a:close/>
                <a:moveTo>
                  <a:pt x="96421" y="35813"/>
                </a:moveTo>
                <a:cubicBezTo>
                  <a:pt x="100982" y="35813"/>
                  <a:pt x="104685" y="39517"/>
                  <a:pt x="104685" y="44078"/>
                </a:cubicBezTo>
                <a:cubicBezTo>
                  <a:pt x="104685" y="48639"/>
                  <a:pt x="100982" y="52343"/>
                  <a:pt x="96421" y="52343"/>
                </a:cubicBezTo>
                <a:cubicBezTo>
                  <a:pt x="91859" y="52343"/>
                  <a:pt x="88156" y="48639"/>
                  <a:pt x="88156" y="44078"/>
                </a:cubicBezTo>
                <a:cubicBezTo>
                  <a:pt x="88156" y="39517"/>
                  <a:pt x="91859" y="35813"/>
                  <a:pt x="96421" y="35813"/>
                </a:cubicBezTo>
                <a:close/>
                <a:moveTo>
                  <a:pt x="115705" y="44078"/>
                </a:moveTo>
                <a:cubicBezTo>
                  <a:pt x="115705" y="39517"/>
                  <a:pt x="119408" y="35813"/>
                  <a:pt x="123970" y="35813"/>
                </a:cubicBezTo>
                <a:cubicBezTo>
                  <a:pt x="128531" y="35813"/>
                  <a:pt x="132234" y="39517"/>
                  <a:pt x="132234" y="44078"/>
                </a:cubicBezTo>
                <a:cubicBezTo>
                  <a:pt x="132234" y="48639"/>
                  <a:pt x="128531" y="52343"/>
                  <a:pt x="123970" y="52343"/>
                </a:cubicBezTo>
                <a:cubicBezTo>
                  <a:pt x="119408" y="52343"/>
                  <a:pt x="115705" y="48639"/>
                  <a:pt x="115705" y="44078"/>
                </a:cubicBezTo>
                <a:close/>
                <a:moveTo>
                  <a:pt x="22039" y="99176"/>
                </a:moveTo>
                <a:cubicBezTo>
                  <a:pt x="9883" y="99176"/>
                  <a:pt x="0" y="109059"/>
                  <a:pt x="0" y="121215"/>
                </a:cubicBezTo>
                <a:lnTo>
                  <a:pt x="0" y="143254"/>
                </a:lnTo>
                <a:cubicBezTo>
                  <a:pt x="0" y="155410"/>
                  <a:pt x="9883" y="165293"/>
                  <a:pt x="22039" y="165293"/>
                </a:cubicBezTo>
                <a:lnTo>
                  <a:pt x="132234" y="165293"/>
                </a:lnTo>
                <a:cubicBezTo>
                  <a:pt x="144390" y="165293"/>
                  <a:pt x="154273" y="155410"/>
                  <a:pt x="154273" y="143254"/>
                </a:cubicBezTo>
                <a:lnTo>
                  <a:pt x="154273" y="121215"/>
                </a:lnTo>
                <a:cubicBezTo>
                  <a:pt x="154273" y="109059"/>
                  <a:pt x="144390" y="99176"/>
                  <a:pt x="132234" y="99176"/>
                </a:cubicBezTo>
                <a:lnTo>
                  <a:pt x="22039" y="99176"/>
                </a:lnTo>
                <a:close/>
                <a:moveTo>
                  <a:pt x="96421" y="123970"/>
                </a:moveTo>
                <a:cubicBezTo>
                  <a:pt x="100982" y="123970"/>
                  <a:pt x="104685" y="127673"/>
                  <a:pt x="104685" y="132234"/>
                </a:cubicBezTo>
                <a:cubicBezTo>
                  <a:pt x="104685" y="136796"/>
                  <a:pt x="100982" y="140499"/>
                  <a:pt x="96421" y="140499"/>
                </a:cubicBezTo>
                <a:cubicBezTo>
                  <a:pt x="91859" y="140499"/>
                  <a:pt x="88156" y="136796"/>
                  <a:pt x="88156" y="132234"/>
                </a:cubicBezTo>
                <a:cubicBezTo>
                  <a:pt x="88156" y="127673"/>
                  <a:pt x="91859" y="123970"/>
                  <a:pt x="96421" y="123970"/>
                </a:cubicBezTo>
                <a:close/>
                <a:moveTo>
                  <a:pt x="115705" y="132234"/>
                </a:moveTo>
                <a:cubicBezTo>
                  <a:pt x="115705" y="127673"/>
                  <a:pt x="119408" y="123970"/>
                  <a:pt x="123970" y="123970"/>
                </a:cubicBezTo>
                <a:cubicBezTo>
                  <a:pt x="128531" y="123970"/>
                  <a:pt x="132234" y="127673"/>
                  <a:pt x="132234" y="132234"/>
                </a:cubicBezTo>
                <a:cubicBezTo>
                  <a:pt x="132234" y="136796"/>
                  <a:pt x="128531" y="140499"/>
                  <a:pt x="123970" y="140499"/>
                </a:cubicBezTo>
                <a:cubicBezTo>
                  <a:pt x="119408" y="140499"/>
                  <a:pt x="115705" y="136796"/>
                  <a:pt x="115705" y="13223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11777992" name="Text 59"/>
          <p:cNvSpPr/>
          <p:nvPr/>
        </p:nvSpPr>
        <p:spPr bwMode="auto">
          <a:xfrm>
            <a:off x="6246279" y="6320798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Инфраструктура</a:t>
            </a:r>
            <a:endParaRPr lang="en-US" sz="1600"/>
          </a:p>
        </p:txBody>
      </p:sp>
      <p:sp>
        <p:nvSpPr>
          <p:cNvPr id="968976252" name="Text 60"/>
          <p:cNvSpPr/>
          <p:nvPr/>
        </p:nvSpPr>
        <p:spPr bwMode="auto">
          <a:xfrm>
            <a:off x="6246279" y="6532373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CPU-first подход</a:t>
            </a:r>
            <a:endParaRPr lang="en-US" sz="1600"/>
          </a:p>
        </p:txBody>
      </p:sp>
      <p:sp>
        <p:nvSpPr>
          <p:cNvPr id="1660150096" name="Shape 61"/>
          <p:cNvSpPr/>
          <p:nvPr/>
        </p:nvSpPr>
        <p:spPr bwMode="auto">
          <a:xfrm>
            <a:off x="9078572" y="5963766"/>
            <a:ext cx="2759289" cy="890377"/>
          </a:xfrm>
          <a:custGeom>
            <a:avLst/>
            <a:gdLst/>
            <a:ahLst/>
            <a:cxnLst/>
            <a:rect l="l" t="t" r="r" b="b"/>
            <a:pathLst>
              <a:path w="2759289" h="890377" fill="norm" stroke="1" extrusionOk="0">
                <a:moveTo>
                  <a:pt x="70527" y="0"/>
                </a:moveTo>
                <a:lnTo>
                  <a:pt x="2688762" y="0"/>
                </a:lnTo>
                <a:cubicBezTo>
                  <a:pt x="2727713" y="0"/>
                  <a:pt x="2759289" y="31576"/>
                  <a:pt x="2759289" y="70527"/>
                </a:cubicBezTo>
                <a:lnTo>
                  <a:pt x="2759289" y="819851"/>
                </a:lnTo>
                <a:cubicBezTo>
                  <a:pt x="2759289" y="858802"/>
                  <a:pt x="2727713" y="890377"/>
                  <a:pt x="2688762" y="890377"/>
                </a:cubicBezTo>
                <a:lnTo>
                  <a:pt x="70527" y="890377"/>
                </a:lnTo>
                <a:cubicBezTo>
                  <a:pt x="31602" y="890377"/>
                  <a:pt x="0" y="858775"/>
                  <a:pt x="0" y="819851"/>
                </a:cubicBezTo>
                <a:lnTo>
                  <a:pt x="0" y="70527"/>
                </a:lnTo>
                <a:cubicBezTo>
                  <a:pt x="0" y="31576"/>
                  <a:pt x="31576" y="0"/>
                  <a:pt x="7052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4240754" name="Shape 62"/>
          <p:cNvSpPr/>
          <p:nvPr/>
        </p:nvSpPr>
        <p:spPr bwMode="auto">
          <a:xfrm>
            <a:off x="10369095" y="6073961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 fill="norm" stroke="1" extrusionOk="0">
                <a:moveTo>
                  <a:pt x="44078" y="110195"/>
                </a:moveTo>
                <a:lnTo>
                  <a:pt x="8437" y="110195"/>
                </a:lnTo>
                <a:cubicBezTo>
                  <a:pt x="-138" y="110195"/>
                  <a:pt x="-5406" y="100863"/>
                  <a:pt x="-999" y="93494"/>
                </a:cubicBezTo>
                <a:lnTo>
                  <a:pt x="17218" y="63121"/>
                </a:lnTo>
                <a:cubicBezTo>
                  <a:pt x="20214" y="58128"/>
                  <a:pt x="25586" y="55098"/>
                  <a:pt x="31406" y="55098"/>
                </a:cubicBezTo>
                <a:lnTo>
                  <a:pt x="64120" y="55098"/>
                </a:lnTo>
                <a:cubicBezTo>
                  <a:pt x="90326" y="10710"/>
                  <a:pt x="129411" y="8471"/>
                  <a:pt x="155547" y="12294"/>
                </a:cubicBezTo>
                <a:cubicBezTo>
                  <a:pt x="159955" y="12948"/>
                  <a:pt x="163399" y="16392"/>
                  <a:pt x="164019" y="20765"/>
                </a:cubicBezTo>
                <a:cubicBezTo>
                  <a:pt x="167841" y="46902"/>
                  <a:pt x="165603" y="85987"/>
                  <a:pt x="121215" y="112193"/>
                </a:cubicBezTo>
                <a:lnTo>
                  <a:pt x="121215" y="144907"/>
                </a:lnTo>
                <a:cubicBezTo>
                  <a:pt x="121215" y="150726"/>
                  <a:pt x="118184" y="156098"/>
                  <a:pt x="113191" y="159094"/>
                </a:cubicBezTo>
                <a:lnTo>
                  <a:pt x="82819" y="177311"/>
                </a:lnTo>
                <a:cubicBezTo>
                  <a:pt x="75484" y="181719"/>
                  <a:pt x="66117" y="176416"/>
                  <a:pt x="66117" y="167876"/>
                </a:cubicBezTo>
                <a:lnTo>
                  <a:pt x="66117" y="132234"/>
                </a:lnTo>
                <a:cubicBezTo>
                  <a:pt x="66117" y="120078"/>
                  <a:pt x="56234" y="110195"/>
                  <a:pt x="44078" y="110195"/>
                </a:cubicBezTo>
                <a:lnTo>
                  <a:pt x="44044" y="110195"/>
                </a:lnTo>
                <a:close/>
                <a:moveTo>
                  <a:pt x="137744" y="55098"/>
                </a:moveTo>
                <a:cubicBezTo>
                  <a:pt x="137744" y="45975"/>
                  <a:pt x="130338" y="38568"/>
                  <a:pt x="121215" y="38568"/>
                </a:cubicBezTo>
                <a:cubicBezTo>
                  <a:pt x="112092" y="38568"/>
                  <a:pt x="104685" y="45975"/>
                  <a:pt x="104685" y="55098"/>
                </a:cubicBezTo>
                <a:cubicBezTo>
                  <a:pt x="104685" y="64220"/>
                  <a:pt x="112092" y="71627"/>
                  <a:pt x="121215" y="71627"/>
                </a:cubicBezTo>
                <a:cubicBezTo>
                  <a:pt x="130338" y="71627"/>
                  <a:pt x="137744" y="64220"/>
                  <a:pt x="137744" y="5509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95040827" name="Text 63"/>
          <p:cNvSpPr/>
          <p:nvPr/>
        </p:nvSpPr>
        <p:spPr bwMode="auto">
          <a:xfrm>
            <a:off x="9153504" y="6320798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Развёртывание</a:t>
            </a:r>
            <a:endParaRPr lang="en-US" sz="1600"/>
          </a:p>
        </p:txBody>
      </p:sp>
      <p:sp>
        <p:nvSpPr>
          <p:cNvPr id="108781312" name="Text 64"/>
          <p:cNvSpPr/>
          <p:nvPr/>
        </p:nvSpPr>
        <p:spPr bwMode="auto">
          <a:xfrm>
            <a:off x="9153504" y="6532373"/>
            <a:ext cx="26094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On-prem ready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897362" name="Shape 0"/>
          <p:cNvSpPr/>
          <p:nvPr/>
        </p:nvSpPr>
        <p:spPr bwMode="auto">
          <a:xfrm>
            <a:off x="337028" y="337028"/>
            <a:ext cx="33703" cy="337028"/>
          </a:xfrm>
          <a:custGeom>
            <a:avLst/>
            <a:gdLst/>
            <a:ahLst/>
            <a:cxnLst/>
            <a:rect l="l" t="t" r="r" b="b"/>
            <a:pathLst>
              <a:path w="33703" h="337028" fill="norm" stroke="1" extrusionOk="0">
                <a:moveTo>
                  <a:pt x="0" y="0"/>
                </a:moveTo>
                <a:lnTo>
                  <a:pt x="33703" y="0"/>
                </a:lnTo>
                <a:lnTo>
                  <a:pt x="33703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76473561" name="Text 1"/>
          <p:cNvSpPr/>
          <p:nvPr/>
        </p:nvSpPr>
        <p:spPr bwMode="auto">
          <a:xfrm>
            <a:off x="471840" y="404433"/>
            <a:ext cx="132283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 spc="52">
                <a:solidFill>
                  <a:srgbClr val="C0A062"/>
                </a:solidFill>
                <a:latin typeface="Liter"/>
                <a:ea typeface="Liter"/>
                <a:cs typeface="Liter"/>
              </a:rPr>
              <a:t>БИЗНЕС-МОДЕЛЬ</a:t>
            </a:r>
            <a:endParaRPr lang="en-US" sz="1600"/>
          </a:p>
        </p:txBody>
      </p:sp>
      <p:sp>
        <p:nvSpPr>
          <p:cNvPr id="1776648503" name="Text 2"/>
          <p:cNvSpPr/>
          <p:nvPr/>
        </p:nvSpPr>
        <p:spPr bwMode="auto">
          <a:xfrm>
            <a:off x="337028" y="775165"/>
            <a:ext cx="11720160" cy="40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0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Модульное лицензирование и рыночная возможность</a:t>
            </a:r>
            <a:endParaRPr lang="en-US" sz="1600"/>
          </a:p>
        </p:txBody>
      </p:sp>
      <p:sp>
        <p:nvSpPr>
          <p:cNvPr id="970946671" name="Shape 3"/>
          <p:cNvSpPr/>
          <p:nvPr/>
        </p:nvSpPr>
        <p:spPr bwMode="auto">
          <a:xfrm>
            <a:off x="353880" y="1348113"/>
            <a:ext cx="6015956" cy="2156981"/>
          </a:xfrm>
          <a:custGeom>
            <a:avLst/>
            <a:gdLst/>
            <a:ahLst/>
            <a:cxnLst/>
            <a:rect l="l" t="t" r="r" b="b"/>
            <a:pathLst>
              <a:path w="6015956" h="2156981" fill="norm" stroke="1" extrusionOk="0">
                <a:moveTo>
                  <a:pt x="0" y="0"/>
                </a:moveTo>
                <a:lnTo>
                  <a:pt x="5948550" y="0"/>
                </a:lnTo>
                <a:cubicBezTo>
                  <a:pt x="5985777" y="0"/>
                  <a:pt x="6015956" y="30179"/>
                  <a:pt x="6015956" y="67406"/>
                </a:cubicBezTo>
                <a:lnTo>
                  <a:pt x="6015956" y="2089576"/>
                </a:lnTo>
                <a:cubicBezTo>
                  <a:pt x="6015956" y="2126803"/>
                  <a:pt x="5985777" y="2156981"/>
                  <a:pt x="5948550" y="2156981"/>
                </a:cubicBezTo>
                <a:lnTo>
                  <a:pt x="0" y="215698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88837683" name="Shape 4"/>
          <p:cNvSpPr/>
          <p:nvPr/>
        </p:nvSpPr>
        <p:spPr bwMode="auto">
          <a:xfrm>
            <a:off x="353880" y="1348113"/>
            <a:ext cx="33703" cy="2156981"/>
          </a:xfrm>
          <a:custGeom>
            <a:avLst/>
            <a:gdLst/>
            <a:ahLst/>
            <a:cxnLst/>
            <a:rect l="l" t="t" r="r" b="b"/>
            <a:pathLst>
              <a:path w="33703" h="2156981" fill="norm" stroke="1" extrusionOk="0">
                <a:moveTo>
                  <a:pt x="0" y="0"/>
                </a:moveTo>
                <a:lnTo>
                  <a:pt x="33703" y="0"/>
                </a:lnTo>
                <a:lnTo>
                  <a:pt x="33703" y="2156981"/>
                </a:lnTo>
                <a:lnTo>
                  <a:pt x="0" y="2156981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69957479" name="Text 5"/>
          <p:cNvSpPr/>
          <p:nvPr/>
        </p:nvSpPr>
        <p:spPr bwMode="auto">
          <a:xfrm>
            <a:off x="539245" y="1516628"/>
            <a:ext cx="5746333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Модульная структура</a:t>
            </a:r>
            <a:endParaRPr lang="en-US" sz="1600"/>
          </a:p>
        </p:txBody>
      </p:sp>
      <p:sp>
        <p:nvSpPr>
          <p:cNvPr id="1206195518" name="Shape 6"/>
          <p:cNvSpPr/>
          <p:nvPr/>
        </p:nvSpPr>
        <p:spPr bwMode="auto">
          <a:xfrm>
            <a:off x="543458" y="1857869"/>
            <a:ext cx="2772058" cy="682482"/>
          </a:xfrm>
          <a:custGeom>
            <a:avLst/>
            <a:gdLst/>
            <a:ahLst/>
            <a:cxnLst/>
            <a:rect l="l" t="t" r="r" b="b"/>
            <a:pathLst>
              <a:path w="2772058" h="682482" fill="norm" stroke="1" extrusionOk="0">
                <a:moveTo>
                  <a:pt x="67409" y="0"/>
                </a:moveTo>
                <a:lnTo>
                  <a:pt x="2704649" y="0"/>
                </a:lnTo>
                <a:cubicBezTo>
                  <a:pt x="2741878" y="0"/>
                  <a:pt x="2772058" y="30180"/>
                  <a:pt x="2772058" y="67409"/>
                </a:cubicBezTo>
                <a:lnTo>
                  <a:pt x="2772058" y="615074"/>
                </a:lnTo>
                <a:cubicBezTo>
                  <a:pt x="2772058" y="652302"/>
                  <a:pt x="2741878" y="682482"/>
                  <a:pt x="2704649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515254891" name="Shape 7"/>
          <p:cNvSpPr/>
          <p:nvPr/>
        </p:nvSpPr>
        <p:spPr bwMode="auto">
          <a:xfrm>
            <a:off x="665631" y="1996893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 fill="norm" stroke="1" extrusionOk="0">
                <a:moveTo>
                  <a:pt x="61218" y="1369"/>
                </a:moveTo>
                <a:cubicBezTo>
                  <a:pt x="65141" y="-448"/>
                  <a:pt x="69670" y="-448"/>
                  <a:pt x="73593" y="1369"/>
                </a:cubicBezTo>
                <a:lnTo>
                  <a:pt x="131151" y="27963"/>
                </a:lnTo>
                <a:cubicBezTo>
                  <a:pt x="133389" y="28990"/>
                  <a:pt x="134811" y="31228"/>
                  <a:pt x="134811" y="33703"/>
                </a:cubicBezTo>
                <a:cubicBezTo>
                  <a:pt x="134811" y="36178"/>
                  <a:pt x="133389" y="38416"/>
                  <a:pt x="131151" y="39443"/>
                </a:cubicBezTo>
                <a:lnTo>
                  <a:pt x="73593" y="66036"/>
                </a:lnTo>
                <a:cubicBezTo>
                  <a:pt x="69670" y="67853"/>
                  <a:pt x="65141" y="67853"/>
                  <a:pt x="61218" y="66036"/>
                </a:cubicBezTo>
                <a:lnTo>
                  <a:pt x="3660" y="39443"/>
                </a:lnTo>
                <a:cubicBezTo>
                  <a:pt x="1422" y="38390"/>
                  <a:pt x="0" y="36152"/>
                  <a:pt x="0" y="33703"/>
                </a:cubicBezTo>
                <a:cubicBezTo>
                  <a:pt x="0" y="31254"/>
                  <a:pt x="1422" y="28990"/>
                  <a:pt x="3660" y="27963"/>
                </a:cubicBezTo>
                <a:lnTo>
                  <a:pt x="61218" y="1369"/>
                </a:lnTo>
                <a:close/>
                <a:moveTo>
                  <a:pt x="12665" y="57505"/>
                </a:moveTo>
                <a:lnTo>
                  <a:pt x="55926" y="77490"/>
                </a:lnTo>
                <a:cubicBezTo>
                  <a:pt x="63219" y="80860"/>
                  <a:pt x="71619" y="80860"/>
                  <a:pt x="78912" y="77490"/>
                </a:cubicBezTo>
                <a:lnTo>
                  <a:pt x="122173" y="57505"/>
                </a:lnTo>
                <a:lnTo>
                  <a:pt x="131151" y="61666"/>
                </a:lnTo>
                <a:cubicBezTo>
                  <a:pt x="133389" y="62693"/>
                  <a:pt x="134811" y="64931"/>
                  <a:pt x="134811" y="67406"/>
                </a:cubicBezTo>
                <a:cubicBezTo>
                  <a:pt x="134811" y="69881"/>
                  <a:pt x="133389" y="72119"/>
                  <a:pt x="131151" y="73146"/>
                </a:cubicBezTo>
                <a:lnTo>
                  <a:pt x="73593" y="99739"/>
                </a:lnTo>
                <a:cubicBezTo>
                  <a:pt x="69670" y="101556"/>
                  <a:pt x="65141" y="101556"/>
                  <a:pt x="61218" y="99739"/>
                </a:cubicBezTo>
                <a:lnTo>
                  <a:pt x="3660" y="73146"/>
                </a:lnTo>
                <a:cubicBezTo>
                  <a:pt x="1422" y="72092"/>
                  <a:pt x="0" y="69854"/>
                  <a:pt x="0" y="67406"/>
                </a:cubicBezTo>
                <a:cubicBezTo>
                  <a:pt x="0" y="64957"/>
                  <a:pt x="1422" y="62693"/>
                  <a:pt x="3660" y="61666"/>
                </a:cubicBezTo>
                <a:lnTo>
                  <a:pt x="12639" y="57505"/>
                </a:lnTo>
                <a:close/>
                <a:moveTo>
                  <a:pt x="3660" y="95368"/>
                </a:moveTo>
                <a:lnTo>
                  <a:pt x="12639" y="91208"/>
                </a:lnTo>
                <a:lnTo>
                  <a:pt x="55899" y="111193"/>
                </a:lnTo>
                <a:cubicBezTo>
                  <a:pt x="63193" y="114563"/>
                  <a:pt x="71592" y="114563"/>
                  <a:pt x="78886" y="111193"/>
                </a:cubicBezTo>
                <a:lnTo>
                  <a:pt x="122146" y="91208"/>
                </a:lnTo>
                <a:lnTo>
                  <a:pt x="131125" y="95368"/>
                </a:lnTo>
                <a:cubicBezTo>
                  <a:pt x="133363" y="96395"/>
                  <a:pt x="134785" y="98633"/>
                  <a:pt x="134785" y="101109"/>
                </a:cubicBezTo>
                <a:cubicBezTo>
                  <a:pt x="134785" y="103584"/>
                  <a:pt x="133363" y="105822"/>
                  <a:pt x="131125" y="106849"/>
                </a:cubicBezTo>
                <a:lnTo>
                  <a:pt x="73567" y="133442"/>
                </a:lnTo>
                <a:cubicBezTo>
                  <a:pt x="69644" y="135259"/>
                  <a:pt x="65115" y="135259"/>
                  <a:pt x="61192" y="133442"/>
                </a:cubicBezTo>
                <a:lnTo>
                  <a:pt x="3660" y="106849"/>
                </a:lnTo>
                <a:cubicBezTo>
                  <a:pt x="1422" y="105795"/>
                  <a:pt x="0" y="103557"/>
                  <a:pt x="0" y="101109"/>
                </a:cubicBezTo>
                <a:cubicBezTo>
                  <a:pt x="0" y="98660"/>
                  <a:pt x="1422" y="96395"/>
                  <a:pt x="3660" y="9536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44748710" name="Text 8"/>
          <p:cNvSpPr/>
          <p:nvPr/>
        </p:nvSpPr>
        <p:spPr bwMode="auto">
          <a:xfrm>
            <a:off x="884699" y="1963190"/>
            <a:ext cx="1373390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Gateway &amp; Integration</a:t>
            </a:r>
            <a:endParaRPr lang="en-US" sz="1600"/>
          </a:p>
        </p:txBody>
      </p:sp>
      <p:sp>
        <p:nvSpPr>
          <p:cNvPr id="1076646830" name="Text 9"/>
          <p:cNvSpPr/>
          <p:nvPr/>
        </p:nvSpPr>
        <p:spPr bwMode="auto">
          <a:xfrm>
            <a:off x="648780" y="2232813"/>
            <a:ext cx="2628821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Базовый уровень доступа</a:t>
            </a:r>
            <a:endParaRPr lang="en-US" sz="1600"/>
          </a:p>
        </p:txBody>
      </p:sp>
      <p:sp>
        <p:nvSpPr>
          <p:cNvPr id="112738097" name="Shape 10"/>
          <p:cNvSpPr/>
          <p:nvPr/>
        </p:nvSpPr>
        <p:spPr bwMode="auto">
          <a:xfrm>
            <a:off x="3423339" y="1857869"/>
            <a:ext cx="2772058" cy="682482"/>
          </a:xfrm>
          <a:custGeom>
            <a:avLst/>
            <a:gdLst/>
            <a:ahLst/>
            <a:cxnLst/>
            <a:rect l="l" t="t" r="r" b="b"/>
            <a:pathLst>
              <a:path w="2772058" h="682482" fill="norm" stroke="1" extrusionOk="0">
                <a:moveTo>
                  <a:pt x="67409" y="0"/>
                </a:moveTo>
                <a:lnTo>
                  <a:pt x="2704649" y="0"/>
                </a:lnTo>
                <a:cubicBezTo>
                  <a:pt x="2741878" y="0"/>
                  <a:pt x="2772058" y="30180"/>
                  <a:pt x="2772058" y="67409"/>
                </a:cubicBezTo>
                <a:lnTo>
                  <a:pt x="2772058" y="615074"/>
                </a:lnTo>
                <a:cubicBezTo>
                  <a:pt x="2772058" y="652302"/>
                  <a:pt x="2741878" y="682482"/>
                  <a:pt x="2704649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982486293" name="Shape 11"/>
          <p:cNvSpPr/>
          <p:nvPr/>
        </p:nvSpPr>
        <p:spPr bwMode="auto">
          <a:xfrm>
            <a:off x="3545512" y="1996893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 fill="norm" stroke="1" extrusionOk="0">
                <a:moveTo>
                  <a:pt x="67406" y="0"/>
                </a:moveTo>
                <a:cubicBezTo>
                  <a:pt x="68617" y="0"/>
                  <a:pt x="69828" y="263"/>
                  <a:pt x="70934" y="764"/>
                </a:cubicBezTo>
                <a:lnTo>
                  <a:pt x="120540" y="21802"/>
                </a:lnTo>
                <a:cubicBezTo>
                  <a:pt x="126333" y="24250"/>
                  <a:pt x="130651" y="29964"/>
                  <a:pt x="130625" y="36862"/>
                </a:cubicBezTo>
                <a:cubicBezTo>
                  <a:pt x="130493" y="62982"/>
                  <a:pt x="119750" y="110772"/>
                  <a:pt x="74383" y="132494"/>
                </a:cubicBezTo>
                <a:cubicBezTo>
                  <a:pt x="69986" y="134601"/>
                  <a:pt x="64878" y="134601"/>
                  <a:pt x="60481" y="132494"/>
                </a:cubicBezTo>
                <a:cubicBezTo>
                  <a:pt x="15087" y="110772"/>
                  <a:pt x="4371" y="62982"/>
                  <a:pt x="4239" y="36862"/>
                </a:cubicBezTo>
                <a:cubicBezTo>
                  <a:pt x="4213" y="29964"/>
                  <a:pt x="8531" y="24250"/>
                  <a:pt x="14324" y="21802"/>
                </a:cubicBezTo>
                <a:lnTo>
                  <a:pt x="63904" y="764"/>
                </a:lnTo>
                <a:cubicBezTo>
                  <a:pt x="65010" y="263"/>
                  <a:pt x="66194" y="0"/>
                  <a:pt x="67406" y="0"/>
                </a:cubicBezTo>
                <a:close/>
                <a:moveTo>
                  <a:pt x="67406" y="17589"/>
                </a:moveTo>
                <a:lnTo>
                  <a:pt x="67406" y="117144"/>
                </a:lnTo>
                <a:cubicBezTo>
                  <a:pt x="103742" y="99555"/>
                  <a:pt x="113510" y="60586"/>
                  <a:pt x="113747" y="37257"/>
                </a:cubicBezTo>
                <a:lnTo>
                  <a:pt x="67406" y="17615"/>
                </a:lnTo>
                <a:lnTo>
                  <a:pt x="67406" y="1761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01483193" name="Text 12"/>
          <p:cNvSpPr/>
          <p:nvPr/>
        </p:nvSpPr>
        <p:spPr bwMode="auto">
          <a:xfrm>
            <a:off x="3764580" y="1963190"/>
            <a:ext cx="1272282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Risk &amp; Fraud Engines</a:t>
            </a:r>
            <a:endParaRPr lang="en-US" sz="1600"/>
          </a:p>
        </p:txBody>
      </p:sp>
      <p:sp>
        <p:nvSpPr>
          <p:cNvPr id="1819233972" name="Text 13"/>
          <p:cNvSpPr/>
          <p:nvPr/>
        </p:nvSpPr>
        <p:spPr bwMode="auto">
          <a:xfrm>
            <a:off x="3528660" y="2232813"/>
            <a:ext cx="2628821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Оценка рисков и мошенничества</a:t>
            </a:r>
            <a:endParaRPr lang="en-US" sz="1600"/>
          </a:p>
        </p:txBody>
      </p:sp>
      <p:sp>
        <p:nvSpPr>
          <p:cNvPr id="1799667427" name="Shape 14"/>
          <p:cNvSpPr/>
          <p:nvPr/>
        </p:nvSpPr>
        <p:spPr bwMode="auto">
          <a:xfrm>
            <a:off x="543458" y="2649885"/>
            <a:ext cx="2772058" cy="682482"/>
          </a:xfrm>
          <a:custGeom>
            <a:avLst/>
            <a:gdLst/>
            <a:ahLst/>
            <a:cxnLst/>
            <a:rect l="l" t="t" r="r" b="b"/>
            <a:pathLst>
              <a:path w="2772058" h="682482" fill="norm" stroke="1" extrusionOk="0">
                <a:moveTo>
                  <a:pt x="67409" y="0"/>
                </a:moveTo>
                <a:lnTo>
                  <a:pt x="2704649" y="0"/>
                </a:lnTo>
                <a:cubicBezTo>
                  <a:pt x="2741878" y="0"/>
                  <a:pt x="2772058" y="30180"/>
                  <a:pt x="2772058" y="67409"/>
                </a:cubicBezTo>
                <a:lnTo>
                  <a:pt x="2772058" y="615074"/>
                </a:lnTo>
                <a:cubicBezTo>
                  <a:pt x="2772058" y="652302"/>
                  <a:pt x="2741878" y="682482"/>
                  <a:pt x="2704649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391556597" name="Shape 15"/>
          <p:cNvSpPr/>
          <p:nvPr/>
        </p:nvSpPr>
        <p:spPr bwMode="auto">
          <a:xfrm>
            <a:off x="648780" y="2788909"/>
            <a:ext cx="168514" cy="134811"/>
          </a:xfrm>
          <a:custGeom>
            <a:avLst/>
            <a:gdLst/>
            <a:ahLst/>
            <a:cxnLst/>
            <a:rect l="l" t="t" r="r" b="b"/>
            <a:pathLst>
              <a:path w="168514" h="134811" fill="norm" stroke="1" extrusionOk="0">
                <a:moveTo>
                  <a:pt x="92683" y="0"/>
                </a:moveTo>
                <a:cubicBezTo>
                  <a:pt x="92683" y="-4660"/>
                  <a:pt x="88918" y="-8426"/>
                  <a:pt x="84257" y="-8426"/>
                </a:cubicBezTo>
                <a:cubicBezTo>
                  <a:pt x="79597" y="-8426"/>
                  <a:pt x="75831" y="-4660"/>
                  <a:pt x="75831" y="0"/>
                </a:cubicBezTo>
                <a:lnTo>
                  <a:pt x="75831" y="16851"/>
                </a:lnTo>
                <a:lnTo>
                  <a:pt x="50554" y="16851"/>
                </a:lnTo>
                <a:cubicBezTo>
                  <a:pt x="36599" y="16851"/>
                  <a:pt x="25277" y="28173"/>
                  <a:pt x="25277" y="42129"/>
                </a:cubicBezTo>
                <a:lnTo>
                  <a:pt x="25277" y="101109"/>
                </a:lnTo>
                <a:cubicBezTo>
                  <a:pt x="25277" y="115064"/>
                  <a:pt x="36599" y="126386"/>
                  <a:pt x="50554" y="126386"/>
                </a:cubicBezTo>
                <a:lnTo>
                  <a:pt x="117960" y="126386"/>
                </a:lnTo>
                <a:cubicBezTo>
                  <a:pt x="131915" y="126386"/>
                  <a:pt x="143237" y="115064"/>
                  <a:pt x="143237" y="101109"/>
                </a:cubicBezTo>
                <a:lnTo>
                  <a:pt x="143237" y="42129"/>
                </a:lnTo>
                <a:cubicBezTo>
                  <a:pt x="143237" y="28173"/>
                  <a:pt x="131915" y="16851"/>
                  <a:pt x="117960" y="16851"/>
                </a:cubicBezTo>
                <a:lnTo>
                  <a:pt x="92683" y="16851"/>
                </a:lnTo>
                <a:lnTo>
                  <a:pt x="92683" y="0"/>
                </a:lnTo>
                <a:close/>
                <a:moveTo>
                  <a:pt x="42129" y="96896"/>
                </a:moveTo>
                <a:cubicBezTo>
                  <a:pt x="42129" y="93394"/>
                  <a:pt x="44946" y="90576"/>
                  <a:pt x="48448" y="90576"/>
                </a:cubicBezTo>
                <a:lnTo>
                  <a:pt x="56874" y="90576"/>
                </a:lnTo>
                <a:cubicBezTo>
                  <a:pt x="60375" y="90576"/>
                  <a:pt x="63193" y="93394"/>
                  <a:pt x="63193" y="96896"/>
                </a:cubicBezTo>
                <a:cubicBezTo>
                  <a:pt x="63193" y="100398"/>
                  <a:pt x="60375" y="103215"/>
                  <a:pt x="56874" y="103215"/>
                </a:cubicBezTo>
                <a:lnTo>
                  <a:pt x="48448" y="103215"/>
                </a:lnTo>
                <a:cubicBezTo>
                  <a:pt x="44946" y="103215"/>
                  <a:pt x="42129" y="100398"/>
                  <a:pt x="42129" y="96896"/>
                </a:cubicBezTo>
                <a:close/>
                <a:moveTo>
                  <a:pt x="73725" y="96896"/>
                </a:moveTo>
                <a:cubicBezTo>
                  <a:pt x="73725" y="93394"/>
                  <a:pt x="76542" y="90576"/>
                  <a:pt x="80044" y="90576"/>
                </a:cubicBezTo>
                <a:lnTo>
                  <a:pt x="88470" y="90576"/>
                </a:lnTo>
                <a:cubicBezTo>
                  <a:pt x="91972" y="90576"/>
                  <a:pt x="94789" y="93394"/>
                  <a:pt x="94789" y="96896"/>
                </a:cubicBezTo>
                <a:cubicBezTo>
                  <a:pt x="94789" y="100398"/>
                  <a:pt x="91972" y="103215"/>
                  <a:pt x="88470" y="103215"/>
                </a:cubicBezTo>
                <a:lnTo>
                  <a:pt x="80044" y="103215"/>
                </a:lnTo>
                <a:cubicBezTo>
                  <a:pt x="76542" y="103215"/>
                  <a:pt x="73725" y="100398"/>
                  <a:pt x="73725" y="96896"/>
                </a:cubicBezTo>
                <a:close/>
                <a:moveTo>
                  <a:pt x="105321" y="96896"/>
                </a:moveTo>
                <a:cubicBezTo>
                  <a:pt x="105321" y="93394"/>
                  <a:pt x="108139" y="90576"/>
                  <a:pt x="111641" y="90576"/>
                </a:cubicBezTo>
                <a:lnTo>
                  <a:pt x="120066" y="90576"/>
                </a:lnTo>
                <a:cubicBezTo>
                  <a:pt x="123568" y="90576"/>
                  <a:pt x="126386" y="93394"/>
                  <a:pt x="126386" y="96896"/>
                </a:cubicBezTo>
                <a:cubicBezTo>
                  <a:pt x="126386" y="100398"/>
                  <a:pt x="123568" y="103215"/>
                  <a:pt x="120066" y="103215"/>
                </a:cubicBezTo>
                <a:lnTo>
                  <a:pt x="111641" y="103215"/>
                </a:lnTo>
                <a:cubicBezTo>
                  <a:pt x="108139" y="103215"/>
                  <a:pt x="105321" y="100398"/>
                  <a:pt x="105321" y="96896"/>
                </a:cubicBezTo>
                <a:close/>
                <a:moveTo>
                  <a:pt x="58980" y="46341"/>
                </a:moveTo>
                <a:cubicBezTo>
                  <a:pt x="65955" y="46341"/>
                  <a:pt x="71619" y="52005"/>
                  <a:pt x="71619" y="58980"/>
                </a:cubicBezTo>
                <a:cubicBezTo>
                  <a:pt x="71619" y="65955"/>
                  <a:pt x="65955" y="71619"/>
                  <a:pt x="58980" y="71619"/>
                </a:cubicBezTo>
                <a:cubicBezTo>
                  <a:pt x="52005" y="71619"/>
                  <a:pt x="46341" y="65955"/>
                  <a:pt x="46341" y="58980"/>
                </a:cubicBezTo>
                <a:cubicBezTo>
                  <a:pt x="46341" y="52005"/>
                  <a:pt x="52005" y="46341"/>
                  <a:pt x="58980" y="46341"/>
                </a:cubicBezTo>
                <a:close/>
                <a:moveTo>
                  <a:pt x="96896" y="58980"/>
                </a:moveTo>
                <a:cubicBezTo>
                  <a:pt x="96896" y="52005"/>
                  <a:pt x="102559" y="46341"/>
                  <a:pt x="109534" y="46341"/>
                </a:cubicBezTo>
                <a:cubicBezTo>
                  <a:pt x="116510" y="46341"/>
                  <a:pt x="122173" y="52005"/>
                  <a:pt x="122173" y="58980"/>
                </a:cubicBezTo>
                <a:cubicBezTo>
                  <a:pt x="122173" y="65955"/>
                  <a:pt x="116510" y="71619"/>
                  <a:pt x="109534" y="71619"/>
                </a:cubicBezTo>
                <a:cubicBezTo>
                  <a:pt x="102559" y="71619"/>
                  <a:pt x="96896" y="65955"/>
                  <a:pt x="96896" y="58980"/>
                </a:cubicBezTo>
                <a:close/>
                <a:moveTo>
                  <a:pt x="16851" y="58980"/>
                </a:moveTo>
                <a:cubicBezTo>
                  <a:pt x="16851" y="54319"/>
                  <a:pt x="13086" y="50554"/>
                  <a:pt x="8426" y="50554"/>
                </a:cubicBezTo>
                <a:cubicBezTo>
                  <a:pt x="3765" y="50554"/>
                  <a:pt x="0" y="54319"/>
                  <a:pt x="0" y="58980"/>
                </a:cubicBezTo>
                <a:lnTo>
                  <a:pt x="0" y="84257"/>
                </a:lnTo>
                <a:cubicBezTo>
                  <a:pt x="0" y="88918"/>
                  <a:pt x="3765" y="92683"/>
                  <a:pt x="8426" y="92683"/>
                </a:cubicBezTo>
                <a:cubicBezTo>
                  <a:pt x="13086" y="92683"/>
                  <a:pt x="16851" y="88918"/>
                  <a:pt x="16851" y="84257"/>
                </a:cubicBezTo>
                <a:lnTo>
                  <a:pt x="16851" y="58980"/>
                </a:lnTo>
                <a:close/>
                <a:moveTo>
                  <a:pt x="160088" y="50554"/>
                </a:moveTo>
                <a:cubicBezTo>
                  <a:pt x="155428" y="50554"/>
                  <a:pt x="151663" y="54319"/>
                  <a:pt x="151663" y="58980"/>
                </a:cubicBezTo>
                <a:lnTo>
                  <a:pt x="151663" y="84257"/>
                </a:lnTo>
                <a:cubicBezTo>
                  <a:pt x="151663" y="88918"/>
                  <a:pt x="155428" y="92683"/>
                  <a:pt x="160088" y="92683"/>
                </a:cubicBezTo>
                <a:cubicBezTo>
                  <a:pt x="164749" y="92683"/>
                  <a:pt x="168514" y="88918"/>
                  <a:pt x="168514" y="84257"/>
                </a:cubicBezTo>
                <a:lnTo>
                  <a:pt x="168514" y="58980"/>
                </a:lnTo>
                <a:cubicBezTo>
                  <a:pt x="168514" y="54319"/>
                  <a:pt x="164749" y="50554"/>
                  <a:pt x="160088" y="5055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74080614" name="Text 16"/>
          <p:cNvSpPr/>
          <p:nvPr/>
        </p:nvSpPr>
        <p:spPr bwMode="auto">
          <a:xfrm>
            <a:off x="884699" y="2755207"/>
            <a:ext cx="1095342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Retail AI Assistant</a:t>
            </a:r>
            <a:endParaRPr lang="en-US" sz="1600"/>
          </a:p>
        </p:txBody>
      </p:sp>
      <p:sp>
        <p:nvSpPr>
          <p:cNvPr id="1825944436" name="Text 17"/>
          <p:cNvSpPr/>
          <p:nvPr/>
        </p:nvSpPr>
        <p:spPr bwMode="auto">
          <a:xfrm>
            <a:off x="648780" y="3024829"/>
            <a:ext cx="2628821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AI-помощник для клиентов</a:t>
            </a:r>
            <a:endParaRPr lang="en-US" sz="1600"/>
          </a:p>
        </p:txBody>
      </p:sp>
      <p:sp>
        <p:nvSpPr>
          <p:cNvPr id="1555571249" name="Shape 18"/>
          <p:cNvSpPr/>
          <p:nvPr/>
        </p:nvSpPr>
        <p:spPr bwMode="auto">
          <a:xfrm>
            <a:off x="3423339" y="2649885"/>
            <a:ext cx="2772058" cy="682482"/>
          </a:xfrm>
          <a:custGeom>
            <a:avLst/>
            <a:gdLst/>
            <a:ahLst/>
            <a:cxnLst/>
            <a:rect l="l" t="t" r="r" b="b"/>
            <a:pathLst>
              <a:path w="2772058" h="682482" fill="norm" stroke="1" extrusionOk="0">
                <a:moveTo>
                  <a:pt x="67409" y="0"/>
                </a:moveTo>
                <a:lnTo>
                  <a:pt x="2704649" y="0"/>
                </a:lnTo>
                <a:cubicBezTo>
                  <a:pt x="2741878" y="0"/>
                  <a:pt x="2772058" y="30180"/>
                  <a:pt x="2772058" y="67409"/>
                </a:cubicBezTo>
                <a:lnTo>
                  <a:pt x="2772058" y="615074"/>
                </a:lnTo>
                <a:cubicBezTo>
                  <a:pt x="2772058" y="652302"/>
                  <a:pt x="2741878" y="682482"/>
                  <a:pt x="2704649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635584653" name="Shape 19"/>
          <p:cNvSpPr/>
          <p:nvPr/>
        </p:nvSpPr>
        <p:spPr bwMode="auto">
          <a:xfrm>
            <a:off x="3545512" y="2788909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 fill="norm" stroke="1" extrusionOk="0">
                <a:moveTo>
                  <a:pt x="0" y="21064"/>
                </a:moveTo>
                <a:cubicBezTo>
                  <a:pt x="0" y="14087"/>
                  <a:pt x="5661" y="8426"/>
                  <a:pt x="12639" y="8426"/>
                </a:cubicBezTo>
                <a:lnTo>
                  <a:pt x="37916" y="8426"/>
                </a:lnTo>
                <a:cubicBezTo>
                  <a:pt x="44893" y="8426"/>
                  <a:pt x="50554" y="14087"/>
                  <a:pt x="50554" y="21064"/>
                </a:cubicBezTo>
                <a:lnTo>
                  <a:pt x="50554" y="25277"/>
                </a:lnTo>
                <a:lnTo>
                  <a:pt x="84257" y="25277"/>
                </a:lnTo>
                <a:lnTo>
                  <a:pt x="84257" y="21064"/>
                </a:lnTo>
                <a:cubicBezTo>
                  <a:pt x="84257" y="14087"/>
                  <a:pt x="89918" y="8426"/>
                  <a:pt x="96896" y="8426"/>
                </a:cubicBezTo>
                <a:lnTo>
                  <a:pt x="122173" y="8426"/>
                </a:lnTo>
                <a:cubicBezTo>
                  <a:pt x="129150" y="8426"/>
                  <a:pt x="134811" y="14087"/>
                  <a:pt x="134811" y="21064"/>
                </a:cubicBezTo>
                <a:lnTo>
                  <a:pt x="134811" y="46341"/>
                </a:lnTo>
                <a:cubicBezTo>
                  <a:pt x="134811" y="53319"/>
                  <a:pt x="129150" y="58980"/>
                  <a:pt x="122173" y="58980"/>
                </a:cubicBezTo>
                <a:lnTo>
                  <a:pt x="96896" y="58980"/>
                </a:lnTo>
                <a:cubicBezTo>
                  <a:pt x="89918" y="58980"/>
                  <a:pt x="84257" y="53319"/>
                  <a:pt x="84257" y="46341"/>
                </a:cubicBezTo>
                <a:lnTo>
                  <a:pt x="84257" y="42129"/>
                </a:lnTo>
                <a:lnTo>
                  <a:pt x="50554" y="42129"/>
                </a:lnTo>
                <a:lnTo>
                  <a:pt x="50554" y="46341"/>
                </a:lnTo>
                <a:cubicBezTo>
                  <a:pt x="50554" y="48264"/>
                  <a:pt x="50107" y="50107"/>
                  <a:pt x="49343" y="51739"/>
                </a:cubicBezTo>
                <a:lnTo>
                  <a:pt x="67406" y="75831"/>
                </a:lnTo>
                <a:lnTo>
                  <a:pt x="88470" y="75831"/>
                </a:lnTo>
                <a:cubicBezTo>
                  <a:pt x="95447" y="75831"/>
                  <a:pt x="101109" y="81492"/>
                  <a:pt x="101109" y="88470"/>
                </a:cubicBezTo>
                <a:lnTo>
                  <a:pt x="101109" y="113747"/>
                </a:lnTo>
                <a:cubicBezTo>
                  <a:pt x="101109" y="120725"/>
                  <a:pt x="95447" y="126386"/>
                  <a:pt x="88470" y="126386"/>
                </a:cubicBezTo>
                <a:lnTo>
                  <a:pt x="63193" y="126386"/>
                </a:lnTo>
                <a:cubicBezTo>
                  <a:pt x="56215" y="126386"/>
                  <a:pt x="50554" y="120725"/>
                  <a:pt x="50554" y="113747"/>
                </a:cubicBezTo>
                <a:lnTo>
                  <a:pt x="50554" y="88470"/>
                </a:lnTo>
                <a:cubicBezTo>
                  <a:pt x="50554" y="86548"/>
                  <a:pt x="51002" y="84705"/>
                  <a:pt x="51765" y="83072"/>
                </a:cubicBezTo>
                <a:lnTo>
                  <a:pt x="33703" y="58980"/>
                </a:lnTo>
                <a:lnTo>
                  <a:pt x="12639" y="58980"/>
                </a:lnTo>
                <a:cubicBezTo>
                  <a:pt x="5661" y="58980"/>
                  <a:pt x="0" y="53319"/>
                  <a:pt x="0" y="46341"/>
                </a:cubicBezTo>
                <a:lnTo>
                  <a:pt x="0" y="2106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31937490" name="Text 20"/>
          <p:cNvSpPr/>
          <p:nvPr/>
        </p:nvSpPr>
        <p:spPr bwMode="auto">
          <a:xfrm>
            <a:off x="3764580" y="2755207"/>
            <a:ext cx="1188025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Contagion Platform</a:t>
            </a:r>
            <a:endParaRPr lang="en-US" sz="1600"/>
          </a:p>
        </p:txBody>
      </p:sp>
      <p:sp>
        <p:nvSpPr>
          <p:cNvPr id="716681638" name="Text 21"/>
          <p:cNvSpPr/>
          <p:nvPr/>
        </p:nvSpPr>
        <p:spPr bwMode="auto">
          <a:xfrm>
            <a:off x="3528660" y="3024829"/>
            <a:ext cx="2628821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Системный риск-анализ</a:t>
            </a:r>
            <a:endParaRPr lang="en-US" sz="1600"/>
          </a:p>
        </p:txBody>
      </p:sp>
      <p:sp>
        <p:nvSpPr>
          <p:cNvPr id="1838351571" name="Shape 22"/>
          <p:cNvSpPr/>
          <p:nvPr/>
        </p:nvSpPr>
        <p:spPr bwMode="auto">
          <a:xfrm>
            <a:off x="341241" y="3644119"/>
            <a:ext cx="6024381" cy="1878933"/>
          </a:xfrm>
          <a:custGeom>
            <a:avLst/>
            <a:gdLst/>
            <a:ahLst/>
            <a:cxnLst/>
            <a:rect l="l" t="t" r="r" b="b"/>
            <a:pathLst>
              <a:path w="6024381" h="1878933" fill="norm" stroke="1" extrusionOk="0">
                <a:moveTo>
                  <a:pt x="67397" y="0"/>
                </a:moveTo>
                <a:lnTo>
                  <a:pt x="5956984" y="0"/>
                </a:lnTo>
                <a:cubicBezTo>
                  <a:pt x="5994207" y="0"/>
                  <a:pt x="6024381" y="30175"/>
                  <a:pt x="6024381" y="67397"/>
                </a:cubicBezTo>
                <a:lnTo>
                  <a:pt x="6024381" y="1811536"/>
                </a:lnTo>
                <a:cubicBezTo>
                  <a:pt x="6024381" y="1848758"/>
                  <a:pt x="5994207" y="1878933"/>
                  <a:pt x="5956984" y="1878933"/>
                </a:cubicBezTo>
                <a:lnTo>
                  <a:pt x="67397" y="1878933"/>
                </a:lnTo>
                <a:cubicBezTo>
                  <a:pt x="30175" y="1878933"/>
                  <a:pt x="0" y="1848758"/>
                  <a:pt x="0" y="1811536"/>
                </a:cubicBezTo>
                <a:lnTo>
                  <a:pt x="0" y="67397"/>
                </a:lnTo>
                <a:cubicBezTo>
                  <a:pt x="0" y="30200"/>
                  <a:pt x="30200" y="0"/>
                  <a:pt x="673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33845010" name="Shape 23"/>
          <p:cNvSpPr/>
          <p:nvPr/>
        </p:nvSpPr>
        <p:spPr bwMode="auto">
          <a:xfrm>
            <a:off x="535032" y="3850548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 fill="norm" stroke="1" extrusionOk="0">
                <a:moveTo>
                  <a:pt x="55294" y="18431"/>
                </a:moveTo>
                <a:lnTo>
                  <a:pt x="55294" y="31596"/>
                </a:lnTo>
                <a:lnTo>
                  <a:pt x="29589" y="31596"/>
                </a:lnTo>
                <a:cubicBezTo>
                  <a:pt x="24882" y="31596"/>
                  <a:pt x="21064" y="35414"/>
                  <a:pt x="21064" y="40121"/>
                </a:cubicBezTo>
                <a:cubicBezTo>
                  <a:pt x="21064" y="41437"/>
                  <a:pt x="21360" y="42754"/>
                  <a:pt x="21953" y="43939"/>
                </a:cubicBezTo>
                <a:lnTo>
                  <a:pt x="32946" y="65925"/>
                </a:lnTo>
                <a:cubicBezTo>
                  <a:pt x="29194" y="66517"/>
                  <a:pt x="26297" y="69775"/>
                  <a:pt x="26297" y="73725"/>
                </a:cubicBezTo>
                <a:cubicBezTo>
                  <a:pt x="26297" y="78102"/>
                  <a:pt x="29819" y="81624"/>
                  <a:pt x="34197" y="81624"/>
                </a:cubicBezTo>
                <a:lnTo>
                  <a:pt x="36040" y="81624"/>
                </a:lnTo>
                <a:lnTo>
                  <a:pt x="31563" y="126386"/>
                </a:lnTo>
                <a:lnTo>
                  <a:pt x="13066" y="149523"/>
                </a:lnTo>
                <a:cubicBezTo>
                  <a:pt x="11421" y="151597"/>
                  <a:pt x="10499" y="154164"/>
                  <a:pt x="10499" y="156830"/>
                </a:cubicBezTo>
                <a:cubicBezTo>
                  <a:pt x="10499" y="163281"/>
                  <a:pt x="15732" y="168514"/>
                  <a:pt x="22183" y="168514"/>
                </a:cubicBezTo>
                <a:lnTo>
                  <a:pt x="104104" y="168514"/>
                </a:lnTo>
                <a:cubicBezTo>
                  <a:pt x="110555" y="168514"/>
                  <a:pt x="115788" y="163281"/>
                  <a:pt x="115788" y="156830"/>
                </a:cubicBezTo>
                <a:cubicBezTo>
                  <a:pt x="115788" y="154164"/>
                  <a:pt x="114899" y="151597"/>
                  <a:pt x="113220" y="149523"/>
                </a:cubicBezTo>
                <a:lnTo>
                  <a:pt x="94789" y="126386"/>
                </a:lnTo>
                <a:lnTo>
                  <a:pt x="90313" y="81624"/>
                </a:lnTo>
                <a:lnTo>
                  <a:pt x="92156" y="81624"/>
                </a:lnTo>
                <a:cubicBezTo>
                  <a:pt x="96534" y="81624"/>
                  <a:pt x="100055" y="78102"/>
                  <a:pt x="100055" y="73725"/>
                </a:cubicBezTo>
                <a:cubicBezTo>
                  <a:pt x="100055" y="69808"/>
                  <a:pt x="97192" y="66517"/>
                  <a:pt x="93407" y="65925"/>
                </a:cubicBezTo>
                <a:lnTo>
                  <a:pt x="104400" y="43939"/>
                </a:lnTo>
                <a:cubicBezTo>
                  <a:pt x="104992" y="42754"/>
                  <a:pt x="105288" y="41437"/>
                  <a:pt x="105288" y="40121"/>
                </a:cubicBezTo>
                <a:cubicBezTo>
                  <a:pt x="105288" y="35414"/>
                  <a:pt x="101471" y="31596"/>
                  <a:pt x="96764" y="31596"/>
                </a:cubicBezTo>
                <a:lnTo>
                  <a:pt x="71059" y="31596"/>
                </a:lnTo>
                <a:lnTo>
                  <a:pt x="71059" y="18431"/>
                </a:lnTo>
                <a:lnTo>
                  <a:pt x="76325" y="18431"/>
                </a:lnTo>
                <a:cubicBezTo>
                  <a:pt x="80702" y="18431"/>
                  <a:pt x="84224" y="14910"/>
                  <a:pt x="84224" y="10532"/>
                </a:cubicBezTo>
                <a:cubicBezTo>
                  <a:pt x="84224" y="6155"/>
                  <a:pt x="80735" y="2633"/>
                  <a:pt x="76358" y="2633"/>
                </a:cubicBezTo>
                <a:lnTo>
                  <a:pt x="71092" y="2633"/>
                </a:lnTo>
                <a:lnTo>
                  <a:pt x="71092" y="-2633"/>
                </a:lnTo>
                <a:cubicBezTo>
                  <a:pt x="71092" y="-7010"/>
                  <a:pt x="67570" y="-10532"/>
                  <a:pt x="63193" y="-10532"/>
                </a:cubicBezTo>
                <a:cubicBezTo>
                  <a:pt x="58815" y="-10532"/>
                  <a:pt x="55294" y="-7010"/>
                  <a:pt x="55294" y="-2633"/>
                </a:cubicBezTo>
                <a:lnTo>
                  <a:pt x="55294" y="2633"/>
                </a:lnTo>
                <a:lnTo>
                  <a:pt x="50028" y="2633"/>
                </a:lnTo>
                <a:cubicBezTo>
                  <a:pt x="45650" y="2633"/>
                  <a:pt x="42129" y="6155"/>
                  <a:pt x="42129" y="10532"/>
                </a:cubicBezTo>
                <a:cubicBezTo>
                  <a:pt x="42129" y="14910"/>
                  <a:pt x="45650" y="18431"/>
                  <a:pt x="50028" y="18431"/>
                </a:cubicBezTo>
                <a:lnTo>
                  <a:pt x="55294" y="18431"/>
                </a:lnTo>
                <a:close/>
                <a:moveTo>
                  <a:pt x="107230" y="92025"/>
                </a:moveTo>
                <a:lnTo>
                  <a:pt x="110028" y="120165"/>
                </a:lnTo>
                <a:lnTo>
                  <a:pt x="125629" y="139650"/>
                </a:lnTo>
                <a:lnTo>
                  <a:pt x="127011" y="141526"/>
                </a:lnTo>
                <a:cubicBezTo>
                  <a:pt x="130039" y="146035"/>
                  <a:pt x="131652" y="151367"/>
                  <a:pt x="131652" y="156830"/>
                </a:cubicBezTo>
                <a:cubicBezTo>
                  <a:pt x="131652" y="161010"/>
                  <a:pt x="130730" y="164992"/>
                  <a:pt x="129052" y="168514"/>
                </a:cubicBezTo>
                <a:lnTo>
                  <a:pt x="156402" y="168514"/>
                </a:lnTo>
                <a:cubicBezTo>
                  <a:pt x="163084" y="168514"/>
                  <a:pt x="168514" y="163084"/>
                  <a:pt x="168514" y="156402"/>
                </a:cubicBezTo>
                <a:cubicBezTo>
                  <a:pt x="168514" y="154000"/>
                  <a:pt x="167790" y="151663"/>
                  <a:pt x="166474" y="149688"/>
                </a:cubicBezTo>
                <a:lnTo>
                  <a:pt x="157982" y="136951"/>
                </a:lnTo>
                <a:lnTo>
                  <a:pt x="157982" y="115886"/>
                </a:lnTo>
                <a:lnTo>
                  <a:pt x="162359" y="111509"/>
                </a:lnTo>
                <a:cubicBezTo>
                  <a:pt x="166309" y="107559"/>
                  <a:pt x="168514" y="102195"/>
                  <a:pt x="168514" y="96599"/>
                </a:cubicBezTo>
                <a:lnTo>
                  <a:pt x="168514" y="63193"/>
                </a:lnTo>
                <a:cubicBezTo>
                  <a:pt x="168514" y="57367"/>
                  <a:pt x="163808" y="52661"/>
                  <a:pt x="157982" y="52661"/>
                </a:cubicBezTo>
                <a:cubicBezTo>
                  <a:pt x="152156" y="52661"/>
                  <a:pt x="147450" y="57367"/>
                  <a:pt x="147450" y="63193"/>
                </a:cubicBezTo>
                <a:lnTo>
                  <a:pt x="147450" y="68459"/>
                </a:lnTo>
                <a:lnTo>
                  <a:pt x="136918" y="68459"/>
                </a:lnTo>
                <a:lnTo>
                  <a:pt x="136918" y="63193"/>
                </a:lnTo>
                <a:cubicBezTo>
                  <a:pt x="136918" y="57367"/>
                  <a:pt x="132211" y="52661"/>
                  <a:pt x="126386" y="52661"/>
                </a:cubicBezTo>
                <a:cubicBezTo>
                  <a:pt x="120560" y="52661"/>
                  <a:pt x="115853" y="57367"/>
                  <a:pt x="115853" y="63193"/>
                </a:cubicBezTo>
                <a:lnTo>
                  <a:pt x="115853" y="73725"/>
                </a:lnTo>
                <a:cubicBezTo>
                  <a:pt x="115853" y="81097"/>
                  <a:pt x="112496" y="87680"/>
                  <a:pt x="107230" y="9202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9756422" name="Text 24"/>
          <p:cNvSpPr/>
          <p:nvPr/>
        </p:nvSpPr>
        <p:spPr bwMode="auto">
          <a:xfrm>
            <a:off x="724611" y="3816846"/>
            <a:ext cx="555254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Стратегия: Land and Expand</a:t>
            </a:r>
            <a:endParaRPr lang="en-US" sz="1600"/>
          </a:p>
        </p:txBody>
      </p:sp>
      <p:sp>
        <p:nvSpPr>
          <p:cNvPr id="1716277361" name="Shape 25"/>
          <p:cNvSpPr/>
          <p:nvPr/>
        </p:nvSpPr>
        <p:spPr bwMode="auto">
          <a:xfrm>
            <a:off x="518180" y="4158087"/>
            <a:ext cx="2569841" cy="1188025"/>
          </a:xfrm>
          <a:custGeom>
            <a:avLst/>
            <a:gdLst/>
            <a:ahLst/>
            <a:cxnLst/>
            <a:rect l="l" t="t" r="r" b="b"/>
            <a:pathLst>
              <a:path w="2569841" h="1188025" fill="norm" stroke="1" extrusionOk="0">
                <a:moveTo>
                  <a:pt x="67409" y="0"/>
                </a:moveTo>
                <a:lnTo>
                  <a:pt x="2502433" y="0"/>
                </a:lnTo>
                <a:cubicBezTo>
                  <a:pt x="2539661" y="0"/>
                  <a:pt x="2569841" y="30180"/>
                  <a:pt x="2569841" y="67409"/>
                </a:cubicBezTo>
                <a:lnTo>
                  <a:pt x="2569841" y="1120616"/>
                </a:lnTo>
                <a:cubicBezTo>
                  <a:pt x="2569841" y="1157845"/>
                  <a:pt x="2539661" y="1188025"/>
                  <a:pt x="2502433" y="1188025"/>
                </a:cubicBezTo>
                <a:lnTo>
                  <a:pt x="67409" y="1188025"/>
                </a:lnTo>
                <a:cubicBezTo>
                  <a:pt x="30180" y="1188025"/>
                  <a:pt x="0" y="1157845"/>
                  <a:pt x="0" y="1120616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147226312" name="Shape 26"/>
          <p:cNvSpPr/>
          <p:nvPr/>
        </p:nvSpPr>
        <p:spPr bwMode="auto">
          <a:xfrm>
            <a:off x="1599963" y="4297111"/>
            <a:ext cx="404433" cy="404433"/>
          </a:xfrm>
          <a:custGeom>
            <a:avLst/>
            <a:gdLst/>
            <a:ahLst/>
            <a:cxnLst/>
            <a:rect l="l" t="t" r="r" b="b"/>
            <a:pathLst>
              <a:path w="404434" h="404434" fill="norm" stroke="1" extrusionOk="0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870332909" name="Text 27"/>
          <p:cNvSpPr/>
          <p:nvPr/>
        </p:nvSpPr>
        <p:spPr bwMode="auto">
          <a:xfrm>
            <a:off x="1733325" y="4381368"/>
            <a:ext cx="13481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1181610617" name="Text 28"/>
          <p:cNvSpPr/>
          <p:nvPr/>
        </p:nvSpPr>
        <p:spPr bwMode="auto">
          <a:xfrm>
            <a:off x="623502" y="4768951"/>
            <a:ext cx="2359198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Land</a:t>
            </a:r>
            <a:endParaRPr lang="en-US" sz="1600"/>
          </a:p>
        </p:txBody>
      </p:sp>
      <p:sp>
        <p:nvSpPr>
          <p:cNvPr id="1209877232" name="Text 29"/>
          <p:cNvSpPr/>
          <p:nvPr/>
        </p:nvSpPr>
        <p:spPr bwMode="auto">
          <a:xfrm>
            <a:off x="623502" y="5004871"/>
            <a:ext cx="2359198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Gateway &amp; Integration Layer</a:t>
            </a:r>
            <a:endParaRPr lang="en-US" sz="1600"/>
          </a:p>
        </p:txBody>
      </p:sp>
      <p:sp>
        <p:nvSpPr>
          <p:cNvPr id="868334746" name="Shape 30"/>
          <p:cNvSpPr/>
          <p:nvPr/>
        </p:nvSpPr>
        <p:spPr bwMode="auto">
          <a:xfrm>
            <a:off x="3250612" y="4650991"/>
            <a:ext cx="202216" cy="202216"/>
          </a:xfrm>
          <a:custGeom>
            <a:avLst/>
            <a:gdLst/>
            <a:ahLst/>
            <a:cxnLst/>
            <a:rect l="l" t="t" r="r" b="b"/>
            <a:pathLst>
              <a:path w="202217" h="202217" fill="norm" stroke="1" extrusionOk="0">
                <a:moveTo>
                  <a:pt x="198504" y="110034"/>
                </a:moveTo>
                <a:cubicBezTo>
                  <a:pt x="203441" y="105098"/>
                  <a:pt x="203441" y="97080"/>
                  <a:pt x="198504" y="92143"/>
                </a:cubicBezTo>
                <a:lnTo>
                  <a:pt x="135312" y="28950"/>
                </a:lnTo>
                <a:cubicBezTo>
                  <a:pt x="130375" y="24013"/>
                  <a:pt x="122357" y="24013"/>
                  <a:pt x="117420" y="28950"/>
                </a:cubicBezTo>
                <a:cubicBezTo>
                  <a:pt x="112483" y="33887"/>
                  <a:pt x="112483" y="41905"/>
                  <a:pt x="117420" y="46842"/>
                </a:cubicBezTo>
                <a:lnTo>
                  <a:pt x="159048" y="88470"/>
                </a:lnTo>
                <a:lnTo>
                  <a:pt x="12639" y="88470"/>
                </a:lnTo>
                <a:cubicBezTo>
                  <a:pt x="5648" y="88470"/>
                  <a:pt x="0" y="94118"/>
                  <a:pt x="0" y="101109"/>
                </a:cubicBezTo>
                <a:cubicBezTo>
                  <a:pt x="0" y="108099"/>
                  <a:pt x="5648" y="113747"/>
                  <a:pt x="12639" y="113747"/>
                </a:cubicBezTo>
                <a:lnTo>
                  <a:pt x="159048" y="113747"/>
                </a:lnTo>
                <a:lnTo>
                  <a:pt x="117420" y="155375"/>
                </a:lnTo>
                <a:cubicBezTo>
                  <a:pt x="112483" y="160312"/>
                  <a:pt x="112483" y="168330"/>
                  <a:pt x="117420" y="173267"/>
                </a:cubicBezTo>
                <a:cubicBezTo>
                  <a:pt x="122357" y="178204"/>
                  <a:pt x="130375" y="178204"/>
                  <a:pt x="135312" y="173267"/>
                </a:cubicBezTo>
                <a:lnTo>
                  <a:pt x="198504" y="11007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70959943" name="Shape 31"/>
          <p:cNvSpPr/>
          <p:nvPr/>
        </p:nvSpPr>
        <p:spPr bwMode="auto">
          <a:xfrm>
            <a:off x="3617130" y="4158087"/>
            <a:ext cx="2569841" cy="1188025"/>
          </a:xfrm>
          <a:custGeom>
            <a:avLst/>
            <a:gdLst/>
            <a:ahLst/>
            <a:cxnLst/>
            <a:rect l="l" t="t" r="r" b="b"/>
            <a:pathLst>
              <a:path w="2569841" h="1188025" fill="norm" stroke="1" extrusionOk="0">
                <a:moveTo>
                  <a:pt x="67409" y="0"/>
                </a:moveTo>
                <a:lnTo>
                  <a:pt x="2502433" y="0"/>
                </a:lnTo>
                <a:cubicBezTo>
                  <a:pt x="2539661" y="0"/>
                  <a:pt x="2569841" y="30180"/>
                  <a:pt x="2569841" y="67409"/>
                </a:cubicBezTo>
                <a:lnTo>
                  <a:pt x="2569841" y="1120616"/>
                </a:lnTo>
                <a:cubicBezTo>
                  <a:pt x="2569841" y="1157845"/>
                  <a:pt x="2539661" y="1188025"/>
                  <a:pt x="2502433" y="1188025"/>
                </a:cubicBezTo>
                <a:lnTo>
                  <a:pt x="67409" y="1188025"/>
                </a:lnTo>
                <a:cubicBezTo>
                  <a:pt x="30180" y="1188025"/>
                  <a:pt x="0" y="1157845"/>
                  <a:pt x="0" y="1120616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603931613" name="Shape 32"/>
          <p:cNvSpPr/>
          <p:nvPr/>
        </p:nvSpPr>
        <p:spPr bwMode="auto">
          <a:xfrm>
            <a:off x="4699044" y="4297111"/>
            <a:ext cx="404433" cy="404433"/>
          </a:xfrm>
          <a:custGeom>
            <a:avLst/>
            <a:gdLst/>
            <a:ahLst/>
            <a:cxnLst/>
            <a:rect l="l" t="t" r="r" b="b"/>
            <a:pathLst>
              <a:path w="404434" h="404434" fill="norm" stroke="1" extrusionOk="0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954061814" name="Text 33"/>
          <p:cNvSpPr/>
          <p:nvPr/>
        </p:nvSpPr>
        <p:spPr bwMode="auto">
          <a:xfrm>
            <a:off x="4816214" y="4381368"/>
            <a:ext cx="168514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2027766164" name="Text 34"/>
          <p:cNvSpPr/>
          <p:nvPr/>
        </p:nvSpPr>
        <p:spPr bwMode="auto">
          <a:xfrm>
            <a:off x="3722452" y="4768951"/>
            <a:ext cx="2359198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Expand</a:t>
            </a:r>
            <a:endParaRPr lang="en-US" sz="1600"/>
          </a:p>
        </p:txBody>
      </p:sp>
      <p:sp>
        <p:nvSpPr>
          <p:cNvPr id="1728146934" name="Text 35"/>
          <p:cNvSpPr/>
          <p:nvPr/>
        </p:nvSpPr>
        <p:spPr bwMode="auto">
          <a:xfrm>
            <a:off x="3722452" y="5004871"/>
            <a:ext cx="2359198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Risk, AI, Contagion modules</a:t>
            </a:r>
            <a:endParaRPr lang="en-US" sz="1600"/>
          </a:p>
        </p:txBody>
      </p:sp>
      <p:sp>
        <p:nvSpPr>
          <p:cNvPr id="24184602" name="Shape 36"/>
          <p:cNvSpPr/>
          <p:nvPr/>
        </p:nvSpPr>
        <p:spPr bwMode="auto">
          <a:xfrm>
            <a:off x="341241" y="5666289"/>
            <a:ext cx="1937913" cy="918402"/>
          </a:xfrm>
          <a:custGeom>
            <a:avLst/>
            <a:gdLst/>
            <a:ahLst/>
            <a:cxnLst/>
            <a:rect l="l" t="t" r="r" b="b"/>
            <a:pathLst>
              <a:path w="1937913" h="918402" fill="norm" stroke="1" extrusionOk="0">
                <a:moveTo>
                  <a:pt x="67402" y="0"/>
                </a:moveTo>
                <a:lnTo>
                  <a:pt x="1870511" y="0"/>
                </a:lnTo>
                <a:cubicBezTo>
                  <a:pt x="1907736" y="0"/>
                  <a:pt x="1937913" y="30177"/>
                  <a:pt x="1937913" y="67402"/>
                </a:cubicBezTo>
                <a:lnTo>
                  <a:pt x="1937913" y="851001"/>
                </a:lnTo>
                <a:cubicBezTo>
                  <a:pt x="1937913" y="888226"/>
                  <a:pt x="1907736" y="918402"/>
                  <a:pt x="1870511" y="918402"/>
                </a:cubicBezTo>
                <a:lnTo>
                  <a:pt x="67402" y="918402"/>
                </a:lnTo>
                <a:cubicBezTo>
                  <a:pt x="30202" y="918402"/>
                  <a:pt x="0" y="888201"/>
                  <a:pt x="0" y="851001"/>
                </a:cubicBezTo>
                <a:lnTo>
                  <a:pt x="0" y="67402"/>
                </a:lnTo>
                <a:cubicBezTo>
                  <a:pt x="0" y="30202"/>
                  <a:pt x="30202" y="0"/>
                  <a:pt x="674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77064129" name="Shape 37"/>
          <p:cNvSpPr/>
          <p:nvPr/>
        </p:nvSpPr>
        <p:spPr bwMode="auto">
          <a:xfrm>
            <a:off x="1234498" y="5771610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 fill="norm" stroke="1" extrusionOk="0">
                <a:moveTo>
                  <a:pt x="42129" y="0"/>
                </a:moveTo>
                <a:cubicBezTo>
                  <a:pt x="47954" y="0"/>
                  <a:pt x="52661" y="4707"/>
                  <a:pt x="52661" y="10532"/>
                </a:cubicBezTo>
                <a:lnTo>
                  <a:pt x="52661" y="21064"/>
                </a:lnTo>
                <a:lnTo>
                  <a:pt x="94789" y="21064"/>
                </a:lnTo>
                <a:lnTo>
                  <a:pt x="94789" y="10532"/>
                </a:lnTo>
                <a:cubicBezTo>
                  <a:pt x="94789" y="4707"/>
                  <a:pt x="99496" y="0"/>
                  <a:pt x="105321" y="0"/>
                </a:cubicBezTo>
                <a:cubicBezTo>
                  <a:pt x="111147" y="0"/>
                  <a:pt x="115853" y="4707"/>
                  <a:pt x="115853" y="10532"/>
                </a:cubicBezTo>
                <a:lnTo>
                  <a:pt x="115853" y="21064"/>
                </a:lnTo>
                <a:lnTo>
                  <a:pt x="126386" y="21064"/>
                </a:lnTo>
                <a:cubicBezTo>
                  <a:pt x="138004" y="21064"/>
                  <a:pt x="147450" y="30510"/>
                  <a:pt x="147450" y="42129"/>
                </a:cubicBezTo>
                <a:lnTo>
                  <a:pt x="147450" y="136918"/>
                </a:lnTo>
                <a:cubicBezTo>
                  <a:pt x="147450" y="148536"/>
                  <a:pt x="138004" y="157982"/>
                  <a:pt x="126386" y="157982"/>
                </a:cubicBezTo>
                <a:lnTo>
                  <a:pt x="21064" y="157982"/>
                </a:lnTo>
                <a:cubicBezTo>
                  <a:pt x="9446" y="157982"/>
                  <a:pt x="0" y="148536"/>
                  <a:pt x="0" y="136918"/>
                </a:cubicBezTo>
                <a:lnTo>
                  <a:pt x="0" y="42129"/>
                </a:lnTo>
                <a:cubicBezTo>
                  <a:pt x="0" y="30510"/>
                  <a:pt x="9446" y="21064"/>
                  <a:pt x="21064" y="21064"/>
                </a:cubicBezTo>
                <a:lnTo>
                  <a:pt x="31596" y="21064"/>
                </a:lnTo>
                <a:lnTo>
                  <a:pt x="31596" y="10532"/>
                </a:lnTo>
                <a:cubicBezTo>
                  <a:pt x="31596" y="4707"/>
                  <a:pt x="36303" y="0"/>
                  <a:pt x="42129" y="0"/>
                </a:cubicBezTo>
                <a:close/>
                <a:moveTo>
                  <a:pt x="21064" y="78991"/>
                </a:moveTo>
                <a:lnTo>
                  <a:pt x="21064" y="89523"/>
                </a:lnTo>
                <a:cubicBezTo>
                  <a:pt x="21064" y="92419"/>
                  <a:pt x="23434" y="94789"/>
                  <a:pt x="26330" y="94789"/>
                </a:cubicBezTo>
                <a:lnTo>
                  <a:pt x="36862" y="94789"/>
                </a:lnTo>
                <a:cubicBezTo>
                  <a:pt x="39759" y="94789"/>
                  <a:pt x="42129" y="92419"/>
                  <a:pt x="42129" y="89523"/>
                </a:cubicBezTo>
                <a:lnTo>
                  <a:pt x="42129" y="78991"/>
                </a:lnTo>
                <a:cubicBezTo>
                  <a:pt x="42129" y="76095"/>
                  <a:pt x="39759" y="73725"/>
                  <a:pt x="36862" y="73725"/>
                </a:cubicBezTo>
                <a:lnTo>
                  <a:pt x="26330" y="73725"/>
                </a:lnTo>
                <a:cubicBezTo>
                  <a:pt x="23434" y="73725"/>
                  <a:pt x="21064" y="76095"/>
                  <a:pt x="21064" y="78991"/>
                </a:cubicBezTo>
                <a:close/>
                <a:moveTo>
                  <a:pt x="63193" y="78991"/>
                </a:moveTo>
                <a:lnTo>
                  <a:pt x="63193" y="89523"/>
                </a:lnTo>
                <a:cubicBezTo>
                  <a:pt x="63193" y="92419"/>
                  <a:pt x="65563" y="94789"/>
                  <a:pt x="68459" y="94789"/>
                </a:cubicBezTo>
                <a:lnTo>
                  <a:pt x="78991" y="94789"/>
                </a:lnTo>
                <a:cubicBezTo>
                  <a:pt x="81887" y="94789"/>
                  <a:pt x="84257" y="92419"/>
                  <a:pt x="84257" y="89523"/>
                </a:cubicBezTo>
                <a:lnTo>
                  <a:pt x="84257" y="78991"/>
                </a:lnTo>
                <a:cubicBezTo>
                  <a:pt x="84257" y="76095"/>
                  <a:pt x="81887" y="73725"/>
                  <a:pt x="78991" y="73725"/>
                </a:cubicBezTo>
                <a:lnTo>
                  <a:pt x="68459" y="73725"/>
                </a:lnTo>
                <a:cubicBezTo>
                  <a:pt x="65563" y="73725"/>
                  <a:pt x="63193" y="76095"/>
                  <a:pt x="63193" y="78991"/>
                </a:cubicBezTo>
                <a:close/>
                <a:moveTo>
                  <a:pt x="110587" y="73725"/>
                </a:moveTo>
                <a:cubicBezTo>
                  <a:pt x="107691" y="73725"/>
                  <a:pt x="105321" y="76095"/>
                  <a:pt x="105321" y="78991"/>
                </a:cubicBezTo>
                <a:lnTo>
                  <a:pt x="105321" y="89523"/>
                </a:lnTo>
                <a:cubicBezTo>
                  <a:pt x="105321" y="92419"/>
                  <a:pt x="107691" y="94789"/>
                  <a:pt x="110587" y="94789"/>
                </a:cubicBezTo>
                <a:lnTo>
                  <a:pt x="121120" y="94789"/>
                </a:lnTo>
                <a:cubicBezTo>
                  <a:pt x="124016" y="94789"/>
                  <a:pt x="126386" y="92419"/>
                  <a:pt x="126386" y="89523"/>
                </a:cubicBezTo>
                <a:lnTo>
                  <a:pt x="126386" y="78991"/>
                </a:lnTo>
                <a:cubicBezTo>
                  <a:pt x="126386" y="76095"/>
                  <a:pt x="124016" y="73725"/>
                  <a:pt x="121120" y="73725"/>
                </a:cubicBezTo>
                <a:lnTo>
                  <a:pt x="110587" y="73725"/>
                </a:lnTo>
                <a:close/>
                <a:moveTo>
                  <a:pt x="21064" y="121120"/>
                </a:moveTo>
                <a:lnTo>
                  <a:pt x="21064" y="131652"/>
                </a:lnTo>
                <a:cubicBezTo>
                  <a:pt x="21064" y="134548"/>
                  <a:pt x="23434" y="136918"/>
                  <a:pt x="26330" y="136918"/>
                </a:cubicBezTo>
                <a:lnTo>
                  <a:pt x="36862" y="136918"/>
                </a:lnTo>
                <a:cubicBezTo>
                  <a:pt x="39759" y="136918"/>
                  <a:pt x="42129" y="134548"/>
                  <a:pt x="42129" y="131652"/>
                </a:cubicBezTo>
                <a:lnTo>
                  <a:pt x="42129" y="121120"/>
                </a:lnTo>
                <a:cubicBezTo>
                  <a:pt x="42129" y="118223"/>
                  <a:pt x="39759" y="115853"/>
                  <a:pt x="36862" y="115853"/>
                </a:cubicBezTo>
                <a:lnTo>
                  <a:pt x="26330" y="115853"/>
                </a:lnTo>
                <a:cubicBezTo>
                  <a:pt x="23434" y="115853"/>
                  <a:pt x="21064" y="118223"/>
                  <a:pt x="21064" y="121120"/>
                </a:cubicBezTo>
                <a:close/>
                <a:moveTo>
                  <a:pt x="68459" y="115853"/>
                </a:moveTo>
                <a:cubicBezTo>
                  <a:pt x="65563" y="115853"/>
                  <a:pt x="63193" y="118223"/>
                  <a:pt x="63193" y="121120"/>
                </a:cubicBezTo>
                <a:lnTo>
                  <a:pt x="63193" y="131652"/>
                </a:lnTo>
                <a:cubicBezTo>
                  <a:pt x="63193" y="134548"/>
                  <a:pt x="65563" y="136918"/>
                  <a:pt x="68459" y="136918"/>
                </a:cubicBezTo>
                <a:lnTo>
                  <a:pt x="78991" y="136918"/>
                </a:lnTo>
                <a:cubicBezTo>
                  <a:pt x="81887" y="136918"/>
                  <a:pt x="84257" y="134548"/>
                  <a:pt x="84257" y="131652"/>
                </a:cubicBezTo>
                <a:lnTo>
                  <a:pt x="84257" y="121120"/>
                </a:lnTo>
                <a:cubicBezTo>
                  <a:pt x="84257" y="118223"/>
                  <a:pt x="81887" y="115853"/>
                  <a:pt x="78991" y="115853"/>
                </a:cubicBezTo>
                <a:lnTo>
                  <a:pt x="68459" y="115853"/>
                </a:lnTo>
                <a:close/>
                <a:moveTo>
                  <a:pt x="105321" y="121120"/>
                </a:moveTo>
                <a:lnTo>
                  <a:pt x="105321" y="131652"/>
                </a:lnTo>
                <a:cubicBezTo>
                  <a:pt x="105321" y="134548"/>
                  <a:pt x="107691" y="136918"/>
                  <a:pt x="110587" y="136918"/>
                </a:cubicBezTo>
                <a:lnTo>
                  <a:pt x="121120" y="136918"/>
                </a:lnTo>
                <a:cubicBezTo>
                  <a:pt x="124016" y="136918"/>
                  <a:pt x="126386" y="134548"/>
                  <a:pt x="126386" y="131652"/>
                </a:cubicBezTo>
                <a:lnTo>
                  <a:pt x="126386" y="121120"/>
                </a:lnTo>
                <a:cubicBezTo>
                  <a:pt x="126386" y="118223"/>
                  <a:pt x="124016" y="115853"/>
                  <a:pt x="121120" y="115853"/>
                </a:cubicBezTo>
                <a:lnTo>
                  <a:pt x="110587" y="115853"/>
                </a:lnTo>
                <a:cubicBezTo>
                  <a:pt x="107691" y="115853"/>
                  <a:pt x="105321" y="118223"/>
                  <a:pt x="105321" y="12112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78333508" name="Text 38"/>
          <p:cNvSpPr/>
          <p:nvPr/>
        </p:nvSpPr>
        <p:spPr bwMode="auto">
          <a:xfrm>
            <a:off x="412860" y="6007530"/>
            <a:ext cx="179467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Срок окупаемости</a:t>
            </a:r>
            <a:endParaRPr lang="en-US" sz="1600"/>
          </a:p>
        </p:txBody>
      </p:sp>
      <p:sp>
        <p:nvSpPr>
          <p:cNvPr id="1129304589" name="Text 39"/>
          <p:cNvSpPr/>
          <p:nvPr/>
        </p:nvSpPr>
        <p:spPr bwMode="auto">
          <a:xfrm>
            <a:off x="396008" y="6209747"/>
            <a:ext cx="182837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12-18 мес</a:t>
            </a:r>
            <a:endParaRPr lang="en-US" sz="1600"/>
          </a:p>
        </p:txBody>
      </p:sp>
      <p:sp>
        <p:nvSpPr>
          <p:cNvPr id="1251838386" name="Shape 40"/>
          <p:cNvSpPr/>
          <p:nvPr/>
        </p:nvSpPr>
        <p:spPr bwMode="auto">
          <a:xfrm>
            <a:off x="2384739" y="5666289"/>
            <a:ext cx="1937913" cy="918402"/>
          </a:xfrm>
          <a:custGeom>
            <a:avLst/>
            <a:gdLst/>
            <a:ahLst/>
            <a:cxnLst/>
            <a:rect l="l" t="t" r="r" b="b"/>
            <a:pathLst>
              <a:path w="1937913" h="918402" fill="norm" stroke="1" extrusionOk="0">
                <a:moveTo>
                  <a:pt x="67402" y="0"/>
                </a:moveTo>
                <a:lnTo>
                  <a:pt x="1870511" y="0"/>
                </a:lnTo>
                <a:cubicBezTo>
                  <a:pt x="1907736" y="0"/>
                  <a:pt x="1937913" y="30177"/>
                  <a:pt x="1937913" y="67402"/>
                </a:cubicBezTo>
                <a:lnTo>
                  <a:pt x="1937913" y="851001"/>
                </a:lnTo>
                <a:cubicBezTo>
                  <a:pt x="1937913" y="888226"/>
                  <a:pt x="1907736" y="918402"/>
                  <a:pt x="1870511" y="918402"/>
                </a:cubicBezTo>
                <a:lnTo>
                  <a:pt x="67402" y="918402"/>
                </a:lnTo>
                <a:cubicBezTo>
                  <a:pt x="30202" y="918402"/>
                  <a:pt x="0" y="888201"/>
                  <a:pt x="0" y="851001"/>
                </a:cubicBezTo>
                <a:lnTo>
                  <a:pt x="0" y="67402"/>
                </a:lnTo>
                <a:cubicBezTo>
                  <a:pt x="0" y="30202"/>
                  <a:pt x="30202" y="0"/>
                  <a:pt x="674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257494826" name="Shape 41"/>
          <p:cNvSpPr/>
          <p:nvPr/>
        </p:nvSpPr>
        <p:spPr bwMode="auto">
          <a:xfrm>
            <a:off x="3277996" y="5771610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 fill="norm" stroke="1" extrusionOk="0">
                <a:moveTo>
                  <a:pt x="63193" y="42129"/>
                </a:moveTo>
                <a:cubicBezTo>
                  <a:pt x="63193" y="24690"/>
                  <a:pt x="49035" y="10532"/>
                  <a:pt x="31596" y="10532"/>
                </a:cubicBezTo>
                <a:cubicBezTo>
                  <a:pt x="14158" y="10532"/>
                  <a:pt x="0" y="24690"/>
                  <a:pt x="0" y="42129"/>
                </a:cubicBezTo>
                <a:cubicBezTo>
                  <a:pt x="0" y="59567"/>
                  <a:pt x="14158" y="73725"/>
                  <a:pt x="31596" y="73725"/>
                </a:cubicBezTo>
                <a:cubicBezTo>
                  <a:pt x="49035" y="73725"/>
                  <a:pt x="63193" y="59567"/>
                  <a:pt x="63193" y="42129"/>
                </a:cubicBezTo>
                <a:close/>
                <a:moveTo>
                  <a:pt x="147450" y="126386"/>
                </a:moveTo>
                <a:cubicBezTo>
                  <a:pt x="147450" y="108947"/>
                  <a:pt x="133292" y="94789"/>
                  <a:pt x="115853" y="94789"/>
                </a:cubicBezTo>
                <a:cubicBezTo>
                  <a:pt x="98415" y="94789"/>
                  <a:pt x="84257" y="108947"/>
                  <a:pt x="84257" y="126386"/>
                </a:cubicBezTo>
                <a:cubicBezTo>
                  <a:pt x="84257" y="143824"/>
                  <a:pt x="98415" y="157982"/>
                  <a:pt x="115853" y="157982"/>
                </a:cubicBezTo>
                <a:cubicBezTo>
                  <a:pt x="133292" y="157982"/>
                  <a:pt x="147450" y="143824"/>
                  <a:pt x="147450" y="126386"/>
                </a:cubicBezTo>
                <a:close/>
                <a:moveTo>
                  <a:pt x="144356" y="28503"/>
                </a:moveTo>
                <a:cubicBezTo>
                  <a:pt x="148470" y="24388"/>
                  <a:pt x="148470" y="17707"/>
                  <a:pt x="144356" y="13593"/>
                </a:cubicBezTo>
                <a:cubicBezTo>
                  <a:pt x="140242" y="9479"/>
                  <a:pt x="133561" y="9479"/>
                  <a:pt x="129447" y="13593"/>
                </a:cubicBezTo>
                <a:lnTo>
                  <a:pt x="3061" y="139979"/>
                </a:lnTo>
                <a:cubicBezTo>
                  <a:pt x="-1053" y="144093"/>
                  <a:pt x="-1053" y="150774"/>
                  <a:pt x="3061" y="154888"/>
                </a:cubicBezTo>
                <a:cubicBezTo>
                  <a:pt x="7175" y="159002"/>
                  <a:pt x="13856" y="159002"/>
                  <a:pt x="17970" y="154888"/>
                </a:cubicBezTo>
                <a:lnTo>
                  <a:pt x="144356" y="2850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8523619" name="Text 42"/>
          <p:cNvSpPr/>
          <p:nvPr/>
        </p:nvSpPr>
        <p:spPr bwMode="auto">
          <a:xfrm>
            <a:off x="2456357" y="6007530"/>
            <a:ext cx="179467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Снижение затрат</a:t>
            </a:r>
            <a:endParaRPr lang="en-US" sz="1600"/>
          </a:p>
        </p:txBody>
      </p:sp>
      <p:sp>
        <p:nvSpPr>
          <p:cNvPr id="1630017066" name="Text 43"/>
          <p:cNvSpPr/>
          <p:nvPr/>
        </p:nvSpPr>
        <p:spPr bwMode="auto">
          <a:xfrm>
            <a:off x="2439506" y="6209747"/>
            <a:ext cx="182837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40-60%</a:t>
            </a:r>
            <a:endParaRPr lang="en-US" sz="1600"/>
          </a:p>
        </p:txBody>
      </p:sp>
      <p:sp>
        <p:nvSpPr>
          <p:cNvPr id="873058057" name="Shape 44"/>
          <p:cNvSpPr/>
          <p:nvPr/>
        </p:nvSpPr>
        <p:spPr bwMode="auto">
          <a:xfrm>
            <a:off x="4428236" y="5666289"/>
            <a:ext cx="1937913" cy="918402"/>
          </a:xfrm>
          <a:custGeom>
            <a:avLst/>
            <a:gdLst/>
            <a:ahLst/>
            <a:cxnLst/>
            <a:rect l="l" t="t" r="r" b="b"/>
            <a:pathLst>
              <a:path w="1937913" h="918402" fill="norm" stroke="1" extrusionOk="0">
                <a:moveTo>
                  <a:pt x="67402" y="0"/>
                </a:moveTo>
                <a:lnTo>
                  <a:pt x="1870511" y="0"/>
                </a:lnTo>
                <a:cubicBezTo>
                  <a:pt x="1907736" y="0"/>
                  <a:pt x="1937913" y="30177"/>
                  <a:pt x="1937913" y="67402"/>
                </a:cubicBezTo>
                <a:lnTo>
                  <a:pt x="1937913" y="851001"/>
                </a:lnTo>
                <a:cubicBezTo>
                  <a:pt x="1937913" y="888226"/>
                  <a:pt x="1907736" y="918402"/>
                  <a:pt x="1870511" y="918402"/>
                </a:cubicBezTo>
                <a:lnTo>
                  <a:pt x="67402" y="918402"/>
                </a:lnTo>
                <a:cubicBezTo>
                  <a:pt x="30202" y="918402"/>
                  <a:pt x="0" y="888201"/>
                  <a:pt x="0" y="851001"/>
                </a:cubicBezTo>
                <a:lnTo>
                  <a:pt x="0" y="67402"/>
                </a:lnTo>
                <a:cubicBezTo>
                  <a:pt x="0" y="30202"/>
                  <a:pt x="30202" y="0"/>
                  <a:pt x="674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77124686" name="Shape 45"/>
          <p:cNvSpPr/>
          <p:nvPr/>
        </p:nvSpPr>
        <p:spPr bwMode="auto">
          <a:xfrm>
            <a:off x="5310961" y="5771610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 fill="norm" stroke="1" extrusionOk="0">
                <a:moveTo>
                  <a:pt x="21064" y="21064"/>
                </a:moveTo>
                <a:cubicBezTo>
                  <a:pt x="21064" y="15239"/>
                  <a:pt x="16358" y="10532"/>
                  <a:pt x="10532" y="10532"/>
                </a:cubicBezTo>
                <a:cubicBezTo>
                  <a:pt x="4707" y="10532"/>
                  <a:pt x="0" y="15239"/>
                  <a:pt x="0" y="21064"/>
                </a:cubicBezTo>
                <a:lnTo>
                  <a:pt x="0" y="131652"/>
                </a:lnTo>
                <a:cubicBezTo>
                  <a:pt x="0" y="146199"/>
                  <a:pt x="11783" y="157982"/>
                  <a:pt x="26330" y="157982"/>
                </a:cubicBezTo>
                <a:lnTo>
                  <a:pt x="157982" y="157982"/>
                </a:lnTo>
                <a:cubicBezTo>
                  <a:pt x="163808" y="157982"/>
                  <a:pt x="168514" y="153275"/>
                  <a:pt x="168514" y="147450"/>
                </a:cubicBezTo>
                <a:cubicBezTo>
                  <a:pt x="168514" y="141624"/>
                  <a:pt x="163808" y="136918"/>
                  <a:pt x="157982" y="136918"/>
                </a:cubicBezTo>
                <a:lnTo>
                  <a:pt x="26330" y="136918"/>
                </a:lnTo>
                <a:cubicBezTo>
                  <a:pt x="23434" y="136918"/>
                  <a:pt x="21064" y="134548"/>
                  <a:pt x="21064" y="131652"/>
                </a:cubicBezTo>
                <a:lnTo>
                  <a:pt x="21064" y="21064"/>
                </a:lnTo>
                <a:close/>
                <a:moveTo>
                  <a:pt x="154888" y="49567"/>
                </a:moveTo>
                <a:cubicBezTo>
                  <a:pt x="159002" y="45453"/>
                  <a:pt x="159002" y="38771"/>
                  <a:pt x="154888" y="34657"/>
                </a:cubicBezTo>
                <a:cubicBezTo>
                  <a:pt x="150774" y="30543"/>
                  <a:pt x="144093" y="30543"/>
                  <a:pt x="139979" y="34657"/>
                </a:cubicBezTo>
                <a:lnTo>
                  <a:pt x="105321" y="69348"/>
                </a:lnTo>
                <a:lnTo>
                  <a:pt x="86429" y="50488"/>
                </a:lnTo>
                <a:cubicBezTo>
                  <a:pt x="82315" y="46374"/>
                  <a:pt x="75634" y="46374"/>
                  <a:pt x="71520" y="50488"/>
                </a:cubicBezTo>
                <a:lnTo>
                  <a:pt x="39923" y="82085"/>
                </a:lnTo>
                <a:cubicBezTo>
                  <a:pt x="35809" y="86199"/>
                  <a:pt x="35809" y="92880"/>
                  <a:pt x="39923" y="96994"/>
                </a:cubicBezTo>
                <a:cubicBezTo>
                  <a:pt x="44037" y="101109"/>
                  <a:pt x="50719" y="101109"/>
                  <a:pt x="54833" y="96994"/>
                </a:cubicBezTo>
                <a:lnTo>
                  <a:pt x="78991" y="72836"/>
                </a:lnTo>
                <a:lnTo>
                  <a:pt x="97883" y="91728"/>
                </a:lnTo>
                <a:cubicBezTo>
                  <a:pt x="101997" y="95842"/>
                  <a:pt x="108678" y="95842"/>
                  <a:pt x="112793" y="91728"/>
                </a:cubicBezTo>
                <a:lnTo>
                  <a:pt x="154921" y="4960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2048515" name="Text 46"/>
          <p:cNvSpPr/>
          <p:nvPr/>
        </p:nvSpPr>
        <p:spPr bwMode="auto">
          <a:xfrm>
            <a:off x="4499855" y="6007530"/>
            <a:ext cx="179467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LTV/CAC ratio</a:t>
            </a:r>
            <a:endParaRPr lang="en-US" sz="1600"/>
          </a:p>
        </p:txBody>
      </p:sp>
      <p:sp>
        <p:nvSpPr>
          <p:cNvPr id="458299423" name="Text 47"/>
          <p:cNvSpPr/>
          <p:nvPr/>
        </p:nvSpPr>
        <p:spPr bwMode="auto">
          <a:xfrm>
            <a:off x="4483003" y="6209747"/>
            <a:ext cx="182837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5:1</a:t>
            </a:r>
            <a:endParaRPr lang="en-US" sz="1600"/>
          </a:p>
        </p:txBody>
      </p:sp>
      <p:sp>
        <p:nvSpPr>
          <p:cNvPr id="1455305042" name="Shape 48"/>
          <p:cNvSpPr/>
          <p:nvPr/>
        </p:nvSpPr>
        <p:spPr bwMode="auto">
          <a:xfrm>
            <a:off x="6572974" y="1352326"/>
            <a:ext cx="5282919" cy="5501988"/>
          </a:xfrm>
          <a:custGeom>
            <a:avLst/>
            <a:gdLst/>
            <a:ahLst/>
            <a:cxnLst/>
            <a:rect l="l" t="t" r="r" b="b"/>
            <a:pathLst>
              <a:path w="5282919" h="5501988" fill="norm" stroke="1" extrusionOk="0">
                <a:moveTo>
                  <a:pt x="67410" y="0"/>
                </a:moveTo>
                <a:lnTo>
                  <a:pt x="5215509" y="0"/>
                </a:lnTo>
                <a:cubicBezTo>
                  <a:pt x="5252739" y="0"/>
                  <a:pt x="5282919" y="30181"/>
                  <a:pt x="5282919" y="67410"/>
                </a:cubicBezTo>
                <a:lnTo>
                  <a:pt x="5282919" y="5434578"/>
                </a:lnTo>
                <a:cubicBezTo>
                  <a:pt x="5282919" y="5471807"/>
                  <a:pt x="5252739" y="5501988"/>
                  <a:pt x="5215509" y="5501988"/>
                </a:cubicBezTo>
                <a:lnTo>
                  <a:pt x="67410" y="5501988"/>
                </a:lnTo>
                <a:cubicBezTo>
                  <a:pt x="30181" y="5501988"/>
                  <a:pt x="0" y="5471807"/>
                  <a:pt x="0" y="5434578"/>
                </a:cubicBezTo>
                <a:lnTo>
                  <a:pt x="0" y="67410"/>
                </a:lnTo>
                <a:cubicBezTo>
                  <a:pt x="0" y="30181"/>
                  <a:pt x="30181" y="0"/>
                  <a:pt x="67410" y="0"/>
                </a:cubicBezTo>
                <a:close/>
              </a:path>
            </a:pathLst>
          </a:custGeom>
          <a:gradFill>
            <a:gsLst>
              <a:gs pos="0">
                <a:srgbClr val="4A5C6A">
                  <a:alpha val="30000"/>
                </a:srgbClr>
              </a:gs>
              <a:gs pos="100000">
                <a:srgbClr val="1A1D21">
                  <a:alpha val="50000"/>
                </a:srgbClr>
              </a:gs>
            </a:gsLst>
            <a:lin ang="2700000" scaled="1"/>
          </a:gradFill>
          <a:ln w="12700">
            <a:solidFill>
              <a:srgbClr val="C0A062">
                <a:alpha val="30195"/>
              </a:srgbClr>
            </a:solidFill>
            <a:prstDash val="solid"/>
          </a:ln>
        </p:spPr>
      </p:sp>
      <p:sp>
        <p:nvSpPr>
          <p:cNvPr id="679753521" name="Shape 49"/>
          <p:cNvSpPr/>
          <p:nvPr/>
        </p:nvSpPr>
        <p:spPr bwMode="auto">
          <a:xfrm>
            <a:off x="6787830" y="1558756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 fill="norm" stroke="1" extrusionOk="0">
                <a:moveTo>
                  <a:pt x="0" y="62074"/>
                </a:moveTo>
                <a:cubicBezTo>
                  <a:pt x="0" y="27779"/>
                  <a:pt x="28305" y="0"/>
                  <a:pt x="63193" y="0"/>
                </a:cubicBezTo>
                <a:cubicBezTo>
                  <a:pt x="98081" y="0"/>
                  <a:pt x="126386" y="27779"/>
                  <a:pt x="126386" y="62074"/>
                </a:cubicBezTo>
                <a:cubicBezTo>
                  <a:pt x="126386" y="101339"/>
                  <a:pt x="86824" y="148404"/>
                  <a:pt x="70302" y="166342"/>
                </a:cubicBezTo>
                <a:cubicBezTo>
                  <a:pt x="66418" y="170555"/>
                  <a:pt x="59934" y="170555"/>
                  <a:pt x="56051" y="166342"/>
                </a:cubicBezTo>
                <a:cubicBezTo>
                  <a:pt x="39528" y="148404"/>
                  <a:pt x="-33" y="101339"/>
                  <a:pt x="-33" y="62074"/>
                </a:cubicBezTo>
                <a:close/>
                <a:moveTo>
                  <a:pt x="63193" y="84257"/>
                </a:moveTo>
                <a:cubicBezTo>
                  <a:pt x="74819" y="84257"/>
                  <a:pt x="84257" y="74819"/>
                  <a:pt x="84257" y="63193"/>
                </a:cubicBezTo>
                <a:cubicBezTo>
                  <a:pt x="84257" y="51567"/>
                  <a:pt x="74819" y="42129"/>
                  <a:pt x="63193" y="42129"/>
                </a:cubicBezTo>
                <a:cubicBezTo>
                  <a:pt x="51567" y="42129"/>
                  <a:pt x="42129" y="51567"/>
                  <a:pt x="42129" y="63193"/>
                </a:cubicBezTo>
                <a:cubicBezTo>
                  <a:pt x="42129" y="74819"/>
                  <a:pt x="51567" y="84257"/>
                  <a:pt x="63193" y="8425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19445817" name="Text 50"/>
          <p:cNvSpPr/>
          <p:nvPr/>
        </p:nvSpPr>
        <p:spPr bwMode="auto">
          <a:xfrm>
            <a:off x="6956344" y="1525053"/>
            <a:ext cx="481107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Рынок Узбекистана</a:t>
            </a:r>
            <a:endParaRPr lang="en-US" sz="1600"/>
          </a:p>
        </p:txBody>
      </p:sp>
      <p:sp>
        <p:nvSpPr>
          <p:cNvPr id="1897677904" name="Shape 51"/>
          <p:cNvSpPr/>
          <p:nvPr/>
        </p:nvSpPr>
        <p:spPr bwMode="auto">
          <a:xfrm>
            <a:off x="6749913" y="1899997"/>
            <a:ext cx="4929039" cy="850997"/>
          </a:xfrm>
          <a:custGeom>
            <a:avLst/>
            <a:gdLst/>
            <a:ahLst/>
            <a:cxnLst/>
            <a:rect l="l" t="t" r="r" b="b"/>
            <a:pathLst>
              <a:path w="4929039" h="850997" fill="norm" stroke="1" extrusionOk="0">
                <a:moveTo>
                  <a:pt x="67407" y="0"/>
                </a:moveTo>
                <a:lnTo>
                  <a:pt x="4861632" y="0"/>
                </a:lnTo>
                <a:cubicBezTo>
                  <a:pt x="4898860" y="0"/>
                  <a:pt x="4929039" y="30179"/>
                  <a:pt x="4929039" y="67407"/>
                </a:cubicBezTo>
                <a:lnTo>
                  <a:pt x="4929039" y="783589"/>
                </a:lnTo>
                <a:cubicBezTo>
                  <a:pt x="4929039" y="820817"/>
                  <a:pt x="4898860" y="850997"/>
                  <a:pt x="4861632" y="850997"/>
                </a:cubicBezTo>
                <a:lnTo>
                  <a:pt x="67407" y="850997"/>
                </a:lnTo>
                <a:cubicBezTo>
                  <a:pt x="30204" y="850997"/>
                  <a:pt x="0" y="820792"/>
                  <a:pt x="0" y="783589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311875250" name="Text 52"/>
          <p:cNvSpPr/>
          <p:nvPr/>
        </p:nvSpPr>
        <p:spPr bwMode="auto">
          <a:xfrm>
            <a:off x="6888938" y="2072723"/>
            <a:ext cx="165143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Коммерческие банки</a:t>
            </a:r>
            <a:endParaRPr lang="en-US" sz="1600"/>
          </a:p>
        </p:txBody>
      </p:sp>
      <p:sp>
        <p:nvSpPr>
          <p:cNvPr id="434956422" name="Text 53"/>
          <p:cNvSpPr/>
          <p:nvPr/>
        </p:nvSpPr>
        <p:spPr bwMode="auto">
          <a:xfrm>
            <a:off x="11295584" y="2039021"/>
            <a:ext cx="370731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35</a:t>
            </a:r>
            <a:endParaRPr lang="en-US" sz="1600"/>
          </a:p>
        </p:txBody>
      </p:sp>
      <p:sp>
        <p:nvSpPr>
          <p:cNvPr id="1941442669" name="Text 54"/>
          <p:cNvSpPr/>
          <p:nvPr/>
        </p:nvSpPr>
        <p:spPr bwMode="auto">
          <a:xfrm>
            <a:off x="6888938" y="2409753"/>
            <a:ext cx="4718397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Потенциальные клиенты платформы</a:t>
            </a:r>
            <a:endParaRPr lang="en-US" sz="1600"/>
          </a:p>
        </p:txBody>
      </p:sp>
      <p:sp>
        <p:nvSpPr>
          <p:cNvPr id="2087363793" name="Shape 55"/>
          <p:cNvSpPr/>
          <p:nvPr/>
        </p:nvSpPr>
        <p:spPr bwMode="auto">
          <a:xfrm>
            <a:off x="6749913" y="2894231"/>
            <a:ext cx="4929039" cy="850997"/>
          </a:xfrm>
          <a:custGeom>
            <a:avLst/>
            <a:gdLst/>
            <a:ahLst/>
            <a:cxnLst/>
            <a:rect l="l" t="t" r="r" b="b"/>
            <a:pathLst>
              <a:path w="4929039" h="850997" fill="norm" stroke="1" extrusionOk="0">
                <a:moveTo>
                  <a:pt x="67407" y="0"/>
                </a:moveTo>
                <a:lnTo>
                  <a:pt x="4861632" y="0"/>
                </a:lnTo>
                <a:cubicBezTo>
                  <a:pt x="4898860" y="0"/>
                  <a:pt x="4929039" y="30179"/>
                  <a:pt x="4929039" y="67407"/>
                </a:cubicBezTo>
                <a:lnTo>
                  <a:pt x="4929039" y="783589"/>
                </a:lnTo>
                <a:cubicBezTo>
                  <a:pt x="4929039" y="820817"/>
                  <a:pt x="4898860" y="850997"/>
                  <a:pt x="4861632" y="850997"/>
                </a:cubicBezTo>
                <a:lnTo>
                  <a:pt x="67407" y="850997"/>
                </a:lnTo>
                <a:cubicBezTo>
                  <a:pt x="30204" y="850997"/>
                  <a:pt x="0" y="820792"/>
                  <a:pt x="0" y="783589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489686183" name="Text 56"/>
          <p:cNvSpPr/>
          <p:nvPr/>
        </p:nvSpPr>
        <p:spPr bwMode="auto">
          <a:xfrm>
            <a:off x="6888938" y="3066958"/>
            <a:ext cx="122172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Объём сектора</a:t>
            </a:r>
            <a:endParaRPr lang="en-US" sz="1600"/>
          </a:p>
        </p:txBody>
      </p:sp>
      <p:sp>
        <p:nvSpPr>
          <p:cNvPr id="60592159" name="Text 57"/>
          <p:cNvSpPr/>
          <p:nvPr/>
        </p:nvSpPr>
        <p:spPr bwMode="auto">
          <a:xfrm>
            <a:off x="10934595" y="3033255"/>
            <a:ext cx="724611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$70B+</a:t>
            </a:r>
            <a:endParaRPr lang="en-US" sz="1600"/>
          </a:p>
        </p:txBody>
      </p:sp>
      <p:sp>
        <p:nvSpPr>
          <p:cNvPr id="1653663192" name="Text 58"/>
          <p:cNvSpPr/>
          <p:nvPr/>
        </p:nvSpPr>
        <p:spPr bwMode="auto">
          <a:xfrm>
            <a:off x="6888938" y="3403986"/>
            <a:ext cx="4718397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Активы банковской системы</a:t>
            </a:r>
            <a:endParaRPr lang="en-US" sz="1600"/>
          </a:p>
        </p:txBody>
      </p:sp>
      <p:sp>
        <p:nvSpPr>
          <p:cNvPr id="379583779" name="Shape 59"/>
          <p:cNvSpPr/>
          <p:nvPr/>
        </p:nvSpPr>
        <p:spPr bwMode="auto">
          <a:xfrm>
            <a:off x="6749913" y="3888464"/>
            <a:ext cx="4929039" cy="850997"/>
          </a:xfrm>
          <a:custGeom>
            <a:avLst/>
            <a:gdLst/>
            <a:ahLst/>
            <a:cxnLst/>
            <a:rect l="l" t="t" r="r" b="b"/>
            <a:pathLst>
              <a:path w="4929039" h="850997" fill="norm" stroke="1" extrusionOk="0">
                <a:moveTo>
                  <a:pt x="67407" y="0"/>
                </a:moveTo>
                <a:lnTo>
                  <a:pt x="4861632" y="0"/>
                </a:lnTo>
                <a:cubicBezTo>
                  <a:pt x="4898860" y="0"/>
                  <a:pt x="4929039" y="30179"/>
                  <a:pt x="4929039" y="67407"/>
                </a:cubicBezTo>
                <a:lnTo>
                  <a:pt x="4929039" y="783589"/>
                </a:lnTo>
                <a:cubicBezTo>
                  <a:pt x="4929039" y="820817"/>
                  <a:pt x="4898860" y="850997"/>
                  <a:pt x="4861632" y="850997"/>
                </a:cubicBezTo>
                <a:lnTo>
                  <a:pt x="67407" y="850997"/>
                </a:lnTo>
                <a:cubicBezTo>
                  <a:pt x="30204" y="850997"/>
                  <a:pt x="0" y="820792"/>
                  <a:pt x="0" y="783589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761510723" name="Text 60"/>
          <p:cNvSpPr/>
          <p:nvPr/>
        </p:nvSpPr>
        <p:spPr bwMode="auto">
          <a:xfrm>
            <a:off x="6888938" y="4061191"/>
            <a:ext cx="1575607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Цифровые платежи</a:t>
            </a:r>
            <a:endParaRPr lang="en-US" sz="1600"/>
          </a:p>
        </p:txBody>
      </p:sp>
      <p:sp>
        <p:nvSpPr>
          <p:cNvPr id="2137332524" name="Text 61"/>
          <p:cNvSpPr/>
          <p:nvPr/>
        </p:nvSpPr>
        <p:spPr bwMode="auto">
          <a:xfrm>
            <a:off x="11016219" y="4027489"/>
            <a:ext cx="648780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+45%</a:t>
            </a:r>
            <a:endParaRPr lang="en-US" sz="1600"/>
          </a:p>
        </p:txBody>
      </p:sp>
      <p:sp>
        <p:nvSpPr>
          <p:cNvPr id="556086959" name="Text 62"/>
          <p:cNvSpPr/>
          <p:nvPr/>
        </p:nvSpPr>
        <p:spPr bwMode="auto">
          <a:xfrm>
            <a:off x="6888938" y="4398220"/>
            <a:ext cx="4718397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Годовой рост (CAGR)</a:t>
            </a:r>
            <a:endParaRPr lang="en-US" sz="1600"/>
          </a:p>
        </p:txBody>
      </p:sp>
      <p:sp>
        <p:nvSpPr>
          <p:cNvPr id="1484540197" name="Shape 63"/>
          <p:cNvSpPr/>
          <p:nvPr/>
        </p:nvSpPr>
        <p:spPr bwMode="auto">
          <a:xfrm>
            <a:off x="6754127" y="4886911"/>
            <a:ext cx="4920614" cy="960531"/>
          </a:xfrm>
          <a:custGeom>
            <a:avLst/>
            <a:gdLst/>
            <a:ahLst/>
            <a:cxnLst/>
            <a:rect l="l" t="t" r="r" b="b"/>
            <a:pathLst>
              <a:path w="4920614" h="960531" fill="norm" stroke="1" extrusionOk="0">
                <a:moveTo>
                  <a:pt x="67410" y="0"/>
                </a:moveTo>
                <a:lnTo>
                  <a:pt x="4853204" y="0"/>
                </a:lnTo>
                <a:cubicBezTo>
                  <a:pt x="4890433" y="0"/>
                  <a:pt x="4920614" y="30181"/>
                  <a:pt x="4920614" y="67410"/>
                </a:cubicBezTo>
                <a:lnTo>
                  <a:pt x="4920614" y="893121"/>
                </a:lnTo>
                <a:cubicBezTo>
                  <a:pt x="4920614" y="930350"/>
                  <a:pt x="4890433" y="960531"/>
                  <a:pt x="4853204" y="960531"/>
                </a:cubicBezTo>
                <a:lnTo>
                  <a:pt x="67410" y="960531"/>
                </a:lnTo>
                <a:cubicBezTo>
                  <a:pt x="30181" y="960531"/>
                  <a:pt x="0" y="930350"/>
                  <a:pt x="0" y="893121"/>
                </a:cubicBezTo>
                <a:lnTo>
                  <a:pt x="0" y="67410"/>
                </a:lnTo>
                <a:cubicBezTo>
                  <a:pt x="0" y="30181"/>
                  <a:pt x="30181" y="0"/>
                  <a:pt x="6741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1038830204" name="Text 64"/>
          <p:cNvSpPr/>
          <p:nvPr/>
        </p:nvSpPr>
        <p:spPr bwMode="auto">
          <a:xfrm>
            <a:off x="6897364" y="5030148"/>
            <a:ext cx="4701545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Ключевой insight:</a:t>
            </a:r>
            <a:endParaRPr lang="en-US" sz="1600"/>
          </a:p>
        </p:txBody>
      </p:sp>
      <p:sp>
        <p:nvSpPr>
          <p:cNvPr id="53886046" name="Text 65"/>
          <p:cNvSpPr/>
          <p:nvPr/>
        </p:nvSpPr>
        <p:spPr bwMode="auto">
          <a:xfrm>
            <a:off x="6897364" y="5299771"/>
            <a:ext cx="4701545" cy="40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В настоящее время </a:t>
            </a:r>
            <a:r>
              <a:rPr lang="en-US" sz="1050" b="1">
                <a:solidFill>
                  <a:srgbClr val="C0A062"/>
                </a:solidFill>
                <a:latin typeface="Quattrocento Sans"/>
                <a:ea typeface="Quattrocento Sans"/>
                <a:cs typeface="Quattrocento Sans"/>
              </a:rPr>
              <a:t>нет единого pre-authorization infrastructure layer</a:t>
            </a: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. REVENANT заполняет этот пробел.</a:t>
            </a:r>
            <a:endParaRPr lang="en-US" sz="1600"/>
          </a:p>
        </p:txBody>
      </p:sp>
      <p:sp>
        <p:nvSpPr>
          <p:cNvPr id="1970265210" name="Shape 66"/>
          <p:cNvSpPr/>
          <p:nvPr/>
        </p:nvSpPr>
        <p:spPr bwMode="auto">
          <a:xfrm>
            <a:off x="6749913" y="5994891"/>
            <a:ext cx="2409753" cy="682482"/>
          </a:xfrm>
          <a:custGeom>
            <a:avLst/>
            <a:gdLst/>
            <a:ahLst/>
            <a:cxnLst/>
            <a:rect l="l" t="t" r="r" b="b"/>
            <a:pathLst>
              <a:path w="2409753" h="682482" fill="norm" stroke="1" extrusionOk="0">
                <a:moveTo>
                  <a:pt x="67409" y="0"/>
                </a:moveTo>
                <a:lnTo>
                  <a:pt x="2342344" y="0"/>
                </a:lnTo>
                <a:cubicBezTo>
                  <a:pt x="2379573" y="0"/>
                  <a:pt x="2409753" y="30180"/>
                  <a:pt x="2409753" y="67409"/>
                </a:cubicBezTo>
                <a:lnTo>
                  <a:pt x="2409753" y="615074"/>
                </a:lnTo>
                <a:cubicBezTo>
                  <a:pt x="2409753" y="652302"/>
                  <a:pt x="2379573" y="682482"/>
                  <a:pt x="2342344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232727701" name="Text 67"/>
          <p:cNvSpPr/>
          <p:nvPr/>
        </p:nvSpPr>
        <p:spPr bwMode="auto">
          <a:xfrm>
            <a:off x="6821532" y="6100213"/>
            <a:ext cx="226651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TAM</a:t>
            </a:r>
            <a:endParaRPr lang="en-US" sz="1600"/>
          </a:p>
        </p:txBody>
      </p:sp>
      <p:sp>
        <p:nvSpPr>
          <p:cNvPr id="662682590" name="Text 68"/>
          <p:cNvSpPr/>
          <p:nvPr/>
        </p:nvSpPr>
        <p:spPr bwMode="auto">
          <a:xfrm>
            <a:off x="6813107" y="6336133"/>
            <a:ext cx="2283367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$50M+</a:t>
            </a:r>
            <a:endParaRPr lang="en-US" sz="1600"/>
          </a:p>
        </p:txBody>
      </p:sp>
      <p:sp>
        <p:nvSpPr>
          <p:cNvPr id="646274217" name="Shape 69"/>
          <p:cNvSpPr/>
          <p:nvPr/>
        </p:nvSpPr>
        <p:spPr bwMode="auto">
          <a:xfrm>
            <a:off x="9267094" y="5994891"/>
            <a:ext cx="2409753" cy="682482"/>
          </a:xfrm>
          <a:custGeom>
            <a:avLst/>
            <a:gdLst/>
            <a:ahLst/>
            <a:cxnLst/>
            <a:rect l="l" t="t" r="r" b="b"/>
            <a:pathLst>
              <a:path w="2409753" h="682482" fill="norm" stroke="1" extrusionOk="0">
                <a:moveTo>
                  <a:pt x="67409" y="0"/>
                </a:moveTo>
                <a:lnTo>
                  <a:pt x="2342344" y="0"/>
                </a:lnTo>
                <a:cubicBezTo>
                  <a:pt x="2379573" y="0"/>
                  <a:pt x="2409753" y="30180"/>
                  <a:pt x="2409753" y="67409"/>
                </a:cubicBezTo>
                <a:lnTo>
                  <a:pt x="2409753" y="615074"/>
                </a:lnTo>
                <a:cubicBezTo>
                  <a:pt x="2409753" y="652302"/>
                  <a:pt x="2379573" y="682482"/>
                  <a:pt x="2342344" y="682482"/>
                </a:cubicBezTo>
                <a:lnTo>
                  <a:pt x="67409" y="682482"/>
                </a:lnTo>
                <a:cubicBezTo>
                  <a:pt x="30180" y="682482"/>
                  <a:pt x="0" y="652302"/>
                  <a:pt x="0" y="615074"/>
                </a:cubicBezTo>
                <a:lnTo>
                  <a:pt x="0" y="67409"/>
                </a:lnTo>
                <a:cubicBezTo>
                  <a:pt x="0" y="30180"/>
                  <a:pt x="30180" y="0"/>
                  <a:pt x="674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2027668160" name="Text 70"/>
          <p:cNvSpPr/>
          <p:nvPr/>
        </p:nvSpPr>
        <p:spPr bwMode="auto">
          <a:xfrm>
            <a:off x="9338713" y="6100213"/>
            <a:ext cx="2266516" cy="20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SAM (5 лет)</a:t>
            </a:r>
            <a:endParaRPr lang="en-US" sz="1600"/>
          </a:p>
        </p:txBody>
      </p:sp>
      <p:sp>
        <p:nvSpPr>
          <p:cNvPr id="1654078791" name="Text 71"/>
          <p:cNvSpPr/>
          <p:nvPr/>
        </p:nvSpPr>
        <p:spPr bwMode="auto">
          <a:xfrm>
            <a:off x="9330287" y="6336133"/>
            <a:ext cx="2283367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$15M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082692" name="Image 0" descr="https://kimi-web-img.moonshot.cn/img/thumbs.dreamstime.com/c5f8236aed0a45dfab4bc35738f61946c59b8141.jpg"/>
          <p:cNvPicPr>
            <a:picLocks noChangeAspect="1"/>
          </p:cNvPicPr>
          <p:nvPr/>
        </p:nvPicPr>
        <p:blipFill rotWithShape="1">
          <a:blip r:embed="rId3">
            <a:alphaModFix amt="30000"/>
          </a:blip>
          <a:srcRect l="96" t="0" r="96" b="0"/>
          <a:stretch/>
        </p:blipFill>
        <p:spPr bwMode="auto">
          <a:xfrm>
            <a:off x="0" y="0"/>
            <a:ext cx="12192000" cy="6855979"/>
          </a:xfrm>
          <a:prstGeom prst="roundRect">
            <a:avLst>
              <a:gd name="adj" fmla="val 0"/>
            </a:avLst>
          </a:prstGeom>
        </p:spPr>
      </p:pic>
      <p:sp>
        <p:nvSpPr>
          <p:cNvPr id="1109386189" name="Shape 0"/>
          <p:cNvSpPr/>
          <p:nvPr/>
        </p:nvSpPr>
        <p:spPr bwMode="auto">
          <a:xfrm>
            <a:off x="0" y="0"/>
            <a:ext cx="12192000" cy="6855979"/>
          </a:xfrm>
          <a:custGeom>
            <a:avLst/>
            <a:gdLst/>
            <a:ahLst/>
            <a:cxnLst/>
            <a:rect l="l" t="t" r="r" b="b"/>
            <a:pathLst>
              <a:path w="12192000" h="6855979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5979"/>
                </a:lnTo>
                <a:lnTo>
                  <a:pt x="0" y="68559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39629015" name="Shape 1"/>
          <p:cNvSpPr/>
          <p:nvPr/>
        </p:nvSpPr>
        <p:spPr bwMode="auto">
          <a:xfrm>
            <a:off x="323395" y="323395"/>
            <a:ext cx="32340" cy="323395"/>
          </a:xfrm>
          <a:custGeom>
            <a:avLst/>
            <a:gdLst/>
            <a:ahLst/>
            <a:cxnLst/>
            <a:rect l="l" t="t" r="r" b="b"/>
            <a:pathLst>
              <a:path w="32340" h="323395" fill="norm" stroke="1" extrusionOk="0">
                <a:moveTo>
                  <a:pt x="0" y="0"/>
                </a:moveTo>
                <a:lnTo>
                  <a:pt x="32340" y="0"/>
                </a:lnTo>
                <a:lnTo>
                  <a:pt x="32340" y="323395"/>
                </a:lnTo>
                <a:lnTo>
                  <a:pt x="0" y="323395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9008048" name="Text 2"/>
          <p:cNvSpPr/>
          <p:nvPr/>
        </p:nvSpPr>
        <p:spPr bwMode="auto">
          <a:xfrm>
            <a:off x="452753" y="388073"/>
            <a:ext cx="2005050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 spc="51">
                <a:solidFill>
                  <a:srgbClr val="C0A062"/>
                </a:solidFill>
                <a:latin typeface="Liter"/>
                <a:ea typeface="Liter"/>
                <a:cs typeface="Liter"/>
              </a:rPr>
              <a:t>СТРАТЕГИЧЕСКОЕ ВИДЕНИЕ</a:t>
            </a:r>
            <a:endParaRPr lang="en-US" sz="1600"/>
          </a:p>
        </p:txBody>
      </p:sp>
      <p:sp>
        <p:nvSpPr>
          <p:cNvPr id="1081420758" name="Text 3"/>
          <p:cNvSpPr/>
          <p:nvPr/>
        </p:nvSpPr>
        <p:spPr bwMode="auto">
          <a:xfrm>
            <a:off x="323395" y="743809"/>
            <a:ext cx="11739247" cy="3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50" b="1">
                <a:solidFill>
                  <a:srgbClr val="EDF2F4"/>
                </a:solidFill>
                <a:latin typeface="Oranienbaum"/>
                <a:ea typeface="Oranienbaum"/>
                <a:cs typeface="Oranienbaum"/>
              </a:rPr>
              <a:t>Национальная инфраструктурная платформа</a:t>
            </a:r>
            <a:endParaRPr lang="en-US" sz="1600"/>
          </a:p>
        </p:txBody>
      </p:sp>
      <p:sp>
        <p:nvSpPr>
          <p:cNvPr id="476690188" name="Shape 4"/>
          <p:cNvSpPr/>
          <p:nvPr/>
        </p:nvSpPr>
        <p:spPr bwMode="auto">
          <a:xfrm>
            <a:off x="339565" y="1261241"/>
            <a:ext cx="6791300" cy="1156138"/>
          </a:xfrm>
          <a:custGeom>
            <a:avLst/>
            <a:gdLst/>
            <a:ahLst/>
            <a:cxnLst/>
            <a:rect l="l" t="t" r="r" b="b"/>
            <a:pathLst>
              <a:path w="6791300" h="1156138" fill="norm" stroke="1" extrusionOk="0">
                <a:moveTo>
                  <a:pt x="0" y="0"/>
                </a:moveTo>
                <a:lnTo>
                  <a:pt x="6726625" y="0"/>
                </a:lnTo>
                <a:cubicBezTo>
                  <a:pt x="6762320" y="0"/>
                  <a:pt x="6791300" y="28980"/>
                  <a:pt x="6791300" y="64674"/>
                </a:cubicBezTo>
                <a:lnTo>
                  <a:pt x="6791300" y="1091464"/>
                </a:lnTo>
                <a:cubicBezTo>
                  <a:pt x="6791300" y="1127158"/>
                  <a:pt x="6762320" y="1156138"/>
                  <a:pt x="6726625" y="1156138"/>
                </a:cubicBezTo>
                <a:lnTo>
                  <a:pt x="0" y="11561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0A062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77258300" name="Shape 5"/>
          <p:cNvSpPr/>
          <p:nvPr/>
        </p:nvSpPr>
        <p:spPr bwMode="auto">
          <a:xfrm>
            <a:off x="339565" y="1261241"/>
            <a:ext cx="32340" cy="1156138"/>
          </a:xfrm>
          <a:custGeom>
            <a:avLst/>
            <a:gdLst/>
            <a:ahLst/>
            <a:cxnLst/>
            <a:rect l="l" t="t" r="r" b="b"/>
            <a:pathLst>
              <a:path w="32340" h="1156138" fill="norm" stroke="1" extrusionOk="0">
                <a:moveTo>
                  <a:pt x="0" y="0"/>
                </a:moveTo>
                <a:lnTo>
                  <a:pt x="32340" y="0"/>
                </a:lnTo>
                <a:lnTo>
                  <a:pt x="32340" y="1156138"/>
                </a:lnTo>
                <a:lnTo>
                  <a:pt x="0" y="1156138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43356590" name="Text 6"/>
          <p:cNvSpPr/>
          <p:nvPr/>
        </p:nvSpPr>
        <p:spPr bwMode="auto">
          <a:xfrm>
            <a:off x="517432" y="1422939"/>
            <a:ext cx="6548753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Долгосрочное видение</a:t>
            </a:r>
            <a:endParaRPr lang="en-US" sz="1600"/>
          </a:p>
        </p:txBody>
      </p:sp>
      <p:sp>
        <p:nvSpPr>
          <p:cNvPr id="2111672416" name="Text 7"/>
          <p:cNvSpPr/>
          <p:nvPr/>
        </p:nvSpPr>
        <p:spPr bwMode="auto">
          <a:xfrm>
            <a:off x="517432" y="1778674"/>
            <a:ext cx="6524499" cy="47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REVENANT становится </a:t>
            </a:r>
            <a:r>
              <a:rPr lang="en-US" sz="1150" b="1">
                <a:solidFill>
                  <a:srgbClr val="EDF2F4"/>
                </a:solidFill>
                <a:highlight>
                  <a:srgbClr val="C0A062">
                    <a:alpha val="30000"/>
                  </a:srgbClr>
                </a:highlight>
                <a:latin typeface="Quattrocento Sans"/>
                <a:ea typeface="Quattrocento Sans"/>
                <a:cs typeface="Quattrocento Sans"/>
              </a:rPr>
              <a:t>shared financial decision layer </a:t>
            </a:r>
            <a:r>
              <a:rPr lang="en-US" sz="115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across banks — единым инфраструктурным слоем для всей банковской системы страны.</a:t>
            </a:r>
            <a:endParaRPr lang="en-US" sz="1600"/>
          </a:p>
        </p:txBody>
      </p:sp>
      <p:sp>
        <p:nvSpPr>
          <p:cNvPr id="399921017" name="Shape 8"/>
          <p:cNvSpPr/>
          <p:nvPr/>
        </p:nvSpPr>
        <p:spPr bwMode="auto">
          <a:xfrm>
            <a:off x="327438" y="2546737"/>
            <a:ext cx="3330971" cy="1228902"/>
          </a:xfrm>
          <a:custGeom>
            <a:avLst/>
            <a:gdLst/>
            <a:ahLst/>
            <a:cxnLst/>
            <a:rect l="l" t="t" r="r" b="b"/>
            <a:pathLst>
              <a:path w="3330971" h="1228902" fill="norm" stroke="1" extrusionOk="0">
                <a:moveTo>
                  <a:pt x="64677" y="0"/>
                </a:moveTo>
                <a:lnTo>
                  <a:pt x="3266294" y="0"/>
                </a:lnTo>
                <a:cubicBezTo>
                  <a:pt x="3302014" y="0"/>
                  <a:pt x="3330971" y="28957"/>
                  <a:pt x="3330971" y="64677"/>
                </a:cubicBezTo>
                <a:lnTo>
                  <a:pt x="3330971" y="1164225"/>
                </a:lnTo>
                <a:cubicBezTo>
                  <a:pt x="3330971" y="1199945"/>
                  <a:pt x="3302014" y="1228902"/>
                  <a:pt x="3266294" y="1228902"/>
                </a:cubicBezTo>
                <a:lnTo>
                  <a:pt x="64677" y="1228902"/>
                </a:lnTo>
                <a:cubicBezTo>
                  <a:pt x="28957" y="1228902"/>
                  <a:pt x="0" y="1199945"/>
                  <a:pt x="0" y="1164225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93054602" name="Shape 9"/>
          <p:cNvSpPr/>
          <p:nvPr/>
        </p:nvSpPr>
        <p:spPr bwMode="auto">
          <a:xfrm>
            <a:off x="472966" y="2696308"/>
            <a:ext cx="218292" cy="194036"/>
          </a:xfrm>
          <a:custGeom>
            <a:avLst/>
            <a:gdLst/>
            <a:ahLst/>
            <a:cxnLst/>
            <a:rect l="l" t="t" r="r" b="b"/>
            <a:pathLst>
              <a:path w="218292" h="194037" fill="norm" stroke="1" extrusionOk="0">
                <a:moveTo>
                  <a:pt x="109146" y="12127"/>
                </a:moveTo>
                <a:cubicBezTo>
                  <a:pt x="78524" y="12127"/>
                  <a:pt x="54004" y="26074"/>
                  <a:pt x="36155" y="42673"/>
                </a:cubicBezTo>
                <a:cubicBezTo>
                  <a:pt x="18418" y="59159"/>
                  <a:pt x="6556" y="78828"/>
                  <a:pt x="910" y="92357"/>
                </a:cubicBezTo>
                <a:cubicBezTo>
                  <a:pt x="-341" y="95351"/>
                  <a:pt x="-341" y="98686"/>
                  <a:pt x="910" y="101680"/>
                </a:cubicBezTo>
                <a:cubicBezTo>
                  <a:pt x="6556" y="115210"/>
                  <a:pt x="18418" y="134916"/>
                  <a:pt x="36155" y="151364"/>
                </a:cubicBezTo>
                <a:cubicBezTo>
                  <a:pt x="54004" y="167925"/>
                  <a:pt x="78524" y="181910"/>
                  <a:pt x="109146" y="181910"/>
                </a:cubicBezTo>
                <a:cubicBezTo>
                  <a:pt x="139767" y="181910"/>
                  <a:pt x="164287" y="167963"/>
                  <a:pt x="182137" y="151364"/>
                </a:cubicBezTo>
                <a:cubicBezTo>
                  <a:pt x="199873" y="134879"/>
                  <a:pt x="211735" y="115210"/>
                  <a:pt x="217382" y="101680"/>
                </a:cubicBezTo>
                <a:cubicBezTo>
                  <a:pt x="218633" y="98686"/>
                  <a:pt x="218633" y="95351"/>
                  <a:pt x="217382" y="92357"/>
                </a:cubicBezTo>
                <a:cubicBezTo>
                  <a:pt x="211735" y="78828"/>
                  <a:pt x="199873" y="59121"/>
                  <a:pt x="182137" y="42673"/>
                </a:cubicBezTo>
                <a:cubicBezTo>
                  <a:pt x="164287" y="26112"/>
                  <a:pt x="139767" y="12127"/>
                  <a:pt x="109146" y="12127"/>
                </a:cubicBezTo>
                <a:close/>
                <a:moveTo>
                  <a:pt x="54573" y="97019"/>
                </a:moveTo>
                <a:cubicBezTo>
                  <a:pt x="54573" y="66899"/>
                  <a:pt x="79026" y="42446"/>
                  <a:pt x="109146" y="42446"/>
                </a:cubicBezTo>
                <a:cubicBezTo>
                  <a:pt x="139266" y="42446"/>
                  <a:pt x="163719" y="66899"/>
                  <a:pt x="163719" y="97019"/>
                </a:cubicBezTo>
                <a:cubicBezTo>
                  <a:pt x="163719" y="127138"/>
                  <a:pt x="139266" y="151592"/>
                  <a:pt x="109146" y="151592"/>
                </a:cubicBezTo>
                <a:cubicBezTo>
                  <a:pt x="79026" y="151592"/>
                  <a:pt x="54573" y="127138"/>
                  <a:pt x="54573" y="97019"/>
                </a:cubicBezTo>
                <a:close/>
                <a:moveTo>
                  <a:pt x="109146" y="72764"/>
                </a:moveTo>
                <a:cubicBezTo>
                  <a:pt x="109146" y="86142"/>
                  <a:pt x="98269" y="97019"/>
                  <a:pt x="84891" y="97019"/>
                </a:cubicBezTo>
                <a:cubicBezTo>
                  <a:pt x="80533" y="97019"/>
                  <a:pt x="76440" y="95882"/>
                  <a:pt x="72878" y="93835"/>
                </a:cubicBezTo>
                <a:cubicBezTo>
                  <a:pt x="72499" y="97966"/>
                  <a:pt x="72840" y="102211"/>
                  <a:pt x="73977" y="106417"/>
                </a:cubicBezTo>
                <a:cubicBezTo>
                  <a:pt x="79169" y="125821"/>
                  <a:pt x="99141" y="137342"/>
                  <a:pt x="118545" y="132150"/>
                </a:cubicBezTo>
                <a:cubicBezTo>
                  <a:pt x="137948" y="126958"/>
                  <a:pt x="149469" y="106986"/>
                  <a:pt x="144277" y="87582"/>
                </a:cubicBezTo>
                <a:cubicBezTo>
                  <a:pt x="139654" y="70263"/>
                  <a:pt x="123244" y="59234"/>
                  <a:pt x="105962" y="60750"/>
                </a:cubicBezTo>
                <a:cubicBezTo>
                  <a:pt x="107971" y="64275"/>
                  <a:pt x="109146" y="68368"/>
                  <a:pt x="109146" y="7276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5155409" name="Text 10"/>
          <p:cNvSpPr/>
          <p:nvPr/>
        </p:nvSpPr>
        <p:spPr bwMode="auto">
          <a:xfrm>
            <a:off x="800403" y="2680138"/>
            <a:ext cx="155229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Systemic Risk Visibility</a:t>
            </a:r>
            <a:endParaRPr lang="en-US" sz="1600"/>
          </a:p>
        </p:txBody>
      </p:sp>
      <p:sp>
        <p:nvSpPr>
          <p:cNvPr id="911432060" name="Text 11"/>
          <p:cNvSpPr/>
          <p:nvPr/>
        </p:nvSpPr>
        <p:spPr bwMode="auto">
          <a:xfrm>
            <a:off x="460838" y="3003533"/>
            <a:ext cx="3128849" cy="3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Полная прозрачность системных рисков для регулятора и банков</a:t>
            </a:r>
            <a:endParaRPr lang="en-US" sz="1600"/>
          </a:p>
        </p:txBody>
      </p:sp>
      <p:sp>
        <p:nvSpPr>
          <p:cNvPr id="316335412" name="Shape 12"/>
          <p:cNvSpPr/>
          <p:nvPr/>
        </p:nvSpPr>
        <p:spPr bwMode="auto">
          <a:xfrm>
            <a:off x="3796357" y="2546737"/>
            <a:ext cx="3330971" cy="1228902"/>
          </a:xfrm>
          <a:custGeom>
            <a:avLst/>
            <a:gdLst/>
            <a:ahLst/>
            <a:cxnLst/>
            <a:rect l="l" t="t" r="r" b="b"/>
            <a:pathLst>
              <a:path w="3330971" h="1228902" fill="norm" stroke="1" extrusionOk="0">
                <a:moveTo>
                  <a:pt x="64677" y="0"/>
                </a:moveTo>
                <a:lnTo>
                  <a:pt x="3266294" y="0"/>
                </a:lnTo>
                <a:cubicBezTo>
                  <a:pt x="3302014" y="0"/>
                  <a:pt x="3330971" y="28957"/>
                  <a:pt x="3330971" y="64677"/>
                </a:cubicBezTo>
                <a:lnTo>
                  <a:pt x="3330971" y="1164225"/>
                </a:lnTo>
                <a:cubicBezTo>
                  <a:pt x="3330971" y="1199945"/>
                  <a:pt x="3302014" y="1228902"/>
                  <a:pt x="3266294" y="1228902"/>
                </a:cubicBezTo>
                <a:lnTo>
                  <a:pt x="64677" y="1228902"/>
                </a:lnTo>
                <a:cubicBezTo>
                  <a:pt x="28957" y="1228902"/>
                  <a:pt x="0" y="1199945"/>
                  <a:pt x="0" y="1164225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24964427" name="Shape 13"/>
          <p:cNvSpPr/>
          <p:nvPr/>
        </p:nvSpPr>
        <p:spPr bwMode="auto">
          <a:xfrm>
            <a:off x="3929757" y="2696308"/>
            <a:ext cx="242546" cy="194036"/>
          </a:xfrm>
          <a:custGeom>
            <a:avLst/>
            <a:gdLst/>
            <a:ahLst/>
            <a:cxnLst/>
            <a:rect l="l" t="t" r="r" b="b"/>
            <a:pathLst>
              <a:path w="242546" h="194037" fill="norm" stroke="1" extrusionOk="0">
                <a:moveTo>
                  <a:pt x="145528" y="12127"/>
                </a:moveTo>
                <a:lnTo>
                  <a:pt x="194037" y="12127"/>
                </a:lnTo>
                <a:cubicBezTo>
                  <a:pt x="200745" y="12127"/>
                  <a:pt x="206164" y="17547"/>
                  <a:pt x="206164" y="24255"/>
                </a:cubicBezTo>
                <a:cubicBezTo>
                  <a:pt x="206164" y="30963"/>
                  <a:pt x="200745" y="36382"/>
                  <a:pt x="194037" y="36382"/>
                </a:cubicBezTo>
                <a:lnTo>
                  <a:pt x="150985" y="36382"/>
                </a:lnTo>
                <a:cubicBezTo>
                  <a:pt x="149014" y="46160"/>
                  <a:pt x="142307" y="54232"/>
                  <a:pt x="133401" y="58097"/>
                </a:cubicBezTo>
                <a:lnTo>
                  <a:pt x="133401" y="169782"/>
                </a:lnTo>
                <a:lnTo>
                  <a:pt x="194037" y="169782"/>
                </a:lnTo>
                <a:cubicBezTo>
                  <a:pt x="200745" y="169782"/>
                  <a:pt x="206164" y="175202"/>
                  <a:pt x="206164" y="181910"/>
                </a:cubicBezTo>
                <a:cubicBezTo>
                  <a:pt x="206164" y="188618"/>
                  <a:pt x="200745" y="194037"/>
                  <a:pt x="194037" y="194037"/>
                </a:cubicBezTo>
                <a:lnTo>
                  <a:pt x="48509" y="194037"/>
                </a:lnTo>
                <a:cubicBezTo>
                  <a:pt x="41801" y="194037"/>
                  <a:pt x="36382" y="188618"/>
                  <a:pt x="36382" y="181910"/>
                </a:cubicBezTo>
                <a:cubicBezTo>
                  <a:pt x="36382" y="175202"/>
                  <a:pt x="41801" y="169782"/>
                  <a:pt x="48509" y="169782"/>
                </a:cubicBezTo>
                <a:lnTo>
                  <a:pt x="109146" y="169782"/>
                </a:lnTo>
                <a:lnTo>
                  <a:pt x="109146" y="58097"/>
                </a:lnTo>
                <a:cubicBezTo>
                  <a:pt x="100240" y="54194"/>
                  <a:pt x="93532" y="46122"/>
                  <a:pt x="91561" y="36382"/>
                </a:cubicBezTo>
                <a:lnTo>
                  <a:pt x="48509" y="36382"/>
                </a:lnTo>
                <a:cubicBezTo>
                  <a:pt x="41801" y="36382"/>
                  <a:pt x="36382" y="30963"/>
                  <a:pt x="36382" y="24255"/>
                </a:cubicBezTo>
                <a:cubicBezTo>
                  <a:pt x="36382" y="17547"/>
                  <a:pt x="41801" y="12127"/>
                  <a:pt x="48509" y="12127"/>
                </a:cubicBezTo>
                <a:lnTo>
                  <a:pt x="97019" y="12127"/>
                </a:lnTo>
                <a:cubicBezTo>
                  <a:pt x="102552" y="4775"/>
                  <a:pt x="111344" y="0"/>
                  <a:pt x="121273" y="0"/>
                </a:cubicBezTo>
                <a:cubicBezTo>
                  <a:pt x="131202" y="0"/>
                  <a:pt x="139995" y="4775"/>
                  <a:pt x="145528" y="12127"/>
                </a:cubicBezTo>
                <a:close/>
                <a:moveTo>
                  <a:pt x="166599" y="121273"/>
                </a:moveTo>
                <a:lnTo>
                  <a:pt x="221475" y="121273"/>
                </a:lnTo>
                <a:lnTo>
                  <a:pt x="194037" y="74204"/>
                </a:lnTo>
                <a:lnTo>
                  <a:pt x="166599" y="121273"/>
                </a:lnTo>
                <a:close/>
                <a:moveTo>
                  <a:pt x="194037" y="157655"/>
                </a:moveTo>
                <a:cubicBezTo>
                  <a:pt x="170199" y="157655"/>
                  <a:pt x="150379" y="144770"/>
                  <a:pt x="146286" y="127754"/>
                </a:cubicBezTo>
                <a:cubicBezTo>
                  <a:pt x="145300" y="123585"/>
                  <a:pt x="146665" y="119303"/>
                  <a:pt x="148825" y="115589"/>
                </a:cubicBezTo>
                <a:lnTo>
                  <a:pt x="184904" y="53739"/>
                </a:lnTo>
                <a:cubicBezTo>
                  <a:pt x="186799" y="50480"/>
                  <a:pt x="190285" y="48509"/>
                  <a:pt x="194037" y="48509"/>
                </a:cubicBezTo>
                <a:cubicBezTo>
                  <a:pt x="197789" y="48509"/>
                  <a:pt x="201276" y="50518"/>
                  <a:pt x="203171" y="53739"/>
                </a:cubicBezTo>
                <a:lnTo>
                  <a:pt x="239249" y="115589"/>
                </a:lnTo>
                <a:cubicBezTo>
                  <a:pt x="241409" y="119303"/>
                  <a:pt x="242774" y="123585"/>
                  <a:pt x="241788" y="127754"/>
                </a:cubicBezTo>
                <a:cubicBezTo>
                  <a:pt x="237695" y="144732"/>
                  <a:pt x="217875" y="157655"/>
                  <a:pt x="194037" y="157655"/>
                </a:cubicBezTo>
                <a:close/>
                <a:moveTo>
                  <a:pt x="48055" y="74204"/>
                </a:moveTo>
                <a:lnTo>
                  <a:pt x="20616" y="121273"/>
                </a:lnTo>
                <a:lnTo>
                  <a:pt x="75530" y="121273"/>
                </a:lnTo>
                <a:lnTo>
                  <a:pt x="48055" y="74204"/>
                </a:lnTo>
                <a:close/>
                <a:moveTo>
                  <a:pt x="341" y="127754"/>
                </a:moveTo>
                <a:cubicBezTo>
                  <a:pt x="-644" y="123585"/>
                  <a:pt x="720" y="119303"/>
                  <a:pt x="2880" y="115589"/>
                </a:cubicBezTo>
                <a:lnTo>
                  <a:pt x="38959" y="53739"/>
                </a:lnTo>
                <a:cubicBezTo>
                  <a:pt x="40854" y="50480"/>
                  <a:pt x="44341" y="48509"/>
                  <a:pt x="48092" y="48509"/>
                </a:cubicBezTo>
                <a:cubicBezTo>
                  <a:pt x="51844" y="48509"/>
                  <a:pt x="55331" y="50518"/>
                  <a:pt x="57226" y="53739"/>
                </a:cubicBezTo>
                <a:lnTo>
                  <a:pt x="93305" y="115589"/>
                </a:lnTo>
                <a:cubicBezTo>
                  <a:pt x="95465" y="119303"/>
                  <a:pt x="96829" y="123585"/>
                  <a:pt x="95844" y="127754"/>
                </a:cubicBezTo>
                <a:cubicBezTo>
                  <a:pt x="91751" y="144732"/>
                  <a:pt x="71930" y="157655"/>
                  <a:pt x="48092" y="157655"/>
                </a:cubicBezTo>
                <a:cubicBezTo>
                  <a:pt x="24255" y="157655"/>
                  <a:pt x="4434" y="144770"/>
                  <a:pt x="341" y="12775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7919114" name="Text 14"/>
          <p:cNvSpPr/>
          <p:nvPr/>
        </p:nvSpPr>
        <p:spPr bwMode="auto">
          <a:xfrm>
            <a:off x="4269322" y="2680138"/>
            <a:ext cx="1722080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Standardized Compliance</a:t>
            </a:r>
            <a:endParaRPr lang="en-US" sz="1600"/>
          </a:p>
        </p:txBody>
      </p:sp>
      <p:sp>
        <p:nvSpPr>
          <p:cNvPr id="1025610535" name="Text 15"/>
          <p:cNvSpPr/>
          <p:nvPr/>
        </p:nvSpPr>
        <p:spPr bwMode="auto">
          <a:xfrm>
            <a:off x="3929757" y="3003533"/>
            <a:ext cx="3128849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Единые стандарты compliance для всей отрасли</a:t>
            </a:r>
            <a:endParaRPr lang="en-US" sz="1600"/>
          </a:p>
        </p:txBody>
      </p:sp>
      <p:sp>
        <p:nvSpPr>
          <p:cNvPr id="1067710645" name="Shape 16"/>
          <p:cNvSpPr/>
          <p:nvPr/>
        </p:nvSpPr>
        <p:spPr bwMode="auto">
          <a:xfrm>
            <a:off x="327438" y="3911061"/>
            <a:ext cx="3330971" cy="1228902"/>
          </a:xfrm>
          <a:custGeom>
            <a:avLst/>
            <a:gdLst/>
            <a:ahLst/>
            <a:cxnLst/>
            <a:rect l="l" t="t" r="r" b="b"/>
            <a:pathLst>
              <a:path w="3330971" h="1228902" fill="norm" stroke="1" extrusionOk="0">
                <a:moveTo>
                  <a:pt x="64677" y="0"/>
                </a:moveTo>
                <a:lnTo>
                  <a:pt x="3266294" y="0"/>
                </a:lnTo>
                <a:cubicBezTo>
                  <a:pt x="3302014" y="0"/>
                  <a:pt x="3330971" y="28957"/>
                  <a:pt x="3330971" y="64677"/>
                </a:cubicBezTo>
                <a:lnTo>
                  <a:pt x="3330971" y="1164225"/>
                </a:lnTo>
                <a:cubicBezTo>
                  <a:pt x="3330971" y="1199945"/>
                  <a:pt x="3302014" y="1228902"/>
                  <a:pt x="3266294" y="1228902"/>
                </a:cubicBezTo>
                <a:lnTo>
                  <a:pt x="64677" y="1228902"/>
                </a:lnTo>
                <a:cubicBezTo>
                  <a:pt x="28957" y="1228902"/>
                  <a:pt x="0" y="1199945"/>
                  <a:pt x="0" y="1164225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56492648" name="Shape 17"/>
          <p:cNvSpPr/>
          <p:nvPr/>
        </p:nvSpPr>
        <p:spPr bwMode="auto">
          <a:xfrm>
            <a:off x="497220" y="4060631"/>
            <a:ext cx="169782" cy="194036"/>
          </a:xfrm>
          <a:custGeom>
            <a:avLst/>
            <a:gdLst/>
            <a:ahLst/>
            <a:cxnLst/>
            <a:rect l="l" t="t" r="r" b="b"/>
            <a:pathLst>
              <a:path w="169782" h="194037" fill="norm" stroke="1" extrusionOk="0">
                <a:moveTo>
                  <a:pt x="128398" y="-3752"/>
                </a:moveTo>
                <a:cubicBezTo>
                  <a:pt x="132908" y="-493"/>
                  <a:pt x="134575" y="5419"/>
                  <a:pt x="132529" y="10574"/>
                </a:cubicBezTo>
                <a:lnTo>
                  <a:pt x="102817" y="84891"/>
                </a:lnTo>
                <a:lnTo>
                  <a:pt x="157655" y="84891"/>
                </a:lnTo>
                <a:cubicBezTo>
                  <a:pt x="162771" y="84891"/>
                  <a:pt x="167319" y="88075"/>
                  <a:pt x="169062" y="92888"/>
                </a:cubicBezTo>
                <a:cubicBezTo>
                  <a:pt x="170806" y="97701"/>
                  <a:pt x="169328" y="103082"/>
                  <a:pt x="165424" y="106341"/>
                </a:cubicBezTo>
                <a:lnTo>
                  <a:pt x="56278" y="197296"/>
                </a:lnTo>
                <a:cubicBezTo>
                  <a:pt x="51996" y="200859"/>
                  <a:pt x="45894" y="201048"/>
                  <a:pt x="41384" y="197789"/>
                </a:cubicBezTo>
                <a:cubicBezTo>
                  <a:pt x="36875" y="194530"/>
                  <a:pt x="35207" y="188618"/>
                  <a:pt x="37254" y="183464"/>
                </a:cubicBezTo>
                <a:lnTo>
                  <a:pt x="66966" y="109146"/>
                </a:lnTo>
                <a:lnTo>
                  <a:pt x="12127" y="109146"/>
                </a:lnTo>
                <a:cubicBezTo>
                  <a:pt x="7011" y="109146"/>
                  <a:pt x="2463" y="105962"/>
                  <a:pt x="720" y="101149"/>
                </a:cubicBezTo>
                <a:cubicBezTo>
                  <a:pt x="-1023" y="96336"/>
                  <a:pt x="455" y="90955"/>
                  <a:pt x="4358" y="87696"/>
                </a:cubicBezTo>
                <a:lnTo>
                  <a:pt x="113504" y="-3259"/>
                </a:lnTo>
                <a:cubicBezTo>
                  <a:pt x="117787" y="-6822"/>
                  <a:pt x="123888" y="-7011"/>
                  <a:pt x="128398" y="-375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21566704" name="Text 18"/>
          <p:cNvSpPr/>
          <p:nvPr/>
        </p:nvSpPr>
        <p:spPr bwMode="auto">
          <a:xfrm>
            <a:off x="800403" y="4044462"/>
            <a:ext cx="1503788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Faster Digital Services</a:t>
            </a:r>
            <a:endParaRPr lang="en-US" sz="1600"/>
          </a:p>
        </p:txBody>
      </p:sp>
      <p:sp>
        <p:nvSpPr>
          <p:cNvPr id="1001863155" name="Text 19"/>
          <p:cNvSpPr/>
          <p:nvPr/>
        </p:nvSpPr>
        <p:spPr bwMode="auto">
          <a:xfrm>
            <a:off x="460838" y="4367857"/>
            <a:ext cx="3128849" cy="3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Ускорение цифровых сервисов для конечных пользователей</a:t>
            </a:r>
            <a:endParaRPr lang="en-US" sz="1600"/>
          </a:p>
        </p:txBody>
      </p:sp>
      <p:sp>
        <p:nvSpPr>
          <p:cNvPr id="1591490772" name="Shape 20"/>
          <p:cNvSpPr/>
          <p:nvPr/>
        </p:nvSpPr>
        <p:spPr bwMode="auto">
          <a:xfrm>
            <a:off x="3796357" y="3911061"/>
            <a:ext cx="3330971" cy="1228902"/>
          </a:xfrm>
          <a:custGeom>
            <a:avLst/>
            <a:gdLst/>
            <a:ahLst/>
            <a:cxnLst/>
            <a:rect l="l" t="t" r="r" b="b"/>
            <a:pathLst>
              <a:path w="3330971" h="1228902" fill="norm" stroke="1" extrusionOk="0">
                <a:moveTo>
                  <a:pt x="64677" y="0"/>
                </a:moveTo>
                <a:lnTo>
                  <a:pt x="3266294" y="0"/>
                </a:lnTo>
                <a:cubicBezTo>
                  <a:pt x="3302014" y="0"/>
                  <a:pt x="3330971" y="28957"/>
                  <a:pt x="3330971" y="64677"/>
                </a:cubicBezTo>
                <a:lnTo>
                  <a:pt x="3330971" y="1164225"/>
                </a:lnTo>
                <a:cubicBezTo>
                  <a:pt x="3330971" y="1199945"/>
                  <a:pt x="3302014" y="1228902"/>
                  <a:pt x="3266294" y="1228902"/>
                </a:cubicBezTo>
                <a:lnTo>
                  <a:pt x="64677" y="1228902"/>
                </a:lnTo>
                <a:cubicBezTo>
                  <a:pt x="28957" y="1228902"/>
                  <a:pt x="0" y="1199945"/>
                  <a:pt x="0" y="1164225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99463615" name="Shape 21"/>
          <p:cNvSpPr/>
          <p:nvPr/>
        </p:nvSpPr>
        <p:spPr bwMode="auto">
          <a:xfrm>
            <a:off x="3954012" y="4060631"/>
            <a:ext cx="194036" cy="194036"/>
          </a:xfrm>
          <a:custGeom>
            <a:avLst/>
            <a:gdLst/>
            <a:ahLst/>
            <a:cxnLst/>
            <a:rect l="l" t="t" r="r" b="b"/>
            <a:pathLst>
              <a:path w="194037" h="194037" fill="norm" stroke="1" extrusionOk="0">
                <a:moveTo>
                  <a:pt x="97019" y="0"/>
                </a:moveTo>
                <a:cubicBezTo>
                  <a:pt x="98762" y="0"/>
                  <a:pt x="100505" y="379"/>
                  <a:pt x="102097" y="1099"/>
                </a:cubicBezTo>
                <a:lnTo>
                  <a:pt x="173496" y="31379"/>
                </a:lnTo>
                <a:cubicBezTo>
                  <a:pt x="181834" y="34904"/>
                  <a:pt x="188049" y="43128"/>
                  <a:pt x="188011" y="53057"/>
                </a:cubicBezTo>
                <a:cubicBezTo>
                  <a:pt x="187822" y="90652"/>
                  <a:pt x="172360" y="159436"/>
                  <a:pt x="107062" y="190702"/>
                </a:cubicBezTo>
                <a:cubicBezTo>
                  <a:pt x="100733" y="193734"/>
                  <a:pt x="93380" y="193734"/>
                  <a:pt x="87051" y="190702"/>
                </a:cubicBezTo>
                <a:cubicBezTo>
                  <a:pt x="21715" y="159436"/>
                  <a:pt x="6291" y="90652"/>
                  <a:pt x="6102" y="53057"/>
                </a:cubicBezTo>
                <a:cubicBezTo>
                  <a:pt x="6064" y="43128"/>
                  <a:pt x="12279" y="34904"/>
                  <a:pt x="20616" y="31379"/>
                </a:cubicBezTo>
                <a:lnTo>
                  <a:pt x="91978" y="1099"/>
                </a:lnTo>
                <a:cubicBezTo>
                  <a:pt x="93570" y="379"/>
                  <a:pt x="95275" y="0"/>
                  <a:pt x="97019" y="0"/>
                </a:cubicBezTo>
                <a:close/>
                <a:moveTo>
                  <a:pt x="97019" y="25316"/>
                </a:moveTo>
                <a:lnTo>
                  <a:pt x="97019" y="168608"/>
                </a:lnTo>
                <a:cubicBezTo>
                  <a:pt x="149318" y="143292"/>
                  <a:pt x="163378" y="87203"/>
                  <a:pt x="163719" y="53625"/>
                </a:cubicBezTo>
                <a:lnTo>
                  <a:pt x="97019" y="25354"/>
                </a:lnTo>
                <a:lnTo>
                  <a:pt x="97019" y="2535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90686863" name="Text 22"/>
          <p:cNvSpPr/>
          <p:nvPr/>
        </p:nvSpPr>
        <p:spPr bwMode="auto">
          <a:xfrm>
            <a:off x="4269322" y="4044462"/>
            <a:ext cx="116422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EDF2F4"/>
                </a:solidFill>
                <a:latin typeface="Liter"/>
                <a:ea typeface="Liter"/>
                <a:cs typeface="Liter"/>
              </a:rPr>
              <a:t>National Stability</a:t>
            </a:r>
            <a:endParaRPr lang="en-US" sz="1600"/>
          </a:p>
        </p:txBody>
      </p:sp>
      <p:sp>
        <p:nvSpPr>
          <p:cNvPr id="1541419397" name="Text 23"/>
          <p:cNvSpPr/>
          <p:nvPr/>
        </p:nvSpPr>
        <p:spPr bwMode="auto">
          <a:xfrm>
            <a:off x="3929757" y="4367857"/>
            <a:ext cx="3128849" cy="3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Укрепление стабильности национальной финансовой системы</a:t>
            </a:r>
            <a:endParaRPr lang="en-US" sz="1600"/>
          </a:p>
        </p:txBody>
      </p:sp>
      <p:sp>
        <p:nvSpPr>
          <p:cNvPr id="82744501" name="Shape 24"/>
          <p:cNvSpPr/>
          <p:nvPr/>
        </p:nvSpPr>
        <p:spPr bwMode="auto">
          <a:xfrm>
            <a:off x="331480" y="5279427"/>
            <a:ext cx="6791300" cy="921676"/>
          </a:xfrm>
          <a:custGeom>
            <a:avLst/>
            <a:gdLst/>
            <a:ahLst/>
            <a:cxnLst/>
            <a:rect l="l" t="t" r="r" b="b"/>
            <a:pathLst>
              <a:path w="6791300" h="921676" fill="norm" stroke="1" extrusionOk="0">
                <a:moveTo>
                  <a:pt x="64683" y="0"/>
                </a:moveTo>
                <a:lnTo>
                  <a:pt x="6726616" y="0"/>
                </a:lnTo>
                <a:cubicBezTo>
                  <a:pt x="6762340" y="0"/>
                  <a:pt x="6791300" y="28960"/>
                  <a:pt x="6791300" y="64683"/>
                </a:cubicBezTo>
                <a:lnTo>
                  <a:pt x="6791300" y="856993"/>
                </a:lnTo>
                <a:cubicBezTo>
                  <a:pt x="6791300" y="892717"/>
                  <a:pt x="6762340" y="921676"/>
                  <a:pt x="6726616" y="921676"/>
                </a:cubicBezTo>
                <a:lnTo>
                  <a:pt x="64683" y="921676"/>
                </a:lnTo>
                <a:cubicBezTo>
                  <a:pt x="28960" y="921676"/>
                  <a:pt x="0" y="892717"/>
                  <a:pt x="0" y="856993"/>
                </a:cubicBezTo>
                <a:lnTo>
                  <a:pt x="0" y="64683"/>
                </a:lnTo>
                <a:cubicBezTo>
                  <a:pt x="0" y="28960"/>
                  <a:pt x="28960" y="0"/>
                  <a:pt x="6468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25400">
            <a:solidFill>
              <a:srgbClr val="C0A062"/>
            </a:solidFill>
            <a:prstDash val="solid"/>
          </a:ln>
        </p:spPr>
      </p:sp>
      <p:sp>
        <p:nvSpPr>
          <p:cNvPr id="954989881" name="Shape 25"/>
          <p:cNvSpPr/>
          <p:nvPr/>
        </p:nvSpPr>
        <p:spPr bwMode="auto">
          <a:xfrm>
            <a:off x="471955" y="5618992"/>
            <a:ext cx="212228" cy="242546"/>
          </a:xfrm>
          <a:custGeom>
            <a:avLst/>
            <a:gdLst/>
            <a:ahLst/>
            <a:cxnLst/>
            <a:rect l="l" t="t" r="r" b="b"/>
            <a:pathLst>
              <a:path w="212228" h="242546" fill="norm" stroke="1" extrusionOk="0">
                <a:moveTo>
                  <a:pt x="30318" y="15159"/>
                </a:moveTo>
                <a:cubicBezTo>
                  <a:pt x="30318" y="6774"/>
                  <a:pt x="23544" y="0"/>
                  <a:pt x="15159" y="0"/>
                </a:cubicBezTo>
                <a:cubicBezTo>
                  <a:pt x="6774" y="0"/>
                  <a:pt x="0" y="6774"/>
                  <a:pt x="0" y="15159"/>
                </a:cubicBezTo>
                <a:lnTo>
                  <a:pt x="0" y="227387"/>
                </a:lnTo>
                <a:cubicBezTo>
                  <a:pt x="0" y="235772"/>
                  <a:pt x="6774" y="242546"/>
                  <a:pt x="15159" y="242546"/>
                </a:cubicBezTo>
                <a:cubicBezTo>
                  <a:pt x="23544" y="242546"/>
                  <a:pt x="30318" y="235772"/>
                  <a:pt x="30318" y="227387"/>
                </a:cubicBezTo>
                <a:lnTo>
                  <a:pt x="30318" y="169782"/>
                </a:lnTo>
                <a:lnTo>
                  <a:pt x="60021" y="160876"/>
                </a:lnTo>
                <a:cubicBezTo>
                  <a:pt x="79870" y="154908"/>
                  <a:pt x="101282" y="156755"/>
                  <a:pt x="119805" y="166040"/>
                </a:cubicBezTo>
                <a:cubicBezTo>
                  <a:pt x="140033" y="176178"/>
                  <a:pt x="163624" y="177409"/>
                  <a:pt x="184800" y="169451"/>
                </a:cubicBezTo>
                <a:lnTo>
                  <a:pt x="202375" y="162866"/>
                </a:lnTo>
                <a:cubicBezTo>
                  <a:pt x="208296" y="160640"/>
                  <a:pt x="212228" y="155002"/>
                  <a:pt x="212228" y="148654"/>
                </a:cubicBezTo>
                <a:lnTo>
                  <a:pt x="212228" y="31313"/>
                </a:lnTo>
                <a:cubicBezTo>
                  <a:pt x="212228" y="20417"/>
                  <a:pt x="200764" y="13312"/>
                  <a:pt x="191005" y="18191"/>
                </a:cubicBezTo>
                <a:lnTo>
                  <a:pt x="185415" y="20986"/>
                </a:lnTo>
                <a:cubicBezTo>
                  <a:pt x="164145" y="31645"/>
                  <a:pt x="139085" y="31645"/>
                  <a:pt x="117768" y="20986"/>
                </a:cubicBezTo>
                <a:cubicBezTo>
                  <a:pt x="100524" y="12364"/>
                  <a:pt x="80675" y="10659"/>
                  <a:pt x="62247" y="16201"/>
                </a:cubicBezTo>
                <a:lnTo>
                  <a:pt x="30318" y="25771"/>
                </a:lnTo>
                <a:lnTo>
                  <a:pt x="30318" y="1515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909618974" name="Text 26"/>
          <p:cNvSpPr/>
          <p:nvPr/>
        </p:nvSpPr>
        <p:spPr bwMode="auto">
          <a:xfrm>
            <a:off x="814804" y="5416870"/>
            <a:ext cx="624961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Суверенитет и лидерство</a:t>
            </a:r>
            <a:endParaRPr lang="en-US" sz="1600"/>
          </a:p>
        </p:txBody>
      </p:sp>
      <p:sp>
        <p:nvSpPr>
          <p:cNvPr id="600032678" name="Text 27"/>
          <p:cNvSpPr/>
          <p:nvPr/>
        </p:nvSpPr>
        <p:spPr bwMode="auto">
          <a:xfrm>
            <a:off x="814804" y="5675586"/>
            <a:ext cx="6233443" cy="3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Создание экспортируемой банковской инфраструктуры. Позиционирование Узбекистана как регионального лидера в финансовых технологиях.</a:t>
            </a:r>
            <a:endParaRPr lang="en-US" sz="1600"/>
          </a:p>
        </p:txBody>
      </p:sp>
      <p:sp>
        <p:nvSpPr>
          <p:cNvPr id="1853565910" name="Shape 28"/>
          <p:cNvSpPr/>
          <p:nvPr/>
        </p:nvSpPr>
        <p:spPr bwMode="auto">
          <a:xfrm>
            <a:off x="7329955" y="1265284"/>
            <a:ext cx="4527533" cy="2870133"/>
          </a:xfrm>
          <a:custGeom>
            <a:avLst/>
            <a:gdLst/>
            <a:ahLst/>
            <a:cxnLst/>
            <a:rect l="l" t="t" r="r" b="b"/>
            <a:pathLst>
              <a:path w="4527533" h="2870133" fill="norm" stroke="1" extrusionOk="0">
                <a:moveTo>
                  <a:pt x="64693" y="0"/>
                </a:moveTo>
                <a:lnTo>
                  <a:pt x="4462840" y="0"/>
                </a:lnTo>
                <a:cubicBezTo>
                  <a:pt x="4498569" y="0"/>
                  <a:pt x="4527533" y="28964"/>
                  <a:pt x="4527533" y="64693"/>
                </a:cubicBezTo>
                <a:lnTo>
                  <a:pt x="4527533" y="2805440"/>
                </a:lnTo>
                <a:cubicBezTo>
                  <a:pt x="4527533" y="2841169"/>
                  <a:pt x="4498569" y="2870133"/>
                  <a:pt x="4462840" y="2870133"/>
                </a:cubicBezTo>
                <a:lnTo>
                  <a:pt x="64693" y="2870133"/>
                </a:lnTo>
                <a:cubicBezTo>
                  <a:pt x="28964" y="2870133"/>
                  <a:pt x="0" y="2841169"/>
                  <a:pt x="0" y="2805440"/>
                </a:cubicBezTo>
                <a:lnTo>
                  <a:pt x="0" y="64693"/>
                </a:lnTo>
                <a:cubicBezTo>
                  <a:pt x="0" y="28988"/>
                  <a:pt x="28988" y="0"/>
                  <a:pt x="64693" y="0"/>
                </a:cubicBezTo>
                <a:close/>
              </a:path>
            </a:pathLst>
          </a:custGeom>
          <a:gradFill>
            <a:gsLst>
              <a:gs pos="0">
                <a:srgbClr val="4A5C6A">
                  <a:alpha val="4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1841057037" name="Shape 29"/>
          <p:cNvSpPr/>
          <p:nvPr/>
        </p:nvSpPr>
        <p:spPr bwMode="auto">
          <a:xfrm>
            <a:off x="7515907" y="1463363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 fill="norm" stroke="1" extrusionOk="0">
                <a:moveTo>
                  <a:pt x="141485" y="80849"/>
                </a:moveTo>
                <a:cubicBezTo>
                  <a:pt x="141485" y="47383"/>
                  <a:pt x="114315" y="20212"/>
                  <a:pt x="80849" y="20212"/>
                </a:cubicBezTo>
                <a:cubicBezTo>
                  <a:pt x="47383" y="20212"/>
                  <a:pt x="20212" y="47383"/>
                  <a:pt x="20212" y="80849"/>
                </a:cubicBezTo>
                <a:cubicBezTo>
                  <a:pt x="20212" y="114315"/>
                  <a:pt x="47383" y="141485"/>
                  <a:pt x="80849" y="141485"/>
                </a:cubicBezTo>
                <a:cubicBezTo>
                  <a:pt x="114315" y="141485"/>
                  <a:pt x="141485" y="114315"/>
                  <a:pt x="141485" y="80849"/>
                </a:cubicBezTo>
                <a:close/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80849" y="106114"/>
                </a:moveTo>
                <a:cubicBezTo>
                  <a:pt x="94793" y="106114"/>
                  <a:pt x="106114" y="94793"/>
                  <a:pt x="106114" y="80849"/>
                </a:cubicBezTo>
                <a:cubicBezTo>
                  <a:pt x="106114" y="66905"/>
                  <a:pt x="94793" y="55584"/>
                  <a:pt x="80849" y="55584"/>
                </a:cubicBezTo>
                <a:cubicBezTo>
                  <a:pt x="66905" y="55584"/>
                  <a:pt x="55584" y="66905"/>
                  <a:pt x="55584" y="80849"/>
                </a:cubicBezTo>
                <a:cubicBezTo>
                  <a:pt x="55584" y="94793"/>
                  <a:pt x="66905" y="106114"/>
                  <a:pt x="80849" y="106114"/>
                </a:cubicBezTo>
                <a:close/>
                <a:moveTo>
                  <a:pt x="80849" y="35371"/>
                </a:moveTo>
                <a:cubicBezTo>
                  <a:pt x="105948" y="35371"/>
                  <a:pt x="126326" y="55749"/>
                  <a:pt x="126326" y="80849"/>
                </a:cubicBezTo>
                <a:cubicBezTo>
                  <a:pt x="126326" y="105948"/>
                  <a:pt x="105948" y="126326"/>
                  <a:pt x="80849" y="126326"/>
                </a:cubicBezTo>
                <a:cubicBezTo>
                  <a:pt x="55749" y="126326"/>
                  <a:pt x="35371" y="105948"/>
                  <a:pt x="35371" y="80849"/>
                </a:cubicBezTo>
                <a:cubicBezTo>
                  <a:pt x="35371" y="55749"/>
                  <a:pt x="55749" y="35371"/>
                  <a:pt x="80849" y="35371"/>
                </a:cubicBezTo>
                <a:close/>
                <a:moveTo>
                  <a:pt x="70743" y="80849"/>
                </a:moveTo>
                <a:cubicBezTo>
                  <a:pt x="70743" y="75271"/>
                  <a:pt x="75271" y="70743"/>
                  <a:pt x="80849" y="70743"/>
                </a:cubicBezTo>
                <a:cubicBezTo>
                  <a:pt x="86427" y="70743"/>
                  <a:pt x="90955" y="75271"/>
                  <a:pt x="90955" y="80849"/>
                </a:cubicBezTo>
                <a:cubicBezTo>
                  <a:pt x="90955" y="86427"/>
                  <a:pt x="86427" y="90955"/>
                  <a:pt x="80849" y="90955"/>
                </a:cubicBezTo>
                <a:cubicBezTo>
                  <a:pt x="75271" y="90955"/>
                  <a:pt x="70743" y="86427"/>
                  <a:pt x="70743" y="8084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14903305" name="Text 30"/>
          <p:cNvSpPr/>
          <p:nvPr/>
        </p:nvSpPr>
        <p:spPr bwMode="auto">
          <a:xfrm>
            <a:off x="7697817" y="1431024"/>
            <a:ext cx="4074780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Миссия и ценности</a:t>
            </a:r>
            <a:endParaRPr lang="en-US" sz="1600"/>
          </a:p>
        </p:txBody>
      </p:sp>
      <p:sp>
        <p:nvSpPr>
          <p:cNvPr id="1689802442" name="Shape 31"/>
          <p:cNvSpPr/>
          <p:nvPr/>
        </p:nvSpPr>
        <p:spPr bwMode="auto">
          <a:xfrm>
            <a:off x="7499737" y="1790801"/>
            <a:ext cx="4187968" cy="654875"/>
          </a:xfrm>
          <a:custGeom>
            <a:avLst/>
            <a:gdLst/>
            <a:ahLst/>
            <a:cxnLst/>
            <a:rect l="l" t="t" r="r" b="b"/>
            <a:pathLst>
              <a:path w="4187968" h="654875" fill="norm" stroke="1" extrusionOk="0">
                <a:moveTo>
                  <a:pt x="64682" y="0"/>
                </a:moveTo>
                <a:lnTo>
                  <a:pt x="4123286" y="0"/>
                </a:lnTo>
                <a:cubicBezTo>
                  <a:pt x="4159009" y="0"/>
                  <a:pt x="4187968" y="28959"/>
                  <a:pt x="4187968" y="64682"/>
                </a:cubicBezTo>
                <a:lnTo>
                  <a:pt x="4187968" y="590193"/>
                </a:lnTo>
                <a:cubicBezTo>
                  <a:pt x="4187968" y="625916"/>
                  <a:pt x="4159009" y="654875"/>
                  <a:pt x="4123286" y="654875"/>
                </a:cubicBezTo>
                <a:lnTo>
                  <a:pt x="64682" y="654875"/>
                </a:lnTo>
                <a:cubicBezTo>
                  <a:pt x="28983" y="654875"/>
                  <a:pt x="0" y="625892"/>
                  <a:pt x="0" y="590193"/>
                </a:cubicBezTo>
                <a:lnTo>
                  <a:pt x="0" y="64682"/>
                </a:lnTo>
                <a:cubicBezTo>
                  <a:pt x="0" y="28983"/>
                  <a:pt x="28983" y="0"/>
                  <a:pt x="646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585338012" name="Shape 32"/>
          <p:cNvSpPr/>
          <p:nvPr/>
        </p:nvSpPr>
        <p:spPr bwMode="auto">
          <a:xfrm>
            <a:off x="7621011" y="1916117"/>
            <a:ext cx="145528" cy="145528"/>
          </a:xfrm>
          <a:custGeom>
            <a:avLst/>
            <a:gdLst/>
            <a:ahLst/>
            <a:cxnLst/>
            <a:rect l="l" t="t" r="r" b="b"/>
            <a:pathLst>
              <a:path w="145528" h="145528" fill="norm" stroke="1" extrusionOk="0">
                <a:moveTo>
                  <a:pt x="72764" y="0"/>
                </a:moveTo>
                <a:cubicBezTo>
                  <a:pt x="74071" y="0"/>
                  <a:pt x="75379" y="284"/>
                  <a:pt x="76573" y="824"/>
                </a:cubicBezTo>
                <a:lnTo>
                  <a:pt x="130122" y="23535"/>
                </a:lnTo>
                <a:cubicBezTo>
                  <a:pt x="136376" y="26178"/>
                  <a:pt x="141037" y="32346"/>
                  <a:pt x="141009" y="39793"/>
                </a:cubicBezTo>
                <a:cubicBezTo>
                  <a:pt x="140866" y="67989"/>
                  <a:pt x="129270" y="119577"/>
                  <a:pt x="80296" y="143027"/>
                </a:cubicBezTo>
                <a:cubicBezTo>
                  <a:pt x="75549" y="145300"/>
                  <a:pt x="70035" y="145300"/>
                  <a:pt x="65289" y="143027"/>
                </a:cubicBezTo>
                <a:cubicBezTo>
                  <a:pt x="16287" y="119577"/>
                  <a:pt x="4718" y="67989"/>
                  <a:pt x="4576" y="39793"/>
                </a:cubicBezTo>
                <a:cubicBezTo>
                  <a:pt x="4548" y="32346"/>
                  <a:pt x="9209" y="26178"/>
                  <a:pt x="15462" y="23535"/>
                </a:cubicBezTo>
                <a:lnTo>
                  <a:pt x="68984" y="824"/>
                </a:lnTo>
                <a:cubicBezTo>
                  <a:pt x="70177" y="284"/>
                  <a:pt x="71456" y="0"/>
                  <a:pt x="72764" y="0"/>
                </a:cubicBezTo>
                <a:close/>
                <a:moveTo>
                  <a:pt x="72764" y="18987"/>
                </a:moveTo>
                <a:lnTo>
                  <a:pt x="72764" y="126456"/>
                </a:lnTo>
                <a:cubicBezTo>
                  <a:pt x="111988" y="107469"/>
                  <a:pt x="122533" y="65402"/>
                  <a:pt x="122789" y="40219"/>
                </a:cubicBezTo>
                <a:lnTo>
                  <a:pt x="72764" y="19015"/>
                </a:lnTo>
                <a:lnTo>
                  <a:pt x="72764" y="1901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13970493" name="Text 33"/>
          <p:cNvSpPr/>
          <p:nvPr/>
        </p:nvSpPr>
        <p:spPr bwMode="auto">
          <a:xfrm>
            <a:off x="7879726" y="1891862"/>
            <a:ext cx="460838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Protect</a:t>
            </a:r>
            <a:endParaRPr lang="en-US" sz="1600"/>
          </a:p>
        </p:txBody>
      </p:sp>
      <p:sp>
        <p:nvSpPr>
          <p:cNvPr id="2100502399" name="Text 34"/>
          <p:cNvSpPr/>
          <p:nvPr/>
        </p:nvSpPr>
        <p:spPr bwMode="auto">
          <a:xfrm>
            <a:off x="7600798" y="2150578"/>
            <a:ext cx="4050525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Защита финансовой системы</a:t>
            </a:r>
            <a:endParaRPr lang="en-US" sz="1600"/>
          </a:p>
        </p:txBody>
      </p:sp>
      <p:sp>
        <p:nvSpPr>
          <p:cNvPr id="274923900" name="Shape 35"/>
          <p:cNvSpPr/>
          <p:nvPr/>
        </p:nvSpPr>
        <p:spPr bwMode="auto">
          <a:xfrm>
            <a:off x="7499737" y="2550780"/>
            <a:ext cx="4187968" cy="654875"/>
          </a:xfrm>
          <a:custGeom>
            <a:avLst/>
            <a:gdLst/>
            <a:ahLst/>
            <a:cxnLst/>
            <a:rect l="l" t="t" r="r" b="b"/>
            <a:pathLst>
              <a:path w="4187968" h="654875" fill="norm" stroke="1" extrusionOk="0">
                <a:moveTo>
                  <a:pt x="64682" y="0"/>
                </a:moveTo>
                <a:lnTo>
                  <a:pt x="4123286" y="0"/>
                </a:lnTo>
                <a:cubicBezTo>
                  <a:pt x="4159009" y="0"/>
                  <a:pt x="4187968" y="28959"/>
                  <a:pt x="4187968" y="64682"/>
                </a:cubicBezTo>
                <a:lnTo>
                  <a:pt x="4187968" y="590193"/>
                </a:lnTo>
                <a:cubicBezTo>
                  <a:pt x="4187968" y="625916"/>
                  <a:pt x="4159009" y="654875"/>
                  <a:pt x="4123286" y="654875"/>
                </a:cubicBezTo>
                <a:lnTo>
                  <a:pt x="64682" y="654875"/>
                </a:lnTo>
                <a:cubicBezTo>
                  <a:pt x="28983" y="654875"/>
                  <a:pt x="0" y="625892"/>
                  <a:pt x="0" y="590193"/>
                </a:cubicBezTo>
                <a:lnTo>
                  <a:pt x="0" y="64682"/>
                </a:lnTo>
                <a:cubicBezTo>
                  <a:pt x="0" y="28983"/>
                  <a:pt x="28983" y="0"/>
                  <a:pt x="646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906710289" name="Shape 36"/>
          <p:cNvSpPr/>
          <p:nvPr/>
        </p:nvSpPr>
        <p:spPr bwMode="auto">
          <a:xfrm>
            <a:off x="7621011" y="2676095"/>
            <a:ext cx="145528" cy="145528"/>
          </a:xfrm>
          <a:custGeom>
            <a:avLst/>
            <a:gdLst/>
            <a:ahLst/>
            <a:cxnLst/>
            <a:rect l="l" t="t" r="r" b="b"/>
            <a:pathLst>
              <a:path w="145528" h="145528" fill="norm" stroke="1" extrusionOk="0">
                <a:moveTo>
                  <a:pt x="36382" y="90955"/>
                </a:moveTo>
                <a:lnTo>
                  <a:pt x="6964" y="90955"/>
                </a:lnTo>
                <a:cubicBezTo>
                  <a:pt x="-114" y="90955"/>
                  <a:pt x="-4462" y="83252"/>
                  <a:pt x="-824" y="77170"/>
                </a:cubicBezTo>
                <a:lnTo>
                  <a:pt x="14212" y="52100"/>
                </a:lnTo>
                <a:cubicBezTo>
                  <a:pt x="16685" y="47979"/>
                  <a:pt x="21119" y="45477"/>
                  <a:pt x="25922" y="45477"/>
                </a:cubicBezTo>
                <a:lnTo>
                  <a:pt x="52924" y="45477"/>
                </a:lnTo>
                <a:cubicBezTo>
                  <a:pt x="74555" y="8840"/>
                  <a:pt x="106815" y="6992"/>
                  <a:pt x="128389" y="10147"/>
                </a:cubicBezTo>
                <a:cubicBezTo>
                  <a:pt x="132027" y="10687"/>
                  <a:pt x="134869" y="13530"/>
                  <a:pt x="135381" y="17139"/>
                </a:cubicBezTo>
                <a:cubicBezTo>
                  <a:pt x="138536" y="38713"/>
                  <a:pt x="136688" y="70973"/>
                  <a:pt x="100050" y="92603"/>
                </a:cubicBezTo>
                <a:lnTo>
                  <a:pt x="100050" y="119606"/>
                </a:lnTo>
                <a:cubicBezTo>
                  <a:pt x="100050" y="124409"/>
                  <a:pt x="97549" y="128843"/>
                  <a:pt x="93428" y="131316"/>
                </a:cubicBezTo>
                <a:lnTo>
                  <a:pt x="68358" y="146352"/>
                </a:lnTo>
                <a:cubicBezTo>
                  <a:pt x="62304" y="149990"/>
                  <a:pt x="54573" y="145613"/>
                  <a:pt x="54573" y="138564"/>
                </a:cubicBezTo>
                <a:lnTo>
                  <a:pt x="54573" y="109146"/>
                </a:lnTo>
                <a:cubicBezTo>
                  <a:pt x="54573" y="99112"/>
                  <a:pt x="46415" y="90955"/>
                  <a:pt x="36382" y="90955"/>
                </a:cubicBezTo>
                <a:lnTo>
                  <a:pt x="36354" y="90955"/>
                </a:lnTo>
                <a:close/>
                <a:moveTo>
                  <a:pt x="113694" y="45477"/>
                </a:moveTo>
                <a:cubicBezTo>
                  <a:pt x="113694" y="37948"/>
                  <a:pt x="107580" y="31834"/>
                  <a:pt x="100050" y="31834"/>
                </a:cubicBezTo>
                <a:cubicBezTo>
                  <a:pt x="92520" y="31834"/>
                  <a:pt x="86407" y="37948"/>
                  <a:pt x="86407" y="45477"/>
                </a:cubicBezTo>
                <a:cubicBezTo>
                  <a:pt x="86407" y="53007"/>
                  <a:pt x="92520" y="59121"/>
                  <a:pt x="100050" y="59121"/>
                </a:cubicBezTo>
                <a:cubicBezTo>
                  <a:pt x="107580" y="59121"/>
                  <a:pt x="113694" y="53007"/>
                  <a:pt x="113694" y="4547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3131413" name="Text 37"/>
          <p:cNvSpPr/>
          <p:nvPr/>
        </p:nvSpPr>
        <p:spPr bwMode="auto">
          <a:xfrm>
            <a:off x="7879726" y="2651841"/>
            <a:ext cx="436584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Enable</a:t>
            </a:r>
            <a:endParaRPr lang="en-US" sz="1600"/>
          </a:p>
        </p:txBody>
      </p:sp>
      <p:sp>
        <p:nvSpPr>
          <p:cNvPr id="1261157855" name="Text 38"/>
          <p:cNvSpPr/>
          <p:nvPr/>
        </p:nvSpPr>
        <p:spPr bwMode="auto">
          <a:xfrm>
            <a:off x="7600798" y="2910557"/>
            <a:ext cx="4050525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Ускорение банковских сервисов</a:t>
            </a:r>
            <a:endParaRPr lang="en-US" sz="1600"/>
          </a:p>
        </p:txBody>
      </p:sp>
      <p:sp>
        <p:nvSpPr>
          <p:cNvPr id="134206472" name="Shape 39"/>
          <p:cNvSpPr/>
          <p:nvPr/>
        </p:nvSpPr>
        <p:spPr bwMode="auto">
          <a:xfrm>
            <a:off x="7499737" y="3310759"/>
            <a:ext cx="4187968" cy="654875"/>
          </a:xfrm>
          <a:custGeom>
            <a:avLst/>
            <a:gdLst/>
            <a:ahLst/>
            <a:cxnLst/>
            <a:rect l="l" t="t" r="r" b="b"/>
            <a:pathLst>
              <a:path w="4187968" h="654875" fill="norm" stroke="1" extrusionOk="0">
                <a:moveTo>
                  <a:pt x="64682" y="0"/>
                </a:moveTo>
                <a:lnTo>
                  <a:pt x="4123286" y="0"/>
                </a:lnTo>
                <a:cubicBezTo>
                  <a:pt x="4159009" y="0"/>
                  <a:pt x="4187968" y="28959"/>
                  <a:pt x="4187968" y="64682"/>
                </a:cubicBezTo>
                <a:lnTo>
                  <a:pt x="4187968" y="590193"/>
                </a:lnTo>
                <a:cubicBezTo>
                  <a:pt x="4187968" y="625916"/>
                  <a:pt x="4159009" y="654875"/>
                  <a:pt x="4123286" y="654875"/>
                </a:cubicBezTo>
                <a:lnTo>
                  <a:pt x="64682" y="654875"/>
                </a:lnTo>
                <a:cubicBezTo>
                  <a:pt x="28983" y="654875"/>
                  <a:pt x="0" y="625892"/>
                  <a:pt x="0" y="590193"/>
                </a:cubicBezTo>
                <a:lnTo>
                  <a:pt x="0" y="64682"/>
                </a:lnTo>
                <a:cubicBezTo>
                  <a:pt x="0" y="28983"/>
                  <a:pt x="28983" y="0"/>
                  <a:pt x="646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5"/>
              </a:srgbClr>
            </a:solidFill>
            <a:prstDash val="solid"/>
          </a:ln>
        </p:spPr>
      </p:sp>
      <p:sp>
        <p:nvSpPr>
          <p:cNvPr id="1687287767" name="Shape 40"/>
          <p:cNvSpPr/>
          <p:nvPr/>
        </p:nvSpPr>
        <p:spPr bwMode="auto">
          <a:xfrm>
            <a:off x="7621011" y="3436074"/>
            <a:ext cx="145528" cy="145528"/>
          </a:xfrm>
          <a:custGeom>
            <a:avLst/>
            <a:gdLst/>
            <a:ahLst/>
            <a:cxnLst/>
            <a:rect l="l" t="t" r="r" b="b"/>
            <a:pathLst>
              <a:path w="145528" h="145528" fill="norm" stroke="1" extrusionOk="0">
                <a:moveTo>
                  <a:pt x="72764" y="145528"/>
                </a:moveTo>
                <a:cubicBezTo>
                  <a:pt x="112923" y="145528"/>
                  <a:pt x="145528" y="112923"/>
                  <a:pt x="145528" y="72764"/>
                </a:cubicBezTo>
                <a:cubicBezTo>
                  <a:pt x="145528" y="32604"/>
                  <a:pt x="112923" y="0"/>
                  <a:pt x="72764" y="0"/>
                </a:cubicBezTo>
                <a:cubicBezTo>
                  <a:pt x="32604" y="0"/>
                  <a:pt x="0" y="32604"/>
                  <a:pt x="0" y="72764"/>
                </a:cubicBezTo>
                <a:cubicBezTo>
                  <a:pt x="0" y="112923"/>
                  <a:pt x="32604" y="145528"/>
                  <a:pt x="72764" y="145528"/>
                </a:cubicBezTo>
                <a:close/>
                <a:moveTo>
                  <a:pt x="96753" y="60457"/>
                </a:moveTo>
                <a:lnTo>
                  <a:pt x="74015" y="96839"/>
                </a:lnTo>
                <a:cubicBezTo>
                  <a:pt x="72821" y="98743"/>
                  <a:pt x="70774" y="99937"/>
                  <a:pt x="68529" y="100050"/>
                </a:cubicBezTo>
                <a:cubicBezTo>
                  <a:pt x="66283" y="100164"/>
                  <a:pt x="64123" y="99141"/>
                  <a:pt x="62787" y="97322"/>
                </a:cubicBezTo>
                <a:lnTo>
                  <a:pt x="49144" y="79131"/>
                </a:lnTo>
                <a:cubicBezTo>
                  <a:pt x="46870" y="76118"/>
                  <a:pt x="47496" y="71854"/>
                  <a:pt x="50508" y="69581"/>
                </a:cubicBezTo>
                <a:cubicBezTo>
                  <a:pt x="53521" y="67307"/>
                  <a:pt x="57785" y="67932"/>
                  <a:pt x="60059" y="70945"/>
                </a:cubicBezTo>
                <a:lnTo>
                  <a:pt x="67733" y="81177"/>
                </a:lnTo>
                <a:lnTo>
                  <a:pt x="85185" y="53237"/>
                </a:lnTo>
                <a:cubicBezTo>
                  <a:pt x="87175" y="50054"/>
                  <a:pt x="91381" y="49059"/>
                  <a:pt x="94593" y="51077"/>
                </a:cubicBezTo>
                <a:cubicBezTo>
                  <a:pt x="97805" y="53095"/>
                  <a:pt x="98771" y="57273"/>
                  <a:pt x="96753" y="6048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76022077" name="Text 41"/>
          <p:cNvSpPr/>
          <p:nvPr/>
        </p:nvSpPr>
        <p:spPr bwMode="auto">
          <a:xfrm>
            <a:off x="7879726" y="3411820"/>
            <a:ext cx="444668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Ensure</a:t>
            </a:r>
            <a:endParaRPr lang="en-US" sz="1600"/>
          </a:p>
        </p:txBody>
      </p:sp>
      <p:sp>
        <p:nvSpPr>
          <p:cNvPr id="1217257769" name="Text 42"/>
          <p:cNvSpPr/>
          <p:nvPr/>
        </p:nvSpPr>
        <p:spPr bwMode="auto">
          <a:xfrm>
            <a:off x="7600798" y="3670536"/>
            <a:ext cx="4050525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Регуляторное соответствие</a:t>
            </a:r>
            <a:endParaRPr lang="en-US" sz="1600"/>
          </a:p>
        </p:txBody>
      </p:sp>
      <p:sp>
        <p:nvSpPr>
          <p:cNvPr id="1209730441" name="Shape 43"/>
          <p:cNvSpPr/>
          <p:nvPr/>
        </p:nvSpPr>
        <p:spPr bwMode="auto">
          <a:xfrm>
            <a:off x="7333997" y="4276902"/>
            <a:ext cx="4519448" cy="1924202"/>
          </a:xfrm>
          <a:custGeom>
            <a:avLst/>
            <a:gdLst/>
            <a:ahLst/>
            <a:cxnLst/>
            <a:rect l="l" t="t" r="r" b="b"/>
            <a:pathLst>
              <a:path w="4519448" h="1924202" fill="norm" stroke="1" extrusionOk="0">
                <a:moveTo>
                  <a:pt x="64672" y="0"/>
                </a:moveTo>
                <a:lnTo>
                  <a:pt x="4454776" y="0"/>
                </a:lnTo>
                <a:cubicBezTo>
                  <a:pt x="4490493" y="0"/>
                  <a:pt x="4519448" y="28955"/>
                  <a:pt x="4519448" y="64672"/>
                </a:cubicBezTo>
                <a:lnTo>
                  <a:pt x="4519448" y="1859529"/>
                </a:lnTo>
                <a:cubicBezTo>
                  <a:pt x="4519448" y="1895247"/>
                  <a:pt x="4490493" y="1924202"/>
                  <a:pt x="4454776" y="1924202"/>
                </a:cubicBezTo>
                <a:lnTo>
                  <a:pt x="64672" y="1924202"/>
                </a:lnTo>
                <a:cubicBezTo>
                  <a:pt x="28955" y="1924202"/>
                  <a:pt x="0" y="1895247"/>
                  <a:pt x="0" y="1859529"/>
                </a:cubicBezTo>
                <a:lnTo>
                  <a:pt x="0" y="64672"/>
                </a:lnTo>
                <a:cubicBezTo>
                  <a:pt x="0" y="28979"/>
                  <a:pt x="28979" y="0"/>
                  <a:pt x="64672" y="0"/>
                </a:cubicBezTo>
                <a:close/>
              </a:path>
            </a:pathLst>
          </a:custGeom>
          <a:gradFill>
            <a:gsLst>
              <a:gs pos="0">
                <a:srgbClr val="C0A062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30863992" name="Shape 44"/>
          <p:cNvSpPr/>
          <p:nvPr/>
        </p:nvSpPr>
        <p:spPr bwMode="auto">
          <a:xfrm>
            <a:off x="7523992" y="4479024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 fill="norm" stroke="1" extrusionOk="0">
                <a:moveTo>
                  <a:pt x="42256" y="11464"/>
                </a:moveTo>
                <a:cubicBezTo>
                  <a:pt x="45699" y="13864"/>
                  <a:pt x="46520" y="18602"/>
                  <a:pt x="44119" y="22012"/>
                </a:cubicBezTo>
                <a:lnTo>
                  <a:pt x="26434" y="47278"/>
                </a:lnTo>
                <a:cubicBezTo>
                  <a:pt x="25139" y="49109"/>
                  <a:pt x="23118" y="50278"/>
                  <a:pt x="20875" y="50467"/>
                </a:cubicBezTo>
                <a:cubicBezTo>
                  <a:pt x="18633" y="50657"/>
                  <a:pt x="16422" y="49899"/>
                  <a:pt x="14843" y="48320"/>
                </a:cubicBezTo>
                <a:lnTo>
                  <a:pt x="2211" y="35687"/>
                </a:lnTo>
                <a:cubicBezTo>
                  <a:pt x="-726" y="32719"/>
                  <a:pt x="-726" y="27918"/>
                  <a:pt x="2211" y="24949"/>
                </a:cubicBezTo>
                <a:cubicBezTo>
                  <a:pt x="5148" y="21981"/>
                  <a:pt x="9980" y="22012"/>
                  <a:pt x="12948" y="24949"/>
                </a:cubicBezTo>
                <a:lnTo>
                  <a:pt x="19202" y="31203"/>
                </a:lnTo>
                <a:lnTo>
                  <a:pt x="31708" y="13327"/>
                </a:lnTo>
                <a:cubicBezTo>
                  <a:pt x="34108" y="9885"/>
                  <a:pt x="38845" y="9064"/>
                  <a:pt x="42256" y="11464"/>
                </a:cubicBezTo>
                <a:close/>
                <a:moveTo>
                  <a:pt x="42256" y="61995"/>
                </a:moveTo>
                <a:cubicBezTo>
                  <a:pt x="45699" y="64395"/>
                  <a:pt x="46520" y="69132"/>
                  <a:pt x="44119" y="72543"/>
                </a:cubicBezTo>
                <a:lnTo>
                  <a:pt x="26434" y="97808"/>
                </a:lnTo>
                <a:cubicBezTo>
                  <a:pt x="25139" y="99640"/>
                  <a:pt x="23118" y="100808"/>
                  <a:pt x="20875" y="100998"/>
                </a:cubicBezTo>
                <a:cubicBezTo>
                  <a:pt x="18633" y="101187"/>
                  <a:pt x="16422" y="100429"/>
                  <a:pt x="14843" y="98850"/>
                </a:cubicBezTo>
                <a:lnTo>
                  <a:pt x="2211" y="86218"/>
                </a:lnTo>
                <a:cubicBezTo>
                  <a:pt x="-758" y="83249"/>
                  <a:pt x="-758" y="78449"/>
                  <a:pt x="2211" y="75512"/>
                </a:cubicBezTo>
                <a:cubicBezTo>
                  <a:pt x="5179" y="72574"/>
                  <a:pt x="9980" y="72543"/>
                  <a:pt x="12917" y="75512"/>
                </a:cubicBezTo>
                <a:lnTo>
                  <a:pt x="19170" y="81765"/>
                </a:lnTo>
                <a:lnTo>
                  <a:pt x="31676" y="63890"/>
                </a:lnTo>
                <a:cubicBezTo>
                  <a:pt x="34077" y="60447"/>
                  <a:pt x="38814" y="59626"/>
                  <a:pt x="42225" y="62026"/>
                </a:cubicBezTo>
                <a:close/>
                <a:moveTo>
                  <a:pt x="70743" y="30318"/>
                </a:moveTo>
                <a:cubicBezTo>
                  <a:pt x="70743" y="24728"/>
                  <a:pt x="75259" y="20212"/>
                  <a:pt x="80849" y="20212"/>
                </a:cubicBezTo>
                <a:lnTo>
                  <a:pt x="151592" y="20212"/>
                </a:lnTo>
                <a:cubicBezTo>
                  <a:pt x="157181" y="20212"/>
                  <a:pt x="161698" y="24728"/>
                  <a:pt x="161698" y="30318"/>
                </a:cubicBezTo>
                <a:cubicBezTo>
                  <a:pt x="161698" y="35908"/>
                  <a:pt x="157181" y="40424"/>
                  <a:pt x="151592" y="40424"/>
                </a:cubicBezTo>
                <a:lnTo>
                  <a:pt x="80849" y="40424"/>
                </a:lnTo>
                <a:cubicBezTo>
                  <a:pt x="75259" y="40424"/>
                  <a:pt x="70743" y="35908"/>
                  <a:pt x="70743" y="30318"/>
                </a:cubicBezTo>
                <a:close/>
                <a:moveTo>
                  <a:pt x="70743" y="80849"/>
                </a:moveTo>
                <a:cubicBezTo>
                  <a:pt x="70743" y="75259"/>
                  <a:pt x="75259" y="70743"/>
                  <a:pt x="80849" y="70743"/>
                </a:cubicBezTo>
                <a:lnTo>
                  <a:pt x="151592" y="70743"/>
                </a:lnTo>
                <a:cubicBezTo>
                  <a:pt x="157181" y="70743"/>
                  <a:pt x="161698" y="75259"/>
                  <a:pt x="161698" y="80849"/>
                </a:cubicBezTo>
                <a:cubicBezTo>
                  <a:pt x="161698" y="86439"/>
                  <a:pt x="157181" y="90955"/>
                  <a:pt x="151592" y="90955"/>
                </a:cubicBezTo>
                <a:lnTo>
                  <a:pt x="80849" y="90955"/>
                </a:lnTo>
                <a:cubicBezTo>
                  <a:pt x="75259" y="90955"/>
                  <a:pt x="70743" y="86439"/>
                  <a:pt x="70743" y="80849"/>
                </a:cubicBezTo>
                <a:close/>
                <a:moveTo>
                  <a:pt x="50531" y="131379"/>
                </a:moveTo>
                <a:cubicBezTo>
                  <a:pt x="50531" y="125789"/>
                  <a:pt x="55047" y="121273"/>
                  <a:pt x="60637" y="121273"/>
                </a:cubicBezTo>
                <a:lnTo>
                  <a:pt x="151592" y="121273"/>
                </a:lnTo>
                <a:cubicBezTo>
                  <a:pt x="157181" y="121273"/>
                  <a:pt x="161698" y="125789"/>
                  <a:pt x="161698" y="131379"/>
                </a:cubicBezTo>
                <a:cubicBezTo>
                  <a:pt x="161698" y="136969"/>
                  <a:pt x="157181" y="141485"/>
                  <a:pt x="151592" y="141485"/>
                </a:cubicBezTo>
                <a:lnTo>
                  <a:pt x="60637" y="141485"/>
                </a:lnTo>
                <a:cubicBezTo>
                  <a:pt x="55047" y="141485"/>
                  <a:pt x="50531" y="136969"/>
                  <a:pt x="50531" y="131379"/>
                </a:cubicBezTo>
                <a:close/>
                <a:moveTo>
                  <a:pt x="20212" y="118747"/>
                </a:moveTo>
                <a:cubicBezTo>
                  <a:pt x="27184" y="118747"/>
                  <a:pt x="32845" y="124407"/>
                  <a:pt x="32845" y="131379"/>
                </a:cubicBezTo>
                <a:cubicBezTo>
                  <a:pt x="32845" y="138351"/>
                  <a:pt x="27184" y="144012"/>
                  <a:pt x="20212" y="144012"/>
                </a:cubicBezTo>
                <a:cubicBezTo>
                  <a:pt x="13240" y="144012"/>
                  <a:pt x="7580" y="138351"/>
                  <a:pt x="7580" y="131379"/>
                </a:cubicBezTo>
                <a:cubicBezTo>
                  <a:pt x="7580" y="124407"/>
                  <a:pt x="13240" y="118747"/>
                  <a:pt x="20212" y="11874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4314443" name="Text 45"/>
          <p:cNvSpPr/>
          <p:nvPr/>
        </p:nvSpPr>
        <p:spPr bwMode="auto">
          <a:xfrm>
            <a:off x="7705902" y="4446684"/>
            <a:ext cx="4058610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C0A062"/>
                </a:solidFill>
                <a:latin typeface="Liter"/>
                <a:ea typeface="Liter"/>
                <a:cs typeface="Liter"/>
              </a:rPr>
              <a:t>Следующие шаги</a:t>
            </a:r>
            <a:endParaRPr lang="en-US" sz="1600"/>
          </a:p>
        </p:txBody>
      </p:sp>
      <p:sp>
        <p:nvSpPr>
          <p:cNvPr id="795202301" name="Shape 46"/>
          <p:cNvSpPr/>
          <p:nvPr/>
        </p:nvSpPr>
        <p:spPr bwMode="auto">
          <a:xfrm>
            <a:off x="7503780" y="4802419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 fill="norm" stroke="1" extrusionOk="0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45877633" name="Text 47"/>
          <p:cNvSpPr/>
          <p:nvPr/>
        </p:nvSpPr>
        <p:spPr bwMode="auto">
          <a:xfrm>
            <a:off x="7475483" y="4802419"/>
            <a:ext cx="315310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2069923828" name="Text 48"/>
          <p:cNvSpPr/>
          <p:nvPr/>
        </p:nvSpPr>
        <p:spPr bwMode="auto">
          <a:xfrm>
            <a:off x="7859515" y="4834759"/>
            <a:ext cx="1317836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Pilot bank deployment</a:t>
            </a:r>
            <a:endParaRPr lang="en-US" sz="1600"/>
          </a:p>
        </p:txBody>
      </p:sp>
      <p:sp>
        <p:nvSpPr>
          <p:cNvPr id="1590480343" name="Shape 49"/>
          <p:cNvSpPr/>
          <p:nvPr/>
        </p:nvSpPr>
        <p:spPr bwMode="auto">
          <a:xfrm>
            <a:off x="7503780" y="5125814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 fill="norm" stroke="1" extrusionOk="0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42959571" name="Text 50"/>
          <p:cNvSpPr/>
          <p:nvPr/>
        </p:nvSpPr>
        <p:spPr bwMode="auto">
          <a:xfrm>
            <a:off x="7475483" y="5125814"/>
            <a:ext cx="315310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428806335" name="Text 51"/>
          <p:cNvSpPr/>
          <p:nvPr/>
        </p:nvSpPr>
        <p:spPr bwMode="auto">
          <a:xfrm>
            <a:off x="7859515" y="5158154"/>
            <a:ext cx="1091459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Strategic investors</a:t>
            </a:r>
            <a:endParaRPr lang="en-US" sz="1600"/>
          </a:p>
        </p:txBody>
      </p:sp>
      <p:sp>
        <p:nvSpPr>
          <p:cNvPr id="1332678792" name="Shape 52"/>
          <p:cNvSpPr/>
          <p:nvPr/>
        </p:nvSpPr>
        <p:spPr bwMode="auto">
          <a:xfrm>
            <a:off x="7503780" y="5449210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 fill="norm" stroke="1" extrusionOk="0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4040969" name="Text 53"/>
          <p:cNvSpPr/>
          <p:nvPr/>
        </p:nvSpPr>
        <p:spPr bwMode="auto">
          <a:xfrm>
            <a:off x="7475483" y="5449210"/>
            <a:ext cx="315310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  <p:sp>
        <p:nvSpPr>
          <p:cNvPr id="570127898" name="Text 54"/>
          <p:cNvSpPr/>
          <p:nvPr/>
        </p:nvSpPr>
        <p:spPr bwMode="auto">
          <a:xfrm>
            <a:off x="7859515" y="5481549"/>
            <a:ext cx="1431024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Regulatory collaboration</a:t>
            </a:r>
            <a:endParaRPr lang="en-US" sz="1600"/>
          </a:p>
        </p:txBody>
      </p:sp>
      <p:sp>
        <p:nvSpPr>
          <p:cNvPr id="1379019443" name="Shape 55"/>
          <p:cNvSpPr/>
          <p:nvPr/>
        </p:nvSpPr>
        <p:spPr bwMode="auto">
          <a:xfrm>
            <a:off x="7503780" y="5772605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 fill="norm" stroke="1" extrusionOk="0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94697139" name="Text 56"/>
          <p:cNvSpPr/>
          <p:nvPr/>
        </p:nvSpPr>
        <p:spPr bwMode="auto">
          <a:xfrm>
            <a:off x="7475483" y="5772605"/>
            <a:ext cx="315310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600"/>
          </a:p>
        </p:txBody>
      </p:sp>
      <p:sp>
        <p:nvSpPr>
          <p:cNvPr id="805198618" name="Text 57"/>
          <p:cNvSpPr/>
          <p:nvPr/>
        </p:nvSpPr>
        <p:spPr bwMode="auto">
          <a:xfrm>
            <a:off x="7859515" y="5804943"/>
            <a:ext cx="1633146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</a:rPr>
              <a:t>Production rollout readiness</a:t>
            </a:r>
            <a:endParaRPr lang="en-US" sz="1600"/>
          </a:p>
        </p:txBody>
      </p:sp>
      <p:sp>
        <p:nvSpPr>
          <p:cNvPr id="327729819" name="Text 58"/>
          <p:cNvSpPr/>
          <p:nvPr/>
        </p:nvSpPr>
        <p:spPr bwMode="auto">
          <a:xfrm>
            <a:off x="274886" y="6338546"/>
            <a:ext cx="1164222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550" b="1">
                <a:solidFill>
                  <a:srgbClr val="C0A062"/>
                </a:solidFill>
                <a:latin typeface="Oranienbaum"/>
                <a:ea typeface="Oranienbaum"/>
                <a:cs typeface="Oranienbaum"/>
              </a:rPr>
              <a:t>REVENANT v3.1.2</a:t>
            </a:r>
            <a:endParaRPr lang="en-US" sz="1600"/>
          </a:p>
        </p:txBody>
      </p:sp>
      <p:sp>
        <p:nvSpPr>
          <p:cNvPr id="1362280161" name="Text 59"/>
          <p:cNvSpPr/>
          <p:nvPr/>
        </p:nvSpPr>
        <p:spPr bwMode="auto">
          <a:xfrm>
            <a:off x="287013" y="6629602"/>
            <a:ext cx="1161797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</a:rPr>
              <a:t>Национальная инфраструктурная платформа финансового контроля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REVENANT v3.1.2 — Pre-Authorization Deterministic Risk &amp; Security Infrastructure</dc:title>
  <dc:subject>REVENANT v3.1.2 — Pre-Authorization Deterministic Risk &amp; Security Infrastructure</dc:subject>
  <dc:creator>Kimi</dc:creator>
  <cp:lastModifiedBy/>
  <cp:revision>2</cp:revision>
  <dcterms:created xsi:type="dcterms:W3CDTF">2026-03-05T04:40:09Z</dcterms:created>
  <dcterms:modified xsi:type="dcterms:W3CDTF">2026-03-05T05:04:56Z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{"Label":"REVENANT v3.1.2 — Pre-Authorization Deterministic Risk &amp; Security Infrastructure","ContentProducer":"001191110108MACG2KBH8F10000","ProduceID":"19cbc421-c012-8e47-8000-000038946dbf","ReservedCode1":"","ContentPropagator":"001191110108MACG2KBH8F20000","PropagateID":"19cbc421-c012-8e47-8000-000038946dbf","ReservedCode2":""}</vt:lpwstr>
  </property>
</Properties>
</file>