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f193a8d5d043114a1f2941eddcd3c84a89104bc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6" b="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85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290638"/>
            <a:ext cx="3143250" cy="390525"/>
          </a:xfrm>
          <a:custGeom>
            <a:avLst/>
            <a:gdLst/>
            <a:ahLst/>
            <a:cxnLst/>
            <a:rect l="l" t="t" r="r" b="b"/>
            <a:pathLst>
              <a:path w="3143250" h="390525">
                <a:moveTo>
                  <a:pt x="76199" y="0"/>
                </a:moveTo>
                <a:lnTo>
                  <a:pt x="3067051" y="0"/>
                </a:lnTo>
                <a:cubicBezTo>
                  <a:pt x="3109134" y="0"/>
                  <a:pt x="3143250" y="34116"/>
                  <a:pt x="3143250" y="76199"/>
                </a:cubicBezTo>
                <a:lnTo>
                  <a:pt x="3143250" y="314326"/>
                </a:lnTo>
                <a:cubicBezTo>
                  <a:pt x="3143250" y="356409"/>
                  <a:pt x="3109134" y="390525"/>
                  <a:pt x="306705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37160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Milliy Moliyaviy Infratuzilma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19325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5147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1447800" y="3362325"/>
            <a:ext cx="866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v3.1.2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010025"/>
            <a:ext cx="86772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Pre-Authorization Deterministic Risk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Security Infrastructure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634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5867400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Taqdim etuvchi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6172200"/>
            <a:ext cx="281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Startap Jamoasi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63051" y="586740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334476" y="6172200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2026-yil mart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0789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spc="103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Startap Ta'rifi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67210" cy="56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4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REVENANT: Milliy Moliyaviy Infratuzilma Startapi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3593" y="1424430"/>
            <a:ext cx="5594638" cy="2502125"/>
          </a:xfrm>
          <a:custGeom>
            <a:avLst/>
            <a:gdLst/>
            <a:ahLst/>
            <a:cxnLst/>
            <a:rect l="l" t="t" r="r" b="b"/>
            <a:pathLst>
              <a:path w="5594638" h="2502125">
                <a:moveTo>
                  <a:pt x="37485" y="0"/>
                </a:moveTo>
                <a:lnTo>
                  <a:pt x="5519674" y="0"/>
                </a:lnTo>
                <a:cubicBezTo>
                  <a:pt x="5561076" y="0"/>
                  <a:pt x="5594638" y="33562"/>
                  <a:pt x="5594638" y="74964"/>
                </a:cubicBezTo>
                <a:lnTo>
                  <a:pt x="5594638" y="2427161"/>
                </a:lnTo>
                <a:cubicBezTo>
                  <a:pt x="5594638" y="2468562"/>
                  <a:pt x="5561076" y="2502125"/>
                  <a:pt x="5519674" y="2502125"/>
                </a:cubicBezTo>
                <a:lnTo>
                  <a:pt x="37485" y="2502125"/>
                </a:lnTo>
                <a:cubicBezTo>
                  <a:pt x="16783" y="2502125"/>
                  <a:pt x="0" y="2485342"/>
                  <a:pt x="0" y="246464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3593" y="1424430"/>
            <a:ext cx="37485" cy="2502125"/>
          </a:xfrm>
          <a:custGeom>
            <a:avLst/>
            <a:gdLst/>
            <a:ahLst/>
            <a:cxnLst/>
            <a:rect l="l" t="t" r="r" b="b"/>
            <a:pathLst>
              <a:path w="37485" h="2502125">
                <a:moveTo>
                  <a:pt x="37485" y="0"/>
                </a:moveTo>
                <a:lnTo>
                  <a:pt x="37485" y="0"/>
                </a:lnTo>
                <a:lnTo>
                  <a:pt x="37485" y="2502125"/>
                </a:lnTo>
                <a:lnTo>
                  <a:pt x="37485" y="2502125"/>
                </a:lnTo>
                <a:cubicBezTo>
                  <a:pt x="16783" y="2502125"/>
                  <a:pt x="0" y="2485342"/>
                  <a:pt x="0" y="246464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37245" y="1888307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1871" y="2019505"/>
            <a:ext cx="140569" cy="187425"/>
          </a:xfrm>
          <a:custGeom>
            <a:avLst/>
            <a:gdLst/>
            <a:ahLst/>
            <a:cxnLst/>
            <a:rect l="l" t="t" r="r" b="b"/>
            <a:pathLst>
              <a:path w="140569" h="187425">
                <a:moveTo>
                  <a:pt x="23428" y="0"/>
                </a:moveTo>
                <a:cubicBezTo>
                  <a:pt x="10506" y="0"/>
                  <a:pt x="0" y="10506"/>
                  <a:pt x="0" y="23428"/>
                </a:cubicBezTo>
                <a:lnTo>
                  <a:pt x="0" y="163997"/>
                </a:lnTo>
                <a:cubicBezTo>
                  <a:pt x="0" y="176919"/>
                  <a:pt x="10506" y="187425"/>
                  <a:pt x="23428" y="187425"/>
                </a:cubicBezTo>
                <a:lnTo>
                  <a:pt x="117141" y="187425"/>
                </a:lnTo>
                <a:cubicBezTo>
                  <a:pt x="130063" y="187425"/>
                  <a:pt x="140569" y="176919"/>
                  <a:pt x="140569" y="163997"/>
                </a:cubicBezTo>
                <a:lnTo>
                  <a:pt x="140569" y="23428"/>
                </a:lnTo>
                <a:cubicBezTo>
                  <a:pt x="140569" y="10506"/>
                  <a:pt x="130063" y="0"/>
                  <a:pt x="117141" y="0"/>
                </a:cubicBezTo>
                <a:lnTo>
                  <a:pt x="23428" y="0"/>
                </a:lnTo>
                <a:close/>
                <a:moveTo>
                  <a:pt x="64427" y="128855"/>
                </a:moveTo>
                <a:lnTo>
                  <a:pt x="76141" y="128855"/>
                </a:lnTo>
                <a:cubicBezTo>
                  <a:pt x="82621" y="128855"/>
                  <a:pt x="87855" y="134089"/>
                  <a:pt x="87855" y="140569"/>
                </a:cubicBezTo>
                <a:lnTo>
                  <a:pt x="87855" y="169854"/>
                </a:lnTo>
                <a:lnTo>
                  <a:pt x="52713" y="169854"/>
                </a:lnTo>
                <a:lnTo>
                  <a:pt x="52713" y="140569"/>
                </a:lnTo>
                <a:cubicBezTo>
                  <a:pt x="52713" y="134089"/>
                  <a:pt x="57948" y="128855"/>
                  <a:pt x="64427" y="128855"/>
                </a:cubicBezTo>
                <a:close/>
                <a:moveTo>
                  <a:pt x="35142" y="40999"/>
                </a:moveTo>
                <a:cubicBezTo>
                  <a:pt x="35142" y="37778"/>
                  <a:pt x="37778" y="35142"/>
                  <a:pt x="40999" y="35142"/>
                </a:cubicBezTo>
                <a:lnTo>
                  <a:pt x="52713" y="35142"/>
                </a:lnTo>
                <a:cubicBezTo>
                  <a:pt x="55935" y="35142"/>
                  <a:pt x="58570" y="37778"/>
                  <a:pt x="58570" y="40999"/>
                </a:cubicBezTo>
                <a:lnTo>
                  <a:pt x="58570" y="52713"/>
                </a:lnTo>
                <a:cubicBezTo>
                  <a:pt x="58570" y="55935"/>
                  <a:pt x="55935" y="58570"/>
                  <a:pt x="52713" y="58570"/>
                </a:cubicBezTo>
                <a:lnTo>
                  <a:pt x="40999" y="58570"/>
                </a:lnTo>
                <a:cubicBezTo>
                  <a:pt x="37778" y="58570"/>
                  <a:pt x="35142" y="55935"/>
                  <a:pt x="35142" y="52713"/>
                </a:cubicBezTo>
                <a:lnTo>
                  <a:pt x="35142" y="40999"/>
                </a:lnTo>
                <a:close/>
                <a:moveTo>
                  <a:pt x="87855" y="35142"/>
                </a:moveTo>
                <a:lnTo>
                  <a:pt x="99570" y="35142"/>
                </a:lnTo>
                <a:cubicBezTo>
                  <a:pt x="102791" y="35142"/>
                  <a:pt x="105427" y="37778"/>
                  <a:pt x="105427" y="40999"/>
                </a:cubicBezTo>
                <a:lnTo>
                  <a:pt x="105427" y="52713"/>
                </a:lnTo>
                <a:cubicBezTo>
                  <a:pt x="105427" y="55935"/>
                  <a:pt x="102791" y="58570"/>
                  <a:pt x="99570" y="58570"/>
                </a:cubicBezTo>
                <a:lnTo>
                  <a:pt x="87855" y="58570"/>
                </a:lnTo>
                <a:cubicBezTo>
                  <a:pt x="84634" y="58570"/>
                  <a:pt x="81998" y="55935"/>
                  <a:pt x="81998" y="52713"/>
                </a:cubicBezTo>
                <a:lnTo>
                  <a:pt x="81998" y="40999"/>
                </a:lnTo>
                <a:cubicBezTo>
                  <a:pt x="81998" y="37778"/>
                  <a:pt x="84634" y="35142"/>
                  <a:pt x="87855" y="35142"/>
                </a:cubicBezTo>
                <a:close/>
                <a:moveTo>
                  <a:pt x="35142" y="87855"/>
                </a:moveTo>
                <a:cubicBezTo>
                  <a:pt x="35142" y="84634"/>
                  <a:pt x="37778" y="81998"/>
                  <a:pt x="40999" y="81998"/>
                </a:cubicBezTo>
                <a:lnTo>
                  <a:pt x="52713" y="81998"/>
                </a:lnTo>
                <a:cubicBezTo>
                  <a:pt x="55935" y="81998"/>
                  <a:pt x="58570" y="84634"/>
                  <a:pt x="58570" y="87855"/>
                </a:cubicBezTo>
                <a:lnTo>
                  <a:pt x="58570" y="99570"/>
                </a:lnTo>
                <a:cubicBezTo>
                  <a:pt x="58570" y="102791"/>
                  <a:pt x="55935" y="105427"/>
                  <a:pt x="52713" y="105427"/>
                </a:cubicBezTo>
                <a:lnTo>
                  <a:pt x="40999" y="105427"/>
                </a:lnTo>
                <a:cubicBezTo>
                  <a:pt x="37778" y="105427"/>
                  <a:pt x="35142" y="102791"/>
                  <a:pt x="35142" y="99570"/>
                </a:cubicBezTo>
                <a:lnTo>
                  <a:pt x="35142" y="87855"/>
                </a:lnTo>
                <a:close/>
                <a:moveTo>
                  <a:pt x="87855" y="81998"/>
                </a:moveTo>
                <a:lnTo>
                  <a:pt x="99570" y="81998"/>
                </a:lnTo>
                <a:cubicBezTo>
                  <a:pt x="102791" y="81998"/>
                  <a:pt x="105427" y="84634"/>
                  <a:pt x="105427" y="87855"/>
                </a:cubicBezTo>
                <a:lnTo>
                  <a:pt x="105427" y="99570"/>
                </a:lnTo>
                <a:cubicBezTo>
                  <a:pt x="105427" y="102791"/>
                  <a:pt x="102791" y="105427"/>
                  <a:pt x="99570" y="105427"/>
                </a:cubicBezTo>
                <a:lnTo>
                  <a:pt x="87855" y="105427"/>
                </a:lnTo>
                <a:cubicBezTo>
                  <a:pt x="84634" y="105427"/>
                  <a:pt x="81998" y="102791"/>
                  <a:pt x="81998" y="99570"/>
                </a:cubicBezTo>
                <a:lnTo>
                  <a:pt x="81998" y="87855"/>
                </a:lnTo>
                <a:cubicBezTo>
                  <a:pt x="81998" y="84634"/>
                  <a:pt x="84634" y="81998"/>
                  <a:pt x="87855" y="81998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1199520" y="1963277"/>
            <a:ext cx="1967963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 Nima?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245" y="2488068"/>
            <a:ext cx="5201045" cy="974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— bu odatiy fintech mahsulot emas, balki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banklar uchun infratuzilma platformasi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 tranzaksiyalarni Core Banking tizimiga yetib bormasidan oldin avtorizatsiya qilish, xavfni baholash va regulyativ compliance ni ta'minlash uchun mo'ljallangan deterministik qatlamdir.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593" y="4113980"/>
            <a:ext cx="5594638" cy="2502125"/>
          </a:xfrm>
          <a:custGeom>
            <a:avLst/>
            <a:gdLst/>
            <a:ahLst/>
            <a:cxnLst/>
            <a:rect l="l" t="t" r="r" b="b"/>
            <a:pathLst>
              <a:path w="5594638" h="2502125">
                <a:moveTo>
                  <a:pt x="37485" y="0"/>
                </a:moveTo>
                <a:lnTo>
                  <a:pt x="5519674" y="0"/>
                </a:lnTo>
                <a:cubicBezTo>
                  <a:pt x="5561076" y="0"/>
                  <a:pt x="5594638" y="33562"/>
                  <a:pt x="5594638" y="74964"/>
                </a:cubicBezTo>
                <a:lnTo>
                  <a:pt x="5594638" y="2427161"/>
                </a:lnTo>
                <a:cubicBezTo>
                  <a:pt x="5594638" y="2468562"/>
                  <a:pt x="5561076" y="2502125"/>
                  <a:pt x="5519674" y="2502125"/>
                </a:cubicBezTo>
                <a:lnTo>
                  <a:pt x="37485" y="2502125"/>
                </a:lnTo>
                <a:cubicBezTo>
                  <a:pt x="16783" y="2502125"/>
                  <a:pt x="0" y="2485342"/>
                  <a:pt x="0" y="246464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93593" y="4113980"/>
            <a:ext cx="37485" cy="2502125"/>
          </a:xfrm>
          <a:custGeom>
            <a:avLst/>
            <a:gdLst/>
            <a:ahLst/>
            <a:cxnLst/>
            <a:rect l="l" t="t" r="r" b="b"/>
            <a:pathLst>
              <a:path w="37485" h="2502125">
                <a:moveTo>
                  <a:pt x="37485" y="0"/>
                </a:moveTo>
                <a:lnTo>
                  <a:pt x="37485" y="0"/>
                </a:lnTo>
                <a:lnTo>
                  <a:pt x="37485" y="2502125"/>
                </a:lnTo>
                <a:lnTo>
                  <a:pt x="37485" y="2502125"/>
                </a:lnTo>
                <a:cubicBezTo>
                  <a:pt x="16783" y="2502125"/>
                  <a:pt x="0" y="2485342"/>
                  <a:pt x="0" y="246464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7245" y="4577857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1871" y="4709055"/>
            <a:ext cx="140569" cy="187425"/>
          </a:xfrm>
          <a:custGeom>
            <a:avLst/>
            <a:gdLst/>
            <a:ahLst/>
            <a:cxnLst/>
            <a:rect l="l" t="t" r="r" b="b"/>
            <a:pathLst>
              <a:path w="140569" h="187425">
                <a:moveTo>
                  <a:pt x="107220" y="140569"/>
                </a:moveTo>
                <a:cubicBezTo>
                  <a:pt x="109893" y="132406"/>
                  <a:pt x="115237" y="125011"/>
                  <a:pt x="121277" y="118642"/>
                </a:cubicBezTo>
                <a:cubicBezTo>
                  <a:pt x="133248" y="106049"/>
                  <a:pt x="140569" y="89027"/>
                  <a:pt x="140569" y="70284"/>
                </a:cubicBezTo>
                <a:cubicBezTo>
                  <a:pt x="140569" y="31482"/>
                  <a:pt x="109087" y="0"/>
                  <a:pt x="70284" y="0"/>
                </a:cubicBezTo>
                <a:cubicBezTo>
                  <a:pt x="31482" y="0"/>
                  <a:pt x="0" y="31482"/>
                  <a:pt x="0" y="70284"/>
                </a:cubicBezTo>
                <a:cubicBezTo>
                  <a:pt x="0" y="89027"/>
                  <a:pt x="7321" y="106049"/>
                  <a:pt x="19292" y="118642"/>
                </a:cubicBezTo>
                <a:cubicBezTo>
                  <a:pt x="25332" y="125011"/>
                  <a:pt x="30713" y="132406"/>
                  <a:pt x="33348" y="140569"/>
                </a:cubicBezTo>
                <a:lnTo>
                  <a:pt x="107184" y="140569"/>
                </a:lnTo>
                <a:close/>
                <a:moveTo>
                  <a:pt x="105427" y="158140"/>
                </a:moveTo>
                <a:lnTo>
                  <a:pt x="35142" y="158140"/>
                </a:lnTo>
                <a:lnTo>
                  <a:pt x="35142" y="163997"/>
                </a:lnTo>
                <a:cubicBezTo>
                  <a:pt x="35142" y="180177"/>
                  <a:pt x="48247" y="193282"/>
                  <a:pt x="64427" y="193282"/>
                </a:cubicBezTo>
                <a:lnTo>
                  <a:pt x="76141" y="193282"/>
                </a:lnTo>
                <a:cubicBezTo>
                  <a:pt x="92321" y="193282"/>
                  <a:pt x="105427" y="180177"/>
                  <a:pt x="105427" y="163997"/>
                </a:cubicBezTo>
                <a:lnTo>
                  <a:pt x="105427" y="158140"/>
                </a:lnTo>
                <a:close/>
                <a:moveTo>
                  <a:pt x="67356" y="40999"/>
                </a:moveTo>
                <a:cubicBezTo>
                  <a:pt x="52787" y="40999"/>
                  <a:pt x="40999" y="52787"/>
                  <a:pt x="40999" y="67356"/>
                </a:cubicBezTo>
                <a:cubicBezTo>
                  <a:pt x="40999" y="72225"/>
                  <a:pt x="37082" y="76141"/>
                  <a:pt x="32214" y="76141"/>
                </a:cubicBezTo>
                <a:cubicBezTo>
                  <a:pt x="27345" y="76141"/>
                  <a:pt x="23428" y="72225"/>
                  <a:pt x="23428" y="67356"/>
                </a:cubicBezTo>
                <a:cubicBezTo>
                  <a:pt x="23428" y="43086"/>
                  <a:pt x="43086" y="23428"/>
                  <a:pt x="67356" y="23428"/>
                </a:cubicBezTo>
                <a:cubicBezTo>
                  <a:pt x="72225" y="23428"/>
                  <a:pt x="76141" y="27345"/>
                  <a:pt x="76141" y="32214"/>
                </a:cubicBezTo>
                <a:cubicBezTo>
                  <a:pt x="76141" y="37082"/>
                  <a:pt x="72225" y="40999"/>
                  <a:pt x="67356" y="4099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99520" y="4652827"/>
            <a:ext cx="1621227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 Yaratildi?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245" y="5177617"/>
            <a:ext cx="5201045" cy="974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Mavjud bank arxitekturalarining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tuzilma muammolari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sekin batch-era tizimlari, parchlangan compliance vositalari, yuqori operatsion xarajatlar va ortib borayotgan regulyativ talablar — yangi avlod infratuzilma yechimini talab qildi.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4605" y="1429116"/>
            <a:ext cx="5604009" cy="2689550"/>
          </a:xfrm>
          <a:custGeom>
            <a:avLst/>
            <a:gdLst/>
            <a:ahLst/>
            <a:cxnLst/>
            <a:rect l="l" t="t" r="r" b="b"/>
            <a:pathLst>
              <a:path w="5604009" h="2689550">
                <a:moveTo>
                  <a:pt x="74958" y="0"/>
                </a:moveTo>
                <a:lnTo>
                  <a:pt x="5529051" y="0"/>
                </a:lnTo>
                <a:cubicBezTo>
                  <a:pt x="5570449" y="0"/>
                  <a:pt x="5604009" y="33560"/>
                  <a:pt x="5604009" y="74958"/>
                </a:cubicBezTo>
                <a:lnTo>
                  <a:pt x="5604009" y="2614592"/>
                </a:lnTo>
                <a:cubicBezTo>
                  <a:pt x="5604009" y="2655990"/>
                  <a:pt x="5570449" y="2689550"/>
                  <a:pt x="5529051" y="2689550"/>
                </a:cubicBezTo>
                <a:lnTo>
                  <a:pt x="74958" y="2689550"/>
                </a:lnTo>
                <a:cubicBezTo>
                  <a:pt x="33560" y="2689550"/>
                  <a:pt x="0" y="2655990"/>
                  <a:pt x="0" y="2614592"/>
                </a:cubicBezTo>
                <a:lnTo>
                  <a:pt x="0" y="74958"/>
                </a:lnTo>
                <a:cubicBezTo>
                  <a:pt x="0" y="33560"/>
                  <a:pt x="33560" y="0"/>
                  <a:pt x="7495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4201" y="1658712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587112" y="1789909"/>
            <a:ext cx="163997" cy="187425"/>
          </a:xfrm>
          <a:custGeom>
            <a:avLst/>
            <a:gdLst/>
            <a:ahLst/>
            <a:cxnLst/>
            <a:rect l="l" t="t" r="r" b="b"/>
            <a:pathLst>
              <a:path w="163997" h="187425">
                <a:moveTo>
                  <a:pt x="23428" y="11714"/>
                </a:moveTo>
                <a:cubicBezTo>
                  <a:pt x="23428" y="5235"/>
                  <a:pt x="18193" y="0"/>
                  <a:pt x="11714" y="0"/>
                </a:cubicBezTo>
                <a:cubicBezTo>
                  <a:pt x="5235" y="0"/>
                  <a:pt x="0" y="5235"/>
                  <a:pt x="0" y="11714"/>
                </a:cubicBezTo>
                <a:lnTo>
                  <a:pt x="0" y="175711"/>
                </a:lnTo>
                <a:cubicBezTo>
                  <a:pt x="0" y="182190"/>
                  <a:pt x="5235" y="187425"/>
                  <a:pt x="11714" y="187425"/>
                </a:cubicBezTo>
                <a:cubicBezTo>
                  <a:pt x="18193" y="187425"/>
                  <a:pt x="23428" y="182190"/>
                  <a:pt x="23428" y="175711"/>
                </a:cubicBezTo>
                <a:lnTo>
                  <a:pt x="23428" y="131198"/>
                </a:lnTo>
                <a:lnTo>
                  <a:pt x="46380" y="124316"/>
                </a:lnTo>
                <a:cubicBezTo>
                  <a:pt x="61718" y="119703"/>
                  <a:pt x="78265" y="121131"/>
                  <a:pt x="92578" y="128306"/>
                </a:cubicBezTo>
                <a:cubicBezTo>
                  <a:pt x="108209" y="136139"/>
                  <a:pt x="126439" y="137091"/>
                  <a:pt x="142802" y="130941"/>
                </a:cubicBezTo>
                <a:lnTo>
                  <a:pt x="156383" y="125853"/>
                </a:lnTo>
                <a:cubicBezTo>
                  <a:pt x="160959" y="124132"/>
                  <a:pt x="163997" y="119776"/>
                  <a:pt x="163997" y="114871"/>
                </a:cubicBezTo>
                <a:lnTo>
                  <a:pt x="163997" y="24197"/>
                </a:lnTo>
                <a:cubicBezTo>
                  <a:pt x="163997" y="15777"/>
                  <a:pt x="155138" y="10286"/>
                  <a:pt x="147597" y="14057"/>
                </a:cubicBezTo>
                <a:lnTo>
                  <a:pt x="143278" y="16217"/>
                </a:lnTo>
                <a:cubicBezTo>
                  <a:pt x="126841" y="24453"/>
                  <a:pt x="107477" y="24453"/>
                  <a:pt x="91004" y="16217"/>
                </a:cubicBezTo>
                <a:cubicBezTo>
                  <a:pt x="77679" y="9554"/>
                  <a:pt x="62341" y="8236"/>
                  <a:pt x="48101" y="12519"/>
                </a:cubicBezTo>
                <a:lnTo>
                  <a:pt x="23428" y="19914"/>
                </a:lnTo>
                <a:lnTo>
                  <a:pt x="23428" y="11714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7006476" y="1733682"/>
            <a:ext cx="2399041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Uzoq Muddatli Maqsad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4201" y="2258472"/>
            <a:ext cx="5219788" cy="730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O'zbekiston va mintaqa uchun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milliy moliyaviy infratuzilma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qurish. REVENANT banklar o'rtasida umumiy qaror qatlamiga aylanib, tizimli xavf ko'rinishi, standartlashtirilgan compliance va kuchliroq moliyaviy barqarorlikni ta'minlaydi.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4201" y="3139370"/>
            <a:ext cx="2511496" cy="749700"/>
          </a:xfrm>
          <a:custGeom>
            <a:avLst/>
            <a:gdLst/>
            <a:ahLst/>
            <a:cxnLst/>
            <a:rect l="l" t="t" r="r" b="b"/>
            <a:pathLst>
              <a:path w="2511496" h="749700">
                <a:moveTo>
                  <a:pt x="74970" y="0"/>
                </a:moveTo>
                <a:lnTo>
                  <a:pt x="2436526" y="0"/>
                </a:lnTo>
                <a:cubicBezTo>
                  <a:pt x="2477931" y="0"/>
                  <a:pt x="2511496" y="33565"/>
                  <a:pt x="2511496" y="74970"/>
                </a:cubicBezTo>
                <a:lnTo>
                  <a:pt x="2511496" y="674730"/>
                </a:lnTo>
                <a:cubicBezTo>
                  <a:pt x="2511496" y="716135"/>
                  <a:pt x="2477931" y="749700"/>
                  <a:pt x="2436526" y="749700"/>
                </a:cubicBezTo>
                <a:lnTo>
                  <a:pt x="74970" y="749700"/>
                </a:lnTo>
                <a:cubicBezTo>
                  <a:pt x="33565" y="749700"/>
                  <a:pt x="0" y="716135"/>
                  <a:pt x="0" y="67473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23856" y="3251825"/>
            <a:ext cx="2352184" cy="33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4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1341" y="3589190"/>
            <a:ext cx="227721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Tijorat Banklari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71226" y="3139370"/>
            <a:ext cx="2511496" cy="749700"/>
          </a:xfrm>
          <a:custGeom>
            <a:avLst/>
            <a:gdLst/>
            <a:ahLst/>
            <a:cxnLst/>
            <a:rect l="l" t="t" r="r" b="b"/>
            <a:pathLst>
              <a:path w="2511496" h="749700">
                <a:moveTo>
                  <a:pt x="74970" y="0"/>
                </a:moveTo>
                <a:lnTo>
                  <a:pt x="2436526" y="0"/>
                </a:lnTo>
                <a:cubicBezTo>
                  <a:pt x="2477931" y="0"/>
                  <a:pt x="2511496" y="33565"/>
                  <a:pt x="2511496" y="74970"/>
                </a:cubicBezTo>
                <a:lnTo>
                  <a:pt x="2511496" y="674730"/>
                </a:lnTo>
                <a:cubicBezTo>
                  <a:pt x="2511496" y="716135"/>
                  <a:pt x="2477931" y="749700"/>
                  <a:pt x="2436526" y="749700"/>
                </a:cubicBezTo>
                <a:lnTo>
                  <a:pt x="74970" y="749700"/>
                </a:lnTo>
                <a:cubicBezTo>
                  <a:pt x="33565" y="749700"/>
                  <a:pt x="0" y="716135"/>
                  <a:pt x="0" y="67473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50882" y="3251825"/>
            <a:ext cx="2352184" cy="337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14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88367" y="3589190"/>
            <a:ext cx="227721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Avtorizatsiya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4605" y="4315462"/>
            <a:ext cx="5604009" cy="2295957"/>
          </a:xfrm>
          <a:custGeom>
            <a:avLst/>
            <a:gdLst/>
            <a:ahLst/>
            <a:cxnLst/>
            <a:rect l="l" t="t" r="r" b="b"/>
            <a:pathLst>
              <a:path w="5604009" h="2295957">
                <a:moveTo>
                  <a:pt x="74963" y="0"/>
                </a:moveTo>
                <a:lnTo>
                  <a:pt x="5529046" y="0"/>
                </a:lnTo>
                <a:cubicBezTo>
                  <a:pt x="5570447" y="0"/>
                  <a:pt x="5604009" y="33562"/>
                  <a:pt x="5604009" y="74963"/>
                </a:cubicBezTo>
                <a:lnTo>
                  <a:pt x="5604009" y="2220994"/>
                </a:lnTo>
                <a:cubicBezTo>
                  <a:pt x="5604009" y="2262395"/>
                  <a:pt x="5570447" y="2295957"/>
                  <a:pt x="5529046" y="2295957"/>
                </a:cubicBezTo>
                <a:lnTo>
                  <a:pt x="74963" y="2295957"/>
                </a:lnTo>
                <a:cubicBezTo>
                  <a:pt x="33562" y="2295957"/>
                  <a:pt x="0" y="2262395"/>
                  <a:pt x="0" y="2220994"/>
                </a:cubicBezTo>
                <a:lnTo>
                  <a:pt x="0" y="74963"/>
                </a:lnTo>
                <a:cubicBezTo>
                  <a:pt x="0" y="33590"/>
                  <a:pt x="33590" y="0"/>
                  <a:pt x="7496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4201" y="4545058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75398" y="4676255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0"/>
                </a:moveTo>
                <a:cubicBezTo>
                  <a:pt x="95396" y="0"/>
                  <a:pt x="97080" y="366"/>
                  <a:pt x="98618" y="1062"/>
                </a:cubicBezTo>
                <a:lnTo>
                  <a:pt x="167584" y="30310"/>
                </a:lnTo>
                <a:cubicBezTo>
                  <a:pt x="175638" y="33715"/>
                  <a:pt x="181641" y="41658"/>
                  <a:pt x="181605" y="51249"/>
                </a:cubicBezTo>
                <a:cubicBezTo>
                  <a:pt x="181422" y="87563"/>
                  <a:pt x="166486" y="154003"/>
                  <a:pt x="103413" y="184204"/>
                </a:cubicBezTo>
                <a:cubicBezTo>
                  <a:pt x="97300" y="187132"/>
                  <a:pt x="90198" y="187132"/>
                  <a:pt x="84085" y="184204"/>
                </a:cubicBezTo>
                <a:cubicBezTo>
                  <a:pt x="20975" y="154003"/>
                  <a:pt x="6077" y="87563"/>
                  <a:pt x="5894" y="51249"/>
                </a:cubicBezTo>
                <a:cubicBezTo>
                  <a:pt x="5857" y="41658"/>
                  <a:pt x="11860" y="33715"/>
                  <a:pt x="19914" y="30310"/>
                </a:cubicBezTo>
                <a:lnTo>
                  <a:pt x="88844" y="1062"/>
                </a:lnTo>
                <a:cubicBezTo>
                  <a:pt x="90381" y="366"/>
                  <a:pt x="92029" y="0"/>
                  <a:pt x="93713" y="0"/>
                </a:cubicBezTo>
                <a:close/>
                <a:moveTo>
                  <a:pt x="93713" y="24453"/>
                </a:moveTo>
                <a:lnTo>
                  <a:pt x="93713" y="162862"/>
                </a:lnTo>
                <a:cubicBezTo>
                  <a:pt x="144229" y="138409"/>
                  <a:pt x="157810" y="84231"/>
                  <a:pt x="158140" y="51798"/>
                </a:cubicBezTo>
                <a:lnTo>
                  <a:pt x="93713" y="24490"/>
                </a:lnTo>
                <a:lnTo>
                  <a:pt x="93713" y="24490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7006476" y="4620028"/>
            <a:ext cx="2399041" cy="29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Platforma Xususiyatlari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62943" y="5182303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2" name="Text 30"/>
          <p:cNvSpPr/>
          <p:nvPr/>
        </p:nvSpPr>
        <p:spPr>
          <a:xfrm>
            <a:off x="6744081" y="5144818"/>
            <a:ext cx="2511496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Deterministik Pre-Authorization Layer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62943" y="5519668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4" name="Text 32"/>
          <p:cNvSpPr/>
          <p:nvPr/>
        </p:nvSpPr>
        <p:spPr>
          <a:xfrm>
            <a:off x="6744081" y="5482183"/>
            <a:ext cx="229595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Sub-200ms avtorizatsiya qarorlari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62943" y="5857033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6744081" y="5819548"/>
            <a:ext cx="245526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Failover arxitekturasi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62943" y="6194398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8" name="Text 36"/>
          <p:cNvSpPr/>
          <p:nvPr/>
        </p:nvSpPr>
        <p:spPr>
          <a:xfrm>
            <a:off x="6744081" y="6156913"/>
            <a:ext cx="193984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Triple Integration strategiyasi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406" y="335406"/>
            <a:ext cx="1157988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spc="92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Muammo Tahlili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5406" y="570190"/>
            <a:ext cx="11722432" cy="503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16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 Tizimlaridagi Joriy Muammolar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598" y="1278735"/>
            <a:ext cx="3723004" cy="4486052"/>
          </a:xfrm>
          <a:custGeom>
            <a:avLst/>
            <a:gdLst/>
            <a:ahLst/>
            <a:cxnLst/>
            <a:rect l="l" t="t" r="r" b="b"/>
            <a:pathLst>
              <a:path w="3723004" h="4486052">
                <a:moveTo>
                  <a:pt x="67089" y="0"/>
                </a:moveTo>
                <a:lnTo>
                  <a:pt x="3655916" y="0"/>
                </a:lnTo>
                <a:cubicBezTo>
                  <a:pt x="3692968" y="0"/>
                  <a:pt x="3723004" y="30037"/>
                  <a:pt x="3723004" y="67089"/>
                </a:cubicBezTo>
                <a:lnTo>
                  <a:pt x="3723004" y="4418964"/>
                </a:lnTo>
                <a:cubicBezTo>
                  <a:pt x="3723004" y="4456016"/>
                  <a:pt x="3692968" y="4486052"/>
                  <a:pt x="3655916" y="4486052"/>
                </a:cubicBezTo>
                <a:lnTo>
                  <a:pt x="67089" y="4486052"/>
                </a:lnTo>
                <a:cubicBezTo>
                  <a:pt x="30037" y="4486052"/>
                  <a:pt x="0" y="4456016"/>
                  <a:pt x="0" y="4418964"/>
                </a:cubicBezTo>
                <a:lnTo>
                  <a:pt x="0" y="67089"/>
                </a:lnTo>
                <a:cubicBezTo>
                  <a:pt x="0" y="30061"/>
                  <a:pt x="30061" y="0"/>
                  <a:pt x="6708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5034" y="1484171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67082" y="0"/>
                </a:moveTo>
                <a:lnTo>
                  <a:pt x="335404" y="0"/>
                </a:lnTo>
                <a:cubicBezTo>
                  <a:pt x="372453" y="0"/>
                  <a:pt x="402487" y="30034"/>
                  <a:pt x="402487" y="67082"/>
                </a:cubicBezTo>
                <a:lnTo>
                  <a:pt x="402487" y="335404"/>
                </a:lnTo>
                <a:cubicBezTo>
                  <a:pt x="402487" y="372453"/>
                  <a:pt x="372453" y="402487"/>
                  <a:pt x="335404" y="402487"/>
                </a:cubicBezTo>
                <a:lnTo>
                  <a:pt x="67082" y="402487"/>
                </a:lnTo>
                <a:cubicBezTo>
                  <a:pt x="30034" y="402487"/>
                  <a:pt x="0" y="372453"/>
                  <a:pt x="0" y="335404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2908" y="1601563"/>
            <a:ext cx="146740" cy="167703"/>
          </a:xfrm>
          <a:custGeom>
            <a:avLst/>
            <a:gdLst/>
            <a:ahLst/>
            <a:cxnLst/>
            <a:rect l="l" t="t" r="r" b="b"/>
            <a:pathLst>
              <a:path w="146740" h="167703">
                <a:moveTo>
                  <a:pt x="20963" y="10481"/>
                </a:moveTo>
                <a:cubicBezTo>
                  <a:pt x="9401" y="10481"/>
                  <a:pt x="0" y="19882"/>
                  <a:pt x="0" y="31444"/>
                </a:cubicBezTo>
                <a:lnTo>
                  <a:pt x="0" y="52407"/>
                </a:lnTo>
                <a:cubicBezTo>
                  <a:pt x="0" y="63969"/>
                  <a:pt x="9401" y="73370"/>
                  <a:pt x="20963" y="73370"/>
                </a:cubicBezTo>
                <a:lnTo>
                  <a:pt x="125777" y="73370"/>
                </a:lnTo>
                <a:cubicBezTo>
                  <a:pt x="137339" y="73370"/>
                  <a:pt x="146740" y="63969"/>
                  <a:pt x="146740" y="52407"/>
                </a:cubicBezTo>
                <a:lnTo>
                  <a:pt x="146740" y="31444"/>
                </a:lnTo>
                <a:cubicBezTo>
                  <a:pt x="146740" y="19882"/>
                  <a:pt x="137339" y="10481"/>
                  <a:pt x="125777" y="10481"/>
                </a:cubicBezTo>
                <a:lnTo>
                  <a:pt x="20963" y="10481"/>
                </a:lnTo>
                <a:close/>
                <a:moveTo>
                  <a:pt x="91713" y="34065"/>
                </a:moveTo>
                <a:cubicBezTo>
                  <a:pt x="96051" y="34065"/>
                  <a:pt x="99574" y="37587"/>
                  <a:pt x="99574" y="41926"/>
                </a:cubicBezTo>
                <a:cubicBezTo>
                  <a:pt x="99574" y="46264"/>
                  <a:pt x="96051" y="49787"/>
                  <a:pt x="91713" y="49787"/>
                </a:cubicBezTo>
                <a:cubicBezTo>
                  <a:pt x="87374" y="49787"/>
                  <a:pt x="83851" y="46264"/>
                  <a:pt x="83851" y="41926"/>
                </a:cubicBezTo>
                <a:cubicBezTo>
                  <a:pt x="83851" y="37587"/>
                  <a:pt x="87374" y="34065"/>
                  <a:pt x="91713" y="34065"/>
                </a:cubicBezTo>
                <a:close/>
                <a:moveTo>
                  <a:pt x="110055" y="41926"/>
                </a:moveTo>
                <a:cubicBezTo>
                  <a:pt x="110055" y="37587"/>
                  <a:pt x="113577" y="34065"/>
                  <a:pt x="117916" y="34065"/>
                </a:cubicBezTo>
                <a:cubicBezTo>
                  <a:pt x="122255" y="34065"/>
                  <a:pt x="125777" y="37587"/>
                  <a:pt x="125777" y="41926"/>
                </a:cubicBezTo>
                <a:cubicBezTo>
                  <a:pt x="125777" y="46264"/>
                  <a:pt x="122255" y="49787"/>
                  <a:pt x="117916" y="49787"/>
                </a:cubicBezTo>
                <a:cubicBezTo>
                  <a:pt x="113577" y="49787"/>
                  <a:pt x="110055" y="46264"/>
                  <a:pt x="110055" y="41926"/>
                </a:cubicBezTo>
                <a:close/>
                <a:moveTo>
                  <a:pt x="20963" y="94333"/>
                </a:moveTo>
                <a:cubicBezTo>
                  <a:pt x="9401" y="94333"/>
                  <a:pt x="0" y="103733"/>
                  <a:pt x="0" y="115296"/>
                </a:cubicBezTo>
                <a:lnTo>
                  <a:pt x="0" y="136259"/>
                </a:lnTo>
                <a:cubicBezTo>
                  <a:pt x="0" y="147821"/>
                  <a:pt x="9401" y="157221"/>
                  <a:pt x="20963" y="157221"/>
                </a:cubicBezTo>
                <a:lnTo>
                  <a:pt x="125777" y="157221"/>
                </a:lnTo>
                <a:cubicBezTo>
                  <a:pt x="137339" y="157221"/>
                  <a:pt x="146740" y="147821"/>
                  <a:pt x="146740" y="136259"/>
                </a:cubicBezTo>
                <a:lnTo>
                  <a:pt x="146740" y="115296"/>
                </a:lnTo>
                <a:cubicBezTo>
                  <a:pt x="146740" y="103733"/>
                  <a:pt x="137339" y="94333"/>
                  <a:pt x="125777" y="94333"/>
                </a:cubicBezTo>
                <a:lnTo>
                  <a:pt x="20963" y="94333"/>
                </a:lnTo>
                <a:close/>
                <a:moveTo>
                  <a:pt x="91713" y="117916"/>
                </a:moveTo>
                <a:cubicBezTo>
                  <a:pt x="96051" y="117916"/>
                  <a:pt x="99574" y="121439"/>
                  <a:pt x="99574" y="125777"/>
                </a:cubicBezTo>
                <a:cubicBezTo>
                  <a:pt x="99574" y="130116"/>
                  <a:pt x="96051" y="133638"/>
                  <a:pt x="91713" y="133638"/>
                </a:cubicBezTo>
                <a:cubicBezTo>
                  <a:pt x="87374" y="133638"/>
                  <a:pt x="83851" y="130116"/>
                  <a:pt x="83851" y="125777"/>
                </a:cubicBezTo>
                <a:cubicBezTo>
                  <a:pt x="83851" y="121439"/>
                  <a:pt x="87374" y="117916"/>
                  <a:pt x="91713" y="117916"/>
                </a:cubicBezTo>
                <a:close/>
                <a:moveTo>
                  <a:pt x="110055" y="125777"/>
                </a:moveTo>
                <a:cubicBezTo>
                  <a:pt x="110055" y="121439"/>
                  <a:pt x="113577" y="117916"/>
                  <a:pt x="117916" y="117916"/>
                </a:cubicBezTo>
                <a:cubicBezTo>
                  <a:pt x="122255" y="117916"/>
                  <a:pt x="125777" y="121439"/>
                  <a:pt x="125777" y="125777"/>
                </a:cubicBezTo>
                <a:cubicBezTo>
                  <a:pt x="125777" y="130116"/>
                  <a:pt x="122255" y="133638"/>
                  <a:pt x="117916" y="133638"/>
                </a:cubicBezTo>
                <a:cubicBezTo>
                  <a:pt x="113577" y="133638"/>
                  <a:pt x="110055" y="130116"/>
                  <a:pt x="110055" y="125777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1048143" y="1568022"/>
            <a:ext cx="1643488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 Core Banking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5034" y="2054360"/>
            <a:ext cx="3312132" cy="1190691"/>
          </a:xfrm>
          <a:custGeom>
            <a:avLst/>
            <a:gdLst/>
            <a:ahLst/>
            <a:cxnLst/>
            <a:rect l="l" t="t" r="r" b="b"/>
            <a:pathLst>
              <a:path w="3312132" h="1190691">
                <a:moveTo>
                  <a:pt x="67084" y="0"/>
                </a:moveTo>
                <a:lnTo>
                  <a:pt x="3245049" y="0"/>
                </a:lnTo>
                <a:cubicBezTo>
                  <a:pt x="3282098" y="0"/>
                  <a:pt x="3312132" y="30034"/>
                  <a:pt x="3312132" y="67084"/>
                </a:cubicBezTo>
                <a:lnTo>
                  <a:pt x="3312132" y="1123607"/>
                </a:lnTo>
                <a:cubicBezTo>
                  <a:pt x="3312132" y="1160656"/>
                  <a:pt x="3282098" y="1190691"/>
                  <a:pt x="3245049" y="1190691"/>
                </a:cubicBezTo>
                <a:lnTo>
                  <a:pt x="67084" y="1190691"/>
                </a:lnTo>
                <a:cubicBezTo>
                  <a:pt x="30034" y="1190691"/>
                  <a:pt x="0" y="1160656"/>
                  <a:pt x="0" y="1123607"/>
                </a:cubicBezTo>
                <a:lnTo>
                  <a:pt x="0" y="67084"/>
                </a:lnTo>
                <a:cubicBezTo>
                  <a:pt x="0" y="30034"/>
                  <a:pt x="30034" y="0"/>
                  <a:pt x="670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9197" y="2188523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Batch-Era Arxitektura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9197" y="2456847"/>
            <a:ext cx="3110889" cy="654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Zamonaviy real-time talablarga javob bera olmaydigan, kechiktirilgan ishlov berishga asoslangan eski tizimlar.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5034" y="3379213"/>
            <a:ext cx="3312132" cy="972677"/>
          </a:xfrm>
          <a:custGeom>
            <a:avLst/>
            <a:gdLst/>
            <a:ahLst/>
            <a:cxnLst/>
            <a:rect l="l" t="t" r="r" b="b"/>
            <a:pathLst>
              <a:path w="3312132" h="972677">
                <a:moveTo>
                  <a:pt x="67086" y="0"/>
                </a:moveTo>
                <a:lnTo>
                  <a:pt x="3245047" y="0"/>
                </a:lnTo>
                <a:cubicBezTo>
                  <a:pt x="3282097" y="0"/>
                  <a:pt x="3312132" y="30035"/>
                  <a:pt x="3312132" y="67086"/>
                </a:cubicBezTo>
                <a:lnTo>
                  <a:pt x="3312132" y="905591"/>
                </a:lnTo>
                <a:cubicBezTo>
                  <a:pt x="3312132" y="942642"/>
                  <a:pt x="3282097" y="972677"/>
                  <a:pt x="3245047" y="972677"/>
                </a:cubicBezTo>
                <a:lnTo>
                  <a:pt x="67086" y="972677"/>
                </a:lnTo>
                <a:cubicBezTo>
                  <a:pt x="30035" y="972677"/>
                  <a:pt x="0" y="942642"/>
                  <a:pt x="0" y="905591"/>
                </a:cubicBezTo>
                <a:lnTo>
                  <a:pt x="0" y="67086"/>
                </a:lnTo>
                <a:cubicBezTo>
                  <a:pt x="0" y="30060"/>
                  <a:pt x="30060" y="0"/>
                  <a:pt x="6708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79197" y="3513376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Sekin Tranzaksiya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197" y="3781700"/>
            <a:ext cx="3110889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Sekin avtorizatsiya jarayonlari mijozlar tajribasini pasaytiradi va raqamolashuvga to'sqinlik qiladi.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5034" y="4486052"/>
            <a:ext cx="3312132" cy="972677"/>
          </a:xfrm>
          <a:custGeom>
            <a:avLst/>
            <a:gdLst/>
            <a:ahLst/>
            <a:cxnLst/>
            <a:rect l="l" t="t" r="r" b="b"/>
            <a:pathLst>
              <a:path w="3312132" h="972677">
                <a:moveTo>
                  <a:pt x="67086" y="0"/>
                </a:moveTo>
                <a:lnTo>
                  <a:pt x="3245047" y="0"/>
                </a:lnTo>
                <a:cubicBezTo>
                  <a:pt x="3282097" y="0"/>
                  <a:pt x="3312132" y="30035"/>
                  <a:pt x="3312132" y="67086"/>
                </a:cubicBezTo>
                <a:lnTo>
                  <a:pt x="3312132" y="905591"/>
                </a:lnTo>
                <a:cubicBezTo>
                  <a:pt x="3312132" y="942642"/>
                  <a:pt x="3282097" y="972677"/>
                  <a:pt x="3245047" y="972677"/>
                </a:cubicBezTo>
                <a:lnTo>
                  <a:pt x="67086" y="972677"/>
                </a:lnTo>
                <a:cubicBezTo>
                  <a:pt x="30035" y="972677"/>
                  <a:pt x="0" y="942642"/>
                  <a:pt x="0" y="905591"/>
                </a:cubicBezTo>
                <a:lnTo>
                  <a:pt x="0" y="67086"/>
                </a:lnTo>
                <a:cubicBezTo>
                  <a:pt x="0" y="30060"/>
                  <a:pt x="30060" y="0"/>
                  <a:pt x="6708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9197" y="4620215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Parchlangan Compliance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9197" y="4888539"/>
            <a:ext cx="3110889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tizimlarga ulashgan tashqi xavf tizimlari integratsiya va boshqaruv qiyinchiliklarini yaratadi.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36463" y="1278735"/>
            <a:ext cx="3723004" cy="4486052"/>
          </a:xfrm>
          <a:custGeom>
            <a:avLst/>
            <a:gdLst/>
            <a:ahLst/>
            <a:cxnLst/>
            <a:rect l="l" t="t" r="r" b="b"/>
            <a:pathLst>
              <a:path w="3723004" h="4486052">
                <a:moveTo>
                  <a:pt x="67089" y="0"/>
                </a:moveTo>
                <a:lnTo>
                  <a:pt x="3655916" y="0"/>
                </a:lnTo>
                <a:cubicBezTo>
                  <a:pt x="3692968" y="0"/>
                  <a:pt x="3723004" y="30037"/>
                  <a:pt x="3723004" y="67089"/>
                </a:cubicBezTo>
                <a:lnTo>
                  <a:pt x="3723004" y="4418964"/>
                </a:lnTo>
                <a:cubicBezTo>
                  <a:pt x="3723004" y="4456016"/>
                  <a:pt x="3692968" y="4486052"/>
                  <a:pt x="3655916" y="4486052"/>
                </a:cubicBezTo>
                <a:lnTo>
                  <a:pt x="67089" y="4486052"/>
                </a:lnTo>
                <a:cubicBezTo>
                  <a:pt x="30037" y="4486052"/>
                  <a:pt x="0" y="4456016"/>
                  <a:pt x="0" y="4418964"/>
                </a:cubicBezTo>
                <a:lnTo>
                  <a:pt x="0" y="67089"/>
                </a:lnTo>
                <a:cubicBezTo>
                  <a:pt x="0" y="30061"/>
                  <a:pt x="30061" y="0"/>
                  <a:pt x="6708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1899" y="1484171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67082" y="0"/>
                </a:moveTo>
                <a:lnTo>
                  <a:pt x="335404" y="0"/>
                </a:lnTo>
                <a:cubicBezTo>
                  <a:pt x="372453" y="0"/>
                  <a:pt x="402487" y="30034"/>
                  <a:pt x="402487" y="67082"/>
                </a:cubicBezTo>
                <a:lnTo>
                  <a:pt x="402487" y="335404"/>
                </a:lnTo>
                <a:cubicBezTo>
                  <a:pt x="402487" y="372453"/>
                  <a:pt x="372453" y="402487"/>
                  <a:pt x="335404" y="402487"/>
                </a:cubicBezTo>
                <a:lnTo>
                  <a:pt x="67082" y="402487"/>
                </a:lnTo>
                <a:cubicBezTo>
                  <a:pt x="30034" y="402487"/>
                  <a:pt x="0" y="372453"/>
                  <a:pt x="0" y="335404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38328" y="1601563"/>
            <a:ext cx="209629" cy="167703"/>
          </a:xfrm>
          <a:custGeom>
            <a:avLst/>
            <a:gdLst/>
            <a:ahLst/>
            <a:cxnLst/>
            <a:rect l="l" t="t" r="r" b="b"/>
            <a:pathLst>
              <a:path w="209629" h="167703">
                <a:moveTo>
                  <a:pt x="136226" y="68948"/>
                </a:moveTo>
                <a:cubicBezTo>
                  <a:pt x="140222" y="67867"/>
                  <a:pt x="144414" y="69767"/>
                  <a:pt x="146216" y="73468"/>
                </a:cubicBezTo>
                <a:lnTo>
                  <a:pt x="152308" y="85784"/>
                </a:lnTo>
                <a:cubicBezTo>
                  <a:pt x="155682" y="86243"/>
                  <a:pt x="158990" y="87160"/>
                  <a:pt x="162102" y="88437"/>
                </a:cubicBezTo>
                <a:lnTo>
                  <a:pt x="173566" y="80805"/>
                </a:lnTo>
                <a:cubicBezTo>
                  <a:pt x="177005" y="78512"/>
                  <a:pt x="181558" y="78971"/>
                  <a:pt x="184473" y="81886"/>
                </a:cubicBezTo>
                <a:lnTo>
                  <a:pt x="190762" y="88175"/>
                </a:lnTo>
                <a:cubicBezTo>
                  <a:pt x="193677" y="91090"/>
                  <a:pt x="194136" y="95676"/>
                  <a:pt x="191843" y="99082"/>
                </a:cubicBezTo>
                <a:lnTo>
                  <a:pt x="184211" y="110514"/>
                </a:lnTo>
                <a:cubicBezTo>
                  <a:pt x="184833" y="112053"/>
                  <a:pt x="185390" y="113658"/>
                  <a:pt x="185849" y="115328"/>
                </a:cubicBezTo>
                <a:cubicBezTo>
                  <a:pt x="186307" y="116999"/>
                  <a:pt x="186602" y="118637"/>
                  <a:pt x="186831" y="120307"/>
                </a:cubicBezTo>
                <a:lnTo>
                  <a:pt x="199180" y="126400"/>
                </a:lnTo>
                <a:cubicBezTo>
                  <a:pt x="202881" y="128234"/>
                  <a:pt x="204781" y="132426"/>
                  <a:pt x="203700" y="136390"/>
                </a:cubicBezTo>
                <a:lnTo>
                  <a:pt x="201407" y="144971"/>
                </a:lnTo>
                <a:cubicBezTo>
                  <a:pt x="200326" y="148935"/>
                  <a:pt x="196625" y="151620"/>
                  <a:pt x="192498" y="151358"/>
                </a:cubicBezTo>
                <a:lnTo>
                  <a:pt x="178741" y="150474"/>
                </a:lnTo>
                <a:cubicBezTo>
                  <a:pt x="176678" y="153127"/>
                  <a:pt x="174287" y="155584"/>
                  <a:pt x="171568" y="157680"/>
                </a:cubicBezTo>
                <a:lnTo>
                  <a:pt x="172452" y="171404"/>
                </a:lnTo>
                <a:cubicBezTo>
                  <a:pt x="172714" y="175531"/>
                  <a:pt x="170028" y="179265"/>
                  <a:pt x="166065" y="180313"/>
                </a:cubicBezTo>
                <a:lnTo>
                  <a:pt x="157483" y="182606"/>
                </a:lnTo>
                <a:cubicBezTo>
                  <a:pt x="153487" y="183687"/>
                  <a:pt x="149328" y="181787"/>
                  <a:pt x="147493" y="178086"/>
                </a:cubicBezTo>
                <a:lnTo>
                  <a:pt x="141401" y="165770"/>
                </a:lnTo>
                <a:cubicBezTo>
                  <a:pt x="138027" y="165312"/>
                  <a:pt x="134719" y="164395"/>
                  <a:pt x="131607" y="163117"/>
                </a:cubicBezTo>
                <a:lnTo>
                  <a:pt x="120143" y="170749"/>
                </a:lnTo>
                <a:cubicBezTo>
                  <a:pt x="116704" y="173042"/>
                  <a:pt x="112151" y="172583"/>
                  <a:pt x="109236" y="169668"/>
                </a:cubicBezTo>
                <a:lnTo>
                  <a:pt x="102947" y="163379"/>
                </a:lnTo>
                <a:cubicBezTo>
                  <a:pt x="100032" y="160464"/>
                  <a:pt x="99574" y="155911"/>
                  <a:pt x="101866" y="152472"/>
                </a:cubicBezTo>
                <a:lnTo>
                  <a:pt x="109498" y="141008"/>
                </a:lnTo>
                <a:cubicBezTo>
                  <a:pt x="108876" y="139469"/>
                  <a:pt x="108319" y="137864"/>
                  <a:pt x="107860" y="136193"/>
                </a:cubicBezTo>
                <a:cubicBezTo>
                  <a:pt x="107402" y="134523"/>
                  <a:pt x="107107" y="132852"/>
                  <a:pt x="106878" y="131214"/>
                </a:cubicBezTo>
                <a:lnTo>
                  <a:pt x="94529" y="125122"/>
                </a:lnTo>
                <a:cubicBezTo>
                  <a:pt x="90828" y="123288"/>
                  <a:pt x="88961" y="119095"/>
                  <a:pt x="90009" y="115132"/>
                </a:cubicBezTo>
                <a:lnTo>
                  <a:pt x="92302" y="106550"/>
                </a:lnTo>
                <a:cubicBezTo>
                  <a:pt x="93383" y="102587"/>
                  <a:pt x="97084" y="99901"/>
                  <a:pt x="101211" y="100163"/>
                </a:cubicBezTo>
                <a:lnTo>
                  <a:pt x="114935" y="101048"/>
                </a:lnTo>
                <a:cubicBezTo>
                  <a:pt x="116999" y="98394"/>
                  <a:pt x="119390" y="95938"/>
                  <a:pt x="122109" y="93842"/>
                </a:cubicBezTo>
                <a:lnTo>
                  <a:pt x="121224" y="80150"/>
                </a:lnTo>
                <a:cubicBezTo>
                  <a:pt x="120962" y="76023"/>
                  <a:pt x="123648" y="72289"/>
                  <a:pt x="127611" y="71241"/>
                </a:cubicBezTo>
                <a:lnTo>
                  <a:pt x="136193" y="68948"/>
                </a:lnTo>
                <a:close/>
                <a:moveTo>
                  <a:pt x="146871" y="111365"/>
                </a:moveTo>
                <a:cubicBezTo>
                  <a:pt x="138917" y="111374"/>
                  <a:pt x="132466" y="117839"/>
                  <a:pt x="132475" y="125794"/>
                </a:cubicBezTo>
                <a:cubicBezTo>
                  <a:pt x="132484" y="133748"/>
                  <a:pt x="138950" y="140198"/>
                  <a:pt x="146904" y="140189"/>
                </a:cubicBezTo>
                <a:cubicBezTo>
                  <a:pt x="154858" y="140180"/>
                  <a:pt x="161308" y="133715"/>
                  <a:pt x="161299" y="125761"/>
                </a:cubicBezTo>
                <a:cubicBezTo>
                  <a:pt x="161290" y="117807"/>
                  <a:pt x="154825" y="111356"/>
                  <a:pt x="146871" y="111365"/>
                </a:cubicBezTo>
                <a:close/>
                <a:moveTo>
                  <a:pt x="73665" y="-14903"/>
                </a:moveTo>
                <a:lnTo>
                  <a:pt x="82246" y="-12610"/>
                </a:lnTo>
                <a:cubicBezTo>
                  <a:pt x="86210" y="-11530"/>
                  <a:pt x="88896" y="-7796"/>
                  <a:pt x="88634" y="-3701"/>
                </a:cubicBezTo>
                <a:lnTo>
                  <a:pt x="87749" y="9990"/>
                </a:lnTo>
                <a:cubicBezTo>
                  <a:pt x="90468" y="12086"/>
                  <a:pt x="92859" y="14510"/>
                  <a:pt x="94922" y="17196"/>
                </a:cubicBezTo>
                <a:lnTo>
                  <a:pt x="108679" y="16312"/>
                </a:lnTo>
                <a:cubicBezTo>
                  <a:pt x="112774" y="16050"/>
                  <a:pt x="116508" y="18736"/>
                  <a:pt x="117589" y="22699"/>
                </a:cubicBezTo>
                <a:lnTo>
                  <a:pt x="119881" y="31281"/>
                </a:lnTo>
                <a:cubicBezTo>
                  <a:pt x="120930" y="35244"/>
                  <a:pt x="119062" y="39436"/>
                  <a:pt x="115361" y="41271"/>
                </a:cubicBezTo>
                <a:lnTo>
                  <a:pt x="103013" y="47363"/>
                </a:lnTo>
                <a:cubicBezTo>
                  <a:pt x="102784" y="49033"/>
                  <a:pt x="102456" y="50704"/>
                  <a:pt x="102030" y="52342"/>
                </a:cubicBezTo>
                <a:cubicBezTo>
                  <a:pt x="101604" y="53979"/>
                  <a:pt x="101015" y="55617"/>
                  <a:pt x="100392" y="57157"/>
                </a:cubicBezTo>
                <a:lnTo>
                  <a:pt x="108024" y="68621"/>
                </a:lnTo>
                <a:cubicBezTo>
                  <a:pt x="110317" y="72060"/>
                  <a:pt x="109858" y="76613"/>
                  <a:pt x="106943" y="79528"/>
                </a:cubicBezTo>
                <a:lnTo>
                  <a:pt x="100654" y="85817"/>
                </a:lnTo>
                <a:cubicBezTo>
                  <a:pt x="97739" y="88732"/>
                  <a:pt x="93186" y="89190"/>
                  <a:pt x="89747" y="86898"/>
                </a:cubicBezTo>
                <a:lnTo>
                  <a:pt x="78283" y="79266"/>
                </a:lnTo>
                <a:cubicBezTo>
                  <a:pt x="75172" y="80543"/>
                  <a:pt x="71863" y="81460"/>
                  <a:pt x="68490" y="81919"/>
                </a:cubicBezTo>
                <a:lnTo>
                  <a:pt x="62397" y="94235"/>
                </a:lnTo>
                <a:cubicBezTo>
                  <a:pt x="60563" y="97936"/>
                  <a:pt x="56370" y="99803"/>
                  <a:pt x="52407" y="98755"/>
                </a:cubicBezTo>
                <a:lnTo>
                  <a:pt x="43825" y="96462"/>
                </a:lnTo>
                <a:cubicBezTo>
                  <a:pt x="39829" y="95381"/>
                  <a:pt x="37176" y="91647"/>
                  <a:pt x="37438" y="87553"/>
                </a:cubicBezTo>
                <a:lnTo>
                  <a:pt x="38323" y="73829"/>
                </a:lnTo>
                <a:cubicBezTo>
                  <a:pt x="35604" y="71732"/>
                  <a:pt x="33213" y="69308"/>
                  <a:pt x="31150" y="66623"/>
                </a:cubicBezTo>
                <a:lnTo>
                  <a:pt x="17393" y="67507"/>
                </a:lnTo>
                <a:cubicBezTo>
                  <a:pt x="13298" y="67769"/>
                  <a:pt x="9564" y="65083"/>
                  <a:pt x="8483" y="61120"/>
                </a:cubicBezTo>
                <a:lnTo>
                  <a:pt x="6191" y="52538"/>
                </a:lnTo>
                <a:cubicBezTo>
                  <a:pt x="5142" y="48575"/>
                  <a:pt x="7009" y="44382"/>
                  <a:pt x="10711" y="42548"/>
                </a:cubicBezTo>
                <a:lnTo>
                  <a:pt x="23059" y="36456"/>
                </a:lnTo>
                <a:cubicBezTo>
                  <a:pt x="23288" y="34785"/>
                  <a:pt x="23616" y="33148"/>
                  <a:pt x="24042" y="31477"/>
                </a:cubicBezTo>
                <a:cubicBezTo>
                  <a:pt x="24500" y="29807"/>
                  <a:pt x="25024" y="28202"/>
                  <a:pt x="25680" y="26662"/>
                </a:cubicBezTo>
                <a:lnTo>
                  <a:pt x="18048" y="15231"/>
                </a:lnTo>
                <a:cubicBezTo>
                  <a:pt x="15755" y="11792"/>
                  <a:pt x="16213" y="7239"/>
                  <a:pt x="19129" y="4324"/>
                </a:cubicBezTo>
                <a:lnTo>
                  <a:pt x="25417" y="-1965"/>
                </a:lnTo>
                <a:cubicBezTo>
                  <a:pt x="28333" y="-4880"/>
                  <a:pt x="32885" y="-5339"/>
                  <a:pt x="36325" y="-3046"/>
                </a:cubicBezTo>
                <a:lnTo>
                  <a:pt x="47789" y="4586"/>
                </a:lnTo>
                <a:cubicBezTo>
                  <a:pt x="50900" y="3308"/>
                  <a:pt x="54209" y="2391"/>
                  <a:pt x="57582" y="1933"/>
                </a:cubicBezTo>
                <a:lnTo>
                  <a:pt x="63675" y="-10383"/>
                </a:lnTo>
                <a:cubicBezTo>
                  <a:pt x="65509" y="-14084"/>
                  <a:pt x="69669" y="-15951"/>
                  <a:pt x="73665" y="-14903"/>
                </a:cubicBezTo>
                <a:close/>
                <a:moveTo>
                  <a:pt x="63020" y="27514"/>
                </a:moveTo>
                <a:cubicBezTo>
                  <a:pt x="55065" y="27514"/>
                  <a:pt x="48608" y="33972"/>
                  <a:pt x="48608" y="41926"/>
                </a:cubicBezTo>
                <a:cubicBezTo>
                  <a:pt x="48608" y="49880"/>
                  <a:pt x="55065" y="56338"/>
                  <a:pt x="63020" y="56338"/>
                </a:cubicBezTo>
                <a:cubicBezTo>
                  <a:pt x="70974" y="56338"/>
                  <a:pt x="77432" y="49880"/>
                  <a:pt x="77432" y="41926"/>
                </a:cubicBezTo>
                <a:cubicBezTo>
                  <a:pt x="77432" y="33972"/>
                  <a:pt x="70974" y="27514"/>
                  <a:pt x="63020" y="27514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4945008" y="1568022"/>
            <a:ext cx="188665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Operatsion Qiyinchiliklar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41899" y="2054360"/>
            <a:ext cx="3312132" cy="1190691"/>
          </a:xfrm>
          <a:custGeom>
            <a:avLst/>
            <a:gdLst/>
            <a:ahLst/>
            <a:cxnLst/>
            <a:rect l="l" t="t" r="r" b="b"/>
            <a:pathLst>
              <a:path w="3312132" h="1190691">
                <a:moveTo>
                  <a:pt x="67084" y="0"/>
                </a:moveTo>
                <a:lnTo>
                  <a:pt x="3245049" y="0"/>
                </a:lnTo>
                <a:cubicBezTo>
                  <a:pt x="3282098" y="0"/>
                  <a:pt x="3312132" y="30034"/>
                  <a:pt x="3312132" y="67084"/>
                </a:cubicBezTo>
                <a:lnTo>
                  <a:pt x="3312132" y="1123607"/>
                </a:lnTo>
                <a:cubicBezTo>
                  <a:pt x="3312132" y="1160656"/>
                  <a:pt x="3282098" y="1190691"/>
                  <a:pt x="3245049" y="1190691"/>
                </a:cubicBezTo>
                <a:lnTo>
                  <a:pt x="67084" y="1190691"/>
                </a:lnTo>
                <a:cubicBezTo>
                  <a:pt x="30034" y="1190691"/>
                  <a:pt x="0" y="1160656"/>
                  <a:pt x="0" y="1123607"/>
                </a:cubicBezTo>
                <a:lnTo>
                  <a:pt x="0" y="67084"/>
                </a:lnTo>
                <a:cubicBezTo>
                  <a:pt x="0" y="30034"/>
                  <a:pt x="30034" y="0"/>
                  <a:pt x="670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576062" y="2188523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Sekin Raqamli Tranzaksiyalar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6062" y="2456847"/>
            <a:ext cx="3110889" cy="654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Mijozlar tez va ishonchli raqamli to'lovlar kutadi, ammo mavjud tizimlar ushbu kutishlarni qondira olmaydi.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1899" y="3379213"/>
            <a:ext cx="3312132" cy="972677"/>
          </a:xfrm>
          <a:custGeom>
            <a:avLst/>
            <a:gdLst/>
            <a:ahLst/>
            <a:cxnLst/>
            <a:rect l="l" t="t" r="r" b="b"/>
            <a:pathLst>
              <a:path w="3312132" h="972677">
                <a:moveTo>
                  <a:pt x="67086" y="0"/>
                </a:moveTo>
                <a:lnTo>
                  <a:pt x="3245047" y="0"/>
                </a:lnTo>
                <a:cubicBezTo>
                  <a:pt x="3282097" y="0"/>
                  <a:pt x="3312132" y="30035"/>
                  <a:pt x="3312132" y="67086"/>
                </a:cubicBezTo>
                <a:lnTo>
                  <a:pt x="3312132" y="905591"/>
                </a:lnTo>
                <a:cubicBezTo>
                  <a:pt x="3312132" y="942642"/>
                  <a:pt x="3282097" y="972677"/>
                  <a:pt x="3245047" y="972677"/>
                </a:cubicBezTo>
                <a:lnTo>
                  <a:pt x="67086" y="972677"/>
                </a:lnTo>
                <a:cubicBezTo>
                  <a:pt x="30035" y="972677"/>
                  <a:pt x="0" y="942642"/>
                  <a:pt x="0" y="905591"/>
                </a:cubicBezTo>
                <a:lnTo>
                  <a:pt x="0" y="67086"/>
                </a:lnTo>
                <a:cubicBezTo>
                  <a:pt x="0" y="30060"/>
                  <a:pt x="30060" y="0"/>
                  <a:pt x="6708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6062" y="3513376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Yuqori Operatsion Xarajatlar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6062" y="3781700"/>
            <a:ext cx="3110889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Qo'lda hujjatlar qayta ishlash va murakkab onboarding jarayonlari xarajatlarni oshiradi.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1899" y="4486052"/>
            <a:ext cx="3312132" cy="972677"/>
          </a:xfrm>
          <a:custGeom>
            <a:avLst/>
            <a:gdLst/>
            <a:ahLst/>
            <a:cxnLst/>
            <a:rect l="l" t="t" r="r" b="b"/>
            <a:pathLst>
              <a:path w="3312132" h="972677">
                <a:moveTo>
                  <a:pt x="67086" y="0"/>
                </a:moveTo>
                <a:lnTo>
                  <a:pt x="3245047" y="0"/>
                </a:lnTo>
                <a:cubicBezTo>
                  <a:pt x="3282097" y="0"/>
                  <a:pt x="3312132" y="30035"/>
                  <a:pt x="3312132" y="67086"/>
                </a:cubicBezTo>
                <a:lnTo>
                  <a:pt x="3312132" y="905591"/>
                </a:lnTo>
                <a:cubicBezTo>
                  <a:pt x="3312132" y="942642"/>
                  <a:pt x="3282097" y="972677"/>
                  <a:pt x="3245047" y="972677"/>
                </a:cubicBezTo>
                <a:lnTo>
                  <a:pt x="67086" y="972677"/>
                </a:lnTo>
                <a:cubicBezTo>
                  <a:pt x="30035" y="972677"/>
                  <a:pt x="0" y="942642"/>
                  <a:pt x="0" y="905591"/>
                </a:cubicBezTo>
                <a:lnTo>
                  <a:pt x="0" y="67086"/>
                </a:lnTo>
                <a:cubicBezTo>
                  <a:pt x="0" y="30060"/>
                  <a:pt x="30060" y="0"/>
                  <a:pt x="6708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6062" y="4620215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 Onboarding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6062" y="4888539"/>
            <a:ext cx="3110889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Kichik va o'rta bizneslar uchun hisob ochish murakkab va vaqt talab qiluvchi jarayon.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3328" y="1278735"/>
            <a:ext cx="3723004" cy="4486052"/>
          </a:xfrm>
          <a:custGeom>
            <a:avLst/>
            <a:gdLst/>
            <a:ahLst/>
            <a:cxnLst/>
            <a:rect l="l" t="t" r="r" b="b"/>
            <a:pathLst>
              <a:path w="3723004" h="4486052">
                <a:moveTo>
                  <a:pt x="67089" y="0"/>
                </a:moveTo>
                <a:lnTo>
                  <a:pt x="3655916" y="0"/>
                </a:lnTo>
                <a:cubicBezTo>
                  <a:pt x="3692968" y="0"/>
                  <a:pt x="3723004" y="30037"/>
                  <a:pt x="3723004" y="67089"/>
                </a:cubicBezTo>
                <a:lnTo>
                  <a:pt x="3723004" y="4418964"/>
                </a:lnTo>
                <a:cubicBezTo>
                  <a:pt x="3723004" y="4456016"/>
                  <a:pt x="3692968" y="4486052"/>
                  <a:pt x="3655916" y="4486052"/>
                </a:cubicBezTo>
                <a:lnTo>
                  <a:pt x="67089" y="4486052"/>
                </a:lnTo>
                <a:cubicBezTo>
                  <a:pt x="30037" y="4486052"/>
                  <a:pt x="0" y="4456016"/>
                  <a:pt x="0" y="4418964"/>
                </a:cubicBezTo>
                <a:lnTo>
                  <a:pt x="0" y="67089"/>
                </a:lnTo>
                <a:cubicBezTo>
                  <a:pt x="0" y="30061"/>
                  <a:pt x="30061" y="0"/>
                  <a:pt x="6708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8764" y="1484171"/>
            <a:ext cx="402487" cy="402487"/>
          </a:xfrm>
          <a:custGeom>
            <a:avLst/>
            <a:gdLst/>
            <a:ahLst/>
            <a:cxnLst/>
            <a:rect l="l" t="t" r="r" b="b"/>
            <a:pathLst>
              <a:path w="402487" h="402487">
                <a:moveTo>
                  <a:pt x="67082" y="0"/>
                </a:moveTo>
                <a:lnTo>
                  <a:pt x="335404" y="0"/>
                </a:lnTo>
                <a:cubicBezTo>
                  <a:pt x="372453" y="0"/>
                  <a:pt x="402487" y="30034"/>
                  <a:pt x="402487" y="67082"/>
                </a:cubicBezTo>
                <a:lnTo>
                  <a:pt x="402487" y="335404"/>
                </a:lnTo>
                <a:cubicBezTo>
                  <a:pt x="402487" y="372453"/>
                  <a:pt x="372453" y="402487"/>
                  <a:pt x="335404" y="402487"/>
                </a:cubicBezTo>
                <a:lnTo>
                  <a:pt x="67082" y="402487"/>
                </a:lnTo>
                <a:cubicBezTo>
                  <a:pt x="30034" y="402487"/>
                  <a:pt x="0" y="372453"/>
                  <a:pt x="0" y="335404"/>
                </a:cubicBezTo>
                <a:lnTo>
                  <a:pt x="0" y="67082"/>
                </a:lnTo>
                <a:cubicBezTo>
                  <a:pt x="0" y="30059"/>
                  <a:pt x="30059" y="0"/>
                  <a:pt x="6708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35193" y="1601563"/>
            <a:ext cx="209629" cy="167703"/>
          </a:xfrm>
          <a:custGeom>
            <a:avLst/>
            <a:gdLst/>
            <a:ahLst/>
            <a:cxnLst/>
            <a:rect l="l" t="t" r="r" b="b"/>
            <a:pathLst>
              <a:path w="209629" h="167703">
                <a:moveTo>
                  <a:pt x="125777" y="10481"/>
                </a:moveTo>
                <a:lnTo>
                  <a:pt x="167703" y="10481"/>
                </a:lnTo>
                <a:cubicBezTo>
                  <a:pt x="173500" y="10481"/>
                  <a:pt x="178184" y="15165"/>
                  <a:pt x="178184" y="20963"/>
                </a:cubicBezTo>
                <a:cubicBezTo>
                  <a:pt x="178184" y="26760"/>
                  <a:pt x="173500" y="31444"/>
                  <a:pt x="167703" y="31444"/>
                </a:cubicBezTo>
                <a:lnTo>
                  <a:pt x="130494" y="31444"/>
                </a:lnTo>
                <a:cubicBezTo>
                  <a:pt x="128791" y="39895"/>
                  <a:pt x="122993" y="46872"/>
                  <a:pt x="115296" y="50213"/>
                </a:cubicBezTo>
                <a:lnTo>
                  <a:pt x="115296" y="146740"/>
                </a:lnTo>
                <a:lnTo>
                  <a:pt x="167703" y="146740"/>
                </a:lnTo>
                <a:cubicBezTo>
                  <a:pt x="173500" y="146740"/>
                  <a:pt x="178184" y="151424"/>
                  <a:pt x="178184" y="157221"/>
                </a:cubicBezTo>
                <a:cubicBezTo>
                  <a:pt x="178184" y="163019"/>
                  <a:pt x="173500" y="167703"/>
                  <a:pt x="167703" y="167703"/>
                </a:cubicBezTo>
                <a:lnTo>
                  <a:pt x="41926" y="167703"/>
                </a:lnTo>
                <a:cubicBezTo>
                  <a:pt x="36128" y="167703"/>
                  <a:pt x="31444" y="163019"/>
                  <a:pt x="31444" y="157221"/>
                </a:cubicBezTo>
                <a:cubicBezTo>
                  <a:pt x="31444" y="151424"/>
                  <a:pt x="36128" y="146740"/>
                  <a:pt x="41926" y="146740"/>
                </a:cubicBezTo>
                <a:lnTo>
                  <a:pt x="94333" y="146740"/>
                </a:lnTo>
                <a:lnTo>
                  <a:pt x="94333" y="50213"/>
                </a:lnTo>
                <a:cubicBezTo>
                  <a:pt x="86636" y="46839"/>
                  <a:pt x="80838" y="39862"/>
                  <a:pt x="79135" y="31444"/>
                </a:cubicBezTo>
                <a:lnTo>
                  <a:pt x="41926" y="31444"/>
                </a:lnTo>
                <a:cubicBezTo>
                  <a:pt x="36128" y="31444"/>
                  <a:pt x="31444" y="26760"/>
                  <a:pt x="31444" y="20963"/>
                </a:cubicBezTo>
                <a:cubicBezTo>
                  <a:pt x="31444" y="15165"/>
                  <a:pt x="36128" y="10481"/>
                  <a:pt x="41926" y="10481"/>
                </a:cubicBezTo>
                <a:lnTo>
                  <a:pt x="83851" y="10481"/>
                </a:lnTo>
                <a:cubicBezTo>
                  <a:pt x="88634" y="4127"/>
                  <a:pt x="96233" y="0"/>
                  <a:pt x="104814" y="0"/>
                </a:cubicBezTo>
                <a:cubicBezTo>
                  <a:pt x="113396" y="0"/>
                  <a:pt x="120995" y="4127"/>
                  <a:pt x="125777" y="10481"/>
                </a:cubicBezTo>
                <a:close/>
                <a:moveTo>
                  <a:pt x="143989" y="104814"/>
                </a:moveTo>
                <a:lnTo>
                  <a:pt x="191417" y="104814"/>
                </a:lnTo>
                <a:lnTo>
                  <a:pt x="167703" y="64133"/>
                </a:lnTo>
                <a:lnTo>
                  <a:pt x="143989" y="104814"/>
                </a:lnTo>
                <a:close/>
                <a:moveTo>
                  <a:pt x="167703" y="136259"/>
                </a:moveTo>
                <a:cubicBezTo>
                  <a:pt x="147100" y="136259"/>
                  <a:pt x="129970" y="125122"/>
                  <a:pt x="126432" y="110415"/>
                </a:cubicBezTo>
                <a:cubicBezTo>
                  <a:pt x="125581" y="106812"/>
                  <a:pt x="126760" y="103111"/>
                  <a:pt x="128627" y="99901"/>
                </a:cubicBezTo>
                <a:lnTo>
                  <a:pt x="159809" y="46446"/>
                </a:lnTo>
                <a:cubicBezTo>
                  <a:pt x="161447" y="43629"/>
                  <a:pt x="164460" y="41926"/>
                  <a:pt x="167703" y="41926"/>
                </a:cubicBezTo>
                <a:cubicBezTo>
                  <a:pt x="170946" y="41926"/>
                  <a:pt x="173959" y="43662"/>
                  <a:pt x="175597" y="46446"/>
                </a:cubicBezTo>
                <a:lnTo>
                  <a:pt x="206779" y="99901"/>
                </a:lnTo>
                <a:cubicBezTo>
                  <a:pt x="208646" y="103111"/>
                  <a:pt x="209825" y="106812"/>
                  <a:pt x="208974" y="110415"/>
                </a:cubicBezTo>
                <a:cubicBezTo>
                  <a:pt x="205436" y="125089"/>
                  <a:pt x="188305" y="136259"/>
                  <a:pt x="167703" y="136259"/>
                </a:cubicBezTo>
                <a:close/>
                <a:moveTo>
                  <a:pt x="41533" y="64133"/>
                </a:moveTo>
                <a:lnTo>
                  <a:pt x="17818" y="104814"/>
                </a:lnTo>
                <a:lnTo>
                  <a:pt x="65280" y="104814"/>
                </a:lnTo>
                <a:lnTo>
                  <a:pt x="41533" y="64133"/>
                </a:lnTo>
                <a:close/>
                <a:moveTo>
                  <a:pt x="295" y="110415"/>
                </a:moveTo>
                <a:cubicBezTo>
                  <a:pt x="-557" y="106812"/>
                  <a:pt x="622" y="103111"/>
                  <a:pt x="2489" y="99901"/>
                </a:cubicBezTo>
                <a:lnTo>
                  <a:pt x="33672" y="46446"/>
                </a:lnTo>
                <a:cubicBezTo>
                  <a:pt x="35309" y="43629"/>
                  <a:pt x="38323" y="41926"/>
                  <a:pt x="41565" y="41926"/>
                </a:cubicBezTo>
                <a:cubicBezTo>
                  <a:pt x="44808" y="41926"/>
                  <a:pt x="47822" y="43662"/>
                  <a:pt x="49459" y="46446"/>
                </a:cubicBezTo>
                <a:lnTo>
                  <a:pt x="80642" y="99901"/>
                </a:lnTo>
                <a:cubicBezTo>
                  <a:pt x="82509" y="103111"/>
                  <a:pt x="83688" y="106812"/>
                  <a:pt x="82836" y="110415"/>
                </a:cubicBezTo>
                <a:cubicBezTo>
                  <a:pt x="79299" y="125089"/>
                  <a:pt x="62168" y="136259"/>
                  <a:pt x="41565" y="136259"/>
                </a:cubicBezTo>
                <a:cubicBezTo>
                  <a:pt x="20963" y="136259"/>
                  <a:pt x="3832" y="125122"/>
                  <a:pt x="295" y="110415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8841873" y="1568022"/>
            <a:ext cx="184473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Regulyativ Qiyinchiliklar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38764" y="2054360"/>
            <a:ext cx="3312132" cy="972677"/>
          </a:xfrm>
          <a:custGeom>
            <a:avLst/>
            <a:gdLst/>
            <a:ahLst/>
            <a:cxnLst/>
            <a:rect l="l" t="t" r="r" b="b"/>
            <a:pathLst>
              <a:path w="3312132" h="972677">
                <a:moveTo>
                  <a:pt x="67086" y="0"/>
                </a:moveTo>
                <a:lnTo>
                  <a:pt x="3245047" y="0"/>
                </a:lnTo>
                <a:cubicBezTo>
                  <a:pt x="3282097" y="0"/>
                  <a:pt x="3312132" y="30035"/>
                  <a:pt x="3312132" y="67086"/>
                </a:cubicBezTo>
                <a:lnTo>
                  <a:pt x="3312132" y="905591"/>
                </a:lnTo>
                <a:cubicBezTo>
                  <a:pt x="3312132" y="942642"/>
                  <a:pt x="3282097" y="972677"/>
                  <a:pt x="3245047" y="972677"/>
                </a:cubicBezTo>
                <a:lnTo>
                  <a:pt x="67086" y="972677"/>
                </a:lnTo>
                <a:cubicBezTo>
                  <a:pt x="30035" y="972677"/>
                  <a:pt x="0" y="942642"/>
                  <a:pt x="0" y="905591"/>
                </a:cubicBezTo>
                <a:lnTo>
                  <a:pt x="0" y="67086"/>
                </a:lnTo>
                <a:cubicBezTo>
                  <a:pt x="0" y="30060"/>
                  <a:pt x="30060" y="0"/>
                  <a:pt x="6708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472926" y="2188523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Ortib Borayotgan Nazorat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72926" y="2456847"/>
            <a:ext cx="3110889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Markaziy Bank va xalqaro regulyatorlarning talablari doimiy ravishda kuchayib bormoqda.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38764" y="3161199"/>
            <a:ext cx="3312132" cy="972677"/>
          </a:xfrm>
          <a:custGeom>
            <a:avLst/>
            <a:gdLst/>
            <a:ahLst/>
            <a:cxnLst/>
            <a:rect l="l" t="t" r="r" b="b"/>
            <a:pathLst>
              <a:path w="3312132" h="972677">
                <a:moveTo>
                  <a:pt x="67086" y="0"/>
                </a:moveTo>
                <a:lnTo>
                  <a:pt x="3245047" y="0"/>
                </a:lnTo>
                <a:cubicBezTo>
                  <a:pt x="3282097" y="0"/>
                  <a:pt x="3312132" y="30035"/>
                  <a:pt x="3312132" y="67086"/>
                </a:cubicBezTo>
                <a:lnTo>
                  <a:pt x="3312132" y="905591"/>
                </a:lnTo>
                <a:cubicBezTo>
                  <a:pt x="3312132" y="942642"/>
                  <a:pt x="3282097" y="972677"/>
                  <a:pt x="3245047" y="972677"/>
                </a:cubicBezTo>
                <a:lnTo>
                  <a:pt x="67086" y="972677"/>
                </a:lnTo>
                <a:cubicBezTo>
                  <a:pt x="30035" y="972677"/>
                  <a:pt x="0" y="942642"/>
                  <a:pt x="0" y="905591"/>
                </a:cubicBezTo>
                <a:lnTo>
                  <a:pt x="0" y="67086"/>
                </a:lnTo>
                <a:cubicBezTo>
                  <a:pt x="0" y="30060"/>
                  <a:pt x="30060" y="0"/>
                  <a:pt x="6708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72926" y="3295362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Ma'lumotlar Rezidentligi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72926" y="3563686"/>
            <a:ext cx="3110889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Mamlakat ichida ma'lumotlarni saqlash talablari bulut yechimlarini qiyinlashtiradi.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38764" y="4268039"/>
            <a:ext cx="3312132" cy="972677"/>
          </a:xfrm>
          <a:custGeom>
            <a:avLst/>
            <a:gdLst/>
            <a:ahLst/>
            <a:cxnLst/>
            <a:rect l="l" t="t" r="r" b="b"/>
            <a:pathLst>
              <a:path w="3312132" h="972677">
                <a:moveTo>
                  <a:pt x="67086" y="0"/>
                </a:moveTo>
                <a:lnTo>
                  <a:pt x="3245047" y="0"/>
                </a:lnTo>
                <a:cubicBezTo>
                  <a:pt x="3282097" y="0"/>
                  <a:pt x="3312132" y="30035"/>
                  <a:pt x="3312132" y="67086"/>
                </a:cubicBezTo>
                <a:lnTo>
                  <a:pt x="3312132" y="905591"/>
                </a:lnTo>
                <a:cubicBezTo>
                  <a:pt x="3312132" y="942642"/>
                  <a:pt x="3282097" y="972677"/>
                  <a:pt x="3245047" y="972677"/>
                </a:cubicBezTo>
                <a:lnTo>
                  <a:pt x="67086" y="972677"/>
                </a:lnTo>
                <a:cubicBezTo>
                  <a:pt x="30035" y="972677"/>
                  <a:pt x="0" y="942642"/>
                  <a:pt x="0" y="905591"/>
                </a:cubicBezTo>
                <a:lnTo>
                  <a:pt x="0" y="67086"/>
                </a:lnTo>
                <a:cubicBezTo>
                  <a:pt x="0" y="30060"/>
                  <a:pt x="30060" y="0"/>
                  <a:pt x="6708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472926" y="4402201"/>
            <a:ext cx="3110889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Deterministik Audit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72926" y="4670525"/>
            <a:ext cx="3110889" cy="436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6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 bir qaror va tranzaksiya uchun aniq va tekshiriladigan iz talab etiladi.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39598" y="5940875"/>
            <a:ext cx="11512803" cy="578575"/>
          </a:xfrm>
          <a:custGeom>
            <a:avLst/>
            <a:gdLst/>
            <a:ahLst/>
            <a:cxnLst/>
            <a:rect l="l" t="t" r="r" b="b"/>
            <a:pathLst>
              <a:path w="11512803" h="578575">
                <a:moveTo>
                  <a:pt x="67080" y="0"/>
                </a:moveTo>
                <a:lnTo>
                  <a:pt x="11445723" y="0"/>
                </a:lnTo>
                <a:cubicBezTo>
                  <a:pt x="11482771" y="0"/>
                  <a:pt x="11512803" y="30033"/>
                  <a:pt x="11512803" y="67080"/>
                </a:cubicBezTo>
                <a:lnTo>
                  <a:pt x="11512803" y="511495"/>
                </a:lnTo>
                <a:cubicBezTo>
                  <a:pt x="11512803" y="548542"/>
                  <a:pt x="11482771" y="578575"/>
                  <a:pt x="11445723" y="578575"/>
                </a:cubicBezTo>
                <a:lnTo>
                  <a:pt x="67080" y="578575"/>
                </a:lnTo>
                <a:cubicBezTo>
                  <a:pt x="30033" y="578575"/>
                  <a:pt x="0" y="548542"/>
                  <a:pt x="0" y="511495"/>
                </a:cubicBezTo>
                <a:lnTo>
                  <a:pt x="0" y="67080"/>
                </a:lnTo>
                <a:cubicBezTo>
                  <a:pt x="0" y="30033"/>
                  <a:pt x="30033" y="0"/>
                  <a:pt x="670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761" y="6112770"/>
            <a:ext cx="11244479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8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Xulosa:</a:t>
            </a:r>
            <a:pPr algn="ctr">
              <a:lnSpc>
                <a:spcPct val="130000"/>
              </a:lnSpc>
            </a:pPr>
            <a:r>
              <a:rPr lang="en-US" sz="1188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Mavjud arxitekturalar zamonaviy bank talablariga javob bera olmaydi. Yangi avlod infratuzilma yechimi zarur.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2281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spc="101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Arxitekturaviy Yechim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23350"/>
            <a:ext cx="11678653" cy="55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6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 Arxitektura Inqilobi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260" y="1324620"/>
            <a:ext cx="6187669" cy="3144253"/>
          </a:xfrm>
          <a:custGeom>
            <a:avLst/>
            <a:gdLst/>
            <a:ahLst/>
            <a:cxnLst/>
            <a:rect l="l" t="t" r="r" b="b"/>
            <a:pathLst>
              <a:path w="6187669" h="3144253">
                <a:moveTo>
                  <a:pt x="73324" y="0"/>
                </a:moveTo>
                <a:lnTo>
                  <a:pt x="6114345" y="0"/>
                </a:lnTo>
                <a:cubicBezTo>
                  <a:pt x="6154841" y="0"/>
                  <a:pt x="6187669" y="32828"/>
                  <a:pt x="6187669" y="73324"/>
                </a:cubicBezTo>
                <a:lnTo>
                  <a:pt x="6187669" y="3070929"/>
                </a:lnTo>
                <a:cubicBezTo>
                  <a:pt x="6187669" y="3111424"/>
                  <a:pt x="6154841" y="3144253"/>
                  <a:pt x="6114345" y="3144253"/>
                </a:cubicBezTo>
                <a:lnTo>
                  <a:pt x="73324" y="3144253"/>
                </a:lnTo>
                <a:cubicBezTo>
                  <a:pt x="32828" y="3144253"/>
                  <a:pt x="0" y="3111424"/>
                  <a:pt x="0" y="3070929"/>
                </a:cubicBezTo>
                <a:lnTo>
                  <a:pt x="0" y="73324"/>
                </a:lnTo>
                <a:cubicBezTo>
                  <a:pt x="0" y="32855"/>
                  <a:pt x="32855" y="0"/>
                  <a:pt x="7332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9182" y="1512541"/>
            <a:ext cx="5921829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Deterministik Pre-Authorization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9182" y="1952553"/>
            <a:ext cx="5885161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— bu </a:t>
            </a:r>
            <a:pPr>
              <a:lnSpc>
                <a:spcPct val="140000"/>
              </a:lnSpc>
            </a:pPr>
            <a:r>
              <a:rPr lang="en-US" sz="115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tranzaksiyalarni Core Banking tizimiga yetib bormasidan oldin</a:t>
            </a:r>
            <a:pPr>
              <a:lnSpc>
                <a:spcPct val="14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avtorizatsiya qiluvchi deterministik qatlam. Bu arxitektura pul mablag'larini himoya qiladi va xavfsizlikni oshiradi.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9182" y="2814244"/>
            <a:ext cx="5811826" cy="1466707"/>
          </a:xfrm>
          <a:custGeom>
            <a:avLst/>
            <a:gdLst/>
            <a:ahLst/>
            <a:cxnLst/>
            <a:rect l="l" t="t" r="r" b="b"/>
            <a:pathLst>
              <a:path w="5811826" h="1466707">
                <a:moveTo>
                  <a:pt x="73335" y="0"/>
                </a:moveTo>
                <a:lnTo>
                  <a:pt x="5738490" y="0"/>
                </a:lnTo>
                <a:cubicBezTo>
                  <a:pt x="5778992" y="0"/>
                  <a:pt x="5811826" y="32833"/>
                  <a:pt x="5811826" y="73335"/>
                </a:cubicBezTo>
                <a:lnTo>
                  <a:pt x="5811826" y="1393371"/>
                </a:lnTo>
                <a:cubicBezTo>
                  <a:pt x="5811826" y="1433873"/>
                  <a:pt x="5778992" y="1466707"/>
                  <a:pt x="5738490" y="1466707"/>
                </a:cubicBezTo>
                <a:lnTo>
                  <a:pt x="73335" y="1466707"/>
                </a:lnTo>
                <a:cubicBezTo>
                  <a:pt x="32860" y="1466707"/>
                  <a:pt x="0" y="1433846"/>
                  <a:pt x="0" y="139337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41115" y="2960914"/>
            <a:ext cx="586683" cy="586683"/>
          </a:xfrm>
          <a:custGeom>
            <a:avLst/>
            <a:gdLst/>
            <a:ahLst/>
            <a:cxnLst/>
            <a:rect l="l" t="t" r="r" b="b"/>
            <a:pathLst>
              <a:path w="586683" h="586683">
                <a:moveTo>
                  <a:pt x="73335" y="0"/>
                </a:moveTo>
                <a:lnTo>
                  <a:pt x="513347" y="0"/>
                </a:lnTo>
                <a:cubicBezTo>
                  <a:pt x="553822" y="0"/>
                  <a:pt x="586683" y="32860"/>
                  <a:pt x="586683" y="73335"/>
                </a:cubicBezTo>
                <a:lnTo>
                  <a:pt x="586683" y="513347"/>
                </a:lnTo>
                <a:cubicBezTo>
                  <a:pt x="586683" y="553822"/>
                  <a:pt x="553822" y="586683"/>
                  <a:pt x="513347" y="586683"/>
                </a:cubicBezTo>
                <a:lnTo>
                  <a:pt x="73335" y="586683"/>
                </a:lnTo>
                <a:cubicBezTo>
                  <a:pt x="32860" y="586683"/>
                  <a:pt x="0" y="553822"/>
                  <a:pt x="0" y="513347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51954" y="3144253"/>
            <a:ext cx="165005" cy="220006"/>
          </a:xfrm>
          <a:custGeom>
            <a:avLst/>
            <a:gdLst/>
            <a:ahLst/>
            <a:cxnLst/>
            <a:rect l="l" t="t" r="r" b="b"/>
            <a:pathLst>
              <a:path w="165005" h="220006">
                <a:moveTo>
                  <a:pt x="6875" y="27501"/>
                </a:moveTo>
                <a:cubicBezTo>
                  <a:pt x="6875" y="12332"/>
                  <a:pt x="19208" y="0"/>
                  <a:pt x="34376" y="0"/>
                </a:cubicBezTo>
                <a:lnTo>
                  <a:pt x="130629" y="0"/>
                </a:lnTo>
                <a:cubicBezTo>
                  <a:pt x="145797" y="0"/>
                  <a:pt x="158129" y="12332"/>
                  <a:pt x="158129" y="27501"/>
                </a:cubicBezTo>
                <a:lnTo>
                  <a:pt x="158129" y="192505"/>
                </a:lnTo>
                <a:cubicBezTo>
                  <a:pt x="158129" y="207674"/>
                  <a:pt x="145797" y="220006"/>
                  <a:pt x="130629" y="220006"/>
                </a:cubicBezTo>
                <a:lnTo>
                  <a:pt x="34376" y="220006"/>
                </a:lnTo>
                <a:cubicBezTo>
                  <a:pt x="19208" y="220006"/>
                  <a:pt x="6875" y="207674"/>
                  <a:pt x="6875" y="192505"/>
                </a:cubicBezTo>
                <a:lnTo>
                  <a:pt x="6875" y="27501"/>
                </a:lnTo>
                <a:close/>
                <a:moveTo>
                  <a:pt x="34376" y="27501"/>
                </a:moveTo>
                <a:lnTo>
                  <a:pt x="34376" y="158129"/>
                </a:lnTo>
                <a:lnTo>
                  <a:pt x="130629" y="158129"/>
                </a:lnTo>
                <a:lnTo>
                  <a:pt x="130629" y="27501"/>
                </a:lnTo>
                <a:lnTo>
                  <a:pt x="34376" y="27501"/>
                </a:lnTo>
                <a:close/>
                <a:moveTo>
                  <a:pt x="82502" y="202818"/>
                </a:moveTo>
                <a:cubicBezTo>
                  <a:pt x="90108" y="202818"/>
                  <a:pt x="96253" y="196673"/>
                  <a:pt x="96253" y="189068"/>
                </a:cubicBezTo>
                <a:cubicBezTo>
                  <a:pt x="96253" y="181462"/>
                  <a:pt x="90108" y="175317"/>
                  <a:pt x="82502" y="175317"/>
                </a:cubicBezTo>
                <a:cubicBezTo>
                  <a:pt x="74897" y="175317"/>
                  <a:pt x="68752" y="181462"/>
                  <a:pt x="68752" y="189068"/>
                </a:cubicBezTo>
                <a:cubicBezTo>
                  <a:pt x="68752" y="196673"/>
                  <a:pt x="74897" y="202818"/>
                  <a:pt x="82502" y="202818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669185" y="3620932"/>
            <a:ext cx="173254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Channels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90560" y="3290923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215967" y="119714"/>
                </a:moveTo>
                <a:cubicBezTo>
                  <a:pt x="221338" y="114343"/>
                  <a:pt x="221338" y="105620"/>
                  <a:pt x="215967" y="100249"/>
                </a:cubicBezTo>
                <a:lnTo>
                  <a:pt x="147215" y="31497"/>
                </a:lnTo>
                <a:cubicBezTo>
                  <a:pt x="141844" y="26126"/>
                  <a:pt x="133121" y="26126"/>
                  <a:pt x="127750" y="31497"/>
                </a:cubicBezTo>
                <a:cubicBezTo>
                  <a:pt x="122378" y="36868"/>
                  <a:pt x="122378" y="45591"/>
                  <a:pt x="127750" y="50962"/>
                </a:cubicBezTo>
                <a:lnTo>
                  <a:pt x="173040" y="96253"/>
                </a:lnTo>
                <a:lnTo>
                  <a:pt x="13750" y="96253"/>
                </a:lnTo>
                <a:cubicBezTo>
                  <a:pt x="6145" y="96253"/>
                  <a:pt x="0" y="102397"/>
                  <a:pt x="0" y="110003"/>
                </a:cubicBezTo>
                <a:cubicBezTo>
                  <a:pt x="0" y="117609"/>
                  <a:pt x="6145" y="123753"/>
                  <a:pt x="13750" y="123753"/>
                </a:cubicBezTo>
                <a:lnTo>
                  <a:pt x="173040" y="123753"/>
                </a:lnTo>
                <a:lnTo>
                  <a:pt x="127750" y="169044"/>
                </a:lnTo>
                <a:cubicBezTo>
                  <a:pt x="122378" y="174415"/>
                  <a:pt x="122378" y="183138"/>
                  <a:pt x="127750" y="188509"/>
                </a:cubicBezTo>
                <a:cubicBezTo>
                  <a:pt x="133121" y="193880"/>
                  <a:pt x="141844" y="193880"/>
                  <a:pt x="147215" y="188509"/>
                </a:cubicBezTo>
                <a:lnTo>
                  <a:pt x="215967" y="119757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182496" y="2970081"/>
            <a:ext cx="568349" cy="568349"/>
          </a:xfrm>
          <a:custGeom>
            <a:avLst/>
            <a:gdLst/>
            <a:ahLst/>
            <a:cxnLst/>
            <a:rect l="l" t="t" r="r" b="b"/>
            <a:pathLst>
              <a:path w="568349" h="568349">
                <a:moveTo>
                  <a:pt x="73334" y="0"/>
                </a:moveTo>
                <a:lnTo>
                  <a:pt x="495015" y="0"/>
                </a:lnTo>
                <a:cubicBezTo>
                  <a:pt x="535516" y="0"/>
                  <a:pt x="568349" y="32833"/>
                  <a:pt x="568349" y="73334"/>
                </a:cubicBezTo>
                <a:lnTo>
                  <a:pt x="568349" y="495015"/>
                </a:lnTo>
                <a:cubicBezTo>
                  <a:pt x="568349" y="535516"/>
                  <a:pt x="535516" y="568349"/>
                  <a:pt x="495015" y="568349"/>
                </a:cubicBezTo>
                <a:lnTo>
                  <a:pt x="73334" y="568349"/>
                </a:lnTo>
                <a:cubicBezTo>
                  <a:pt x="32833" y="568349"/>
                  <a:pt x="0" y="535516"/>
                  <a:pt x="0" y="495015"/>
                </a:cubicBezTo>
                <a:lnTo>
                  <a:pt x="0" y="73334"/>
                </a:lnTo>
                <a:cubicBezTo>
                  <a:pt x="0" y="32860"/>
                  <a:pt x="32860" y="0"/>
                  <a:pt x="73334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6667" y="3144253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0"/>
                </a:moveTo>
                <a:cubicBezTo>
                  <a:pt x="111980" y="0"/>
                  <a:pt x="113956" y="430"/>
                  <a:pt x="115761" y="1246"/>
                </a:cubicBezTo>
                <a:lnTo>
                  <a:pt x="196716" y="35579"/>
                </a:lnTo>
                <a:cubicBezTo>
                  <a:pt x="206170" y="39575"/>
                  <a:pt x="213217" y="48900"/>
                  <a:pt x="213174" y="60158"/>
                </a:cubicBezTo>
                <a:cubicBezTo>
                  <a:pt x="212959" y="102784"/>
                  <a:pt x="195427" y="180774"/>
                  <a:pt x="121390" y="216225"/>
                </a:cubicBezTo>
                <a:cubicBezTo>
                  <a:pt x="114214" y="219662"/>
                  <a:pt x="105878" y="219662"/>
                  <a:pt x="98702" y="216225"/>
                </a:cubicBezTo>
                <a:cubicBezTo>
                  <a:pt x="24622" y="180774"/>
                  <a:pt x="7133" y="102784"/>
                  <a:pt x="6918" y="60158"/>
                </a:cubicBezTo>
                <a:cubicBezTo>
                  <a:pt x="6875" y="48900"/>
                  <a:pt x="13922" y="39575"/>
                  <a:pt x="23376" y="35579"/>
                </a:cubicBezTo>
                <a:lnTo>
                  <a:pt x="104288" y="1246"/>
                </a:lnTo>
                <a:cubicBezTo>
                  <a:pt x="106093" y="430"/>
                  <a:pt x="108026" y="0"/>
                  <a:pt x="110003" y="0"/>
                </a:cubicBezTo>
                <a:close/>
                <a:moveTo>
                  <a:pt x="110003" y="28704"/>
                </a:moveTo>
                <a:lnTo>
                  <a:pt x="110003" y="191173"/>
                </a:lnTo>
                <a:cubicBezTo>
                  <a:pt x="169302" y="162469"/>
                  <a:pt x="185243" y="98874"/>
                  <a:pt x="185630" y="60802"/>
                </a:cubicBezTo>
                <a:lnTo>
                  <a:pt x="110003" y="28747"/>
                </a:lnTo>
                <a:lnTo>
                  <a:pt x="110003" y="28747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1399" y="3620932"/>
            <a:ext cx="173254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22918" y="3290923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215967" y="119714"/>
                </a:moveTo>
                <a:cubicBezTo>
                  <a:pt x="221338" y="114343"/>
                  <a:pt x="221338" y="105620"/>
                  <a:pt x="215967" y="100249"/>
                </a:cubicBezTo>
                <a:lnTo>
                  <a:pt x="147215" y="31497"/>
                </a:lnTo>
                <a:cubicBezTo>
                  <a:pt x="141844" y="26126"/>
                  <a:pt x="133121" y="26126"/>
                  <a:pt x="127750" y="31497"/>
                </a:cubicBezTo>
                <a:cubicBezTo>
                  <a:pt x="122378" y="36868"/>
                  <a:pt x="122378" y="45591"/>
                  <a:pt x="127750" y="50962"/>
                </a:cubicBezTo>
                <a:lnTo>
                  <a:pt x="173040" y="96253"/>
                </a:lnTo>
                <a:lnTo>
                  <a:pt x="13750" y="96253"/>
                </a:lnTo>
                <a:cubicBezTo>
                  <a:pt x="6145" y="96253"/>
                  <a:pt x="0" y="102397"/>
                  <a:pt x="0" y="110003"/>
                </a:cubicBezTo>
                <a:cubicBezTo>
                  <a:pt x="0" y="117609"/>
                  <a:pt x="6145" y="123753"/>
                  <a:pt x="13750" y="123753"/>
                </a:cubicBezTo>
                <a:lnTo>
                  <a:pt x="173040" y="123753"/>
                </a:lnTo>
                <a:lnTo>
                  <a:pt x="127750" y="169044"/>
                </a:lnTo>
                <a:cubicBezTo>
                  <a:pt x="122378" y="174415"/>
                  <a:pt x="122378" y="183138"/>
                  <a:pt x="127750" y="188509"/>
                </a:cubicBezTo>
                <a:cubicBezTo>
                  <a:pt x="133121" y="193880"/>
                  <a:pt x="141844" y="193880"/>
                  <a:pt x="147215" y="188509"/>
                </a:cubicBezTo>
                <a:lnTo>
                  <a:pt x="215967" y="119757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5686" y="2960914"/>
            <a:ext cx="586683" cy="586683"/>
          </a:xfrm>
          <a:custGeom>
            <a:avLst/>
            <a:gdLst/>
            <a:ahLst/>
            <a:cxnLst/>
            <a:rect l="l" t="t" r="r" b="b"/>
            <a:pathLst>
              <a:path w="586683" h="586683">
                <a:moveTo>
                  <a:pt x="73335" y="0"/>
                </a:moveTo>
                <a:lnTo>
                  <a:pt x="513347" y="0"/>
                </a:lnTo>
                <a:cubicBezTo>
                  <a:pt x="553822" y="0"/>
                  <a:pt x="586683" y="32860"/>
                  <a:pt x="586683" y="73335"/>
                </a:cubicBezTo>
                <a:lnTo>
                  <a:pt x="586683" y="513347"/>
                </a:lnTo>
                <a:cubicBezTo>
                  <a:pt x="586683" y="553822"/>
                  <a:pt x="553822" y="586683"/>
                  <a:pt x="513347" y="586683"/>
                </a:cubicBezTo>
                <a:lnTo>
                  <a:pt x="73335" y="586683"/>
                </a:lnTo>
                <a:cubicBezTo>
                  <a:pt x="32860" y="586683"/>
                  <a:pt x="0" y="553822"/>
                  <a:pt x="0" y="513347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289025" y="3144253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6835" y="8680"/>
                </a:moveTo>
                <a:cubicBezTo>
                  <a:pt x="112624" y="6274"/>
                  <a:pt x="107425" y="6274"/>
                  <a:pt x="103171" y="8680"/>
                </a:cubicBezTo>
                <a:lnTo>
                  <a:pt x="6918" y="63681"/>
                </a:lnTo>
                <a:cubicBezTo>
                  <a:pt x="1504" y="66775"/>
                  <a:pt x="-1160" y="73135"/>
                  <a:pt x="430" y="79151"/>
                </a:cubicBezTo>
                <a:cubicBezTo>
                  <a:pt x="2020" y="85166"/>
                  <a:pt x="7520" y="89377"/>
                  <a:pt x="13750" y="89377"/>
                </a:cubicBezTo>
                <a:lnTo>
                  <a:pt x="27501" y="89377"/>
                </a:lnTo>
                <a:lnTo>
                  <a:pt x="27501" y="178755"/>
                </a:lnTo>
                <a:lnTo>
                  <a:pt x="27501" y="178755"/>
                </a:lnTo>
                <a:lnTo>
                  <a:pt x="5500" y="195255"/>
                </a:lnTo>
                <a:cubicBezTo>
                  <a:pt x="2020" y="197834"/>
                  <a:pt x="0" y="201916"/>
                  <a:pt x="0" y="206256"/>
                </a:cubicBezTo>
                <a:cubicBezTo>
                  <a:pt x="0" y="213861"/>
                  <a:pt x="6145" y="220006"/>
                  <a:pt x="13750" y="220006"/>
                </a:cubicBezTo>
                <a:lnTo>
                  <a:pt x="206256" y="220006"/>
                </a:lnTo>
                <a:cubicBezTo>
                  <a:pt x="213861" y="220006"/>
                  <a:pt x="220006" y="213861"/>
                  <a:pt x="220006" y="206256"/>
                </a:cubicBezTo>
                <a:cubicBezTo>
                  <a:pt x="220006" y="201916"/>
                  <a:pt x="217986" y="197834"/>
                  <a:pt x="214506" y="195255"/>
                </a:cubicBezTo>
                <a:lnTo>
                  <a:pt x="192505" y="178755"/>
                </a:lnTo>
                <a:lnTo>
                  <a:pt x="192505" y="89377"/>
                </a:lnTo>
                <a:lnTo>
                  <a:pt x="206256" y="89377"/>
                </a:lnTo>
                <a:cubicBezTo>
                  <a:pt x="212486" y="89377"/>
                  <a:pt x="217943" y="85166"/>
                  <a:pt x="219533" y="79151"/>
                </a:cubicBezTo>
                <a:cubicBezTo>
                  <a:pt x="221123" y="73135"/>
                  <a:pt x="218459" y="66775"/>
                  <a:pt x="213045" y="63681"/>
                </a:cubicBezTo>
                <a:lnTo>
                  <a:pt x="116792" y="8680"/>
                </a:lnTo>
                <a:close/>
                <a:moveTo>
                  <a:pt x="171880" y="89377"/>
                </a:moveTo>
                <a:lnTo>
                  <a:pt x="171880" y="178755"/>
                </a:lnTo>
                <a:lnTo>
                  <a:pt x="144379" y="178755"/>
                </a:lnTo>
                <a:lnTo>
                  <a:pt x="144379" y="89377"/>
                </a:lnTo>
                <a:lnTo>
                  <a:pt x="171880" y="89377"/>
                </a:lnTo>
                <a:close/>
                <a:moveTo>
                  <a:pt x="123753" y="89377"/>
                </a:moveTo>
                <a:lnTo>
                  <a:pt x="123753" y="178755"/>
                </a:lnTo>
                <a:lnTo>
                  <a:pt x="96253" y="178755"/>
                </a:lnTo>
                <a:lnTo>
                  <a:pt x="96253" y="89377"/>
                </a:lnTo>
                <a:lnTo>
                  <a:pt x="123753" y="89377"/>
                </a:lnTo>
                <a:close/>
                <a:moveTo>
                  <a:pt x="75627" y="89377"/>
                </a:moveTo>
                <a:lnTo>
                  <a:pt x="75627" y="178755"/>
                </a:lnTo>
                <a:lnTo>
                  <a:pt x="48126" y="178755"/>
                </a:lnTo>
                <a:lnTo>
                  <a:pt x="48126" y="89377"/>
                </a:lnTo>
                <a:lnTo>
                  <a:pt x="75627" y="89377"/>
                </a:lnTo>
                <a:close/>
                <a:moveTo>
                  <a:pt x="110003" y="41251"/>
                </a:moveTo>
                <a:cubicBezTo>
                  <a:pt x="117592" y="41251"/>
                  <a:pt x="123753" y="47412"/>
                  <a:pt x="123753" y="55002"/>
                </a:cubicBezTo>
                <a:cubicBezTo>
                  <a:pt x="123753" y="62591"/>
                  <a:pt x="117592" y="68752"/>
                  <a:pt x="110003" y="68752"/>
                </a:cubicBezTo>
                <a:cubicBezTo>
                  <a:pt x="102414" y="68752"/>
                  <a:pt x="96253" y="62591"/>
                  <a:pt x="96253" y="55002"/>
                </a:cubicBezTo>
                <a:cubicBezTo>
                  <a:pt x="96253" y="47412"/>
                  <a:pt x="102414" y="41251"/>
                  <a:pt x="110003" y="4125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33757" y="3620932"/>
            <a:ext cx="173254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Banking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3768" y="3950941"/>
            <a:ext cx="558265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Tranzaksiya oqimi: Kanallar → REVENANT (Tekshiruv) → Core (Ijro)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1260" y="4624710"/>
            <a:ext cx="3015916" cy="1035862"/>
          </a:xfrm>
          <a:custGeom>
            <a:avLst/>
            <a:gdLst/>
            <a:ahLst/>
            <a:cxnLst/>
            <a:rect l="l" t="t" r="r" b="b"/>
            <a:pathLst>
              <a:path w="3015916" h="1035862">
                <a:moveTo>
                  <a:pt x="73339" y="0"/>
                </a:moveTo>
                <a:lnTo>
                  <a:pt x="2942577" y="0"/>
                </a:lnTo>
                <a:cubicBezTo>
                  <a:pt x="2983081" y="0"/>
                  <a:pt x="3015916" y="32835"/>
                  <a:pt x="3015916" y="73339"/>
                </a:cubicBezTo>
                <a:lnTo>
                  <a:pt x="3015916" y="962523"/>
                </a:lnTo>
                <a:cubicBezTo>
                  <a:pt x="3015916" y="1003027"/>
                  <a:pt x="2983081" y="1035862"/>
                  <a:pt x="2942577" y="1035862"/>
                </a:cubicBezTo>
                <a:lnTo>
                  <a:pt x="73339" y="1035862"/>
                </a:lnTo>
                <a:cubicBezTo>
                  <a:pt x="32862" y="1035862"/>
                  <a:pt x="0" y="1003000"/>
                  <a:pt x="0" y="962523"/>
                </a:cubicBezTo>
                <a:lnTo>
                  <a:pt x="0" y="73339"/>
                </a:lnTo>
                <a:cubicBezTo>
                  <a:pt x="0" y="32835"/>
                  <a:pt x="32835" y="0"/>
                  <a:pt x="7333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0848" y="4812632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34376" y="16042"/>
                </a:moveTo>
                <a:cubicBezTo>
                  <a:pt x="34376" y="7190"/>
                  <a:pt x="41566" y="0"/>
                  <a:pt x="50418" y="0"/>
                </a:cubicBezTo>
                <a:lnTo>
                  <a:pt x="57293" y="0"/>
                </a:lnTo>
                <a:cubicBezTo>
                  <a:pt x="62364" y="0"/>
                  <a:pt x="66460" y="4096"/>
                  <a:pt x="66460" y="9167"/>
                </a:cubicBezTo>
                <a:lnTo>
                  <a:pt x="66460" y="137504"/>
                </a:lnTo>
                <a:cubicBezTo>
                  <a:pt x="66460" y="142574"/>
                  <a:pt x="62364" y="146671"/>
                  <a:pt x="57293" y="146671"/>
                </a:cubicBezTo>
                <a:lnTo>
                  <a:pt x="48126" y="146671"/>
                </a:lnTo>
                <a:cubicBezTo>
                  <a:pt x="39590" y="146671"/>
                  <a:pt x="32399" y="140827"/>
                  <a:pt x="30365" y="132920"/>
                </a:cubicBezTo>
                <a:cubicBezTo>
                  <a:pt x="30165" y="132920"/>
                  <a:pt x="29993" y="132920"/>
                  <a:pt x="29792" y="132920"/>
                </a:cubicBezTo>
                <a:cubicBezTo>
                  <a:pt x="17131" y="132920"/>
                  <a:pt x="6875" y="122665"/>
                  <a:pt x="6875" y="110003"/>
                </a:cubicBezTo>
                <a:cubicBezTo>
                  <a:pt x="6875" y="104847"/>
                  <a:pt x="8594" y="100091"/>
                  <a:pt x="11459" y="96253"/>
                </a:cubicBezTo>
                <a:cubicBezTo>
                  <a:pt x="5901" y="92070"/>
                  <a:pt x="2292" y="85424"/>
                  <a:pt x="2292" y="77919"/>
                </a:cubicBezTo>
                <a:cubicBezTo>
                  <a:pt x="2292" y="69067"/>
                  <a:pt x="7334" y="61361"/>
                  <a:pt x="14667" y="57551"/>
                </a:cubicBezTo>
                <a:cubicBezTo>
                  <a:pt x="12633" y="54113"/>
                  <a:pt x="11459" y="50103"/>
                  <a:pt x="11459" y="45835"/>
                </a:cubicBezTo>
                <a:cubicBezTo>
                  <a:pt x="11459" y="33173"/>
                  <a:pt x="21714" y="22917"/>
                  <a:pt x="34376" y="22917"/>
                </a:cubicBezTo>
                <a:lnTo>
                  <a:pt x="34376" y="16042"/>
                </a:lnTo>
                <a:close/>
                <a:moveTo>
                  <a:pt x="112295" y="16042"/>
                </a:moveTo>
                <a:lnTo>
                  <a:pt x="112295" y="22917"/>
                </a:lnTo>
                <a:cubicBezTo>
                  <a:pt x="124957" y="22917"/>
                  <a:pt x="135212" y="33173"/>
                  <a:pt x="135212" y="45835"/>
                </a:cubicBezTo>
                <a:cubicBezTo>
                  <a:pt x="135212" y="50132"/>
                  <a:pt x="134038" y="54142"/>
                  <a:pt x="132004" y="57551"/>
                </a:cubicBezTo>
                <a:cubicBezTo>
                  <a:pt x="139366" y="61361"/>
                  <a:pt x="144379" y="69038"/>
                  <a:pt x="144379" y="77919"/>
                </a:cubicBezTo>
                <a:cubicBezTo>
                  <a:pt x="144379" y="85424"/>
                  <a:pt x="140769" y="92070"/>
                  <a:pt x="135212" y="96253"/>
                </a:cubicBezTo>
                <a:cubicBezTo>
                  <a:pt x="138077" y="100091"/>
                  <a:pt x="139795" y="104847"/>
                  <a:pt x="139795" y="110003"/>
                </a:cubicBezTo>
                <a:cubicBezTo>
                  <a:pt x="139795" y="122665"/>
                  <a:pt x="129540" y="132920"/>
                  <a:pt x="116878" y="132920"/>
                </a:cubicBezTo>
                <a:cubicBezTo>
                  <a:pt x="116678" y="132920"/>
                  <a:pt x="116506" y="132920"/>
                  <a:pt x="116305" y="132920"/>
                </a:cubicBezTo>
                <a:cubicBezTo>
                  <a:pt x="114271" y="140827"/>
                  <a:pt x="107081" y="146671"/>
                  <a:pt x="98544" y="146671"/>
                </a:cubicBezTo>
                <a:lnTo>
                  <a:pt x="89377" y="146671"/>
                </a:lnTo>
                <a:cubicBezTo>
                  <a:pt x="84307" y="146671"/>
                  <a:pt x="80211" y="142574"/>
                  <a:pt x="80211" y="137504"/>
                </a:cubicBezTo>
                <a:lnTo>
                  <a:pt x="80211" y="9167"/>
                </a:lnTo>
                <a:cubicBezTo>
                  <a:pt x="80211" y="4096"/>
                  <a:pt x="84307" y="0"/>
                  <a:pt x="89377" y="0"/>
                </a:cubicBezTo>
                <a:lnTo>
                  <a:pt x="96253" y="0"/>
                </a:lnTo>
                <a:cubicBezTo>
                  <a:pt x="105104" y="0"/>
                  <a:pt x="112295" y="7190"/>
                  <a:pt x="112295" y="1604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779188" y="4775964"/>
            <a:ext cx="190671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Deterministik Qaror Dvigateli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2514" y="5069305"/>
            <a:ext cx="2786743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 bir qaror aniq qoidalarga asoslanadi va bashorat qilinadi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44732" y="4624710"/>
            <a:ext cx="3015916" cy="1035862"/>
          </a:xfrm>
          <a:custGeom>
            <a:avLst/>
            <a:gdLst/>
            <a:ahLst/>
            <a:cxnLst/>
            <a:rect l="l" t="t" r="r" b="b"/>
            <a:pathLst>
              <a:path w="3015916" h="1035862">
                <a:moveTo>
                  <a:pt x="73339" y="0"/>
                </a:moveTo>
                <a:lnTo>
                  <a:pt x="2942577" y="0"/>
                </a:lnTo>
                <a:cubicBezTo>
                  <a:pt x="2983081" y="0"/>
                  <a:pt x="3015916" y="32835"/>
                  <a:pt x="3015916" y="73339"/>
                </a:cubicBezTo>
                <a:lnTo>
                  <a:pt x="3015916" y="962523"/>
                </a:lnTo>
                <a:cubicBezTo>
                  <a:pt x="3015916" y="1003027"/>
                  <a:pt x="2983081" y="1035862"/>
                  <a:pt x="2942577" y="1035862"/>
                </a:cubicBezTo>
                <a:lnTo>
                  <a:pt x="73339" y="1035862"/>
                </a:lnTo>
                <a:cubicBezTo>
                  <a:pt x="32862" y="1035862"/>
                  <a:pt x="0" y="1003000"/>
                  <a:pt x="0" y="962523"/>
                </a:cubicBezTo>
                <a:lnTo>
                  <a:pt x="0" y="73339"/>
                </a:lnTo>
                <a:cubicBezTo>
                  <a:pt x="0" y="32835"/>
                  <a:pt x="32835" y="0"/>
                  <a:pt x="7333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14320" y="4812632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25100" y="21399"/>
                </a:moveTo>
                <a:lnTo>
                  <a:pt x="128337" y="24464"/>
                </a:lnTo>
                <a:lnTo>
                  <a:pt x="128337" y="9167"/>
                </a:lnTo>
                <a:cubicBezTo>
                  <a:pt x="128337" y="4096"/>
                  <a:pt x="132433" y="0"/>
                  <a:pt x="137504" y="0"/>
                </a:cubicBezTo>
                <a:cubicBezTo>
                  <a:pt x="142574" y="0"/>
                  <a:pt x="146671" y="4096"/>
                  <a:pt x="146671" y="9167"/>
                </a:cubicBezTo>
                <a:lnTo>
                  <a:pt x="146671" y="45835"/>
                </a:lnTo>
                <a:cubicBezTo>
                  <a:pt x="146671" y="50905"/>
                  <a:pt x="142574" y="55002"/>
                  <a:pt x="137504" y="55002"/>
                </a:cubicBezTo>
                <a:lnTo>
                  <a:pt x="100836" y="55002"/>
                </a:lnTo>
                <a:cubicBezTo>
                  <a:pt x="95766" y="55002"/>
                  <a:pt x="91669" y="50905"/>
                  <a:pt x="91669" y="45835"/>
                </a:cubicBezTo>
                <a:cubicBezTo>
                  <a:pt x="91669" y="40764"/>
                  <a:pt x="95766" y="36668"/>
                  <a:pt x="100836" y="36668"/>
                </a:cubicBezTo>
                <a:lnTo>
                  <a:pt x="114558" y="36668"/>
                </a:lnTo>
                <a:lnTo>
                  <a:pt x="112381" y="34605"/>
                </a:lnTo>
                <a:cubicBezTo>
                  <a:pt x="112323" y="34548"/>
                  <a:pt x="112266" y="34491"/>
                  <a:pt x="112209" y="34433"/>
                </a:cubicBezTo>
                <a:cubicBezTo>
                  <a:pt x="90724" y="12948"/>
                  <a:pt x="55918" y="12948"/>
                  <a:pt x="34433" y="34433"/>
                </a:cubicBezTo>
                <a:cubicBezTo>
                  <a:pt x="12948" y="55918"/>
                  <a:pt x="12948" y="90724"/>
                  <a:pt x="34433" y="112209"/>
                </a:cubicBezTo>
                <a:cubicBezTo>
                  <a:pt x="55918" y="133694"/>
                  <a:pt x="90724" y="133694"/>
                  <a:pt x="112209" y="112209"/>
                </a:cubicBezTo>
                <a:cubicBezTo>
                  <a:pt x="114558" y="109860"/>
                  <a:pt x="116649" y="107368"/>
                  <a:pt x="118482" y="104732"/>
                </a:cubicBezTo>
                <a:cubicBezTo>
                  <a:pt x="121376" y="100578"/>
                  <a:pt x="127105" y="99576"/>
                  <a:pt x="131259" y="102469"/>
                </a:cubicBezTo>
                <a:cubicBezTo>
                  <a:pt x="135413" y="105362"/>
                  <a:pt x="136415" y="111092"/>
                  <a:pt x="133522" y="115245"/>
                </a:cubicBezTo>
                <a:cubicBezTo>
                  <a:pt x="131087" y="118740"/>
                  <a:pt x="128308" y="122063"/>
                  <a:pt x="125186" y="125186"/>
                </a:cubicBezTo>
                <a:cubicBezTo>
                  <a:pt x="96539" y="153832"/>
                  <a:pt x="50103" y="153832"/>
                  <a:pt x="21485" y="125186"/>
                </a:cubicBezTo>
                <a:cubicBezTo>
                  <a:pt x="-7133" y="96539"/>
                  <a:pt x="-7162" y="50132"/>
                  <a:pt x="21485" y="21485"/>
                </a:cubicBezTo>
                <a:cubicBezTo>
                  <a:pt x="50103" y="-7133"/>
                  <a:pt x="96453" y="-7162"/>
                  <a:pt x="125100" y="2139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3952660" y="4775964"/>
            <a:ext cx="124670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Replayable Mantiq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95986" y="5069305"/>
            <a:ext cx="2786743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Tranzaksiya mantig'i qayta ijro etilishi va tekshirilishi mumkin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1260" y="5816409"/>
            <a:ext cx="3015916" cy="1035862"/>
          </a:xfrm>
          <a:custGeom>
            <a:avLst/>
            <a:gdLst/>
            <a:ahLst/>
            <a:cxnLst/>
            <a:rect l="l" t="t" r="r" b="b"/>
            <a:pathLst>
              <a:path w="3015916" h="1035862">
                <a:moveTo>
                  <a:pt x="73339" y="0"/>
                </a:moveTo>
                <a:lnTo>
                  <a:pt x="2942577" y="0"/>
                </a:lnTo>
                <a:cubicBezTo>
                  <a:pt x="2983081" y="0"/>
                  <a:pt x="3015916" y="32835"/>
                  <a:pt x="3015916" y="73339"/>
                </a:cubicBezTo>
                <a:lnTo>
                  <a:pt x="3015916" y="962523"/>
                </a:lnTo>
                <a:cubicBezTo>
                  <a:pt x="3015916" y="1003027"/>
                  <a:pt x="2983081" y="1035862"/>
                  <a:pt x="2942577" y="1035862"/>
                </a:cubicBezTo>
                <a:lnTo>
                  <a:pt x="73339" y="1035862"/>
                </a:lnTo>
                <a:cubicBezTo>
                  <a:pt x="32862" y="1035862"/>
                  <a:pt x="0" y="1003000"/>
                  <a:pt x="0" y="962523"/>
                </a:cubicBezTo>
                <a:lnTo>
                  <a:pt x="0" y="73339"/>
                </a:lnTo>
                <a:cubicBezTo>
                  <a:pt x="0" y="32835"/>
                  <a:pt x="32835" y="0"/>
                  <a:pt x="7333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9182" y="6004331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36668" y="27501"/>
                </a:moveTo>
                <a:lnTo>
                  <a:pt x="36668" y="45835"/>
                </a:lnTo>
                <a:lnTo>
                  <a:pt x="73335" y="45835"/>
                </a:lnTo>
                <a:lnTo>
                  <a:pt x="73335" y="27501"/>
                </a:lnTo>
                <a:cubicBezTo>
                  <a:pt x="73335" y="17388"/>
                  <a:pt x="65114" y="9167"/>
                  <a:pt x="55002" y="9167"/>
                </a:cubicBezTo>
                <a:cubicBezTo>
                  <a:pt x="44889" y="9167"/>
                  <a:pt x="36668" y="17388"/>
                  <a:pt x="36668" y="27501"/>
                </a:cubicBezTo>
                <a:close/>
                <a:moveTo>
                  <a:pt x="18334" y="45835"/>
                </a:moveTo>
                <a:lnTo>
                  <a:pt x="18334" y="27501"/>
                </a:lnTo>
                <a:cubicBezTo>
                  <a:pt x="18334" y="7248"/>
                  <a:pt x="34748" y="-9167"/>
                  <a:pt x="55002" y="-9167"/>
                </a:cubicBezTo>
                <a:cubicBezTo>
                  <a:pt x="75255" y="-9167"/>
                  <a:pt x="91669" y="7248"/>
                  <a:pt x="91669" y="27501"/>
                </a:cubicBezTo>
                <a:lnTo>
                  <a:pt x="91669" y="45835"/>
                </a:lnTo>
                <a:cubicBezTo>
                  <a:pt x="101781" y="45835"/>
                  <a:pt x="110003" y="54056"/>
                  <a:pt x="110003" y="64168"/>
                </a:cubicBezTo>
                <a:lnTo>
                  <a:pt x="110003" y="128337"/>
                </a:lnTo>
                <a:cubicBezTo>
                  <a:pt x="110003" y="138449"/>
                  <a:pt x="101781" y="146671"/>
                  <a:pt x="91669" y="146671"/>
                </a:cubicBezTo>
                <a:lnTo>
                  <a:pt x="18334" y="146671"/>
                </a:lnTo>
                <a:cubicBezTo>
                  <a:pt x="8222" y="146671"/>
                  <a:pt x="0" y="138449"/>
                  <a:pt x="0" y="128337"/>
                </a:cubicBezTo>
                <a:lnTo>
                  <a:pt x="0" y="64168"/>
                </a:lnTo>
                <a:cubicBezTo>
                  <a:pt x="0" y="54056"/>
                  <a:pt x="8222" y="45835"/>
                  <a:pt x="18334" y="45835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779188" y="5967663"/>
            <a:ext cx="140253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O'zgarmas Versiyalar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2514" y="6261005"/>
            <a:ext cx="2786743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Konfiguratsiya o'zgarishlari versiyalangan va audit qilinadi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44732" y="5816409"/>
            <a:ext cx="3015916" cy="1035862"/>
          </a:xfrm>
          <a:custGeom>
            <a:avLst/>
            <a:gdLst/>
            <a:ahLst/>
            <a:cxnLst/>
            <a:rect l="l" t="t" r="r" b="b"/>
            <a:pathLst>
              <a:path w="3015916" h="1035862">
                <a:moveTo>
                  <a:pt x="73339" y="0"/>
                </a:moveTo>
                <a:lnTo>
                  <a:pt x="2942577" y="0"/>
                </a:lnTo>
                <a:cubicBezTo>
                  <a:pt x="2983081" y="0"/>
                  <a:pt x="3015916" y="32835"/>
                  <a:pt x="3015916" y="73339"/>
                </a:cubicBezTo>
                <a:lnTo>
                  <a:pt x="3015916" y="962523"/>
                </a:lnTo>
                <a:cubicBezTo>
                  <a:pt x="3015916" y="1003027"/>
                  <a:pt x="2983081" y="1035862"/>
                  <a:pt x="2942577" y="1035862"/>
                </a:cubicBezTo>
                <a:lnTo>
                  <a:pt x="73339" y="1035862"/>
                </a:lnTo>
                <a:cubicBezTo>
                  <a:pt x="32862" y="1035862"/>
                  <a:pt x="0" y="1003000"/>
                  <a:pt x="0" y="962523"/>
                </a:cubicBezTo>
                <a:lnTo>
                  <a:pt x="0" y="73339"/>
                </a:lnTo>
                <a:cubicBezTo>
                  <a:pt x="0" y="32835"/>
                  <a:pt x="32835" y="0"/>
                  <a:pt x="7333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14320" y="6114334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0" y="73335"/>
                </a:moveTo>
                <a:cubicBezTo>
                  <a:pt x="0" y="32860"/>
                  <a:pt x="32860" y="0"/>
                  <a:pt x="73335" y="0"/>
                </a:cubicBezTo>
                <a:cubicBezTo>
                  <a:pt x="113810" y="0"/>
                  <a:pt x="146671" y="32860"/>
                  <a:pt x="146671" y="73335"/>
                </a:cubicBezTo>
                <a:cubicBezTo>
                  <a:pt x="146671" y="113810"/>
                  <a:pt x="113810" y="146671"/>
                  <a:pt x="73335" y="146671"/>
                </a:cubicBezTo>
                <a:cubicBezTo>
                  <a:pt x="32860" y="146671"/>
                  <a:pt x="0" y="113810"/>
                  <a:pt x="0" y="73335"/>
                </a:cubicBezTo>
                <a:close/>
                <a:moveTo>
                  <a:pt x="82502" y="27501"/>
                </a:moveTo>
                <a:cubicBezTo>
                  <a:pt x="82502" y="22441"/>
                  <a:pt x="78395" y="18334"/>
                  <a:pt x="73335" y="18334"/>
                </a:cubicBezTo>
                <a:cubicBezTo>
                  <a:pt x="68276" y="18334"/>
                  <a:pt x="64168" y="22441"/>
                  <a:pt x="64168" y="27501"/>
                </a:cubicBezTo>
                <a:cubicBezTo>
                  <a:pt x="64168" y="32560"/>
                  <a:pt x="68276" y="36668"/>
                  <a:pt x="73335" y="36668"/>
                </a:cubicBezTo>
                <a:cubicBezTo>
                  <a:pt x="78395" y="36668"/>
                  <a:pt x="82502" y="32560"/>
                  <a:pt x="82502" y="27501"/>
                </a:cubicBezTo>
                <a:close/>
                <a:moveTo>
                  <a:pt x="73335" y="119170"/>
                </a:moveTo>
                <a:cubicBezTo>
                  <a:pt x="83448" y="119170"/>
                  <a:pt x="91669" y="110948"/>
                  <a:pt x="91669" y="100836"/>
                </a:cubicBezTo>
                <a:cubicBezTo>
                  <a:pt x="91669" y="96195"/>
                  <a:pt x="89950" y="91927"/>
                  <a:pt x="87086" y="88719"/>
                </a:cubicBezTo>
                <a:lnTo>
                  <a:pt x="106995" y="48928"/>
                </a:lnTo>
                <a:cubicBezTo>
                  <a:pt x="108685" y="45519"/>
                  <a:pt x="107310" y="41394"/>
                  <a:pt x="103930" y="39704"/>
                </a:cubicBezTo>
                <a:cubicBezTo>
                  <a:pt x="100550" y="38014"/>
                  <a:pt x="96396" y="39389"/>
                  <a:pt x="94706" y="42769"/>
                </a:cubicBezTo>
                <a:lnTo>
                  <a:pt x="74796" y="82560"/>
                </a:lnTo>
                <a:cubicBezTo>
                  <a:pt x="74309" y="82531"/>
                  <a:pt x="73822" y="82502"/>
                  <a:pt x="73335" y="82502"/>
                </a:cubicBezTo>
                <a:cubicBezTo>
                  <a:pt x="63223" y="82502"/>
                  <a:pt x="55002" y="90724"/>
                  <a:pt x="55002" y="100836"/>
                </a:cubicBezTo>
                <a:cubicBezTo>
                  <a:pt x="55002" y="110948"/>
                  <a:pt x="63223" y="119170"/>
                  <a:pt x="73335" y="119170"/>
                </a:cubicBezTo>
                <a:close/>
                <a:moveTo>
                  <a:pt x="50418" y="41251"/>
                </a:moveTo>
                <a:cubicBezTo>
                  <a:pt x="50418" y="36192"/>
                  <a:pt x="46310" y="32084"/>
                  <a:pt x="41251" y="32084"/>
                </a:cubicBezTo>
                <a:cubicBezTo>
                  <a:pt x="36192" y="32084"/>
                  <a:pt x="32084" y="36192"/>
                  <a:pt x="32084" y="41251"/>
                </a:cubicBezTo>
                <a:cubicBezTo>
                  <a:pt x="32084" y="46310"/>
                  <a:pt x="36192" y="50418"/>
                  <a:pt x="41251" y="50418"/>
                </a:cubicBezTo>
                <a:cubicBezTo>
                  <a:pt x="46310" y="50418"/>
                  <a:pt x="50418" y="46310"/>
                  <a:pt x="50418" y="41251"/>
                </a:cubicBezTo>
                <a:close/>
                <a:moveTo>
                  <a:pt x="27501" y="82502"/>
                </a:moveTo>
                <a:cubicBezTo>
                  <a:pt x="32560" y="82502"/>
                  <a:pt x="36668" y="78395"/>
                  <a:pt x="36668" y="73335"/>
                </a:cubicBezTo>
                <a:cubicBezTo>
                  <a:pt x="36668" y="68276"/>
                  <a:pt x="32560" y="64168"/>
                  <a:pt x="27501" y="64168"/>
                </a:cubicBezTo>
                <a:cubicBezTo>
                  <a:pt x="22441" y="64168"/>
                  <a:pt x="18334" y="68276"/>
                  <a:pt x="18334" y="73335"/>
                </a:cubicBezTo>
                <a:cubicBezTo>
                  <a:pt x="18334" y="78395"/>
                  <a:pt x="22441" y="82502"/>
                  <a:pt x="27501" y="82502"/>
                </a:cubicBezTo>
                <a:close/>
                <a:moveTo>
                  <a:pt x="128337" y="73335"/>
                </a:moveTo>
                <a:cubicBezTo>
                  <a:pt x="128337" y="68276"/>
                  <a:pt x="124229" y="64168"/>
                  <a:pt x="119170" y="64168"/>
                </a:cubicBezTo>
                <a:cubicBezTo>
                  <a:pt x="114111" y="64168"/>
                  <a:pt x="110003" y="68276"/>
                  <a:pt x="110003" y="73335"/>
                </a:cubicBezTo>
                <a:cubicBezTo>
                  <a:pt x="110003" y="78395"/>
                  <a:pt x="114111" y="82502"/>
                  <a:pt x="119170" y="82502"/>
                </a:cubicBezTo>
                <a:cubicBezTo>
                  <a:pt x="124229" y="82502"/>
                  <a:pt x="128337" y="78395"/>
                  <a:pt x="128337" y="73335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4" name="Text 32"/>
          <p:cNvSpPr/>
          <p:nvPr/>
        </p:nvSpPr>
        <p:spPr>
          <a:xfrm>
            <a:off x="3952660" y="6077666"/>
            <a:ext cx="141170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Sub-200ms Qarorlar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95986" y="6371008"/>
            <a:ext cx="2786743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Yuqori samarali avtorizatsiya tezligi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54872" y="1324620"/>
            <a:ext cx="5060138" cy="4372620"/>
          </a:xfrm>
          <a:custGeom>
            <a:avLst/>
            <a:gdLst/>
            <a:ahLst/>
            <a:cxnLst/>
            <a:rect l="l" t="t" r="r" b="b"/>
            <a:pathLst>
              <a:path w="5060138" h="4372620">
                <a:moveTo>
                  <a:pt x="73329" y="0"/>
                </a:moveTo>
                <a:lnTo>
                  <a:pt x="4986810" y="0"/>
                </a:lnTo>
                <a:cubicBezTo>
                  <a:pt x="5027308" y="0"/>
                  <a:pt x="5060138" y="32830"/>
                  <a:pt x="5060138" y="73329"/>
                </a:cubicBezTo>
                <a:lnTo>
                  <a:pt x="5060138" y="4299291"/>
                </a:lnTo>
                <a:cubicBezTo>
                  <a:pt x="5060138" y="4339789"/>
                  <a:pt x="5027308" y="4372620"/>
                  <a:pt x="4986810" y="4372620"/>
                </a:cubicBezTo>
                <a:lnTo>
                  <a:pt x="73329" y="4372620"/>
                </a:lnTo>
                <a:cubicBezTo>
                  <a:pt x="32830" y="4372620"/>
                  <a:pt x="0" y="4339789"/>
                  <a:pt x="0" y="4299291"/>
                </a:cubicBezTo>
                <a:lnTo>
                  <a:pt x="0" y="73329"/>
                </a:lnTo>
                <a:cubicBezTo>
                  <a:pt x="0" y="32858"/>
                  <a:pt x="32858" y="0"/>
                  <a:pt x="7332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2794" y="1512541"/>
            <a:ext cx="4775964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Arxitektura Afzalliklari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42794" y="1952553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066118" y="1989221"/>
            <a:ext cx="11917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46138" y="1915886"/>
            <a:ext cx="406094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Xavfsizlik Chegarasi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46138" y="2172559"/>
            <a:ext cx="406094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Banking tizimi to'g'ridan-to'g'ri hujumlardan himoyalangan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42794" y="2575904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052081" y="2612571"/>
            <a:ext cx="14667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46138" y="2539236"/>
            <a:ext cx="238339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Tezlik va Samaradorlik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46138" y="2795910"/>
            <a:ext cx="238339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Tranzaksiyalar tezroq qayta ishlanadi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42794" y="3199254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050219" y="3235922"/>
            <a:ext cx="15583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46138" y="3162586"/>
            <a:ext cx="244756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Regulyativ Compliance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346138" y="3419260"/>
            <a:ext cx="244756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Barcha tekshiruvlar markazlashtirilgan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42794" y="3822605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lnTo>
                  <a:pt x="146671" y="0"/>
                </a:lnTo>
                <a:cubicBezTo>
                  <a:pt x="227620" y="0"/>
                  <a:pt x="293341" y="65721"/>
                  <a:pt x="293341" y="146671"/>
                </a:cubicBezTo>
                <a:lnTo>
                  <a:pt x="293341" y="146671"/>
                </a:lnTo>
                <a:cubicBezTo>
                  <a:pt x="293341" y="227620"/>
                  <a:pt x="227620" y="293341"/>
                  <a:pt x="146671" y="293341"/>
                </a:cubicBezTo>
                <a:lnTo>
                  <a:pt x="146671" y="293341"/>
                </a:lnTo>
                <a:cubicBezTo>
                  <a:pt x="65721" y="293341"/>
                  <a:pt x="0" y="227620"/>
                  <a:pt x="0" y="146671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052081" y="3859272"/>
            <a:ext cx="14667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346138" y="3785937"/>
            <a:ext cx="249340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Moslashuvchanlik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346138" y="4042611"/>
            <a:ext cx="249340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Yangi xizmatlarni tez integratsiya qilish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754872" y="5853077"/>
            <a:ext cx="5060138" cy="999194"/>
          </a:xfrm>
          <a:custGeom>
            <a:avLst/>
            <a:gdLst/>
            <a:ahLst/>
            <a:cxnLst/>
            <a:rect l="l" t="t" r="r" b="b"/>
            <a:pathLst>
              <a:path w="5060138" h="999194">
                <a:moveTo>
                  <a:pt x="73331" y="0"/>
                </a:moveTo>
                <a:lnTo>
                  <a:pt x="4986807" y="0"/>
                </a:lnTo>
                <a:cubicBezTo>
                  <a:pt x="5027307" y="0"/>
                  <a:pt x="5060138" y="32831"/>
                  <a:pt x="5060138" y="73331"/>
                </a:cubicBezTo>
                <a:lnTo>
                  <a:pt x="5060138" y="925863"/>
                </a:lnTo>
                <a:cubicBezTo>
                  <a:pt x="5060138" y="966363"/>
                  <a:pt x="5027307" y="999194"/>
                  <a:pt x="4986807" y="999194"/>
                </a:cubicBezTo>
                <a:lnTo>
                  <a:pt x="73331" y="999194"/>
                </a:lnTo>
                <a:cubicBezTo>
                  <a:pt x="32831" y="999194"/>
                  <a:pt x="0" y="966363"/>
                  <a:pt x="0" y="925863"/>
                </a:cubicBezTo>
                <a:lnTo>
                  <a:pt x="0" y="73331"/>
                </a:lnTo>
                <a:cubicBezTo>
                  <a:pt x="0" y="32858"/>
                  <a:pt x="32858" y="0"/>
                  <a:pt x="73331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2794" y="6040998"/>
            <a:ext cx="131086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Avtorizatsiya Tezligi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42794" y="6297672"/>
            <a:ext cx="1402538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434100" y="6040998"/>
            <a:ext cx="120086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55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Moslashuvchanlik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342431" y="6297672"/>
            <a:ext cx="1292535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599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Texnologik Infratuzilma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Yuqori Samarali Infratuzilma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5610225" cy="4010025"/>
          </a:xfrm>
          <a:custGeom>
            <a:avLst/>
            <a:gdLst/>
            <a:ahLst/>
            <a:cxnLst/>
            <a:rect l="l" t="t" r="r" b="b"/>
            <a:pathLst>
              <a:path w="5610225" h="4010025">
                <a:moveTo>
                  <a:pt x="76190" y="0"/>
                </a:moveTo>
                <a:lnTo>
                  <a:pt x="5534035" y="0"/>
                </a:lnTo>
                <a:cubicBezTo>
                  <a:pt x="5576113" y="0"/>
                  <a:pt x="5610225" y="34112"/>
                  <a:pt x="5610225" y="76190"/>
                </a:cubicBezTo>
                <a:lnTo>
                  <a:pt x="5610225" y="3933835"/>
                </a:lnTo>
                <a:cubicBezTo>
                  <a:pt x="5610225" y="3975913"/>
                  <a:pt x="5576113" y="4010025"/>
                  <a:pt x="5534035" y="4010025"/>
                </a:cubicBezTo>
                <a:lnTo>
                  <a:pt x="76190" y="4010025"/>
                </a:lnTo>
                <a:cubicBezTo>
                  <a:pt x="34112" y="4010025"/>
                  <a:pt x="0" y="3975913"/>
                  <a:pt x="0" y="39338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2009775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Go/Rust Gateway Arxitekturasi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1025" y="2466975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Gateway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 va Rust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dasturlash tillarida yozilgan. Bu tillar banking infratuzilmasi uchun zarur bo'lgan yuqori samaradorlik va bashorat qilinadigan kechikishni ta'minlaydi.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0075" y="3362325"/>
            <a:ext cx="5200650" cy="1390650"/>
          </a:xfrm>
          <a:custGeom>
            <a:avLst/>
            <a:gdLst/>
            <a:ahLst/>
            <a:cxnLst/>
            <a:rect l="l" t="t" r="r" b="b"/>
            <a:pathLst>
              <a:path w="5200650" h="1390650">
                <a:moveTo>
                  <a:pt x="38100" y="0"/>
                </a:moveTo>
                <a:lnTo>
                  <a:pt x="5124456" y="0"/>
                </a:lnTo>
                <a:cubicBezTo>
                  <a:pt x="5166509" y="0"/>
                  <a:pt x="5200650" y="34141"/>
                  <a:pt x="5200650" y="76194"/>
                </a:cubicBezTo>
                <a:lnTo>
                  <a:pt x="5200650" y="1314456"/>
                </a:lnTo>
                <a:cubicBezTo>
                  <a:pt x="5200650" y="1356509"/>
                  <a:pt x="5166509" y="1390650"/>
                  <a:pt x="5124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0075" y="3362325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795338" y="3552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123950" y="3514725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Gateway'da Ishlatilmaydi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1525" y="3857625"/>
            <a:ext cx="4953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Sabab: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garbage collection kechikish o'sishlarini yaratadi. Bank infratuzilmasi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bashorat qilinadigan samaradorlikni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talab qiladi. Go va Rust memory safety va deterministic performance ta'minlaydi.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5548313"/>
            <a:ext cx="2724150" cy="1266825"/>
          </a:xfrm>
          <a:custGeom>
            <a:avLst/>
            <a:gdLst/>
            <a:ahLst/>
            <a:cxnLst/>
            <a:rect l="l" t="t" r="r" b="b"/>
            <a:pathLst>
              <a:path w="2724150" h="1266825">
                <a:moveTo>
                  <a:pt x="76200" y="0"/>
                </a:moveTo>
                <a:lnTo>
                  <a:pt x="2647950" y="0"/>
                </a:lnTo>
                <a:cubicBezTo>
                  <a:pt x="2690034" y="0"/>
                  <a:pt x="2724150" y="34116"/>
                  <a:pt x="2724150" y="76200"/>
                </a:cubicBezTo>
                <a:lnTo>
                  <a:pt x="2724150" y="1190625"/>
                </a:lnTo>
                <a:cubicBezTo>
                  <a:pt x="2724150" y="1232709"/>
                  <a:pt x="2690034" y="1266825"/>
                  <a:pt x="2647950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3525" y="570547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67958" y="130463"/>
                </a:moveTo>
                <a:cubicBezTo>
                  <a:pt x="260658" y="132338"/>
                  <a:pt x="254630" y="133343"/>
                  <a:pt x="248469" y="135553"/>
                </a:cubicBezTo>
                <a:cubicBezTo>
                  <a:pt x="243580" y="136825"/>
                  <a:pt x="238624" y="138165"/>
                  <a:pt x="232931" y="139638"/>
                </a:cubicBezTo>
                <a:lnTo>
                  <a:pt x="232529" y="139705"/>
                </a:lnTo>
                <a:cubicBezTo>
                  <a:pt x="229716" y="140509"/>
                  <a:pt x="229448" y="140576"/>
                  <a:pt x="226836" y="137562"/>
                </a:cubicBezTo>
                <a:cubicBezTo>
                  <a:pt x="223689" y="134012"/>
                  <a:pt x="221412" y="131735"/>
                  <a:pt x="217058" y="129592"/>
                </a:cubicBezTo>
                <a:cubicBezTo>
                  <a:pt x="203865" y="123163"/>
                  <a:pt x="191140" y="125038"/>
                  <a:pt x="179286" y="132740"/>
                </a:cubicBezTo>
                <a:cubicBezTo>
                  <a:pt x="165088" y="141915"/>
                  <a:pt x="157788" y="155511"/>
                  <a:pt x="157988" y="172388"/>
                </a:cubicBezTo>
                <a:cubicBezTo>
                  <a:pt x="158189" y="189131"/>
                  <a:pt x="169642" y="202860"/>
                  <a:pt x="185581" y="205137"/>
                </a:cubicBezTo>
                <a:cubicBezTo>
                  <a:pt x="200315" y="207012"/>
                  <a:pt x="212236" y="202057"/>
                  <a:pt x="221613" y="191408"/>
                </a:cubicBezTo>
                <a:cubicBezTo>
                  <a:pt x="223019" y="189667"/>
                  <a:pt x="224291" y="187858"/>
                  <a:pt x="225698" y="185849"/>
                </a:cubicBezTo>
                <a:cubicBezTo>
                  <a:pt x="226234" y="185179"/>
                  <a:pt x="226702" y="184443"/>
                  <a:pt x="227238" y="183639"/>
                </a:cubicBezTo>
                <a:lnTo>
                  <a:pt x="186988" y="183639"/>
                </a:lnTo>
                <a:cubicBezTo>
                  <a:pt x="182634" y="183639"/>
                  <a:pt x="181563" y="180960"/>
                  <a:pt x="183036" y="177411"/>
                </a:cubicBezTo>
                <a:cubicBezTo>
                  <a:pt x="185715" y="170914"/>
                  <a:pt x="190738" y="160065"/>
                  <a:pt x="193685" y="154640"/>
                </a:cubicBezTo>
                <a:cubicBezTo>
                  <a:pt x="194288" y="153434"/>
                  <a:pt x="195761" y="150755"/>
                  <a:pt x="198306" y="150755"/>
                </a:cubicBezTo>
                <a:lnTo>
                  <a:pt x="266015" y="150755"/>
                </a:lnTo>
                <a:cubicBezTo>
                  <a:pt x="269029" y="141781"/>
                  <a:pt x="273918" y="132740"/>
                  <a:pt x="280481" y="124167"/>
                </a:cubicBezTo>
                <a:cubicBezTo>
                  <a:pt x="295684" y="104142"/>
                  <a:pt x="313499" y="93695"/>
                  <a:pt x="338882" y="89342"/>
                </a:cubicBezTo>
                <a:cubicBezTo>
                  <a:pt x="360179" y="85591"/>
                  <a:pt x="380204" y="87667"/>
                  <a:pt x="398420" y="99990"/>
                </a:cubicBezTo>
                <a:cubicBezTo>
                  <a:pt x="414896" y="111242"/>
                  <a:pt x="425075" y="126511"/>
                  <a:pt x="427821" y="146536"/>
                </a:cubicBezTo>
                <a:cubicBezTo>
                  <a:pt x="431371" y="174732"/>
                  <a:pt x="423200" y="197636"/>
                  <a:pt x="403242" y="217259"/>
                </a:cubicBezTo>
                <a:cubicBezTo>
                  <a:pt x="390049" y="231257"/>
                  <a:pt x="373172" y="240030"/>
                  <a:pt x="353750" y="243981"/>
                </a:cubicBezTo>
                <a:cubicBezTo>
                  <a:pt x="349999" y="244651"/>
                  <a:pt x="346316" y="244986"/>
                  <a:pt x="342699" y="245321"/>
                </a:cubicBezTo>
                <a:cubicBezTo>
                  <a:pt x="340757" y="245455"/>
                  <a:pt x="338882" y="245656"/>
                  <a:pt x="337006" y="245857"/>
                </a:cubicBezTo>
                <a:cubicBezTo>
                  <a:pt x="318053" y="245455"/>
                  <a:pt x="300707" y="240030"/>
                  <a:pt x="286107" y="227506"/>
                </a:cubicBezTo>
                <a:cubicBezTo>
                  <a:pt x="275860" y="218599"/>
                  <a:pt x="268761" y="207682"/>
                  <a:pt x="265279" y="195024"/>
                </a:cubicBezTo>
                <a:cubicBezTo>
                  <a:pt x="262801" y="199913"/>
                  <a:pt x="259921" y="204668"/>
                  <a:pt x="255903" y="209156"/>
                </a:cubicBezTo>
                <a:cubicBezTo>
                  <a:pt x="241436" y="228980"/>
                  <a:pt x="221813" y="241302"/>
                  <a:pt x="197034" y="244584"/>
                </a:cubicBezTo>
                <a:cubicBezTo>
                  <a:pt x="176540" y="247330"/>
                  <a:pt x="157587" y="243379"/>
                  <a:pt x="140843" y="230855"/>
                </a:cubicBezTo>
                <a:cubicBezTo>
                  <a:pt x="125440" y="219135"/>
                  <a:pt x="116666" y="203731"/>
                  <a:pt x="114389" y="184510"/>
                </a:cubicBezTo>
                <a:cubicBezTo>
                  <a:pt x="111643" y="161739"/>
                  <a:pt x="118341" y="140710"/>
                  <a:pt x="132070" y="123364"/>
                </a:cubicBezTo>
                <a:cubicBezTo>
                  <a:pt x="146938" y="103942"/>
                  <a:pt x="166561" y="91619"/>
                  <a:pt x="190537" y="87265"/>
                </a:cubicBezTo>
                <a:cubicBezTo>
                  <a:pt x="210160" y="83113"/>
                  <a:pt x="228913" y="85993"/>
                  <a:pt x="245857" y="97512"/>
                </a:cubicBezTo>
                <a:cubicBezTo>
                  <a:pt x="256907" y="104812"/>
                  <a:pt x="264810" y="114791"/>
                  <a:pt x="270034" y="126913"/>
                </a:cubicBezTo>
                <a:cubicBezTo>
                  <a:pt x="271306" y="128788"/>
                  <a:pt x="270436" y="129860"/>
                  <a:pt x="267958" y="130463"/>
                </a:cubicBezTo>
                <a:close/>
                <a:moveTo>
                  <a:pt x="32348" y="134213"/>
                </a:moveTo>
                <a:cubicBezTo>
                  <a:pt x="31477" y="134213"/>
                  <a:pt x="31276" y="133811"/>
                  <a:pt x="31745" y="133142"/>
                </a:cubicBezTo>
                <a:lnTo>
                  <a:pt x="36165" y="127516"/>
                </a:lnTo>
                <a:cubicBezTo>
                  <a:pt x="36567" y="126913"/>
                  <a:pt x="37639" y="126511"/>
                  <a:pt x="38442" y="126511"/>
                </a:cubicBezTo>
                <a:lnTo>
                  <a:pt x="112983" y="126511"/>
                </a:lnTo>
                <a:cubicBezTo>
                  <a:pt x="113787" y="126511"/>
                  <a:pt x="113987" y="127114"/>
                  <a:pt x="113586" y="127717"/>
                </a:cubicBezTo>
                <a:lnTo>
                  <a:pt x="110036" y="133142"/>
                </a:lnTo>
                <a:cubicBezTo>
                  <a:pt x="109634" y="133811"/>
                  <a:pt x="108563" y="134414"/>
                  <a:pt x="107960" y="134414"/>
                </a:cubicBezTo>
                <a:lnTo>
                  <a:pt x="32415" y="134213"/>
                </a:lnTo>
                <a:close/>
                <a:moveTo>
                  <a:pt x="804" y="153434"/>
                </a:moveTo>
                <a:cubicBezTo>
                  <a:pt x="0" y="153434"/>
                  <a:pt x="-268" y="152966"/>
                  <a:pt x="201" y="152363"/>
                </a:cubicBezTo>
                <a:lnTo>
                  <a:pt x="4554" y="146737"/>
                </a:lnTo>
                <a:cubicBezTo>
                  <a:pt x="4956" y="146134"/>
                  <a:pt x="6028" y="145666"/>
                  <a:pt x="6831" y="145666"/>
                </a:cubicBezTo>
                <a:lnTo>
                  <a:pt x="101999" y="145666"/>
                </a:lnTo>
                <a:cubicBezTo>
                  <a:pt x="102803" y="145666"/>
                  <a:pt x="103205" y="146335"/>
                  <a:pt x="103004" y="146938"/>
                </a:cubicBezTo>
                <a:lnTo>
                  <a:pt x="101330" y="151961"/>
                </a:lnTo>
                <a:cubicBezTo>
                  <a:pt x="101129" y="152765"/>
                  <a:pt x="100325" y="153233"/>
                  <a:pt x="99454" y="153233"/>
                </a:cubicBezTo>
                <a:lnTo>
                  <a:pt x="804" y="153434"/>
                </a:lnTo>
                <a:close/>
                <a:moveTo>
                  <a:pt x="50698" y="171383"/>
                </a:moveTo>
                <a:cubicBezTo>
                  <a:pt x="50296" y="171986"/>
                  <a:pt x="50497" y="172589"/>
                  <a:pt x="51301" y="172589"/>
                </a:cubicBezTo>
                <a:lnTo>
                  <a:pt x="96842" y="172789"/>
                </a:lnTo>
                <a:cubicBezTo>
                  <a:pt x="97445" y="172789"/>
                  <a:pt x="98316" y="172187"/>
                  <a:pt x="98316" y="171383"/>
                </a:cubicBezTo>
                <a:lnTo>
                  <a:pt x="98718" y="166360"/>
                </a:lnTo>
                <a:cubicBezTo>
                  <a:pt x="98718" y="165489"/>
                  <a:pt x="98316" y="164887"/>
                  <a:pt x="97445" y="164887"/>
                </a:cubicBezTo>
                <a:lnTo>
                  <a:pt x="55721" y="164887"/>
                </a:lnTo>
                <a:cubicBezTo>
                  <a:pt x="54918" y="164887"/>
                  <a:pt x="54047" y="165489"/>
                  <a:pt x="53645" y="166159"/>
                </a:cubicBezTo>
                <a:lnTo>
                  <a:pt x="50698" y="171383"/>
                </a:lnTo>
                <a:close/>
                <a:moveTo>
                  <a:pt x="386566" y="159328"/>
                </a:moveTo>
                <a:cubicBezTo>
                  <a:pt x="386432" y="157587"/>
                  <a:pt x="386365" y="156113"/>
                  <a:pt x="386097" y="154640"/>
                </a:cubicBezTo>
                <a:cubicBezTo>
                  <a:pt x="382347" y="134012"/>
                  <a:pt x="363327" y="122292"/>
                  <a:pt x="343503" y="126913"/>
                </a:cubicBezTo>
                <a:cubicBezTo>
                  <a:pt x="324081" y="131266"/>
                  <a:pt x="311557" y="143589"/>
                  <a:pt x="307003" y="163212"/>
                </a:cubicBezTo>
                <a:cubicBezTo>
                  <a:pt x="303252" y="179487"/>
                  <a:pt x="311155" y="195962"/>
                  <a:pt x="326157" y="202659"/>
                </a:cubicBezTo>
                <a:cubicBezTo>
                  <a:pt x="337676" y="207682"/>
                  <a:pt x="349128" y="207079"/>
                  <a:pt x="360179" y="201387"/>
                </a:cubicBezTo>
                <a:cubicBezTo>
                  <a:pt x="376654" y="192278"/>
                  <a:pt x="385629" y="179487"/>
                  <a:pt x="386700" y="161538"/>
                </a:cubicBezTo>
                <a:cubicBezTo>
                  <a:pt x="386633" y="160734"/>
                  <a:pt x="386633" y="159998"/>
                  <a:pt x="386566" y="159328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500063" y="6124575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4825" y="642937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Concurrence &amp; Tezlik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71838" y="5548313"/>
            <a:ext cx="2724150" cy="1266825"/>
          </a:xfrm>
          <a:custGeom>
            <a:avLst/>
            <a:gdLst/>
            <a:ahLst/>
            <a:cxnLst/>
            <a:rect l="l" t="t" r="r" b="b"/>
            <a:pathLst>
              <a:path w="2724150" h="1266825">
                <a:moveTo>
                  <a:pt x="76200" y="0"/>
                </a:moveTo>
                <a:lnTo>
                  <a:pt x="2647950" y="0"/>
                </a:lnTo>
                <a:cubicBezTo>
                  <a:pt x="2690034" y="0"/>
                  <a:pt x="2724150" y="34116"/>
                  <a:pt x="2724150" y="76200"/>
                </a:cubicBezTo>
                <a:lnTo>
                  <a:pt x="2724150" y="1190625"/>
                </a:lnTo>
                <a:cubicBezTo>
                  <a:pt x="2724150" y="1232709"/>
                  <a:pt x="2690034" y="1266825"/>
                  <a:pt x="2647950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2463" y="57054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0556" y="167298"/>
                </a:moveTo>
                <a:lnTo>
                  <a:pt x="325956" y="158256"/>
                </a:lnTo>
                <a:cubicBezTo>
                  <a:pt x="325822" y="156917"/>
                  <a:pt x="325755" y="155644"/>
                  <a:pt x="325621" y="154305"/>
                </a:cubicBezTo>
                <a:lnTo>
                  <a:pt x="338145" y="142585"/>
                </a:lnTo>
                <a:cubicBezTo>
                  <a:pt x="338748" y="141982"/>
                  <a:pt x="339217" y="141312"/>
                  <a:pt x="339484" y="140509"/>
                </a:cubicBezTo>
                <a:cubicBezTo>
                  <a:pt x="339752" y="139705"/>
                  <a:pt x="339819" y="138834"/>
                  <a:pt x="339618" y="138031"/>
                </a:cubicBezTo>
                <a:cubicBezTo>
                  <a:pt x="339417" y="137227"/>
                  <a:pt x="339083" y="136423"/>
                  <a:pt x="338547" y="135821"/>
                </a:cubicBezTo>
                <a:cubicBezTo>
                  <a:pt x="338011" y="135218"/>
                  <a:pt x="337341" y="134682"/>
                  <a:pt x="336538" y="134414"/>
                </a:cubicBezTo>
                <a:lnTo>
                  <a:pt x="320464" y="128387"/>
                </a:lnTo>
                <a:cubicBezTo>
                  <a:pt x="320129" y="127114"/>
                  <a:pt x="319727" y="125842"/>
                  <a:pt x="319326" y="124636"/>
                </a:cubicBezTo>
                <a:lnTo>
                  <a:pt x="329372" y="110706"/>
                </a:lnTo>
                <a:cubicBezTo>
                  <a:pt x="329840" y="110036"/>
                  <a:pt x="330175" y="109232"/>
                  <a:pt x="330242" y="108429"/>
                </a:cubicBezTo>
                <a:cubicBezTo>
                  <a:pt x="330309" y="107625"/>
                  <a:pt x="330242" y="106754"/>
                  <a:pt x="329907" y="105951"/>
                </a:cubicBezTo>
                <a:cubicBezTo>
                  <a:pt x="329572" y="105147"/>
                  <a:pt x="329104" y="104477"/>
                  <a:pt x="328434" y="104009"/>
                </a:cubicBezTo>
                <a:cubicBezTo>
                  <a:pt x="327764" y="103540"/>
                  <a:pt x="327027" y="103138"/>
                  <a:pt x="326157" y="103004"/>
                </a:cubicBezTo>
                <a:lnTo>
                  <a:pt x="309146" y="100191"/>
                </a:lnTo>
                <a:cubicBezTo>
                  <a:pt x="308543" y="99053"/>
                  <a:pt x="307940" y="97914"/>
                  <a:pt x="307338" y="96709"/>
                </a:cubicBezTo>
                <a:lnTo>
                  <a:pt x="314504" y="81037"/>
                </a:lnTo>
                <a:cubicBezTo>
                  <a:pt x="314838" y="80300"/>
                  <a:pt x="314972" y="79430"/>
                  <a:pt x="314905" y="78626"/>
                </a:cubicBezTo>
                <a:cubicBezTo>
                  <a:pt x="314838" y="77822"/>
                  <a:pt x="314571" y="77019"/>
                  <a:pt x="314102" y="76282"/>
                </a:cubicBezTo>
                <a:cubicBezTo>
                  <a:pt x="313633" y="75545"/>
                  <a:pt x="313030" y="75009"/>
                  <a:pt x="312227" y="74608"/>
                </a:cubicBezTo>
                <a:cubicBezTo>
                  <a:pt x="311423" y="74206"/>
                  <a:pt x="310619" y="74072"/>
                  <a:pt x="309816" y="74072"/>
                </a:cubicBezTo>
                <a:lnTo>
                  <a:pt x="292537" y="74675"/>
                </a:lnTo>
                <a:cubicBezTo>
                  <a:pt x="291733" y="73670"/>
                  <a:pt x="290929" y="72732"/>
                  <a:pt x="290126" y="71728"/>
                </a:cubicBezTo>
                <a:lnTo>
                  <a:pt x="294010" y="54784"/>
                </a:lnTo>
                <a:cubicBezTo>
                  <a:pt x="294211" y="53980"/>
                  <a:pt x="294211" y="53109"/>
                  <a:pt x="293943" y="52306"/>
                </a:cubicBezTo>
                <a:cubicBezTo>
                  <a:pt x="293675" y="51502"/>
                  <a:pt x="293273" y="50765"/>
                  <a:pt x="292671" y="50163"/>
                </a:cubicBezTo>
                <a:cubicBezTo>
                  <a:pt x="292068" y="49560"/>
                  <a:pt x="291331" y="49158"/>
                  <a:pt x="290527" y="48890"/>
                </a:cubicBezTo>
                <a:cubicBezTo>
                  <a:pt x="289724" y="48622"/>
                  <a:pt x="288853" y="48622"/>
                  <a:pt x="288049" y="48823"/>
                </a:cubicBezTo>
                <a:lnTo>
                  <a:pt x="271239" y="52841"/>
                </a:lnTo>
                <a:cubicBezTo>
                  <a:pt x="270302" y="52038"/>
                  <a:pt x="269297" y="51234"/>
                  <a:pt x="268292" y="50430"/>
                </a:cubicBezTo>
                <a:lnTo>
                  <a:pt x="268895" y="33151"/>
                </a:lnTo>
                <a:cubicBezTo>
                  <a:pt x="268962" y="32281"/>
                  <a:pt x="268761" y="31477"/>
                  <a:pt x="268359" y="30740"/>
                </a:cubicBezTo>
                <a:cubicBezTo>
                  <a:pt x="267958" y="30004"/>
                  <a:pt x="267422" y="29334"/>
                  <a:pt x="266685" y="28865"/>
                </a:cubicBezTo>
                <a:cubicBezTo>
                  <a:pt x="265948" y="28396"/>
                  <a:pt x="265212" y="28129"/>
                  <a:pt x="264341" y="28062"/>
                </a:cubicBezTo>
                <a:cubicBezTo>
                  <a:pt x="263470" y="27995"/>
                  <a:pt x="262667" y="28129"/>
                  <a:pt x="261863" y="28463"/>
                </a:cubicBezTo>
                <a:lnTo>
                  <a:pt x="246258" y="35629"/>
                </a:lnTo>
                <a:cubicBezTo>
                  <a:pt x="245120" y="35027"/>
                  <a:pt x="243981" y="34424"/>
                  <a:pt x="242843" y="33821"/>
                </a:cubicBezTo>
                <a:lnTo>
                  <a:pt x="240030" y="16810"/>
                </a:lnTo>
                <a:cubicBezTo>
                  <a:pt x="239896" y="16006"/>
                  <a:pt x="239561" y="15203"/>
                  <a:pt x="239025" y="14533"/>
                </a:cubicBezTo>
                <a:cubicBezTo>
                  <a:pt x="238490" y="13863"/>
                  <a:pt x="237820" y="13395"/>
                  <a:pt x="237083" y="13060"/>
                </a:cubicBezTo>
                <a:cubicBezTo>
                  <a:pt x="236347" y="12725"/>
                  <a:pt x="235476" y="12591"/>
                  <a:pt x="234605" y="12725"/>
                </a:cubicBezTo>
                <a:cubicBezTo>
                  <a:pt x="233735" y="12859"/>
                  <a:pt x="232998" y="13127"/>
                  <a:pt x="232328" y="13595"/>
                </a:cubicBezTo>
                <a:lnTo>
                  <a:pt x="218331" y="23641"/>
                </a:lnTo>
                <a:cubicBezTo>
                  <a:pt x="217058" y="23240"/>
                  <a:pt x="215786" y="22905"/>
                  <a:pt x="214580" y="22503"/>
                </a:cubicBezTo>
                <a:lnTo>
                  <a:pt x="208553" y="6429"/>
                </a:lnTo>
                <a:cubicBezTo>
                  <a:pt x="208285" y="5626"/>
                  <a:pt x="207749" y="4956"/>
                  <a:pt x="207146" y="4420"/>
                </a:cubicBezTo>
                <a:cubicBezTo>
                  <a:pt x="206544" y="3884"/>
                  <a:pt x="205740" y="3483"/>
                  <a:pt x="204936" y="3349"/>
                </a:cubicBezTo>
                <a:cubicBezTo>
                  <a:pt x="204133" y="3215"/>
                  <a:pt x="203262" y="3215"/>
                  <a:pt x="202458" y="3483"/>
                </a:cubicBezTo>
                <a:cubicBezTo>
                  <a:pt x="201655" y="3750"/>
                  <a:pt x="200918" y="4219"/>
                  <a:pt x="200382" y="4822"/>
                </a:cubicBezTo>
                <a:lnTo>
                  <a:pt x="188595" y="17346"/>
                </a:lnTo>
                <a:cubicBezTo>
                  <a:pt x="187256" y="17212"/>
                  <a:pt x="185983" y="17078"/>
                  <a:pt x="184644" y="17011"/>
                </a:cubicBezTo>
                <a:lnTo>
                  <a:pt x="175669" y="2344"/>
                </a:lnTo>
                <a:cubicBezTo>
                  <a:pt x="175200" y="1607"/>
                  <a:pt x="174598" y="1072"/>
                  <a:pt x="173861" y="603"/>
                </a:cubicBezTo>
                <a:cubicBezTo>
                  <a:pt x="173124" y="134"/>
                  <a:pt x="172321" y="0"/>
                  <a:pt x="171450" y="0"/>
                </a:cubicBezTo>
                <a:cubicBezTo>
                  <a:pt x="170579" y="0"/>
                  <a:pt x="169776" y="201"/>
                  <a:pt x="169039" y="603"/>
                </a:cubicBezTo>
                <a:cubicBezTo>
                  <a:pt x="168302" y="1005"/>
                  <a:pt x="167700" y="1607"/>
                  <a:pt x="167231" y="2344"/>
                </a:cubicBezTo>
                <a:lnTo>
                  <a:pt x="158189" y="16944"/>
                </a:lnTo>
                <a:cubicBezTo>
                  <a:pt x="156850" y="17078"/>
                  <a:pt x="155577" y="17145"/>
                  <a:pt x="154238" y="17346"/>
                </a:cubicBezTo>
                <a:lnTo>
                  <a:pt x="142585" y="4755"/>
                </a:lnTo>
                <a:cubicBezTo>
                  <a:pt x="141982" y="4152"/>
                  <a:pt x="141312" y="3683"/>
                  <a:pt x="140509" y="3416"/>
                </a:cubicBezTo>
                <a:cubicBezTo>
                  <a:pt x="139705" y="3148"/>
                  <a:pt x="138834" y="3081"/>
                  <a:pt x="138031" y="3282"/>
                </a:cubicBezTo>
                <a:cubicBezTo>
                  <a:pt x="137227" y="3483"/>
                  <a:pt x="136423" y="3817"/>
                  <a:pt x="135821" y="4353"/>
                </a:cubicBezTo>
                <a:cubicBezTo>
                  <a:pt x="135218" y="4889"/>
                  <a:pt x="134682" y="5559"/>
                  <a:pt x="134414" y="6362"/>
                </a:cubicBezTo>
                <a:lnTo>
                  <a:pt x="128387" y="22436"/>
                </a:lnTo>
                <a:cubicBezTo>
                  <a:pt x="127114" y="22838"/>
                  <a:pt x="125842" y="23173"/>
                  <a:pt x="124569" y="23574"/>
                </a:cubicBezTo>
                <a:lnTo>
                  <a:pt x="110639" y="13528"/>
                </a:lnTo>
                <a:cubicBezTo>
                  <a:pt x="109969" y="13060"/>
                  <a:pt x="109165" y="12725"/>
                  <a:pt x="108362" y="12658"/>
                </a:cubicBezTo>
                <a:cubicBezTo>
                  <a:pt x="107558" y="12591"/>
                  <a:pt x="106687" y="12658"/>
                  <a:pt x="105884" y="12993"/>
                </a:cubicBezTo>
                <a:cubicBezTo>
                  <a:pt x="105080" y="13328"/>
                  <a:pt x="104410" y="13796"/>
                  <a:pt x="103942" y="14466"/>
                </a:cubicBezTo>
                <a:cubicBezTo>
                  <a:pt x="103473" y="15136"/>
                  <a:pt x="103071" y="15873"/>
                  <a:pt x="102937" y="16743"/>
                </a:cubicBezTo>
                <a:lnTo>
                  <a:pt x="100124" y="33754"/>
                </a:lnTo>
                <a:cubicBezTo>
                  <a:pt x="98986" y="34357"/>
                  <a:pt x="97847" y="34960"/>
                  <a:pt x="96642" y="35562"/>
                </a:cubicBezTo>
                <a:lnTo>
                  <a:pt x="80970" y="28530"/>
                </a:lnTo>
                <a:cubicBezTo>
                  <a:pt x="80233" y="28195"/>
                  <a:pt x="79363" y="28062"/>
                  <a:pt x="78492" y="28129"/>
                </a:cubicBezTo>
                <a:cubicBezTo>
                  <a:pt x="77621" y="28195"/>
                  <a:pt x="76818" y="28463"/>
                  <a:pt x="76148" y="28932"/>
                </a:cubicBezTo>
                <a:cubicBezTo>
                  <a:pt x="75478" y="29401"/>
                  <a:pt x="74875" y="30071"/>
                  <a:pt x="74474" y="30807"/>
                </a:cubicBezTo>
                <a:cubicBezTo>
                  <a:pt x="74072" y="31544"/>
                  <a:pt x="73938" y="32415"/>
                  <a:pt x="73938" y="33218"/>
                </a:cubicBezTo>
                <a:lnTo>
                  <a:pt x="74541" y="50497"/>
                </a:lnTo>
                <a:cubicBezTo>
                  <a:pt x="73536" y="51301"/>
                  <a:pt x="72531" y="52105"/>
                  <a:pt x="71594" y="52908"/>
                </a:cubicBezTo>
                <a:lnTo>
                  <a:pt x="54784" y="48890"/>
                </a:lnTo>
                <a:cubicBezTo>
                  <a:pt x="53980" y="48689"/>
                  <a:pt x="53109" y="48689"/>
                  <a:pt x="52306" y="48957"/>
                </a:cubicBezTo>
                <a:cubicBezTo>
                  <a:pt x="51502" y="49225"/>
                  <a:pt x="50765" y="49627"/>
                  <a:pt x="50163" y="50229"/>
                </a:cubicBezTo>
                <a:cubicBezTo>
                  <a:pt x="49560" y="50832"/>
                  <a:pt x="49158" y="51569"/>
                  <a:pt x="48890" y="52373"/>
                </a:cubicBezTo>
                <a:cubicBezTo>
                  <a:pt x="48622" y="53176"/>
                  <a:pt x="48622" y="54047"/>
                  <a:pt x="48823" y="54851"/>
                </a:cubicBezTo>
                <a:lnTo>
                  <a:pt x="52841" y="71661"/>
                </a:lnTo>
                <a:cubicBezTo>
                  <a:pt x="52038" y="72598"/>
                  <a:pt x="51234" y="73603"/>
                  <a:pt x="50430" y="74608"/>
                </a:cubicBezTo>
                <a:lnTo>
                  <a:pt x="33151" y="74005"/>
                </a:lnTo>
                <a:cubicBezTo>
                  <a:pt x="32281" y="74005"/>
                  <a:pt x="31477" y="74139"/>
                  <a:pt x="30740" y="74541"/>
                </a:cubicBezTo>
                <a:cubicBezTo>
                  <a:pt x="30004" y="74942"/>
                  <a:pt x="29334" y="75478"/>
                  <a:pt x="28865" y="76148"/>
                </a:cubicBezTo>
                <a:cubicBezTo>
                  <a:pt x="28396" y="76818"/>
                  <a:pt x="28129" y="77621"/>
                  <a:pt x="28062" y="78492"/>
                </a:cubicBezTo>
                <a:cubicBezTo>
                  <a:pt x="27995" y="79363"/>
                  <a:pt x="28129" y="80166"/>
                  <a:pt x="28463" y="80903"/>
                </a:cubicBezTo>
                <a:lnTo>
                  <a:pt x="35629" y="96575"/>
                </a:lnTo>
                <a:cubicBezTo>
                  <a:pt x="35027" y="97713"/>
                  <a:pt x="34424" y="98852"/>
                  <a:pt x="33821" y="100057"/>
                </a:cubicBezTo>
                <a:lnTo>
                  <a:pt x="16810" y="102803"/>
                </a:lnTo>
                <a:cubicBezTo>
                  <a:pt x="16006" y="102937"/>
                  <a:pt x="15203" y="103272"/>
                  <a:pt x="14533" y="103808"/>
                </a:cubicBezTo>
                <a:cubicBezTo>
                  <a:pt x="13863" y="104343"/>
                  <a:pt x="13395" y="105013"/>
                  <a:pt x="13060" y="105750"/>
                </a:cubicBezTo>
                <a:cubicBezTo>
                  <a:pt x="12725" y="106487"/>
                  <a:pt x="12591" y="107357"/>
                  <a:pt x="12725" y="108228"/>
                </a:cubicBezTo>
                <a:cubicBezTo>
                  <a:pt x="12859" y="109098"/>
                  <a:pt x="13127" y="109835"/>
                  <a:pt x="13595" y="110505"/>
                </a:cubicBezTo>
                <a:lnTo>
                  <a:pt x="23641" y="124435"/>
                </a:lnTo>
                <a:cubicBezTo>
                  <a:pt x="23240" y="125708"/>
                  <a:pt x="22905" y="126980"/>
                  <a:pt x="22503" y="128253"/>
                </a:cubicBezTo>
                <a:lnTo>
                  <a:pt x="6429" y="134280"/>
                </a:lnTo>
                <a:cubicBezTo>
                  <a:pt x="5626" y="134548"/>
                  <a:pt x="4956" y="135084"/>
                  <a:pt x="4420" y="135687"/>
                </a:cubicBezTo>
                <a:cubicBezTo>
                  <a:pt x="3884" y="136289"/>
                  <a:pt x="3483" y="137093"/>
                  <a:pt x="3349" y="137897"/>
                </a:cubicBezTo>
                <a:cubicBezTo>
                  <a:pt x="3215" y="138700"/>
                  <a:pt x="3215" y="139571"/>
                  <a:pt x="3483" y="140375"/>
                </a:cubicBezTo>
                <a:cubicBezTo>
                  <a:pt x="3750" y="141178"/>
                  <a:pt x="4219" y="141915"/>
                  <a:pt x="4822" y="142451"/>
                </a:cubicBezTo>
                <a:lnTo>
                  <a:pt x="17346" y="154171"/>
                </a:lnTo>
                <a:cubicBezTo>
                  <a:pt x="17212" y="155511"/>
                  <a:pt x="17078" y="156783"/>
                  <a:pt x="16944" y="158122"/>
                </a:cubicBezTo>
                <a:lnTo>
                  <a:pt x="2344" y="167298"/>
                </a:lnTo>
                <a:cubicBezTo>
                  <a:pt x="1607" y="167767"/>
                  <a:pt x="1072" y="168369"/>
                  <a:pt x="603" y="169106"/>
                </a:cubicBezTo>
                <a:cubicBezTo>
                  <a:pt x="134" y="169843"/>
                  <a:pt x="0" y="170646"/>
                  <a:pt x="0" y="171517"/>
                </a:cubicBezTo>
                <a:cubicBezTo>
                  <a:pt x="0" y="172388"/>
                  <a:pt x="201" y="173191"/>
                  <a:pt x="603" y="173928"/>
                </a:cubicBezTo>
                <a:cubicBezTo>
                  <a:pt x="1005" y="174665"/>
                  <a:pt x="1607" y="175267"/>
                  <a:pt x="2344" y="175736"/>
                </a:cubicBezTo>
                <a:lnTo>
                  <a:pt x="16944" y="184778"/>
                </a:lnTo>
                <a:cubicBezTo>
                  <a:pt x="17078" y="186117"/>
                  <a:pt x="17145" y="187389"/>
                  <a:pt x="17346" y="188729"/>
                </a:cubicBezTo>
                <a:lnTo>
                  <a:pt x="4755" y="200315"/>
                </a:lnTo>
                <a:cubicBezTo>
                  <a:pt x="4152" y="200918"/>
                  <a:pt x="3683" y="201588"/>
                  <a:pt x="3416" y="202391"/>
                </a:cubicBezTo>
                <a:cubicBezTo>
                  <a:pt x="3148" y="203195"/>
                  <a:pt x="3081" y="204066"/>
                  <a:pt x="3282" y="204869"/>
                </a:cubicBezTo>
                <a:cubicBezTo>
                  <a:pt x="3483" y="205673"/>
                  <a:pt x="3817" y="206477"/>
                  <a:pt x="4353" y="207079"/>
                </a:cubicBezTo>
                <a:cubicBezTo>
                  <a:pt x="4889" y="207682"/>
                  <a:pt x="5559" y="208218"/>
                  <a:pt x="6362" y="208486"/>
                </a:cubicBezTo>
                <a:lnTo>
                  <a:pt x="22436" y="214513"/>
                </a:lnTo>
                <a:cubicBezTo>
                  <a:pt x="22838" y="215786"/>
                  <a:pt x="23173" y="217058"/>
                  <a:pt x="23574" y="218264"/>
                </a:cubicBezTo>
                <a:lnTo>
                  <a:pt x="13528" y="232194"/>
                </a:lnTo>
                <a:cubicBezTo>
                  <a:pt x="13060" y="232864"/>
                  <a:pt x="12725" y="233668"/>
                  <a:pt x="12658" y="234471"/>
                </a:cubicBezTo>
                <a:cubicBezTo>
                  <a:pt x="12591" y="235275"/>
                  <a:pt x="12658" y="236146"/>
                  <a:pt x="12993" y="236949"/>
                </a:cubicBezTo>
                <a:cubicBezTo>
                  <a:pt x="13328" y="237753"/>
                  <a:pt x="13796" y="238423"/>
                  <a:pt x="14466" y="238891"/>
                </a:cubicBezTo>
                <a:cubicBezTo>
                  <a:pt x="15136" y="239360"/>
                  <a:pt x="15873" y="239762"/>
                  <a:pt x="16743" y="239896"/>
                </a:cubicBezTo>
                <a:lnTo>
                  <a:pt x="33754" y="242709"/>
                </a:lnTo>
                <a:cubicBezTo>
                  <a:pt x="34357" y="243847"/>
                  <a:pt x="34960" y="244986"/>
                  <a:pt x="35562" y="246125"/>
                </a:cubicBezTo>
                <a:lnTo>
                  <a:pt x="28530" y="261930"/>
                </a:lnTo>
                <a:cubicBezTo>
                  <a:pt x="28195" y="262667"/>
                  <a:pt x="28062" y="263537"/>
                  <a:pt x="28129" y="264341"/>
                </a:cubicBezTo>
                <a:cubicBezTo>
                  <a:pt x="28195" y="265145"/>
                  <a:pt x="28463" y="266015"/>
                  <a:pt x="28932" y="266685"/>
                </a:cubicBezTo>
                <a:cubicBezTo>
                  <a:pt x="29401" y="267422"/>
                  <a:pt x="30004" y="267958"/>
                  <a:pt x="30740" y="268359"/>
                </a:cubicBezTo>
                <a:cubicBezTo>
                  <a:pt x="31477" y="268761"/>
                  <a:pt x="32348" y="268895"/>
                  <a:pt x="33151" y="268895"/>
                </a:cubicBezTo>
                <a:lnTo>
                  <a:pt x="50430" y="268292"/>
                </a:lnTo>
                <a:cubicBezTo>
                  <a:pt x="51234" y="269297"/>
                  <a:pt x="52038" y="270235"/>
                  <a:pt x="52841" y="271239"/>
                </a:cubicBezTo>
                <a:lnTo>
                  <a:pt x="48890" y="288116"/>
                </a:lnTo>
                <a:cubicBezTo>
                  <a:pt x="48689" y="288920"/>
                  <a:pt x="48689" y="289791"/>
                  <a:pt x="48957" y="290594"/>
                </a:cubicBezTo>
                <a:cubicBezTo>
                  <a:pt x="49225" y="291398"/>
                  <a:pt x="49627" y="292135"/>
                  <a:pt x="50229" y="292737"/>
                </a:cubicBezTo>
                <a:cubicBezTo>
                  <a:pt x="50832" y="293340"/>
                  <a:pt x="51569" y="293742"/>
                  <a:pt x="52373" y="294010"/>
                </a:cubicBezTo>
                <a:cubicBezTo>
                  <a:pt x="53176" y="294278"/>
                  <a:pt x="54047" y="294278"/>
                  <a:pt x="54851" y="294077"/>
                </a:cubicBezTo>
                <a:lnTo>
                  <a:pt x="71728" y="290126"/>
                </a:lnTo>
                <a:cubicBezTo>
                  <a:pt x="72732" y="290929"/>
                  <a:pt x="73670" y="291733"/>
                  <a:pt x="74675" y="292537"/>
                </a:cubicBezTo>
                <a:lnTo>
                  <a:pt x="74072" y="309816"/>
                </a:lnTo>
                <a:cubicBezTo>
                  <a:pt x="74072" y="310686"/>
                  <a:pt x="74206" y="311490"/>
                  <a:pt x="74608" y="312227"/>
                </a:cubicBezTo>
                <a:cubicBezTo>
                  <a:pt x="75009" y="312963"/>
                  <a:pt x="75545" y="313633"/>
                  <a:pt x="76282" y="314102"/>
                </a:cubicBezTo>
                <a:cubicBezTo>
                  <a:pt x="77019" y="314571"/>
                  <a:pt x="77755" y="314838"/>
                  <a:pt x="78626" y="314905"/>
                </a:cubicBezTo>
                <a:cubicBezTo>
                  <a:pt x="79497" y="314972"/>
                  <a:pt x="80300" y="314838"/>
                  <a:pt x="81037" y="314504"/>
                </a:cubicBezTo>
                <a:lnTo>
                  <a:pt x="96709" y="307338"/>
                </a:lnTo>
                <a:cubicBezTo>
                  <a:pt x="97847" y="307940"/>
                  <a:pt x="98986" y="308543"/>
                  <a:pt x="100124" y="309146"/>
                </a:cubicBezTo>
                <a:lnTo>
                  <a:pt x="102937" y="326157"/>
                </a:lnTo>
                <a:cubicBezTo>
                  <a:pt x="103071" y="326961"/>
                  <a:pt x="103406" y="327764"/>
                  <a:pt x="103942" y="328434"/>
                </a:cubicBezTo>
                <a:cubicBezTo>
                  <a:pt x="104477" y="329104"/>
                  <a:pt x="105147" y="329639"/>
                  <a:pt x="105884" y="329907"/>
                </a:cubicBezTo>
                <a:cubicBezTo>
                  <a:pt x="106620" y="330175"/>
                  <a:pt x="107491" y="330376"/>
                  <a:pt x="108362" y="330242"/>
                </a:cubicBezTo>
                <a:cubicBezTo>
                  <a:pt x="109232" y="330108"/>
                  <a:pt x="109969" y="329840"/>
                  <a:pt x="110639" y="329372"/>
                </a:cubicBezTo>
                <a:lnTo>
                  <a:pt x="124569" y="319326"/>
                </a:lnTo>
                <a:cubicBezTo>
                  <a:pt x="125842" y="319727"/>
                  <a:pt x="127114" y="320062"/>
                  <a:pt x="128320" y="320464"/>
                </a:cubicBezTo>
                <a:lnTo>
                  <a:pt x="134347" y="336538"/>
                </a:lnTo>
                <a:cubicBezTo>
                  <a:pt x="134615" y="337341"/>
                  <a:pt x="135151" y="338011"/>
                  <a:pt x="135754" y="338547"/>
                </a:cubicBezTo>
                <a:cubicBezTo>
                  <a:pt x="136356" y="339083"/>
                  <a:pt x="137160" y="339484"/>
                  <a:pt x="137964" y="339618"/>
                </a:cubicBezTo>
                <a:cubicBezTo>
                  <a:pt x="138767" y="339752"/>
                  <a:pt x="139638" y="339752"/>
                  <a:pt x="140442" y="339484"/>
                </a:cubicBezTo>
                <a:cubicBezTo>
                  <a:pt x="141245" y="339217"/>
                  <a:pt x="141982" y="338748"/>
                  <a:pt x="142518" y="338145"/>
                </a:cubicBezTo>
                <a:lnTo>
                  <a:pt x="154238" y="325621"/>
                </a:lnTo>
                <a:cubicBezTo>
                  <a:pt x="155577" y="325755"/>
                  <a:pt x="156850" y="325889"/>
                  <a:pt x="158189" y="326023"/>
                </a:cubicBezTo>
                <a:lnTo>
                  <a:pt x="167231" y="340623"/>
                </a:lnTo>
                <a:cubicBezTo>
                  <a:pt x="167700" y="341360"/>
                  <a:pt x="168302" y="341895"/>
                  <a:pt x="169039" y="342364"/>
                </a:cubicBezTo>
                <a:cubicBezTo>
                  <a:pt x="169776" y="342833"/>
                  <a:pt x="170579" y="342967"/>
                  <a:pt x="171450" y="342967"/>
                </a:cubicBezTo>
                <a:cubicBezTo>
                  <a:pt x="172321" y="342967"/>
                  <a:pt x="173124" y="342766"/>
                  <a:pt x="173861" y="342364"/>
                </a:cubicBezTo>
                <a:cubicBezTo>
                  <a:pt x="174598" y="341962"/>
                  <a:pt x="175200" y="341360"/>
                  <a:pt x="175669" y="340623"/>
                </a:cubicBezTo>
                <a:lnTo>
                  <a:pt x="184711" y="326023"/>
                </a:lnTo>
                <a:cubicBezTo>
                  <a:pt x="186050" y="325889"/>
                  <a:pt x="187323" y="325822"/>
                  <a:pt x="188662" y="325621"/>
                </a:cubicBezTo>
                <a:lnTo>
                  <a:pt x="200382" y="338145"/>
                </a:lnTo>
                <a:cubicBezTo>
                  <a:pt x="200985" y="338748"/>
                  <a:pt x="201655" y="339217"/>
                  <a:pt x="202458" y="339484"/>
                </a:cubicBezTo>
                <a:cubicBezTo>
                  <a:pt x="203262" y="339752"/>
                  <a:pt x="204133" y="339819"/>
                  <a:pt x="204936" y="339618"/>
                </a:cubicBezTo>
                <a:cubicBezTo>
                  <a:pt x="205740" y="339417"/>
                  <a:pt x="206544" y="339083"/>
                  <a:pt x="207146" y="338547"/>
                </a:cubicBezTo>
                <a:cubicBezTo>
                  <a:pt x="207749" y="338011"/>
                  <a:pt x="208285" y="337341"/>
                  <a:pt x="208553" y="336538"/>
                </a:cubicBezTo>
                <a:lnTo>
                  <a:pt x="214580" y="320464"/>
                </a:lnTo>
                <a:cubicBezTo>
                  <a:pt x="215853" y="320062"/>
                  <a:pt x="217125" y="319727"/>
                  <a:pt x="218331" y="319326"/>
                </a:cubicBezTo>
                <a:lnTo>
                  <a:pt x="232261" y="329372"/>
                </a:lnTo>
                <a:cubicBezTo>
                  <a:pt x="232931" y="329840"/>
                  <a:pt x="233735" y="330175"/>
                  <a:pt x="234538" y="330242"/>
                </a:cubicBezTo>
                <a:cubicBezTo>
                  <a:pt x="235342" y="330309"/>
                  <a:pt x="236213" y="330242"/>
                  <a:pt x="237016" y="329907"/>
                </a:cubicBezTo>
                <a:cubicBezTo>
                  <a:pt x="237820" y="329572"/>
                  <a:pt x="238490" y="329104"/>
                  <a:pt x="238958" y="328434"/>
                </a:cubicBezTo>
                <a:cubicBezTo>
                  <a:pt x="239427" y="327764"/>
                  <a:pt x="239829" y="327027"/>
                  <a:pt x="239963" y="326157"/>
                </a:cubicBezTo>
                <a:lnTo>
                  <a:pt x="242776" y="309146"/>
                </a:lnTo>
                <a:cubicBezTo>
                  <a:pt x="243914" y="308543"/>
                  <a:pt x="245053" y="307940"/>
                  <a:pt x="246191" y="307338"/>
                </a:cubicBezTo>
                <a:lnTo>
                  <a:pt x="261863" y="314504"/>
                </a:lnTo>
                <a:cubicBezTo>
                  <a:pt x="262600" y="314838"/>
                  <a:pt x="263470" y="314972"/>
                  <a:pt x="264274" y="314905"/>
                </a:cubicBezTo>
                <a:cubicBezTo>
                  <a:pt x="265078" y="314838"/>
                  <a:pt x="265881" y="314571"/>
                  <a:pt x="266618" y="314102"/>
                </a:cubicBezTo>
                <a:cubicBezTo>
                  <a:pt x="267355" y="313633"/>
                  <a:pt x="267891" y="313030"/>
                  <a:pt x="268292" y="312227"/>
                </a:cubicBezTo>
                <a:cubicBezTo>
                  <a:pt x="268694" y="311423"/>
                  <a:pt x="268828" y="310619"/>
                  <a:pt x="268828" y="309816"/>
                </a:cubicBezTo>
                <a:lnTo>
                  <a:pt x="268225" y="292537"/>
                </a:lnTo>
                <a:cubicBezTo>
                  <a:pt x="269230" y="291733"/>
                  <a:pt x="270168" y="290929"/>
                  <a:pt x="271172" y="290126"/>
                </a:cubicBezTo>
                <a:lnTo>
                  <a:pt x="288049" y="294077"/>
                </a:lnTo>
                <a:cubicBezTo>
                  <a:pt x="288853" y="294278"/>
                  <a:pt x="289724" y="294278"/>
                  <a:pt x="290527" y="294010"/>
                </a:cubicBezTo>
                <a:cubicBezTo>
                  <a:pt x="291331" y="293742"/>
                  <a:pt x="292068" y="293340"/>
                  <a:pt x="292671" y="292737"/>
                </a:cubicBezTo>
                <a:cubicBezTo>
                  <a:pt x="293273" y="292135"/>
                  <a:pt x="293675" y="291398"/>
                  <a:pt x="293943" y="290594"/>
                </a:cubicBezTo>
                <a:cubicBezTo>
                  <a:pt x="294211" y="289791"/>
                  <a:pt x="294211" y="288920"/>
                  <a:pt x="294010" y="288116"/>
                </a:cubicBezTo>
                <a:lnTo>
                  <a:pt x="290059" y="271239"/>
                </a:lnTo>
                <a:cubicBezTo>
                  <a:pt x="290862" y="270302"/>
                  <a:pt x="291666" y="269297"/>
                  <a:pt x="292470" y="268292"/>
                </a:cubicBezTo>
                <a:lnTo>
                  <a:pt x="309749" y="268895"/>
                </a:lnTo>
                <a:cubicBezTo>
                  <a:pt x="310619" y="268962"/>
                  <a:pt x="311423" y="268761"/>
                  <a:pt x="312160" y="268359"/>
                </a:cubicBezTo>
                <a:cubicBezTo>
                  <a:pt x="312896" y="267958"/>
                  <a:pt x="313566" y="267422"/>
                  <a:pt x="314035" y="266685"/>
                </a:cubicBezTo>
                <a:cubicBezTo>
                  <a:pt x="314504" y="266015"/>
                  <a:pt x="314771" y="265212"/>
                  <a:pt x="314838" y="264341"/>
                </a:cubicBezTo>
                <a:cubicBezTo>
                  <a:pt x="314905" y="263470"/>
                  <a:pt x="314771" y="262667"/>
                  <a:pt x="314437" y="261930"/>
                </a:cubicBezTo>
                <a:lnTo>
                  <a:pt x="307271" y="246258"/>
                </a:lnTo>
                <a:cubicBezTo>
                  <a:pt x="307873" y="245120"/>
                  <a:pt x="308476" y="243981"/>
                  <a:pt x="309079" y="242843"/>
                </a:cubicBezTo>
                <a:lnTo>
                  <a:pt x="326090" y="240030"/>
                </a:lnTo>
                <a:cubicBezTo>
                  <a:pt x="326894" y="239896"/>
                  <a:pt x="327697" y="239561"/>
                  <a:pt x="328367" y="239025"/>
                </a:cubicBezTo>
                <a:cubicBezTo>
                  <a:pt x="329037" y="238490"/>
                  <a:pt x="329572" y="237820"/>
                  <a:pt x="329840" y="237083"/>
                </a:cubicBezTo>
                <a:cubicBezTo>
                  <a:pt x="330108" y="236347"/>
                  <a:pt x="330309" y="235476"/>
                  <a:pt x="330175" y="234605"/>
                </a:cubicBezTo>
                <a:cubicBezTo>
                  <a:pt x="330041" y="233735"/>
                  <a:pt x="329773" y="232998"/>
                  <a:pt x="329305" y="232328"/>
                </a:cubicBezTo>
                <a:lnTo>
                  <a:pt x="319259" y="218398"/>
                </a:lnTo>
                <a:cubicBezTo>
                  <a:pt x="319660" y="217125"/>
                  <a:pt x="319995" y="215853"/>
                  <a:pt x="320397" y="214647"/>
                </a:cubicBezTo>
                <a:lnTo>
                  <a:pt x="336471" y="208620"/>
                </a:lnTo>
                <a:cubicBezTo>
                  <a:pt x="337274" y="208352"/>
                  <a:pt x="337944" y="207816"/>
                  <a:pt x="338480" y="207213"/>
                </a:cubicBezTo>
                <a:cubicBezTo>
                  <a:pt x="339016" y="206611"/>
                  <a:pt x="339417" y="205807"/>
                  <a:pt x="339551" y="205003"/>
                </a:cubicBezTo>
                <a:cubicBezTo>
                  <a:pt x="339685" y="204200"/>
                  <a:pt x="339685" y="203329"/>
                  <a:pt x="339417" y="202525"/>
                </a:cubicBezTo>
                <a:cubicBezTo>
                  <a:pt x="339150" y="201722"/>
                  <a:pt x="338681" y="200985"/>
                  <a:pt x="338078" y="200449"/>
                </a:cubicBezTo>
                <a:lnTo>
                  <a:pt x="325554" y="188729"/>
                </a:lnTo>
                <a:cubicBezTo>
                  <a:pt x="325688" y="187456"/>
                  <a:pt x="325822" y="186117"/>
                  <a:pt x="325956" y="184778"/>
                </a:cubicBezTo>
                <a:lnTo>
                  <a:pt x="340556" y="175736"/>
                </a:lnTo>
                <a:cubicBezTo>
                  <a:pt x="341293" y="175267"/>
                  <a:pt x="341828" y="174665"/>
                  <a:pt x="342297" y="173928"/>
                </a:cubicBezTo>
                <a:cubicBezTo>
                  <a:pt x="342766" y="173191"/>
                  <a:pt x="342900" y="172388"/>
                  <a:pt x="342900" y="171517"/>
                </a:cubicBezTo>
                <a:cubicBezTo>
                  <a:pt x="342900" y="170646"/>
                  <a:pt x="342699" y="169843"/>
                  <a:pt x="342297" y="169106"/>
                </a:cubicBezTo>
                <a:cubicBezTo>
                  <a:pt x="341895" y="168369"/>
                  <a:pt x="341293" y="167767"/>
                  <a:pt x="340556" y="167298"/>
                </a:cubicBezTo>
                <a:lnTo>
                  <a:pt x="340556" y="167298"/>
                </a:lnTo>
                <a:close/>
                <a:moveTo>
                  <a:pt x="239427" y="253759"/>
                </a:moveTo>
                <a:cubicBezTo>
                  <a:pt x="237016" y="253224"/>
                  <a:pt x="234471" y="253692"/>
                  <a:pt x="232395" y="255032"/>
                </a:cubicBezTo>
                <a:cubicBezTo>
                  <a:pt x="230319" y="256371"/>
                  <a:pt x="228846" y="258514"/>
                  <a:pt x="228377" y="260925"/>
                </a:cubicBezTo>
                <a:lnTo>
                  <a:pt x="223287" y="284835"/>
                </a:lnTo>
                <a:cubicBezTo>
                  <a:pt x="206812" y="292269"/>
                  <a:pt x="188930" y="296086"/>
                  <a:pt x="170847" y="296019"/>
                </a:cubicBezTo>
                <a:cubicBezTo>
                  <a:pt x="152765" y="295952"/>
                  <a:pt x="134950" y="291934"/>
                  <a:pt x="118542" y="284366"/>
                </a:cubicBezTo>
                <a:lnTo>
                  <a:pt x="113452" y="260457"/>
                </a:lnTo>
                <a:cubicBezTo>
                  <a:pt x="113184" y="259251"/>
                  <a:pt x="112715" y="258113"/>
                  <a:pt x="112045" y="257108"/>
                </a:cubicBezTo>
                <a:cubicBezTo>
                  <a:pt x="111376" y="256103"/>
                  <a:pt x="110438" y="255233"/>
                  <a:pt x="109433" y="254563"/>
                </a:cubicBezTo>
                <a:cubicBezTo>
                  <a:pt x="108429" y="253893"/>
                  <a:pt x="107290" y="253425"/>
                  <a:pt x="106085" y="253224"/>
                </a:cubicBezTo>
                <a:cubicBezTo>
                  <a:pt x="104879" y="253023"/>
                  <a:pt x="103674" y="253023"/>
                  <a:pt x="102468" y="253291"/>
                </a:cubicBezTo>
                <a:lnTo>
                  <a:pt x="81372" y="257845"/>
                </a:lnTo>
                <a:cubicBezTo>
                  <a:pt x="77487" y="253826"/>
                  <a:pt x="73804" y="249473"/>
                  <a:pt x="70455" y="244986"/>
                </a:cubicBezTo>
                <a:lnTo>
                  <a:pt x="173057" y="244986"/>
                </a:lnTo>
                <a:cubicBezTo>
                  <a:pt x="174196" y="244986"/>
                  <a:pt x="175000" y="244785"/>
                  <a:pt x="175000" y="243713"/>
                </a:cubicBezTo>
                <a:lnTo>
                  <a:pt x="175000" y="207414"/>
                </a:lnTo>
                <a:cubicBezTo>
                  <a:pt x="175000" y="206343"/>
                  <a:pt x="174196" y="206142"/>
                  <a:pt x="173057" y="206142"/>
                </a:cubicBezTo>
                <a:lnTo>
                  <a:pt x="143054" y="206142"/>
                </a:lnTo>
                <a:lnTo>
                  <a:pt x="143054" y="183103"/>
                </a:lnTo>
                <a:lnTo>
                  <a:pt x="175535" y="183103"/>
                </a:lnTo>
                <a:cubicBezTo>
                  <a:pt x="178482" y="183103"/>
                  <a:pt x="191408" y="183974"/>
                  <a:pt x="195493" y="200449"/>
                </a:cubicBezTo>
                <a:cubicBezTo>
                  <a:pt x="196766" y="205472"/>
                  <a:pt x="199645" y="221947"/>
                  <a:pt x="201588" y="227238"/>
                </a:cubicBezTo>
                <a:cubicBezTo>
                  <a:pt x="203530" y="233132"/>
                  <a:pt x="211366" y="244986"/>
                  <a:pt x="219737" y="244986"/>
                </a:cubicBezTo>
                <a:lnTo>
                  <a:pt x="272646" y="244986"/>
                </a:lnTo>
                <a:cubicBezTo>
                  <a:pt x="269096" y="249741"/>
                  <a:pt x="265212" y="254228"/>
                  <a:pt x="261059" y="258447"/>
                </a:cubicBezTo>
                <a:lnTo>
                  <a:pt x="239561" y="253826"/>
                </a:lnTo>
                <a:close/>
                <a:moveTo>
                  <a:pt x="256706" y="276865"/>
                </a:moveTo>
                <a:cubicBezTo>
                  <a:pt x="256706" y="278874"/>
                  <a:pt x="256103" y="280883"/>
                  <a:pt x="254965" y="282558"/>
                </a:cubicBezTo>
                <a:cubicBezTo>
                  <a:pt x="253826" y="284232"/>
                  <a:pt x="252286" y="285571"/>
                  <a:pt x="250411" y="286308"/>
                </a:cubicBezTo>
                <a:cubicBezTo>
                  <a:pt x="248536" y="287045"/>
                  <a:pt x="246526" y="287313"/>
                  <a:pt x="244517" y="286911"/>
                </a:cubicBezTo>
                <a:cubicBezTo>
                  <a:pt x="242508" y="286509"/>
                  <a:pt x="240700" y="285571"/>
                  <a:pt x="239293" y="284098"/>
                </a:cubicBezTo>
                <a:cubicBezTo>
                  <a:pt x="237887" y="282625"/>
                  <a:pt x="236882" y="280883"/>
                  <a:pt x="236480" y="278874"/>
                </a:cubicBezTo>
                <a:cubicBezTo>
                  <a:pt x="236079" y="276865"/>
                  <a:pt x="236280" y="274856"/>
                  <a:pt x="237016" y="272981"/>
                </a:cubicBezTo>
                <a:cubicBezTo>
                  <a:pt x="237753" y="271105"/>
                  <a:pt x="239092" y="269498"/>
                  <a:pt x="240767" y="268359"/>
                </a:cubicBezTo>
                <a:cubicBezTo>
                  <a:pt x="242441" y="267221"/>
                  <a:pt x="244383" y="266618"/>
                  <a:pt x="246459" y="266618"/>
                </a:cubicBezTo>
                <a:lnTo>
                  <a:pt x="246727" y="266618"/>
                </a:lnTo>
                <a:cubicBezTo>
                  <a:pt x="249406" y="266685"/>
                  <a:pt x="251884" y="267824"/>
                  <a:pt x="253759" y="269699"/>
                </a:cubicBezTo>
                <a:cubicBezTo>
                  <a:pt x="255635" y="271574"/>
                  <a:pt x="256639" y="274186"/>
                  <a:pt x="256639" y="276798"/>
                </a:cubicBezTo>
                <a:lnTo>
                  <a:pt x="256706" y="276798"/>
                </a:lnTo>
                <a:close/>
                <a:moveTo>
                  <a:pt x="105616" y="276396"/>
                </a:moveTo>
                <a:cubicBezTo>
                  <a:pt x="105616" y="278405"/>
                  <a:pt x="105013" y="280415"/>
                  <a:pt x="103875" y="282089"/>
                </a:cubicBezTo>
                <a:cubicBezTo>
                  <a:pt x="102736" y="283763"/>
                  <a:pt x="101129" y="285103"/>
                  <a:pt x="99320" y="285839"/>
                </a:cubicBezTo>
                <a:cubicBezTo>
                  <a:pt x="97512" y="286576"/>
                  <a:pt x="95436" y="286844"/>
                  <a:pt x="93427" y="286442"/>
                </a:cubicBezTo>
                <a:cubicBezTo>
                  <a:pt x="91418" y="286040"/>
                  <a:pt x="89609" y="285103"/>
                  <a:pt x="88203" y="283629"/>
                </a:cubicBezTo>
                <a:cubicBezTo>
                  <a:pt x="86797" y="282156"/>
                  <a:pt x="85792" y="280415"/>
                  <a:pt x="85390" y="278405"/>
                </a:cubicBezTo>
                <a:cubicBezTo>
                  <a:pt x="84988" y="276396"/>
                  <a:pt x="85189" y="274387"/>
                  <a:pt x="85993" y="272512"/>
                </a:cubicBezTo>
                <a:cubicBezTo>
                  <a:pt x="86797" y="270637"/>
                  <a:pt x="88069" y="269029"/>
                  <a:pt x="89743" y="267958"/>
                </a:cubicBezTo>
                <a:cubicBezTo>
                  <a:pt x="91418" y="266886"/>
                  <a:pt x="93360" y="266216"/>
                  <a:pt x="95436" y="266216"/>
                </a:cubicBezTo>
                <a:lnTo>
                  <a:pt x="95771" y="266216"/>
                </a:lnTo>
                <a:cubicBezTo>
                  <a:pt x="98450" y="266283"/>
                  <a:pt x="100928" y="267422"/>
                  <a:pt x="102803" y="269297"/>
                </a:cubicBezTo>
                <a:cubicBezTo>
                  <a:pt x="104678" y="271172"/>
                  <a:pt x="105683" y="273784"/>
                  <a:pt x="105683" y="276396"/>
                </a:cubicBezTo>
                <a:lnTo>
                  <a:pt x="105750" y="276396"/>
                </a:lnTo>
                <a:close/>
                <a:moveTo>
                  <a:pt x="46613" y="156850"/>
                </a:moveTo>
                <a:lnTo>
                  <a:pt x="68580" y="147072"/>
                </a:lnTo>
                <a:cubicBezTo>
                  <a:pt x="69719" y="146603"/>
                  <a:pt x="70723" y="145866"/>
                  <a:pt x="71527" y="144996"/>
                </a:cubicBezTo>
                <a:cubicBezTo>
                  <a:pt x="72330" y="144125"/>
                  <a:pt x="73000" y="143054"/>
                  <a:pt x="73469" y="141915"/>
                </a:cubicBezTo>
                <a:cubicBezTo>
                  <a:pt x="73938" y="140777"/>
                  <a:pt x="74139" y="139571"/>
                  <a:pt x="74072" y="138366"/>
                </a:cubicBezTo>
                <a:cubicBezTo>
                  <a:pt x="74005" y="137160"/>
                  <a:pt x="73737" y="135954"/>
                  <a:pt x="73268" y="134816"/>
                </a:cubicBezTo>
                <a:lnTo>
                  <a:pt x="68714" y="124636"/>
                </a:lnTo>
                <a:lnTo>
                  <a:pt x="86529" y="124636"/>
                </a:lnTo>
                <a:lnTo>
                  <a:pt x="86529" y="204802"/>
                </a:lnTo>
                <a:lnTo>
                  <a:pt x="50631" y="204802"/>
                </a:lnTo>
                <a:cubicBezTo>
                  <a:pt x="46211" y="189265"/>
                  <a:pt x="44805" y="172923"/>
                  <a:pt x="46546" y="156850"/>
                </a:cubicBezTo>
                <a:close/>
                <a:moveTo>
                  <a:pt x="39045" y="132673"/>
                </a:moveTo>
                <a:cubicBezTo>
                  <a:pt x="39045" y="131333"/>
                  <a:pt x="39313" y="129994"/>
                  <a:pt x="39849" y="128788"/>
                </a:cubicBezTo>
                <a:cubicBezTo>
                  <a:pt x="40385" y="127583"/>
                  <a:pt x="41121" y="126444"/>
                  <a:pt x="42059" y="125507"/>
                </a:cubicBezTo>
                <a:cubicBezTo>
                  <a:pt x="42996" y="124569"/>
                  <a:pt x="44135" y="123832"/>
                  <a:pt x="45340" y="123297"/>
                </a:cubicBezTo>
                <a:cubicBezTo>
                  <a:pt x="46546" y="122761"/>
                  <a:pt x="47885" y="122493"/>
                  <a:pt x="49225" y="122493"/>
                </a:cubicBezTo>
                <a:lnTo>
                  <a:pt x="49560" y="122493"/>
                </a:lnTo>
                <a:cubicBezTo>
                  <a:pt x="51569" y="122560"/>
                  <a:pt x="53511" y="123163"/>
                  <a:pt x="55118" y="124368"/>
                </a:cubicBezTo>
                <a:cubicBezTo>
                  <a:pt x="56726" y="125574"/>
                  <a:pt x="57998" y="127114"/>
                  <a:pt x="58735" y="128989"/>
                </a:cubicBezTo>
                <a:cubicBezTo>
                  <a:pt x="59472" y="130865"/>
                  <a:pt x="59606" y="132874"/>
                  <a:pt x="59204" y="134883"/>
                </a:cubicBezTo>
                <a:cubicBezTo>
                  <a:pt x="58802" y="136892"/>
                  <a:pt x="57797" y="138633"/>
                  <a:pt x="56324" y="140040"/>
                </a:cubicBezTo>
                <a:cubicBezTo>
                  <a:pt x="54851" y="141446"/>
                  <a:pt x="53042" y="142384"/>
                  <a:pt x="51100" y="142786"/>
                </a:cubicBezTo>
                <a:cubicBezTo>
                  <a:pt x="49158" y="143188"/>
                  <a:pt x="47082" y="142920"/>
                  <a:pt x="45274" y="142183"/>
                </a:cubicBezTo>
                <a:cubicBezTo>
                  <a:pt x="43465" y="141446"/>
                  <a:pt x="41858" y="140107"/>
                  <a:pt x="40719" y="138432"/>
                </a:cubicBezTo>
                <a:cubicBezTo>
                  <a:pt x="39581" y="136758"/>
                  <a:pt x="39045" y="134816"/>
                  <a:pt x="39045" y="132807"/>
                </a:cubicBezTo>
                <a:lnTo>
                  <a:pt x="39045" y="132807"/>
                </a:lnTo>
                <a:close/>
                <a:moveTo>
                  <a:pt x="142987" y="149081"/>
                </a:moveTo>
                <a:lnTo>
                  <a:pt x="142987" y="125440"/>
                </a:lnTo>
                <a:lnTo>
                  <a:pt x="185380" y="125440"/>
                </a:lnTo>
                <a:cubicBezTo>
                  <a:pt x="187590" y="125440"/>
                  <a:pt x="200851" y="127985"/>
                  <a:pt x="200851" y="137897"/>
                </a:cubicBezTo>
                <a:cubicBezTo>
                  <a:pt x="200851" y="146134"/>
                  <a:pt x="190671" y="149081"/>
                  <a:pt x="182300" y="149081"/>
                </a:cubicBezTo>
                <a:lnTo>
                  <a:pt x="142987" y="149081"/>
                </a:lnTo>
                <a:close/>
                <a:moveTo>
                  <a:pt x="267221" y="205405"/>
                </a:moveTo>
                <a:cubicBezTo>
                  <a:pt x="260658" y="206142"/>
                  <a:pt x="253425" y="202659"/>
                  <a:pt x="252487" y="198641"/>
                </a:cubicBezTo>
                <a:cubicBezTo>
                  <a:pt x="248602" y="176875"/>
                  <a:pt x="242173" y="172254"/>
                  <a:pt x="231993" y="164217"/>
                </a:cubicBezTo>
                <a:cubicBezTo>
                  <a:pt x="244651" y="156180"/>
                  <a:pt x="257778" y="144393"/>
                  <a:pt x="257778" y="128521"/>
                </a:cubicBezTo>
                <a:cubicBezTo>
                  <a:pt x="257778" y="111442"/>
                  <a:pt x="246058" y="100660"/>
                  <a:pt x="238088" y="95369"/>
                </a:cubicBezTo>
                <a:cubicBezTo>
                  <a:pt x="226836" y="88002"/>
                  <a:pt x="214446" y="86529"/>
                  <a:pt x="211098" y="86529"/>
                </a:cubicBezTo>
                <a:lnTo>
                  <a:pt x="77889" y="86529"/>
                </a:lnTo>
                <a:cubicBezTo>
                  <a:pt x="96307" y="65968"/>
                  <a:pt x="121020" y="52038"/>
                  <a:pt x="148144" y="46881"/>
                </a:cubicBezTo>
                <a:lnTo>
                  <a:pt x="163882" y="63356"/>
                </a:lnTo>
                <a:cubicBezTo>
                  <a:pt x="164753" y="64227"/>
                  <a:pt x="165757" y="64963"/>
                  <a:pt x="166829" y="65432"/>
                </a:cubicBezTo>
                <a:cubicBezTo>
                  <a:pt x="167900" y="65901"/>
                  <a:pt x="169173" y="66169"/>
                  <a:pt x="170378" y="66236"/>
                </a:cubicBezTo>
                <a:cubicBezTo>
                  <a:pt x="171584" y="66303"/>
                  <a:pt x="172789" y="66035"/>
                  <a:pt x="173928" y="65633"/>
                </a:cubicBezTo>
                <a:cubicBezTo>
                  <a:pt x="175067" y="65231"/>
                  <a:pt x="176071" y="64495"/>
                  <a:pt x="177009" y="63691"/>
                </a:cubicBezTo>
                <a:lnTo>
                  <a:pt x="194623" y="46948"/>
                </a:lnTo>
                <a:cubicBezTo>
                  <a:pt x="212571" y="50296"/>
                  <a:pt x="229515" y="57530"/>
                  <a:pt x="244383" y="68111"/>
                </a:cubicBezTo>
                <a:cubicBezTo>
                  <a:pt x="259251" y="78693"/>
                  <a:pt x="271574" y="92355"/>
                  <a:pt x="280615" y="108228"/>
                </a:cubicBezTo>
                <a:lnTo>
                  <a:pt x="268560" y="135419"/>
                </a:lnTo>
                <a:cubicBezTo>
                  <a:pt x="267556" y="137696"/>
                  <a:pt x="267556" y="140241"/>
                  <a:pt x="268426" y="142518"/>
                </a:cubicBezTo>
                <a:cubicBezTo>
                  <a:pt x="269297" y="144795"/>
                  <a:pt x="271038" y="146670"/>
                  <a:pt x="273315" y="147675"/>
                </a:cubicBezTo>
                <a:lnTo>
                  <a:pt x="296488" y="157922"/>
                </a:lnTo>
                <a:cubicBezTo>
                  <a:pt x="297225" y="165155"/>
                  <a:pt x="297292" y="172455"/>
                  <a:pt x="296756" y="179688"/>
                </a:cubicBezTo>
                <a:lnTo>
                  <a:pt x="283830" y="179688"/>
                </a:lnTo>
                <a:cubicBezTo>
                  <a:pt x="282558" y="179688"/>
                  <a:pt x="282022" y="180558"/>
                  <a:pt x="282022" y="181764"/>
                </a:cubicBezTo>
                <a:lnTo>
                  <a:pt x="282022" y="187657"/>
                </a:lnTo>
                <a:cubicBezTo>
                  <a:pt x="282022" y="201588"/>
                  <a:pt x="274186" y="204601"/>
                  <a:pt x="267288" y="205405"/>
                </a:cubicBezTo>
                <a:close/>
                <a:moveTo>
                  <a:pt x="160734" y="40318"/>
                </a:moveTo>
                <a:cubicBezTo>
                  <a:pt x="160734" y="37639"/>
                  <a:pt x="161806" y="35027"/>
                  <a:pt x="163748" y="33151"/>
                </a:cubicBezTo>
                <a:cubicBezTo>
                  <a:pt x="165690" y="31276"/>
                  <a:pt x="168235" y="30138"/>
                  <a:pt x="170914" y="30138"/>
                </a:cubicBezTo>
                <a:lnTo>
                  <a:pt x="171182" y="30138"/>
                </a:lnTo>
                <a:cubicBezTo>
                  <a:pt x="173191" y="30205"/>
                  <a:pt x="175133" y="30807"/>
                  <a:pt x="176808" y="32013"/>
                </a:cubicBezTo>
                <a:cubicBezTo>
                  <a:pt x="178482" y="33218"/>
                  <a:pt x="179688" y="34759"/>
                  <a:pt x="180424" y="36634"/>
                </a:cubicBezTo>
                <a:cubicBezTo>
                  <a:pt x="181161" y="38509"/>
                  <a:pt x="181295" y="40518"/>
                  <a:pt x="180893" y="42528"/>
                </a:cubicBezTo>
                <a:cubicBezTo>
                  <a:pt x="180491" y="44537"/>
                  <a:pt x="179487" y="46278"/>
                  <a:pt x="178013" y="47685"/>
                </a:cubicBezTo>
                <a:cubicBezTo>
                  <a:pt x="176540" y="49091"/>
                  <a:pt x="174732" y="50029"/>
                  <a:pt x="172789" y="50363"/>
                </a:cubicBezTo>
                <a:cubicBezTo>
                  <a:pt x="170847" y="50698"/>
                  <a:pt x="168771" y="50497"/>
                  <a:pt x="166963" y="49761"/>
                </a:cubicBezTo>
                <a:cubicBezTo>
                  <a:pt x="165155" y="49024"/>
                  <a:pt x="163547" y="47685"/>
                  <a:pt x="162409" y="46010"/>
                </a:cubicBezTo>
                <a:cubicBezTo>
                  <a:pt x="161270" y="44336"/>
                  <a:pt x="160734" y="42394"/>
                  <a:pt x="160734" y="40385"/>
                </a:cubicBezTo>
                <a:close/>
                <a:moveTo>
                  <a:pt x="292537" y="143321"/>
                </a:moveTo>
                <a:cubicBezTo>
                  <a:pt x="291197" y="143321"/>
                  <a:pt x="289858" y="143054"/>
                  <a:pt x="288652" y="142518"/>
                </a:cubicBezTo>
                <a:cubicBezTo>
                  <a:pt x="287447" y="141982"/>
                  <a:pt x="286308" y="141245"/>
                  <a:pt x="285370" y="140308"/>
                </a:cubicBezTo>
                <a:cubicBezTo>
                  <a:pt x="284433" y="139370"/>
                  <a:pt x="283696" y="138232"/>
                  <a:pt x="283160" y="137026"/>
                </a:cubicBezTo>
                <a:cubicBezTo>
                  <a:pt x="282625" y="135821"/>
                  <a:pt x="282357" y="134481"/>
                  <a:pt x="282357" y="133142"/>
                </a:cubicBezTo>
                <a:cubicBezTo>
                  <a:pt x="282357" y="131802"/>
                  <a:pt x="282625" y="130463"/>
                  <a:pt x="283160" y="129257"/>
                </a:cubicBezTo>
                <a:cubicBezTo>
                  <a:pt x="283696" y="128052"/>
                  <a:pt x="284433" y="126913"/>
                  <a:pt x="285370" y="125976"/>
                </a:cubicBezTo>
                <a:cubicBezTo>
                  <a:pt x="286308" y="125038"/>
                  <a:pt x="287447" y="124301"/>
                  <a:pt x="288652" y="123765"/>
                </a:cubicBezTo>
                <a:cubicBezTo>
                  <a:pt x="289858" y="123230"/>
                  <a:pt x="291197" y="122962"/>
                  <a:pt x="292537" y="122962"/>
                </a:cubicBezTo>
                <a:lnTo>
                  <a:pt x="292804" y="122962"/>
                </a:lnTo>
                <a:cubicBezTo>
                  <a:pt x="295483" y="123029"/>
                  <a:pt x="298095" y="124100"/>
                  <a:pt x="299971" y="126043"/>
                </a:cubicBezTo>
                <a:cubicBezTo>
                  <a:pt x="301846" y="127985"/>
                  <a:pt x="302917" y="130597"/>
                  <a:pt x="302850" y="133276"/>
                </a:cubicBezTo>
                <a:cubicBezTo>
                  <a:pt x="302783" y="135954"/>
                  <a:pt x="301712" y="138566"/>
                  <a:pt x="299770" y="140442"/>
                </a:cubicBezTo>
                <a:cubicBezTo>
                  <a:pt x="297827" y="142317"/>
                  <a:pt x="295215" y="143388"/>
                  <a:pt x="292537" y="14332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3386138" y="6124575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90900" y="642937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Safety &amp; Samaradorlik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376363"/>
            <a:ext cx="5610225" cy="4048125"/>
          </a:xfrm>
          <a:custGeom>
            <a:avLst/>
            <a:gdLst/>
            <a:ahLst/>
            <a:cxnLst/>
            <a:rect l="l" t="t" r="r" b="b"/>
            <a:pathLst>
              <a:path w="5610225" h="4048125">
                <a:moveTo>
                  <a:pt x="76186" y="0"/>
                </a:moveTo>
                <a:lnTo>
                  <a:pt x="5534039" y="0"/>
                </a:lnTo>
                <a:cubicBezTo>
                  <a:pt x="5576087" y="0"/>
                  <a:pt x="5610225" y="34138"/>
                  <a:pt x="5610225" y="76186"/>
                </a:cubicBezTo>
                <a:lnTo>
                  <a:pt x="5610225" y="3971939"/>
                </a:lnTo>
                <a:cubicBezTo>
                  <a:pt x="5610225" y="4014015"/>
                  <a:pt x="5576115" y="4048125"/>
                  <a:pt x="5534039" y="4048125"/>
                </a:cubicBezTo>
                <a:lnTo>
                  <a:pt x="76186" y="4048125"/>
                </a:lnTo>
                <a:cubicBezTo>
                  <a:pt x="34138" y="4048125"/>
                  <a:pt x="0" y="4013987"/>
                  <a:pt x="0" y="3971939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275" y="1571625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Gateway Vazifalari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91275" y="199072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05575" y="2105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19875" y="2219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5" name="Text 23"/>
          <p:cNvSpPr/>
          <p:nvPr/>
        </p:nvSpPr>
        <p:spPr>
          <a:xfrm>
            <a:off x="7000875" y="2105025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Autentifikatsiya Tekshiruvi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00875" y="2371725"/>
            <a:ext cx="452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Barcha so'rovlar autentifikatsiya va avtorizatsiya tekshiruvidan o'tadi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1275" y="282892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05575" y="2943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19875" y="3057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7000875" y="29432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So'rov Marshrutlash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00875" y="320992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Tranzaksiyalar to'g'ri dvigatellarga yo'naltiriladi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1275" y="366712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05575" y="3781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19875" y="3895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5" name="Text 33"/>
          <p:cNvSpPr/>
          <p:nvPr/>
        </p:nvSpPr>
        <p:spPr>
          <a:xfrm>
            <a:off x="7000875" y="3781425"/>
            <a:ext cx="3533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Deadline Boshqaruvi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00875" y="4048125"/>
            <a:ext cx="3533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 bir so'rov uchun vaqt chegaralari nazorat qilinadi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1275" y="450532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505575" y="46196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19875" y="4733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0194" y="10239"/>
                </a:moveTo>
                <a:cubicBezTo>
                  <a:pt x="123765" y="8751"/>
                  <a:pt x="127843" y="9585"/>
                  <a:pt x="130582" y="12293"/>
                </a:cubicBezTo>
                <a:lnTo>
                  <a:pt x="149632" y="31343"/>
                </a:lnTo>
                <a:cubicBezTo>
                  <a:pt x="151418" y="33129"/>
                  <a:pt x="152430" y="35540"/>
                  <a:pt x="152430" y="38070"/>
                </a:cubicBezTo>
                <a:cubicBezTo>
                  <a:pt x="152430" y="40600"/>
                  <a:pt x="151418" y="43011"/>
                  <a:pt x="149632" y="44797"/>
                </a:cubicBezTo>
                <a:lnTo>
                  <a:pt x="130582" y="63847"/>
                </a:lnTo>
                <a:cubicBezTo>
                  <a:pt x="127843" y="66586"/>
                  <a:pt x="123765" y="67389"/>
                  <a:pt x="120194" y="65901"/>
                </a:cubicBezTo>
                <a:cubicBezTo>
                  <a:pt x="116622" y="64413"/>
                  <a:pt x="114300" y="60990"/>
                  <a:pt x="114300" y="57150"/>
                </a:cubicBezTo>
                <a:lnTo>
                  <a:pt x="114300" y="47625"/>
                </a:lnTo>
                <a:lnTo>
                  <a:pt x="104775" y="47625"/>
                </a:lnTo>
                <a:cubicBezTo>
                  <a:pt x="101769" y="47625"/>
                  <a:pt x="98941" y="49024"/>
                  <a:pt x="97155" y="51435"/>
                </a:cubicBezTo>
                <a:lnTo>
                  <a:pt x="87511" y="64294"/>
                </a:lnTo>
                <a:lnTo>
                  <a:pt x="75605" y="48429"/>
                </a:lnTo>
                <a:lnTo>
                  <a:pt x="81915" y="40005"/>
                </a:lnTo>
                <a:cubicBezTo>
                  <a:pt x="87303" y="32802"/>
                  <a:pt x="95786" y="28575"/>
                  <a:pt x="104775" y="28575"/>
                </a:cubicBezTo>
                <a:lnTo>
                  <a:pt x="114300" y="28575"/>
                </a:lnTo>
                <a:lnTo>
                  <a:pt x="114300" y="19050"/>
                </a:lnTo>
                <a:cubicBezTo>
                  <a:pt x="114300" y="15210"/>
                  <a:pt x="116622" y="11728"/>
                  <a:pt x="120194" y="10239"/>
                </a:cubicBezTo>
                <a:close/>
                <a:moveTo>
                  <a:pt x="45839" y="88106"/>
                </a:moveTo>
                <a:lnTo>
                  <a:pt x="57745" y="103971"/>
                </a:lnTo>
                <a:lnTo>
                  <a:pt x="51435" y="112395"/>
                </a:lnTo>
                <a:cubicBezTo>
                  <a:pt x="46047" y="119598"/>
                  <a:pt x="37564" y="123825"/>
                  <a:pt x="28575" y="123825"/>
                </a:cubicBez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28575" y="104775"/>
                </a:lnTo>
                <a:cubicBezTo>
                  <a:pt x="31581" y="104775"/>
                  <a:pt x="34409" y="103376"/>
                  <a:pt x="36195" y="100965"/>
                </a:cubicBezTo>
                <a:lnTo>
                  <a:pt x="45839" y="88106"/>
                </a:lnTo>
                <a:close/>
                <a:moveTo>
                  <a:pt x="130552" y="140077"/>
                </a:moveTo>
                <a:cubicBezTo>
                  <a:pt x="127814" y="142815"/>
                  <a:pt x="123736" y="143619"/>
                  <a:pt x="120164" y="142131"/>
                </a:cubicBezTo>
                <a:cubicBezTo>
                  <a:pt x="116592" y="140643"/>
                  <a:pt x="114300" y="137190"/>
                  <a:pt x="114300" y="133350"/>
                </a:cubicBezTo>
                <a:lnTo>
                  <a:pt x="114300" y="123825"/>
                </a:lnTo>
                <a:lnTo>
                  <a:pt x="104775" y="123825"/>
                </a:lnTo>
                <a:cubicBezTo>
                  <a:pt x="95786" y="123825"/>
                  <a:pt x="87303" y="119598"/>
                  <a:pt x="81915" y="112395"/>
                </a:cubicBezTo>
                <a:lnTo>
                  <a:pt x="36195" y="51435"/>
                </a:lnTo>
                <a:cubicBezTo>
                  <a:pt x="34409" y="49024"/>
                  <a:pt x="31581" y="47625"/>
                  <a:pt x="28575" y="4762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cubicBezTo>
                  <a:pt x="37564" y="28575"/>
                  <a:pt x="46047" y="32802"/>
                  <a:pt x="51435" y="40005"/>
                </a:cubicBezTo>
                <a:lnTo>
                  <a:pt x="97155" y="100965"/>
                </a:lnTo>
                <a:cubicBezTo>
                  <a:pt x="98941" y="103376"/>
                  <a:pt x="101769" y="104775"/>
                  <a:pt x="104775" y="104775"/>
                </a:cubicBezTo>
                <a:lnTo>
                  <a:pt x="114300" y="104775"/>
                </a:lnTo>
                <a:lnTo>
                  <a:pt x="114300" y="95250"/>
                </a:lnTo>
                <a:cubicBezTo>
                  <a:pt x="114300" y="91410"/>
                  <a:pt x="116622" y="87928"/>
                  <a:pt x="120194" y="86439"/>
                </a:cubicBezTo>
                <a:cubicBezTo>
                  <a:pt x="123765" y="84951"/>
                  <a:pt x="127843" y="85785"/>
                  <a:pt x="130582" y="88493"/>
                </a:cubicBezTo>
                <a:lnTo>
                  <a:pt x="149632" y="107543"/>
                </a:lnTo>
                <a:cubicBezTo>
                  <a:pt x="151418" y="109329"/>
                  <a:pt x="152430" y="111740"/>
                  <a:pt x="152430" y="114270"/>
                </a:cubicBezTo>
                <a:cubicBezTo>
                  <a:pt x="152430" y="116800"/>
                  <a:pt x="151418" y="119211"/>
                  <a:pt x="149632" y="120997"/>
                </a:cubicBezTo>
                <a:lnTo>
                  <a:pt x="130582" y="140047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0" name="Text 38"/>
          <p:cNvSpPr/>
          <p:nvPr/>
        </p:nvSpPr>
        <p:spPr>
          <a:xfrm>
            <a:off x="7000875" y="4619625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Failover Orkestratsiyasi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00875" y="4886325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Tizim uzilishlarida avtomatik zaxiralash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6013" y="5586413"/>
            <a:ext cx="5610225" cy="1228725"/>
          </a:xfrm>
          <a:custGeom>
            <a:avLst/>
            <a:gdLst/>
            <a:ahLst/>
            <a:cxnLst/>
            <a:rect l="l" t="t" r="r" b="b"/>
            <a:pathLst>
              <a:path w="5610225" h="1228725">
                <a:moveTo>
                  <a:pt x="76206" y="0"/>
                </a:moveTo>
                <a:lnTo>
                  <a:pt x="5534019" y="0"/>
                </a:lnTo>
                <a:cubicBezTo>
                  <a:pt x="5576107" y="0"/>
                  <a:pt x="5610225" y="34118"/>
                  <a:pt x="5610225" y="76206"/>
                </a:cubicBezTo>
                <a:lnTo>
                  <a:pt x="5610225" y="1152519"/>
                </a:lnTo>
                <a:cubicBezTo>
                  <a:pt x="5610225" y="1194607"/>
                  <a:pt x="5576107" y="1228725"/>
                  <a:pt x="553401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91275" y="5876925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Ingress Kechikish Maqsadi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91275" y="6143625"/>
            <a:ext cx="1895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06224" y="5781675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 Tezligi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410974" y="6048375"/>
            <a:ext cx="1200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515749" y="642937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736" y="329736"/>
            <a:ext cx="11590231" cy="16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spc="91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Regulyativ Himoya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9736" y="560552"/>
            <a:ext cx="11730369" cy="494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11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Regulyativ Himoya Arxitekturasi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858" y="1191172"/>
            <a:ext cx="6248503" cy="5333485"/>
          </a:xfrm>
          <a:custGeom>
            <a:avLst/>
            <a:gdLst/>
            <a:ahLst/>
            <a:cxnLst/>
            <a:rect l="l" t="t" r="r" b="b"/>
            <a:pathLst>
              <a:path w="6248503" h="5333485">
                <a:moveTo>
                  <a:pt x="65922" y="0"/>
                </a:moveTo>
                <a:lnTo>
                  <a:pt x="6182581" y="0"/>
                </a:lnTo>
                <a:cubicBezTo>
                  <a:pt x="6218989" y="0"/>
                  <a:pt x="6248503" y="29514"/>
                  <a:pt x="6248503" y="65922"/>
                </a:cubicBezTo>
                <a:lnTo>
                  <a:pt x="6248503" y="5267563"/>
                </a:lnTo>
                <a:cubicBezTo>
                  <a:pt x="6248503" y="5303971"/>
                  <a:pt x="6218989" y="5333485"/>
                  <a:pt x="6182581" y="5333485"/>
                </a:cubicBezTo>
                <a:lnTo>
                  <a:pt x="65922" y="5333485"/>
                </a:lnTo>
                <a:cubicBezTo>
                  <a:pt x="29514" y="5333485"/>
                  <a:pt x="0" y="5303971"/>
                  <a:pt x="0" y="5267563"/>
                </a:cubicBezTo>
                <a:lnTo>
                  <a:pt x="0" y="65922"/>
                </a:lnTo>
                <a:cubicBezTo>
                  <a:pt x="0" y="29514"/>
                  <a:pt x="29514" y="0"/>
                  <a:pt x="65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848" y="1978418"/>
            <a:ext cx="6009444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Context-Aware Failover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848" y="2374101"/>
            <a:ext cx="5976471" cy="642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</a:t>
            </a:r>
            <a:pPr>
              <a:lnSpc>
                <a:spcPct val="140000"/>
              </a:lnSpc>
            </a:pPr>
            <a:r>
              <a:rPr lang="en-US" sz="1039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oddiy Fail-Open yoki Fail-Closed mantig'idan foydalanmaydi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Buning o'rnida, tizim </a:t>
            </a:r>
            <a:pPr>
              <a:lnSpc>
                <a:spcPct val="140000"/>
              </a:lnSpc>
            </a:pPr>
            <a:r>
              <a:rPr lang="en-US" sz="1039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xavf-segmentlangan failover mantig'i</a:t>
            </a:r>
            <a:pPr>
              <a:lnSpc>
                <a:spcPct val="14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qo'llaydi. Bu banklarni uzilishlar davrida regulyativ jarimalardan himoya qiladi.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848" y="3148982"/>
            <a:ext cx="5910523" cy="2588430"/>
          </a:xfrm>
          <a:custGeom>
            <a:avLst/>
            <a:gdLst/>
            <a:ahLst/>
            <a:cxnLst/>
            <a:rect l="l" t="t" r="r" b="b"/>
            <a:pathLst>
              <a:path w="5910523" h="2588430">
                <a:moveTo>
                  <a:pt x="65953" y="0"/>
                </a:moveTo>
                <a:lnTo>
                  <a:pt x="5844570" y="0"/>
                </a:lnTo>
                <a:cubicBezTo>
                  <a:pt x="5880995" y="0"/>
                  <a:pt x="5910523" y="29528"/>
                  <a:pt x="5910523" y="65953"/>
                </a:cubicBezTo>
                <a:lnTo>
                  <a:pt x="5910523" y="2522477"/>
                </a:lnTo>
                <a:cubicBezTo>
                  <a:pt x="5910523" y="2558902"/>
                  <a:pt x="5880995" y="2588430"/>
                  <a:pt x="5844570" y="2588430"/>
                </a:cubicBezTo>
                <a:lnTo>
                  <a:pt x="65953" y="2588430"/>
                </a:lnTo>
                <a:cubicBezTo>
                  <a:pt x="29528" y="2588430"/>
                  <a:pt x="0" y="2558902"/>
                  <a:pt x="0" y="2522477"/>
                </a:cubicBezTo>
                <a:lnTo>
                  <a:pt x="0" y="65953"/>
                </a:lnTo>
                <a:cubicBezTo>
                  <a:pt x="0" y="29528"/>
                  <a:pt x="29528" y="0"/>
                  <a:pt x="6595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4742" y="3280876"/>
            <a:ext cx="571268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Failover Mantig'i: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8864" y="3581761"/>
            <a:ext cx="5638491" cy="601769"/>
          </a:xfrm>
          <a:custGeom>
            <a:avLst/>
            <a:gdLst/>
            <a:ahLst/>
            <a:cxnLst/>
            <a:rect l="l" t="t" r="r" b="b"/>
            <a:pathLst>
              <a:path w="5638491" h="601769">
                <a:moveTo>
                  <a:pt x="65948" y="0"/>
                </a:moveTo>
                <a:lnTo>
                  <a:pt x="5572543" y="0"/>
                </a:lnTo>
                <a:cubicBezTo>
                  <a:pt x="5608965" y="0"/>
                  <a:pt x="5638491" y="29526"/>
                  <a:pt x="5638491" y="65948"/>
                </a:cubicBezTo>
                <a:lnTo>
                  <a:pt x="5638491" y="535821"/>
                </a:lnTo>
                <a:cubicBezTo>
                  <a:pt x="5638491" y="572243"/>
                  <a:pt x="5608965" y="601769"/>
                  <a:pt x="5572543" y="601769"/>
                </a:cubicBezTo>
                <a:lnTo>
                  <a:pt x="65948" y="601769"/>
                </a:lnTo>
                <a:cubicBezTo>
                  <a:pt x="29526" y="601769"/>
                  <a:pt x="0" y="572243"/>
                  <a:pt x="0" y="535821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1907" y="3717777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164868" y="0"/>
                </a:moveTo>
                <a:lnTo>
                  <a:pt x="164868" y="0"/>
                </a:lnTo>
                <a:cubicBezTo>
                  <a:pt x="255861" y="0"/>
                  <a:pt x="329736" y="73875"/>
                  <a:pt x="329736" y="164868"/>
                </a:cubicBezTo>
                <a:lnTo>
                  <a:pt x="329736" y="164868"/>
                </a:lnTo>
                <a:cubicBezTo>
                  <a:pt x="329736" y="255861"/>
                  <a:pt x="255861" y="329736"/>
                  <a:pt x="164868" y="329736"/>
                </a:cubicBezTo>
                <a:lnTo>
                  <a:pt x="164868" y="329736"/>
                </a:lnTo>
                <a:cubicBezTo>
                  <a:pt x="73875" y="329736"/>
                  <a:pt x="0" y="255861"/>
                  <a:pt x="0" y="164868"/>
                </a:cubicBezTo>
                <a:lnTo>
                  <a:pt x="0" y="164868"/>
                </a:lnTo>
                <a:cubicBezTo>
                  <a:pt x="0" y="73875"/>
                  <a:pt x="73875" y="0"/>
                  <a:pt x="164868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0828" y="3816698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94593" y="106263"/>
                </a:moveTo>
                <a:lnTo>
                  <a:pt x="25632" y="37301"/>
                </a:lnTo>
                <a:cubicBezTo>
                  <a:pt x="19861" y="45390"/>
                  <a:pt x="16487" y="55282"/>
                  <a:pt x="16487" y="65947"/>
                </a:cubicBezTo>
                <a:cubicBezTo>
                  <a:pt x="16487" y="93254"/>
                  <a:pt x="38641" y="115408"/>
                  <a:pt x="65947" y="115408"/>
                </a:cubicBezTo>
                <a:cubicBezTo>
                  <a:pt x="76638" y="115408"/>
                  <a:pt x="86530" y="112033"/>
                  <a:pt x="94593" y="106263"/>
                </a:cubicBezTo>
                <a:close/>
                <a:moveTo>
                  <a:pt x="106263" y="94593"/>
                </a:moveTo>
                <a:cubicBezTo>
                  <a:pt x="112033" y="86504"/>
                  <a:pt x="115408" y="76612"/>
                  <a:pt x="115408" y="65947"/>
                </a:cubicBezTo>
                <a:cubicBezTo>
                  <a:pt x="115408" y="38641"/>
                  <a:pt x="93254" y="16487"/>
                  <a:pt x="65947" y="16487"/>
                </a:cubicBezTo>
                <a:cubicBezTo>
                  <a:pt x="55257" y="16487"/>
                  <a:pt x="45365" y="19861"/>
                  <a:pt x="37301" y="25632"/>
                </a:cubicBezTo>
                <a:lnTo>
                  <a:pt x="106263" y="94593"/>
                </a:lnTo>
                <a:close/>
                <a:moveTo>
                  <a:pt x="0" y="65947"/>
                </a:moveTo>
                <a:cubicBezTo>
                  <a:pt x="0" y="29550"/>
                  <a:pt x="29550" y="0"/>
                  <a:pt x="65947" y="0"/>
                </a:cubicBezTo>
                <a:cubicBezTo>
                  <a:pt x="102345" y="0"/>
                  <a:pt x="131895" y="29550"/>
                  <a:pt x="131895" y="65947"/>
                </a:cubicBezTo>
                <a:cubicBezTo>
                  <a:pt x="131895" y="102345"/>
                  <a:pt x="102345" y="131895"/>
                  <a:pt x="65947" y="131895"/>
                </a:cubicBezTo>
                <a:cubicBezTo>
                  <a:pt x="29550" y="131895"/>
                  <a:pt x="0" y="102345"/>
                  <a:pt x="0" y="65947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564" y="3684803"/>
            <a:ext cx="506969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Sanctions / AML Tekshiruvlari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564" y="3882645"/>
            <a:ext cx="506969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Tekshiruv mavjud bo'lmasa → </a:t>
            </a:r>
            <a:pPr>
              <a:lnSpc>
                <a:spcPct val="130000"/>
              </a:lnSpc>
            </a:pPr>
            <a:r>
              <a:rPr lang="en-US" sz="1039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DOIM BLOKLANADI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864" y="4290694"/>
            <a:ext cx="5638491" cy="601769"/>
          </a:xfrm>
          <a:custGeom>
            <a:avLst/>
            <a:gdLst/>
            <a:ahLst/>
            <a:cxnLst/>
            <a:rect l="l" t="t" r="r" b="b"/>
            <a:pathLst>
              <a:path w="5638491" h="601769">
                <a:moveTo>
                  <a:pt x="65948" y="0"/>
                </a:moveTo>
                <a:lnTo>
                  <a:pt x="5572543" y="0"/>
                </a:lnTo>
                <a:cubicBezTo>
                  <a:pt x="5608965" y="0"/>
                  <a:pt x="5638491" y="29526"/>
                  <a:pt x="5638491" y="65948"/>
                </a:cubicBezTo>
                <a:lnTo>
                  <a:pt x="5638491" y="535821"/>
                </a:lnTo>
                <a:cubicBezTo>
                  <a:pt x="5638491" y="572243"/>
                  <a:pt x="5608965" y="601769"/>
                  <a:pt x="5572543" y="601769"/>
                </a:cubicBezTo>
                <a:lnTo>
                  <a:pt x="65948" y="601769"/>
                </a:lnTo>
                <a:cubicBezTo>
                  <a:pt x="29526" y="601769"/>
                  <a:pt x="0" y="572243"/>
                  <a:pt x="0" y="535821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1907" y="4426710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164868" y="0"/>
                </a:moveTo>
                <a:lnTo>
                  <a:pt x="164868" y="0"/>
                </a:lnTo>
                <a:cubicBezTo>
                  <a:pt x="255861" y="0"/>
                  <a:pt x="329736" y="73875"/>
                  <a:pt x="329736" y="164868"/>
                </a:cubicBezTo>
                <a:lnTo>
                  <a:pt x="329736" y="164868"/>
                </a:lnTo>
                <a:cubicBezTo>
                  <a:pt x="329736" y="255861"/>
                  <a:pt x="255861" y="329736"/>
                  <a:pt x="164868" y="329736"/>
                </a:cubicBezTo>
                <a:lnTo>
                  <a:pt x="164868" y="329736"/>
                </a:lnTo>
                <a:cubicBezTo>
                  <a:pt x="73875" y="329736"/>
                  <a:pt x="0" y="255861"/>
                  <a:pt x="0" y="164868"/>
                </a:cubicBezTo>
                <a:lnTo>
                  <a:pt x="0" y="164868"/>
                </a:lnTo>
                <a:cubicBezTo>
                  <a:pt x="0" y="73875"/>
                  <a:pt x="73875" y="0"/>
                  <a:pt x="164868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0828" y="4525631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65947" y="35034"/>
                </a:moveTo>
                <a:cubicBezTo>
                  <a:pt x="69373" y="35034"/>
                  <a:pt x="72130" y="37791"/>
                  <a:pt x="72130" y="41217"/>
                </a:cubicBezTo>
                <a:lnTo>
                  <a:pt x="72130" y="70069"/>
                </a:lnTo>
                <a:cubicBezTo>
                  <a:pt x="72130" y="73495"/>
                  <a:pt x="69373" y="76252"/>
                  <a:pt x="65947" y="76252"/>
                </a:cubicBezTo>
                <a:cubicBezTo>
                  <a:pt x="62521" y="76252"/>
                  <a:pt x="59765" y="73495"/>
                  <a:pt x="59765" y="70069"/>
                </a:cubicBezTo>
                <a:lnTo>
                  <a:pt x="59765" y="41217"/>
                </a:lnTo>
                <a:cubicBezTo>
                  <a:pt x="59765" y="37791"/>
                  <a:pt x="62521" y="35034"/>
                  <a:pt x="65947" y="35034"/>
                </a:cubicBezTo>
                <a:close/>
                <a:moveTo>
                  <a:pt x="59069" y="90677"/>
                </a:moveTo>
                <a:cubicBezTo>
                  <a:pt x="58913" y="88124"/>
                  <a:pt x="60186" y="85695"/>
                  <a:pt x="62375" y="84372"/>
                </a:cubicBezTo>
                <a:cubicBezTo>
                  <a:pt x="64563" y="83048"/>
                  <a:pt x="67306" y="83048"/>
                  <a:pt x="69494" y="84372"/>
                </a:cubicBezTo>
                <a:cubicBezTo>
                  <a:pt x="71683" y="85695"/>
                  <a:pt x="72956" y="88124"/>
                  <a:pt x="72800" y="90677"/>
                </a:cubicBezTo>
                <a:cubicBezTo>
                  <a:pt x="72956" y="93231"/>
                  <a:pt x="71683" y="95660"/>
                  <a:pt x="69494" y="96983"/>
                </a:cubicBezTo>
                <a:cubicBezTo>
                  <a:pt x="67306" y="98307"/>
                  <a:pt x="64563" y="98307"/>
                  <a:pt x="62375" y="96983"/>
                </a:cubicBezTo>
                <a:cubicBezTo>
                  <a:pt x="60186" y="95660"/>
                  <a:pt x="58913" y="93231"/>
                  <a:pt x="59069" y="9067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564" y="4393736"/>
            <a:ext cx="506969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Yuqori Xavfli O'tkazmalar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564" y="4591578"/>
            <a:ext cx="506969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To'liq dvigatel qarori talab qiladi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8864" y="4999627"/>
            <a:ext cx="5638491" cy="601769"/>
          </a:xfrm>
          <a:custGeom>
            <a:avLst/>
            <a:gdLst/>
            <a:ahLst/>
            <a:cxnLst/>
            <a:rect l="l" t="t" r="r" b="b"/>
            <a:pathLst>
              <a:path w="5638491" h="601769">
                <a:moveTo>
                  <a:pt x="65948" y="0"/>
                </a:moveTo>
                <a:lnTo>
                  <a:pt x="5572543" y="0"/>
                </a:lnTo>
                <a:cubicBezTo>
                  <a:pt x="5608965" y="0"/>
                  <a:pt x="5638491" y="29526"/>
                  <a:pt x="5638491" y="65948"/>
                </a:cubicBezTo>
                <a:lnTo>
                  <a:pt x="5638491" y="535821"/>
                </a:lnTo>
                <a:cubicBezTo>
                  <a:pt x="5638491" y="572243"/>
                  <a:pt x="5608965" y="601769"/>
                  <a:pt x="5572543" y="601769"/>
                </a:cubicBezTo>
                <a:lnTo>
                  <a:pt x="65948" y="601769"/>
                </a:lnTo>
                <a:cubicBezTo>
                  <a:pt x="29526" y="601769"/>
                  <a:pt x="0" y="572243"/>
                  <a:pt x="0" y="535821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1907" y="5135643"/>
            <a:ext cx="329736" cy="329736"/>
          </a:xfrm>
          <a:custGeom>
            <a:avLst/>
            <a:gdLst/>
            <a:ahLst/>
            <a:cxnLst/>
            <a:rect l="l" t="t" r="r" b="b"/>
            <a:pathLst>
              <a:path w="329736" h="329736">
                <a:moveTo>
                  <a:pt x="164868" y="0"/>
                </a:moveTo>
                <a:lnTo>
                  <a:pt x="164868" y="0"/>
                </a:lnTo>
                <a:cubicBezTo>
                  <a:pt x="255861" y="0"/>
                  <a:pt x="329736" y="73875"/>
                  <a:pt x="329736" y="164868"/>
                </a:cubicBezTo>
                <a:lnTo>
                  <a:pt x="329736" y="164868"/>
                </a:lnTo>
                <a:cubicBezTo>
                  <a:pt x="329736" y="255861"/>
                  <a:pt x="255861" y="329736"/>
                  <a:pt x="164868" y="329736"/>
                </a:cubicBezTo>
                <a:lnTo>
                  <a:pt x="164868" y="329736"/>
                </a:lnTo>
                <a:cubicBezTo>
                  <a:pt x="73875" y="329736"/>
                  <a:pt x="0" y="255861"/>
                  <a:pt x="0" y="164868"/>
                </a:cubicBezTo>
                <a:lnTo>
                  <a:pt x="0" y="164868"/>
                </a:lnTo>
                <a:cubicBezTo>
                  <a:pt x="0" y="73875"/>
                  <a:pt x="73875" y="0"/>
                  <a:pt x="164868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0828" y="5234564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564" y="5102669"/>
            <a:ext cx="506969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Xavfli To'lovlar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0564" y="5300511"/>
            <a:ext cx="506969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Vaqtinchalik kechikishlarda ruxsat etiladi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51480" y="1191172"/>
            <a:ext cx="5110913" cy="2876949"/>
          </a:xfrm>
          <a:custGeom>
            <a:avLst/>
            <a:gdLst/>
            <a:ahLst/>
            <a:cxnLst/>
            <a:rect l="l" t="t" r="r" b="b"/>
            <a:pathLst>
              <a:path w="5110913" h="2876949">
                <a:moveTo>
                  <a:pt x="65940" y="0"/>
                </a:moveTo>
                <a:lnTo>
                  <a:pt x="5044973" y="0"/>
                </a:lnTo>
                <a:cubicBezTo>
                  <a:pt x="5081391" y="0"/>
                  <a:pt x="5110913" y="29522"/>
                  <a:pt x="5110913" y="65940"/>
                </a:cubicBezTo>
                <a:lnTo>
                  <a:pt x="5110913" y="2811010"/>
                </a:lnTo>
                <a:cubicBezTo>
                  <a:pt x="5110913" y="2847427"/>
                  <a:pt x="5081391" y="2876949"/>
                  <a:pt x="5044973" y="2876949"/>
                </a:cubicBezTo>
                <a:lnTo>
                  <a:pt x="65940" y="2876949"/>
                </a:lnTo>
                <a:cubicBezTo>
                  <a:pt x="29547" y="2876949"/>
                  <a:pt x="0" y="2847403"/>
                  <a:pt x="0" y="2811010"/>
                </a:cubicBezTo>
                <a:lnTo>
                  <a:pt x="0" y="65940"/>
                </a:lnTo>
                <a:cubicBezTo>
                  <a:pt x="0" y="29547"/>
                  <a:pt x="29547" y="0"/>
                  <a:pt x="6594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0470" y="1360162"/>
            <a:ext cx="4855367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Himoya Mexanizmlari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1078" y="1755846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82434" y="0"/>
                </a:moveTo>
                <a:cubicBezTo>
                  <a:pt x="83915" y="0"/>
                  <a:pt x="85397" y="322"/>
                  <a:pt x="86749" y="934"/>
                </a:cubicBezTo>
                <a:lnTo>
                  <a:pt x="147415" y="26662"/>
                </a:lnTo>
                <a:cubicBezTo>
                  <a:pt x="154499" y="29657"/>
                  <a:pt x="159780" y="36645"/>
                  <a:pt x="159748" y="45081"/>
                </a:cubicBezTo>
                <a:cubicBezTo>
                  <a:pt x="159587" y="77024"/>
                  <a:pt x="146449" y="135469"/>
                  <a:pt x="90967" y="162034"/>
                </a:cubicBezTo>
                <a:cubicBezTo>
                  <a:pt x="85590" y="164611"/>
                  <a:pt x="79343" y="164611"/>
                  <a:pt x="73965" y="162034"/>
                </a:cubicBezTo>
                <a:cubicBezTo>
                  <a:pt x="18451" y="135469"/>
                  <a:pt x="5345" y="77024"/>
                  <a:pt x="5184" y="45081"/>
                </a:cubicBezTo>
                <a:cubicBezTo>
                  <a:pt x="5152" y="36645"/>
                  <a:pt x="10433" y="29657"/>
                  <a:pt x="17517" y="26662"/>
                </a:cubicBezTo>
                <a:lnTo>
                  <a:pt x="78151" y="934"/>
                </a:lnTo>
                <a:cubicBezTo>
                  <a:pt x="79504" y="322"/>
                  <a:pt x="80953" y="0"/>
                  <a:pt x="82434" y="0"/>
                </a:cubicBezTo>
                <a:close/>
                <a:moveTo>
                  <a:pt x="82434" y="21510"/>
                </a:moveTo>
                <a:lnTo>
                  <a:pt x="82434" y="143261"/>
                </a:lnTo>
                <a:cubicBezTo>
                  <a:pt x="126871" y="121751"/>
                  <a:pt x="138818" y="74094"/>
                  <a:pt x="139108" y="45564"/>
                </a:cubicBezTo>
                <a:lnTo>
                  <a:pt x="82434" y="21542"/>
                </a:lnTo>
                <a:lnTo>
                  <a:pt x="82434" y="21542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7" name="Text 25"/>
          <p:cNvSpPr/>
          <p:nvPr/>
        </p:nvSpPr>
        <p:spPr>
          <a:xfrm>
            <a:off x="7225476" y="1722872"/>
            <a:ext cx="388264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Regulyativ Jarimalardan Himoya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5476" y="1953688"/>
            <a:ext cx="388264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Tizim uzilishlarida ham regulyativ talablar doimiy ravishda bajariladi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20470" y="2316398"/>
            <a:ext cx="206085" cy="164868"/>
          </a:xfrm>
          <a:custGeom>
            <a:avLst/>
            <a:gdLst/>
            <a:ahLst/>
            <a:cxnLst/>
            <a:rect l="l" t="t" r="r" b="b"/>
            <a:pathLst>
              <a:path w="206085" h="164868">
                <a:moveTo>
                  <a:pt x="123651" y="10304"/>
                </a:moveTo>
                <a:lnTo>
                  <a:pt x="164868" y="10304"/>
                </a:lnTo>
                <a:cubicBezTo>
                  <a:pt x="170568" y="10304"/>
                  <a:pt x="175172" y="14909"/>
                  <a:pt x="175172" y="20609"/>
                </a:cubicBezTo>
                <a:cubicBezTo>
                  <a:pt x="175172" y="26308"/>
                  <a:pt x="170568" y="30913"/>
                  <a:pt x="164868" y="30913"/>
                </a:cubicBezTo>
                <a:lnTo>
                  <a:pt x="128288" y="30913"/>
                </a:lnTo>
                <a:cubicBezTo>
                  <a:pt x="126614" y="39221"/>
                  <a:pt x="120914" y="46079"/>
                  <a:pt x="113347" y="49364"/>
                </a:cubicBezTo>
                <a:lnTo>
                  <a:pt x="113347" y="144260"/>
                </a:lnTo>
                <a:lnTo>
                  <a:pt x="164868" y="144260"/>
                </a:lnTo>
                <a:cubicBezTo>
                  <a:pt x="170568" y="144260"/>
                  <a:pt x="175172" y="148864"/>
                  <a:pt x="175172" y="154564"/>
                </a:cubicBezTo>
                <a:cubicBezTo>
                  <a:pt x="175172" y="160263"/>
                  <a:pt x="170568" y="164868"/>
                  <a:pt x="164868" y="164868"/>
                </a:cubicBezTo>
                <a:lnTo>
                  <a:pt x="41217" y="164868"/>
                </a:lnTo>
                <a:cubicBezTo>
                  <a:pt x="35517" y="164868"/>
                  <a:pt x="30913" y="160263"/>
                  <a:pt x="30913" y="154564"/>
                </a:cubicBezTo>
                <a:cubicBezTo>
                  <a:pt x="30913" y="148864"/>
                  <a:pt x="35517" y="144260"/>
                  <a:pt x="41217" y="144260"/>
                </a:cubicBezTo>
                <a:lnTo>
                  <a:pt x="92738" y="144260"/>
                </a:lnTo>
                <a:lnTo>
                  <a:pt x="92738" y="49364"/>
                </a:lnTo>
                <a:cubicBezTo>
                  <a:pt x="85171" y="46047"/>
                  <a:pt x="79472" y="39188"/>
                  <a:pt x="77797" y="30913"/>
                </a:cubicBezTo>
                <a:lnTo>
                  <a:pt x="41217" y="30913"/>
                </a:lnTo>
                <a:cubicBezTo>
                  <a:pt x="35517" y="30913"/>
                  <a:pt x="30913" y="26308"/>
                  <a:pt x="30913" y="20609"/>
                </a:cubicBezTo>
                <a:cubicBezTo>
                  <a:pt x="30913" y="14909"/>
                  <a:pt x="35517" y="10304"/>
                  <a:pt x="41217" y="10304"/>
                </a:cubicBezTo>
                <a:lnTo>
                  <a:pt x="82434" y="10304"/>
                </a:lnTo>
                <a:cubicBezTo>
                  <a:pt x="87135" y="4057"/>
                  <a:pt x="94606" y="0"/>
                  <a:pt x="103043" y="0"/>
                </a:cubicBezTo>
                <a:cubicBezTo>
                  <a:pt x="111479" y="0"/>
                  <a:pt x="118950" y="4057"/>
                  <a:pt x="123651" y="10304"/>
                </a:cubicBezTo>
                <a:close/>
                <a:moveTo>
                  <a:pt x="141555" y="103043"/>
                </a:moveTo>
                <a:lnTo>
                  <a:pt x="188182" y="103043"/>
                </a:lnTo>
                <a:lnTo>
                  <a:pt x="164868" y="63049"/>
                </a:lnTo>
                <a:lnTo>
                  <a:pt x="141555" y="103043"/>
                </a:lnTo>
                <a:close/>
                <a:moveTo>
                  <a:pt x="164868" y="133955"/>
                </a:moveTo>
                <a:cubicBezTo>
                  <a:pt x="144614" y="133955"/>
                  <a:pt x="127773" y="123007"/>
                  <a:pt x="124295" y="108549"/>
                </a:cubicBezTo>
                <a:cubicBezTo>
                  <a:pt x="123458" y="105007"/>
                  <a:pt x="124617" y="101368"/>
                  <a:pt x="126453" y="98212"/>
                </a:cubicBezTo>
                <a:lnTo>
                  <a:pt x="157108" y="45661"/>
                </a:lnTo>
                <a:cubicBezTo>
                  <a:pt x="158718" y="42891"/>
                  <a:pt x="161680" y="41217"/>
                  <a:pt x="164868" y="41217"/>
                </a:cubicBezTo>
                <a:cubicBezTo>
                  <a:pt x="168056" y="41217"/>
                  <a:pt x="171019" y="42924"/>
                  <a:pt x="172629" y="45661"/>
                </a:cubicBezTo>
                <a:lnTo>
                  <a:pt x="203284" y="98212"/>
                </a:lnTo>
                <a:cubicBezTo>
                  <a:pt x="205119" y="101368"/>
                  <a:pt x="206278" y="105007"/>
                  <a:pt x="205441" y="108549"/>
                </a:cubicBezTo>
                <a:cubicBezTo>
                  <a:pt x="201963" y="122975"/>
                  <a:pt x="185122" y="133955"/>
                  <a:pt x="164868" y="133955"/>
                </a:cubicBezTo>
                <a:close/>
                <a:moveTo>
                  <a:pt x="40831" y="63049"/>
                </a:moveTo>
                <a:lnTo>
                  <a:pt x="17517" y="103043"/>
                </a:lnTo>
                <a:lnTo>
                  <a:pt x="64176" y="103043"/>
                </a:lnTo>
                <a:lnTo>
                  <a:pt x="40831" y="63049"/>
                </a:lnTo>
                <a:close/>
                <a:moveTo>
                  <a:pt x="290" y="108549"/>
                </a:moveTo>
                <a:cubicBezTo>
                  <a:pt x="-547" y="105007"/>
                  <a:pt x="612" y="101368"/>
                  <a:pt x="2447" y="98212"/>
                </a:cubicBezTo>
                <a:lnTo>
                  <a:pt x="33102" y="45661"/>
                </a:lnTo>
                <a:cubicBezTo>
                  <a:pt x="34712" y="42891"/>
                  <a:pt x="37675" y="41217"/>
                  <a:pt x="40863" y="41217"/>
                </a:cubicBezTo>
                <a:cubicBezTo>
                  <a:pt x="44051" y="41217"/>
                  <a:pt x="47013" y="42924"/>
                  <a:pt x="48623" y="45661"/>
                </a:cubicBezTo>
                <a:lnTo>
                  <a:pt x="79278" y="98212"/>
                </a:lnTo>
                <a:cubicBezTo>
                  <a:pt x="81114" y="101368"/>
                  <a:pt x="82273" y="105007"/>
                  <a:pt x="81436" y="108549"/>
                </a:cubicBezTo>
                <a:cubicBezTo>
                  <a:pt x="77958" y="122975"/>
                  <a:pt x="61117" y="133955"/>
                  <a:pt x="40863" y="133955"/>
                </a:cubicBezTo>
                <a:cubicBezTo>
                  <a:pt x="20609" y="133955"/>
                  <a:pt x="3767" y="123007"/>
                  <a:pt x="290" y="10854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7225476" y="2283424"/>
            <a:ext cx="384142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Risk-Bazaviy Qarorlar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5476" y="2514239"/>
            <a:ext cx="384142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 bir tranzaksiya xavf darajasiga qarab alohida qaror qabul qiladi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61687" y="2876949"/>
            <a:ext cx="123651" cy="164868"/>
          </a:xfrm>
          <a:custGeom>
            <a:avLst/>
            <a:gdLst/>
            <a:ahLst/>
            <a:cxnLst/>
            <a:rect l="l" t="t" r="r" b="b"/>
            <a:pathLst>
              <a:path w="123651" h="164868">
                <a:moveTo>
                  <a:pt x="0" y="20609"/>
                </a:moveTo>
                <a:cubicBezTo>
                  <a:pt x="0" y="9242"/>
                  <a:pt x="9242" y="0"/>
                  <a:pt x="20609" y="0"/>
                </a:cubicBezTo>
                <a:lnTo>
                  <a:pt x="68749" y="0"/>
                </a:lnTo>
                <a:cubicBezTo>
                  <a:pt x="74223" y="0"/>
                  <a:pt x="79472" y="2157"/>
                  <a:pt x="83336" y="6022"/>
                </a:cubicBezTo>
                <a:lnTo>
                  <a:pt x="117630" y="40348"/>
                </a:lnTo>
                <a:cubicBezTo>
                  <a:pt x="121494" y="44212"/>
                  <a:pt x="123651" y="49460"/>
                  <a:pt x="123651" y="54935"/>
                </a:cubicBezTo>
                <a:lnTo>
                  <a:pt x="123651" y="144260"/>
                </a:lnTo>
                <a:cubicBezTo>
                  <a:pt x="123651" y="155627"/>
                  <a:pt x="114409" y="164868"/>
                  <a:pt x="103043" y="164868"/>
                </a:cubicBezTo>
                <a:lnTo>
                  <a:pt x="20609" y="164868"/>
                </a:lnTo>
                <a:cubicBezTo>
                  <a:pt x="9242" y="164868"/>
                  <a:pt x="0" y="155627"/>
                  <a:pt x="0" y="144260"/>
                </a:cubicBezTo>
                <a:lnTo>
                  <a:pt x="0" y="20609"/>
                </a:lnTo>
                <a:close/>
                <a:moveTo>
                  <a:pt x="66978" y="18837"/>
                </a:moveTo>
                <a:lnTo>
                  <a:pt x="66978" y="48945"/>
                </a:lnTo>
                <a:cubicBezTo>
                  <a:pt x="66978" y="53228"/>
                  <a:pt x="70423" y="56673"/>
                  <a:pt x="74706" y="56673"/>
                </a:cubicBezTo>
                <a:lnTo>
                  <a:pt x="104814" y="56673"/>
                </a:lnTo>
                <a:lnTo>
                  <a:pt x="66978" y="18837"/>
                </a:lnTo>
                <a:close/>
                <a:moveTo>
                  <a:pt x="38641" y="82434"/>
                </a:moveTo>
                <a:cubicBezTo>
                  <a:pt x="34358" y="82434"/>
                  <a:pt x="30913" y="85880"/>
                  <a:pt x="30913" y="90162"/>
                </a:cubicBezTo>
                <a:cubicBezTo>
                  <a:pt x="30913" y="94445"/>
                  <a:pt x="34358" y="97890"/>
                  <a:pt x="38641" y="97890"/>
                </a:cubicBezTo>
                <a:lnTo>
                  <a:pt x="85010" y="97890"/>
                </a:lnTo>
                <a:cubicBezTo>
                  <a:pt x="89293" y="97890"/>
                  <a:pt x="92738" y="94445"/>
                  <a:pt x="92738" y="90162"/>
                </a:cubicBezTo>
                <a:cubicBezTo>
                  <a:pt x="92738" y="85880"/>
                  <a:pt x="89293" y="82434"/>
                  <a:pt x="85010" y="82434"/>
                </a:cubicBezTo>
                <a:lnTo>
                  <a:pt x="38641" y="82434"/>
                </a:lnTo>
                <a:close/>
                <a:moveTo>
                  <a:pt x="38641" y="113347"/>
                </a:moveTo>
                <a:cubicBezTo>
                  <a:pt x="34358" y="113347"/>
                  <a:pt x="30913" y="116792"/>
                  <a:pt x="30913" y="121075"/>
                </a:cubicBezTo>
                <a:cubicBezTo>
                  <a:pt x="30913" y="125358"/>
                  <a:pt x="34358" y="128803"/>
                  <a:pt x="38641" y="128803"/>
                </a:cubicBezTo>
                <a:lnTo>
                  <a:pt x="85010" y="128803"/>
                </a:lnTo>
                <a:cubicBezTo>
                  <a:pt x="89293" y="128803"/>
                  <a:pt x="92738" y="125358"/>
                  <a:pt x="92738" y="121075"/>
                </a:cubicBezTo>
                <a:cubicBezTo>
                  <a:pt x="92738" y="116792"/>
                  <a:pt x="89293" y="113347"/>
                  <a:pt x="85010" y="113347"/>
                </a:cubicBezTo>
                <a:lnTo>
                  <a:pt x="38641" y="113347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7225476" y="2843976"/>
            <a:ext cx="375899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Izchiligi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25476" y="3074791"/>
            <a:ext cx="375899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Barcha failover qarorlari to'liq qayd etiladi va tekshirilishi mumkin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941078" y="3437501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154596" y="61826"/>
                </a:moveTo>
                <a:lnTo>
                  <a:pt x="157140" y="61826"/>
                </a:lnTo>
                <a:cubicBezTo>
                  <a:pt x="161423" y="61826"/>
                  <a:pt x="164868" y="58380"/>
                  <a:pt x="164868" y="54097"/>
                </a:cubicBezTo>
                <a:lnTo>
                  <a:pt x="164868" y="7728"/>
                </a:lnTo>
                <a:cubicBezTo>
                  <a:pt x="164868" y="4605"/>
                  <a:pt x="163001" y="1771"/>
                  <a:pt x="160102" y="580"/>
                </a:cubicBezTo>
                <a:cubicBezTo>
                  <a:pt x="157204" y="-612"/>
                  <a:pt x="153888" y="64"/>
                  <a:pt x="151666" y="2254"/>
                </a:cubicBezTo>
                <a:lnTo>
                  <a:pt x="135018" y="18934"/>
                </a:lnTo>
                <a:cubicBezTo>
                  <a:pt x="120753" y="7116"/>
                  <a:pt x="102399" y="0"/>
                  <a:pt x="82434" y="0"/>
                </a:cubicBezTo>
                <a:cubicBezTo>
                  <a:pt x="40895" y="0"/>
                  <a:pt x="6537" y="30720"/>
                  <a:pt x="837" y="70681"/>
                </a:cubicBezTo>
                <a:cubicBezTo>
                  <a:pt x="32" y="76316"/>
                  <a:pt x="3928" y="81532"/>
                  <a:pt x="9564" y="82337"/>
                </a:cubicBezTo>
                <a:cubicBezTo>
                  <a:pt x="15199" y="83142"/>
                  <a:pt x="20415" y="79214"/>
                  <a:pt x="21220" y="73611"/>
                </a:cubicBezTo>
                <a:cubicBezTo>
                  <a:pt x="25503" y="43632"/>
                  <a:pt x="51296" y="20609"/>
                  <a:pt x="82434" y="20609"/>
                </a:cubicBezTo>
                <a:cubicBezTo>
                  <a:pt x="96731" y="20609"/>
                  <a:pt x="109869" y="25439"/>
                  <a:pt x="120334" y="33585"/>
                </a:cubicBezTo>
                <a:lnTo>
                  <a:pt x="105297" y="48623"/>
                </a:lnTo>
                <a:cubicBezTo>
                  <a:pt x="103075" y="50845"/>
                  <a:pt x="102431" y="54162"/>
                  <a:pt x="103622" y="57060"/>
                </a:cubicBezTo>
                <a:cubicBezTo>
                  <a:pt x="104814" y="59958"/>
                  <a:pt x="107647" y="61826"/>
                  <a:pt x="110771" y="61826"/>
                </a:cubicBezTo>
                <a:lnTo>
                  <a:pt x="154596" y="61826"/>
                </a:lnTo>
                <a:close/>
                <a:moveTo>
                  <a:pt x="164063" y="94187"/>
                </a:moveTo>
                <a:cubicBezTo>
                  <a:pt x="164868" y="88552"/>
                  <a:pt x="160940" y="83336"/>
                  <a:pt x="155337" y="82531"/>
                </a:cubicBezTo>
                <a:cubicBezTo>
                  <a:pt x="149734" y="81726"/>
                  <a:pt x="144485" y="85654"/>
                  <a:pt x="143680" y="91257"/>
                </a:cubicBezTo>
                <a:cubicBezTo>
                  <a:pt x="139397" y="121204"/>
                  <a:pt x="113604" y="144227"/>
                  <a:pt x="82466" y="144227"/>
                </a:cubicBezTo>
                <a:cubicBezTo>
                  <a:pt x="68169" y="144227"/>
                  <a:pt x="55031" y="139397"/>
                  <a:pt x="44566" y="131251"/>
                </a:cubicBezTo>
                <a:lnTo>
                  <a:pt x="59572" y="116245"/>
                </a:lnTo>
                <a:cubicBezTo>
                  <a:pt x="61793" y="114023"/>
                  <a:pt x="62437" y="110706"/>
                  <a:pt x="61246" y="107808"/>
                </a:cubicBezTo>
                <a:cubicBezTo>
                  <a:pt x="60055" y="104910"/>
                  <a:pt x="57221" y="103043"/>
                  <a:pt x="54097" y="103043"/>
                </a:cubicBezTo>
                <a:lnTo>
                  <a:pt x="7728" y="103043"/>
                </a:lnTo>
                <a:cubicBezTo>
                  <a:pt x="3445" y="103043"/>
                  <a:pt x="0" y="106488"/>
                  <a:pt x="0" y="110771"/>
                </a:cubicBezTo>
                <a:lnTo>
                  <a:pt x="0" y="157140"/>
                </a:lnTo>
                <a:cubicBezTo>
                  <a:pt x="0" y="160263"/>
                  <a:pt x="1868" y="163097"/>
                  <a:pt x="4766" y="164289"/>
                </a:cubicBezTo>
                <a:cubicBezTo>
                  <a:pt x="7664" y="165480"/>
                  <a:pt x="10980" y="164804"/>
                  <a:pt x="13202" y="162614"/>
                </a:cubicBezTo>
                <a:lnTo>
                  <a:pt x="29882" y="145934"/>
                </a:lnTo>
                <a:cubicBezTo>
                  <a:pt x="44115" y="157752"/>
                  <a:pt x="62470" y="164868"/>
                  <a:pt x="82434" y="164868"/>
                </a:cubicBezTo>
                <a:cubicBezTo>
                  <a:pt x="123973" y="164868"/>
                  <a:pt x="158331" y="134149"/>
                  <a:pt x="164031" y="94187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7225476" y="3404527"/>
            <a:ext cx="3388041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Avtomatik Tiklanish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25476" y="3635343"/>
            <a:ext cx="3388041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Tizim tiklangandan so'ng normal rejimga avtomatik qaytadi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51480" y="4208260"/>
            <a:ext cx="5110913" cy="2316398"/>
          </a:xfrm>
          <a:custGeom>
            <a:avLst/>
            <a:gdLst/>
            <a:ahLst/>
            <a:cxnLst/>
            <a:rect l="l" t="t" r="r" b="b"/>
            <a:pathLst>
              <a:path w="5110913" h="2316398">
                <a:moveTo>
                  <a:pt x="65948" y="0"/>
                </a:moveTo>
                <a:lnTo>
                  <a:pt x="5044965" y="0"/>
                </a:lnTo>
                <a:cubicBezTo>
                  <a:pt x="5081387" y="0"/>
                  <a:pt x="5110913" y="29526"/>
                  <a:pt x="5110913" y="65948"/>
                </a:cubicBezTo>
                <a:lnTo>
                  <a:pt x="5110913" y="2250450"/>
                </a:lnTo>
                <a:cubicBezTo>
                  <a:pt x="5110913" y="2286872"/>
                  <a:pt x="5081387" y="2316398"/>
                  <a:pt x="5044965" y="2316398"/>
                </a:cubicBezTo>
                <a:lnTo>
                  <a:pt x="65948" y="2316398"/>
                </a:lnTo>
                <a:cubicBezTo>
                  <a:pt x="29526" y="2316398"/>
                  <a:pt x="0" y="2286872"/>
                  <a:pt x="0" y="2250450"/>
                </a:cubicBezTo>
                <a:lnTo>
                  <a:pt x="0" y="65948"/>
                </a:lnTo>
                <a:cubicBezTo>
                  <a:pt x="0" y="29550"/>
                  <a:pt x="29550" y="0"/>
                  <a:pt x="6594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0470" y="4377249"/>
            <a:ext cx="4847124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Xavf Segmentlari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20470" y="4706986"/>
            <a:ext cx="4772933" cy="362710"/>
          </a:xfrm>
          <a:custGeom>
            <a:avLst/>
            <a:gdLst/>
            <a:ahLst/>
            <a:cxnLst/>
            <a:rect l="l" t="t" r="r" b="b"/>
            <a:pathLst>
              <a:path w="4772933" h="362710">
                <a:moveTo>
                  <a:pt x="32974" y="0"/>
                </a:moveTo>
                <a:lnTo>
                  <a:pt x="4739959" y="0"/>
                </a:lnTo>
                <a:cubicBezTo>
                  <a:pt x="4758170" y="0"/>
                  <a:pt x="4772933" y="14763"/>
                  <a:pt x="4772933" y="32974"/>
                </a:cubicBezTo>
                <a:lnTo>
                  <a:pt x="4772933" y="329736"/>
                </a:lnTo>
                <a:cubicBezTo>
                  <a:pt x="4772933" y="347947"/>
                  <a:pt x="4758170" y="362710"/>
                  <a:pt x="4739959" y="362710"/>
                </a:cubicBezTo>
                <a:lnTo>
                  <a:pt x="32974" y="362710"/>
                </a:lnTo>
                <a:cubicBezTo>
                  <a:pt x="14763" y="362710"/>
                  <a:pt x="0" y="347947"/>
                  <a:pt x="0" y="329736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86417" y="4789420"/>
            <a:ext cx="99745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Sanctions / AML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49338" y="4772933"/>
            <a:ext cx="478118" cy="230815"/>
          </a:xfrm>
          <a:custGeom>
            <a:avLst/>
            <a:gdLst/>
            <a:ahLst/>
            <a:cxnLst/>
            <a:rect l="l" t="t" r="r" b="b"/>
            <a:pathLst>
              <a:path w="478118" h="230815">
                <a:moveTo>
                  <a:pt x="32974" y="0"/>
                </a:moveTo>
                <a:lnTo>
                  <a:pt x="445143" y="0"/>
                </a:lnTo>
                <a:cubicBezTo>
                  <a:pt x="463342" y="0"/>
                  <a:pt x="478118" y="14775"/>
                  <a:pt x="478118" y="32974"/>
                </a:cubicBezTo>
                <a:lnTo>
                  <a:pt x="478118" y="197841"/>
                </a:lnTo>
                <a:cubicBezTo>
                  <a:pt x="478118" y="216052"/>
                  <a:pt x="463355" y="230815"/>
                  <a:pt x="445143" y="230815"/>
                </a:cubicBezTo>
                <a:lnTo>
                  <a:pt x="32974" y="230815"/>
                </a:lnTo>
                <a:cubicBezTo>
                  <a:pt x="14775" y="230815"/>
                  <a:pt x="0" y="216040"/>
                  <a:pt x="0" y="197841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149338" y="4772933"/>
            <a:ext cx="535822" cy="230815"/>
          </a:xfrm>
          <a:prstGeom prst="rect">
            <a:avLst/>
          </a:prstGeom>
          <a:noFill/>
          <a:ln/>
        </p:spPr>
        <p:txBody>
          <a:bodyPr wrap="square" lIns="98921" tIns="32974" rIns="98921" bIns="32974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20470" y="5135643"/>
            <a:ext cx="4772933" cy="362710"/>
          </a:xfrm>
          <a:custGeom>
            <a:avLst/>
            <a:gdLst/>
            <a:ahLst/>
            <a:cxnLst/>
            <a:rect l="l" t="t" r="r" b="b"/>
            <a:pathLst>
              <a:path w="4772933" h="362710">
                <a:moveTo>
                  <a:pt x="32974" y="0"/>
                </a:moveTo>
                <a:lnTo>
                  <a:pt x="4739959" y="0"/>
                </a:lnTo>
                <a:cubicBezTo>
                  <a:pt x="4758170" y="0"/>
                  <a:pt x="4772933" y="14763"/>
                  <a:pt x="4772933" y="32974"/>
                </a:cubicBezTo>
                <a:lnTo>
                  <a:pt x="4772933" y="329736"/>
                </a:lnTo>
                <a:cubicBezTo>
                  <a:pt x="4772933" y="347947"/>
                  <a:pt x="4758170" y="362710"/>
                  <a:pt x="4739959" y="362710"/>
                </a:cubicBezTo>
                <a:lnTo>
                  <a:pt x="32974" y="362710"/>
                </a:lnTo>
                <a:cubicBezTo>
                  <a:pt x="14763" y="362710"/>
                  <a:pt x="0" y="347947"/>
                  <a:pt x="0" y="329736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986417" y="5218077"/>
            <a:ext cx="733663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Yuqori Xavf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836732" y="5201590"/>
            <a:ext cx="791367" cy="230815"/>
          </a:xfrm>
          <a:custGeom>
            <a:avLst/>
            <a:gdLst/>
            <a:ahLst/>
            <a:cxnLst/>
            <a:rect l="l" t="t" r="r" b="b"/>
            <a:pathLst>
              <a:path w="791367" h="230815">
                <a:moveTo>
                  <a:pt x="32974" y="0"/>
                </a:moveTo>
                <a:lnTo>
                  <a:pt x="758393" y="0"/>
                </a:lnTo>
                <a:cubicBezTo>
                  <a:pt x="776592" y="0"/>
                  <a:pt x="791367" y="14775"/>
                  <a:pt x="791367" y="32974"/>
                </a:cubicBezTo>
                <a:lnTo>
                  <a:pt x="791367" y="197841"/>
                </a:lnTo>
                <a:cubicBezTo>
                  <a:pt x="791367" y="216052"/>
                  <a:pt x="776604" y="230815"/>
                  <a:pt x="758393" y="230815"/>
                </a:cubicBezTo>
                <a:lnTo>
                  <a:pt x="32974" y="230815"/>
                </a:lnTo>
                <a:cubicBezTo>
                  <a:pt x="14775" y="230815"/>
                  <a:pt x="0" y="216040"/>
                  <a:pt x="0" y="197841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F59E0B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836732" y="5201590"/>
            <a:ext cx="849071" cy="230815"/>
          </a:xfrm>
          <a:prstGeom prst="rect">
            <a:avLst/>
          </a:prstGeom>
          <a:noFill/>
          <a:ln/>
        </p:spPr>
        <p:txBody>
          <a:bodyPr wrap="square" lIns="98921" tIns="32974" rIns="98921" bIns="32974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TEKSHIRUV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20470" y="5564300"/>
            <a:ext cx="4772933" cy="362710"/>
          </a:xfrm>
          <a:custGeom>
            <a:avLst/>
            <a:gdLst/>
            <a:ahLst/>
            <a:cxnLst/>
            <a:rect l="l" t="t" r="r" b="b"/>
            <a:pathLst>
              <a:path w="4772933" h="362710">
                <a:moveTo>
                  <a:pt x="32974" y="0"/>
                </a:moveTo>
                <a:lnTo>
                  <a:pt x="4739959" y="0"/>
                </a:lnTo>
                <a:cubicBezTo>
                  <a:pt x="4758170" y="0"/>
                  <a:pt x="4772933" y="14763"/>
                  <a:pt x="4772933" y="32974"/>
                </a:cubicBezTo>
                <a:lnTo>
                  <a:pt x="4772933" y="329736"/>
                </a:lnTo>
                <a:cubicBezTo>
                  <a:pt x="4772933" y="347947"/>
                  <a:pt x="4758170" y="362710"/>
                  <a:pt x="4739959" y="362710"/>
                </a:cubicBezTo>
                <a:lnTo>
                  <a:pt x="32974" y="362710"/>
                </a:lnTo>
                <a:cubicBezTo>
                  <a:pt x="14763" y="362710"/>
                  <a:pt x="0" y="347947"/>
                  <a:pt x="0" y="329736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986417" y="5646734"/>
            <a:ext cx="63474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O'rta Xavf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44074" y="5630247"/>
            <a:ext cx="783124" cy="230815"/>
          </a:xfrm>
          <a:custGeom>
            <a:avLst/>
            <a:gdLst/>
            <a:ahLst/>
            <a:cxnLst/>
            <a:rect l="l" t="t" r="r" b="b"/>
            <a:pathLst>
              <a:path w="783124" h="230815">
                <a:moveTo>
                  <a:pt x="32974" y="0"/>
                </a:moveTo>
                <a:lnTo>
                  <a:pt x="750149" y="0"/>
                </a:lnTo>
                <a:cubicBezTo>
                  <a:pt x="768348" y="0"/>
                  <a:pt x="783124" y="14775"/>
                  <a:pt x="783124" y="32974"/>
                </a:cubicBezTo>
                <a:lnTo>
                  <a:pt x="783124" y="197841"/>
                </a:lnTo>
                <a:cubicBezTo>
                  <a:pt x="783124" y="216052"/>
                  <a:pt x="768361" y="230815"/>
                  <a:pt x="750149" y="230815"/>
                </a:cubicBezTo>
                <a:lnTo>
                  <a:pt x="32974" y="230815"/>
                </a:lnTo>
                <a:cubicBezTo>
                  <a:pt x="14775" y="230815"/>
                  <a:pt x="0" y="216040"/>
                  <a:pt x="0" y="197841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844074" y="5630247"/>
            <a:ext cx="840828" cy="230815"/>
          </a:xfrm>
          <a:prstGeom prst="rect">
            <a:avLst/>
          </a:prstGeom>
          <a:noFill/>
          <a:ln/>
        </p:spPr>
        <p:txBody>
          <a:bodyPr wrap="square" lIns="98921" tIns="32974" rIns="98921" bIns="32974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BAHOLASH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920470" y="5992957"/>
            <a:ext cx="4772933" cy="362710"/>
          </a:xfrm>
          <a:custGeom>
            <a:avLst/>
            <a:gdLst/>
            <a:ahLst/>
            <a:cxnLst/>
            <a:rect l="l" t="t" r="r" b="b"/>
            <a:pathLst>
              <a:path w="4772933" h="362710">
                <a:moveTo>
                  <a:pt x="32974" y="0"/>
                </a:moveTo>
                <a:lnTo>
                  <a:pt x="4739959" y="0"/>
                </a:lnTo>
                <a:cubicBezTo>
                  <a:pt x="4758170" y="0"/>
                  <a:pt x="4772933" y="14763"/>
                  <a:pt x="4772933" y="32974"/>
                </a:cubicBezTo>
                <a:lnTo>
                  <a:pt x="4772933" y="329736"/>
                </a:lnTo>
                <a:cubicBezTo>
                  <a:pt x="4772933" y="347947"/>
                  <a:pt x="4758170" y="362710"/>
                  <a:pt x="4739959" y="362710"/>
                </a:cubicBezTo>
                <a:lnTo>
                  <a:pt x="32974" y="362710"/>
                </a:lnTo>
                <a:cubicBezTo>
                  <a:pt x="14763" y="362710"/>
                  <a:pt x="0" y="347947"/>
                  <a:pt x="0" y="329736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986417" y="6075391"/>
            <a:ext cx="59352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Xavf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04434" y="6058905"/>
            <a:ext cx="618256" cy="230815"/>
          </a:xfrm>
          <a:custGeom>
            <a:avLst/>
            <a:gdLst/>
            <a:ahLst/>
            <a:cxnLst/>
            <a:rect l="l" t="t" r="r" b="b"/>
            <a:pathLst>
              <a:path w="618256" h="230815">
                <a:moveTo>
                  <a:pt x="32974" y="0"/>
                </a:moveTo>
                <a:lnTo>
                  <a:pt x="585281" y="0"/>
                </a:lnTo>
                <a:cubicBezTo>
                  <a:pt x="603480" y="0"/>
                  <a:pt x="618256" y="14775"/>
                  <a:pt x="618256" y="32974"/>
                </a:cubicBezTo>
                <a:lnTo>
                  <a:pt x="618256" y="197841"/>
                </a:lnTo>
                <a:cubicBezTo>
                  <a:pt x="618256" y="216052"/>
                  <a:pt x="603492" y="230815"/>
                  <a:pt x="585281" y="230815"/>
                </a:cubicBezTo>
                <a:lnTo>
                  <a:pt x="32974" y="230815"/>
                </a:lnTo>
                <a:cubicBezTo>
                  <a:pt x="14775" y="230815"/>
                  <a:pt x="0" y="216040"/>
                  <a:pt x="0" y="197841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1004434" y="6058905"/>
            <a:ext cx="675959" cy="230815"/>
          </a:xfrm>
          <a:prstGeom prst="rect">
            <a:avLst/>
          </a:prstGeom>
          <a:noFill/>
          <a:ln/>
        </p:spPr>
        <p:txBody>
          <a:bodyPr wrap="square" lIns="98921" tIns="32974" rIns="98921" bIns="32974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RUXSAT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382" y="345382"/>
            <a:ext cx="11561677" cy="172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2" b="1" spc="95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Integratsiya va Intellekt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5382" y="587150"/>
            <a:ext cx="11708465" cy="518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6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Integratsiya Strategiyasi va Dvigatellar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700" y="1247694"/>
            <a:ext cx="5655637" cy="5396601"/>
          </a:xfrm>
          <a:custGeom>
            <a:avLst/>
            <a:gdLst/>
            <a:ahLst/>
            <a:cxnLst/>
            <a:rect l="l" t="t" r="r" b="b"/>
            <a:pathLst>
              <a:path w="5655637" h="5396601">
                <a:moveTo>
                  <a:pt x="69076" y="0"/>
                </a:moveTo>
                <a:lnTo>
                  <a:pt x="5586561" y="0"/>
                </a:lnTo>
                <a:cubicBezTo>
                  <a:pt x="5624711" y="0"/>
                  <a:pt x="5655637" y="30927"/>
                  <a:pt x="5655637" y="69076"/>
                </a:cubicBezTo>
                <a:lnTo>
                  <a:pt x="5655637" y="5327524"/>
                </a:lnTo>
                <a:cubicBezTo>
                  <a:pt x="5655637" y="5365674"/>
                  <a:pt x="5624711" y="5396601"/>
                  <a:pt x="5586561" y="5396601"/>
                </a:cubicBezTo>
                <a:lnTo>
                  <a:pt x="69076" y="5396601"/>
                </a:lnTo>
                <a:cubicBezTo>
                  <a:pt x="30927" y="5396601"/>
                  <a:pt x="0" y="5365674"/>
                  <a:pt x="0" y="5327524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6708" y="1424703"/>
            <a:ext cx="5405235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Uchlik Integratsiya Strategiyasi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6708" y="1839161"/>
            <a:ext cx="5370697" cy="44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</a:t>
            </a:r>
            <a:pPr>
              <a:lnSpc>
                <a:spcPct val="140000"/>
              </a:lnSpc>
            </a:pPr>
            <a:r>
              <a:rPr lang="en-US" sz="1088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uch turli integratsiya yondashuvi</a:t>
            </a:r>
            <a:pPr>
              <a:lnSpc>
                <a:spcPct val="14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orqali legacy bank muhitlariga moslashadi. Bu arxitektura juda konservativ banklarda ham joylashtirishni ta'minlaydi.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3977" y="2426312"/>
            <a:ext cx="5284351" cy="1105224"/>
          </a:xfrm>
          <a:custGeom>
            <a:avLst/>
            <a:gdLst/>
            <a:ahLst/>
            <a:cxnLst/>
            <a:rect l="l" t="t" r="r" b="b"/>
            <a:pathLst>
              <a:path w="5284351" h="1105224">
                <a:moveTo>
                  <a:pt x="34538" y="0"/>
                </a:moveTo>
                <a:lnTo>
                  <a:pt x="5215275" y="0"/>
                </a:lnTo>
                <a:cubicBezTo>
                  <a:pt x="5253425" y="0"/>
                  <a:pt x="5284351" y="30927"/>
                  <a:pt x="5284351" y="69076"/>
                </a:cubicBezTo>
                <a:lnTo>
                  <a:pt x="5284351" y="1036147"/>
                </a:lnTo>
                <a:cubicBezTo>
                  <a:pt x="5284351" y="1074297"/>
                  <a:pt x="5253425" y="1105224"/>
                  <a:pt x="5215275" y="1105224"/>
                </a:cubicBezTo>
                <a:lnTo>
                  <a:pt x="34538" y="1105224"/>
                </a:lnTo>
                <a:cubicBezTo>
                  <a:pt x="15463" y="1105224"/>
                  <a:pt x="0" y="1089760"/>
                  <a:pt x="0" y="1070686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3977" y="2426312"/>
            <a:ext cx="34538" cy="1105224"/>
          </a:xfrm>
          <a:custGeom>
            <a:avLst/>
            <a:gdLst/>
            <a:ahLst/>
            <a:cxnLst/>
            <a:rect l="l" t="t" r="r" b="b"/>
            <a:pathLst>
              <a:path w="34538" h="1105224">
                <a:moveTo>
                  <a:pt x="34538" y="0"/>
                </a:moveTo>
                <a:lnTo>
                  <a:pt x="34538" y="0"/>
                </a:lnTo>
                <a:lnTo>
                  <a:pt x="34538" y="1105224"/>
                </a:lnTo>
                <a:lnTo>
                  <a:pt x="34538" y="1105224"/>
                </a:lnTo>
                <a:cubicBezTo>
                  <a:pt x="15463" y="1105224"/>
                  <a:pt x="0" y="1089760"/>
                  <a:pt x="0" y="1070686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699399" y="2564465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7401" y="2616272"/>
            <a:ext cx="129518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8397" y="2616272"/>
            <a:ext cx="130381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CDC Integratsiyasi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399" y="2978924"/>
            <a:ext cx="5059853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Data Capture orqali real-time ma'lumot almashinuvi. PostgreSQL/MySQL logical replication.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3977" y="3635150"/>
            <a:ext cx="5284351" cy="1105224"/>
          </a:xfrm>
          <a:custGeom>
            <a:avLst/>
            <a:gdLst/>
            <a:ahLst/>
            <a:cxnLst/>
            <a:rect l="l" t="t" r="r" b="b"/>
            <a:pathLst>
              <a:path w="5284351" h="1105224">
                <a:moveTo>
                  <a:pt x="34538" y="0"/>
                </a:moveTo>
                <a:lnTo>
                  <a:pt x="5215275" y="0"/>
                </a:lnTo>
                <a:cubicBezTo>
                  <a:pt x="5253425" y="0"/>
                  <a:pt x="5284351" y="30927"/>
                  <a:pt x="5284351" y="69076"/>
                </a:cubicBezTo>
                <a:lnTo>
                  <a:pt x="5284351" y="1036147"/>
                </a:lnTo>
                <a:cubicBezTo>
                  <a:pt x="5284351" y="1074297"/>
                  <a:pt x="5253425" y="1105224"/>
                  <a:pt x="5215275" y="1105224"/>
                </a:cubicBezTo>
                <a:lnTo>
                  <a:pt x="34538" y="1105224"/>
                </a:lnTo>
                <a:cubicBezTo>
                  <a:pt x="15463" y="1105224"/>
                  <a:pt x="0" y="1089760"/>
                  <a:pt x="0" y="1070686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3977" y="3635150"/>
            <a:ext cx="34538" cy="1105224"/>
          </a:xfrm>
          <a:custGeom>
            <a:avLst/>
            <a:gdLst/>
            <a:ahLst/>
            <a:cxnLst/>
            <a:rect l="l" t="t" r="r" b="b"/>
            <a:pathLst>
              <a:path w="34538" h="1105224">
                <a:moveTo>
                  <a:pt x="34538" y="0"/>
                </a:moveTo>
                <a:lnTo>
                  <a:pt x="34538" y="0"/>
                </a:lnTo>
                <a:lnTo>
                  <a:pt x="34538" y="1105224"/>
                </a:lnTo>
                <a:lnTo>
                  <a:pt x="34538" y="1105224"/>
                </a:lnTo>
                <a:cubicBezTo>
                  <a:pt x="15463" y="1105224"/>
                  <a:pt x="0" y="1089760"/>
                  <a:pt x="0" y="1070686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399" y="3773303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2426" y="3825110"/>
            <a:ext cx="155422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8397" y="3825110"/>
            <a:ext cx="1614663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Shadow Table Adapter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399" y="4187762"/>
            <a:ext cx="5059853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Zaxira jadvallar orqali parallel ishlov berish. Asosiy tizimga ta'sir qilmagan holda integratsiya.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3977" y="4843989"/>
            <a:ext cx="5284351" cy="897994"/>
          </a:xfrm>
          <a:custGeom>
            <a:avLst/>
            <a:gdLst/>
            <a:ahLst/>
            <a:cxnLst/>
            <a:rect l="l" t="t" r="r" b="b"/>
            <a:pathLst>
              <a:path w="5284351" h="897994">
                <a:moveTo>
                  <a:pt x="34538" y="0"/>
                </a:moveTo>
                <a:lnTo>
                  <a:pt x="5215278" y="0"/>
                </a:lnTo>
                <a:cubicBezTo>
                  <a:pt x="5253426" y="0"/>
                  <a:pt x="5284351" y="30925"/>
                  <a:pt x="5284351" y="69074"/>
                </a:cubicBezTo>
                <a:lnTo>
                  <a:pt x="5284351" y="828921"/>
                </a:lnTo>
                <a:cubicBezTo>
                  <a:pt x="5284351" y="867069"/>
                  <a:pt x="5253426" y="897994"/>
                  <a:pt x="5215278" y="897994"/>
                </a:cubicBezTo>
                <a:lnTo>
                  <a:pt x="34538" y="897994"/>
                </a:lnTo>
                <a:cubicBezTo>
                  <a:pt x="15463" y="897994"/>
                  <a:pt x="0" y="882531"/>
                  <a:pt x="0" y="863456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3977" y="4843989"/>
            <a:ext cx="34538" cy="897994"/>
          </a:xfrm>
          <a:custGeom>
            <a:avLst/>
            <a:gdLst/>
            <a:ahLst/>
            <a:cxnLst/>
            <a:rect l="l" t="t" r="r" b="b"/>
            <a:pathLst>
              <a:path w="34538" h="897994">
                <a:moveTo>
                  <a:pt x="34538" y="0"/>
                </a:moveTo>
                <a:lnTo>
                  <a:pt x="34538" y="0"/>
                </a:lnTo>
                <a:lnTo>
                  <a:pt x="34538" y="897994"/>
                </a:lnTo>
                <a:lnTo>
                  <a:pt x="34538" y="897994"/>
                </a:lnTo>
                <a:cubicBezTo>
                  <a:pt x="15463" y="897994"/>
                  <a:pt x="0" y="882531"/>
                  <a:pt x="0" y="863456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399" y="4982142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30402" y="5033949"/>
            <a:ext cx="16405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8397" y="5033949"/>
            <a:ext cx="149377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Micro-Batch Fallback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399" y="5396601"/>
            <a:ext cx="5059853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Vaqtinchalik fayl almashinuvi. CDC ishlamaganda zaxira mexanizm.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4639" y="1247694"/>
            <a:ext cx="5655637" cy="5396601"/>
          </a:xfrm>
          <a:custGeom>
            <a:avLst/>
            <a:gdLst/>
            <a:ahLst/>
            <a:cxnLst/>
            <a:rect l="l" t="t" r="r" b="b"/>
            <a:pathLst>
              <a:path w="5655637" h="5396601">
                <a:moveTo>
                  <a:pt x="69076" y="0"/>
                </a:moveTo>
                <a:lnTo>
                  <a:pt x="5586561" y="0"/>
                </a:lnTo>
                <a:cubicBezTo>
                  <a:pt x="5624711" y="0"/>
                  <a:pt x="5655637" y="30927"/>
                  <a:pt x="5655637" y="69076"/>
                </a:cubicBezTo>
                <a:lnTo>
                  <a:pt x="5655637" y="5327524"/>
                </a:lnTo>
                <a:cubicBezTo>
                  <a:pt x="5655637" y="5365674"/>
                  <a:pt x="5624711" y="5396601"/>
                  <a:pt x="5586561" y="5396601"/>
                </a:cubicBezTo>
                <a:lnTo>
                  <a:pt x="69076" y="5396601"/>
                </a:lnTo>
                <a:cubicBezTo>
                  <a:pt x="30927" y="5396601"/>
                  <a:pt x="0" y="5365674"/>
                  <a:pt x="0" y="5327524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1648" y="1424703"/>
            <a:ext cx="5405235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Deterministik Core Dvigatellar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1648" y="1839161"/>
            <a:ext cx="5370697" cy="44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nafaqat infratuzilma qatlami, balki </a:t>
            </a:r>
            <a:pPr>
              <a:lnSpc>
                <a:spcPct val="140000"/>
              </a:lnSpc>
            </a:pPr>
            <a:r>
              <a:rPr lang="en-US" sz="1088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moliyaviy qaror intellekti platformasi</a:t>
            </a:r>
            <a:pPr>
              <a:lnSpc>
                <a:spcPct val="14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Ushbu dvigatellar banking operatsiyalarini intellektual boshqaradi.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1648" y="2426312"/>
            <a:ext cx="5301620" cy="1208839"/>
          </a:xfrm>
          <a:custGeom>
            <a:avLst/>
            <a:gdLst/>
            <a:ahLst/>
            <a:cxnLst/>
            <a:rect l="l" t="t" r="r" b="b"/>
            <a:pathLst>
              <a:path w="5301620" h="1208839">
                <a:moveTo>
                  <a:pt x="69073" y="0"/>
                </a:moveTo>
                <a:lnTo>
                  <a:pt x="5232547" y="0"/>
                </a:lnTo>
                <a:cubicBezTo>
                  <a:pt x="5270670" y="0"/>
                  <a:pt x="5301620" y="30951"/>
                  <a:pt x="5301620" y="69073"/>
                </a:cubicBezTo>
                <a:lnTo>
                  <a:pt x="5301620" y="1139765"/>
                </a:lnTo>
                <a:cubicBezTo>
                  <a:pt x="5301620" y="1177888"/>
                  <a:pt x="5270670" y="1208839"/>
                  <a:pt x="5232547" y="1208839"/>
                </a:cubicBezTo>
                <a:lnTo>
                  <a:pt x="69073" y="1208839"/>
                </a:lnTo>
                <a:cubicBezTo>
                  <a:pt x="30951" y="1208839"/>
                  <a:pt x="0" y="1177888"/>
                  <a:pt x="0" y="1139765"/>
                </a:cubicBezTo>
                <a:lnTo>
                  <a:pt x="0" y="69073"/>
                </a:lnTo>
                <a:cubicBezTo>
                  <a:pt x="0" y="30951"/>
                  <a:pt x="30951" y="0"/>
                  <a:pt x="6907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99801" y="2564465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03415" y="2668079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17269" y="17269"/>
                </a:moveTo>
                <a:cubicBezTo>
                  <a:pt x="17269" y="12493"/>
                  <a:pt x="13411" y="8635"/>
                  <a:pt x="8635" y="8635"/>
                </a:cubicBezTo>
                <a:cubicBezTo>
                  <a:pt x="3859" y="8635"/>
                  <a:pt x="0" y="12493"/>
                  <a:pt x="0" y="17269"/>
                </a:cubicBezTo>
                <a:lnTo>
                  <a:pt x="0" y="107932"/>
                </a:lnTo>
                <a:cubicBezTo>
                  <a:pt x="0" y="119858"/>
                  <a:pt x="9660" y="129518"/>
                  <a:pt x="21586" y="129518"/>
                </a:cubicBezTo>
                <a:lnTo>
                  <a:pt x="129518" y="129518"/>
                </a:lnTo>
                <a:cubicBezTo>
                  <a:pt x="134294" y="129518"/>
                  <a:pt x="138153" y="125660"/>
                  <a:pt x="138153" y="120884"/>
                </a:cubicBezTo>
                <a:cubicBezTo>
                  <a:pt x="138153" y="116108"/>
                  <a:pt x="134294" y="112249"/>
                  <a:pt x="129518" y="112249"/>
                </a:cubicBezTo>
                <a:lnTo>
                  <a:pt x="21586" y="112249"/>
                </a:lnTo>
                <a:cubicBezTo>
                  <a:pt x="19212" y="112249"/>
                  <a:pt x="17269" y="110307"/>
                  <a:pt x="17269" y="107932"/>
                </a:cubicBezTo>
                <a:lnTo>
                  <a:pt x="17269" y="17269"/>
                </a:lnTo>
                <a:close/>
                <a:moveTo>
                  <a:pt x="126982" y="40636"/>
                </a:moveTo>
                <a:cubicBezTo>
                  <a:pt x="130355" y="37264"/>
                  <a:pt x="130355" y="31786"/>
                  <a:pt x="126982" y="28413"/>
                </a:cubicBezTo>
                <a:cubicBezTo>
                  <a:pt x="123609" y="25040"/>
                  <a:pt x="118132" y="25040"/>
                  <a:pt x="114759" y="28413"/>
                </a:cubicBezTo>
                <a:lnTo>
                  <a:pt x="86346" y="56853"/>
                </a:lnTo>
                <a:lnTo>
                  <a:pt x="70857" y="41392"/>
                </a:lnTo>
                <a:cubicBezTo>
                  <a:pt x="67484" y="38019"/>
                  <a:pt x="62007" y="38019"/>
                  <a:pt x="58634" y="41392"/>
                </a:cubicBezTo>
                <a:lnTo>
                  <a:pt x="32730" y="67296"/>
                </a:lnTo>
                <a:cubicBezTo>
                  <a:pt x="29358" y="70668"/>
                  <a:pt x="29358" y="76146"/>
                  <a:pt x="32730" y="79519"/>
                </a:cubicBezTo>
                <a:cubicBezTo>
                  <a:pt x="36103" y="82892"/>
                  <a:pt x="41581" y="82892"/>
                  <a:pt x="44954" y="79519"/>
                </a:cubicBezTo>
                <a:lnTo>
                  <a:pt x="64759" y="59713"/>
                </a:lnTo>
                <a:lnTo>
                  <a:pt x="80247" y="75202"/>
                </a:lnTo>
                <a:cubicBezTo>
                  <a:pt x="83620" y="78575"/>
                  <a:pt x="89098" y="78575"/>
                  <a:pt x="92471" y="75202"/>
                </a:cubicBezTo>
                <a:lnTo>
                  <a:pt x="127009" y="40663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1" name="Text 29"/>
          <p:cNvSpPr/>
          <p:nvPr/>
        </p:nvSpPr>
        <p:spPr>
          <a:xfrm>
            <a:off x="6948798" y="2616272"/>
            <a:ext cx="828918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Engine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9801" y="2978924"/>
            <a:ext cx="509439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Basel-uslubidagi xavf baholash. Kredit, operatsion va bozor xavflarini tahlil qiladi.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99801" y="3255229"/>
            <a:ext cx="535343" cy="241768"/>
          </a:xfrm>
          <a:custGeom>
            <a:avLst/>
            <a:gdLst/>
            <a:ahLst/>
            <a:cxnLst/>
            <a:rect l="l" t="t" r="r" b="b"/>
            <a:pathLst>
              <a:path w="535343" h="241768">
                <a:moveTo>
                  <a:pt x="34539" y="0"/>
                </a:moveTo>
                <a:lnTo>
                  <a:pt x="500804" y="0"/>
                </a:lnTo>
                <a:cubicBezTo>
                  <a:pt x="519879" y="0"/>
                  <a:pt x="535343" y="15464"/>
                  <a:pt x="535343" y="34539"/>
                </a:cubicBezTo>
                <a:lnTo>
                  <a:pt x="535343" y="207229"/>
                </a:lnTo>
                <a:cubicBezTo>
                  <a:pt x="535343" y="226304"/>
                  <a:pt x="519879" y="241768"/>
                  <a:pt x="500804" y="241768"/>
                </a:cubicBezTo>
                <a:lnTo>
                  <a:pt x="34539" y="241768"/>
                </a:lnTo>
                <a:cubicBezTo>
                  <a:pt x="15464" y="241768"/>
                  <a:pt x="0" y="226304"/>
                  <a:pt x="0" y="207229"/>
                </a:cubicBezTo>
                <a:lnTo>
                  <a:pt x="0" y="34539"/>
                </a:lnTo>
                <a:cubicBezTo>
                  <a:pt x="0" y="15464"/>
                  <a:pt x="15464" y="0"/>
                  <a:pt x="3453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99801" y="3255229"/>
            <a:ext cx="595785" cy="241768"/>
          </a:xfrm>
          <a:prstGeom prst="rect">
            <a:avLst/>
          </a:prstGeom>
          <a:noFill/>
          <a:ln/>
        </p:spPr>
        <p:txBody>
          <a:bodyPr wrap="square" lIns="69076" tIns="34538" rIns="69076" bIns="34538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 III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08132" y="3255229"/>
            <a:ext cx="699399" cy="241768"/>
          </a:xfrm>
          <a:custGeom>
            <a:avLst/>
            <a:gdLst/>
            <a:ahLst/>
            <a:cxnLst/>
            <a:rect l="l" t="t" r="r" b="b"/>
            <a:pathLst>
              <a:path w="699399" h="241768">
                <a:moveTo>
                  <a:pt x="34539" y="0"/>
                </a:moveTo>
                <a:lnTo>
                  <a:pt x="664860" y="0"/>
                </a:lnTo>
                <a:cubicBezTo>
                  <a:pt x="683936" y="0"/>
                  <a:pt x="699399" y="15464"/>
                  <a:pt x="699399" y="34539"/>
                </a:cubicBezTo>
                <a:lnTo>
                  <a:pt x="699399" y="207229"/>
                </a:lnTo>
                <a:cubicBezTo>
                  <a:pt x="699399" y="226304"/>
                  <a:pt x="683936" y="241768"/>
                  <a:pt x="664860" y="241768"/>
                </a:cubicBezTo>
                <a:lnTo>
                  <a:pt x="34539" y="241768"/>
                </a:lnTo>
                <a:cubicBezTo>
                  <a:pt x="15464" y="241768"/>
                  <a:pt x="0" y="226304"/>
                  <a:pt x="0" y="207229"/>
                </a:cubicBezTo>
                <a:lnTo>
                  <a:pt x="0" y="34539"/>
                </a:lnTo>
                <a:cubicBezTo>
                  <a:pt x="0" y="15464"/>
                  <a:pt x="15464" y="0"/>
                  <a:pt x="3453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108132" y="3255229"/>
            <a:ext cx="759841" cy="241768"/>
          </a:xfrm>
          <a:prstGeom prst="rect">
            <a:avLst/>
          </a:prstGeom>
          <a:noFill/>
          <a:ln/>
        </p:spPr>
        <p:txBody>
          <a:bodyPr wrap="square" lIns="69076" tIns="34538" rIns="69076" bIns="34538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Stress Test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1648" y="3738765"/>
            <a:ext cx="5301620" cy="1416068"/>
          </a:xfrm>
          <a:custGeom>
            <a:avLst/>
            <a:gdLst/>
            <a:ahLst/>
            <a:cxnLst/>
            <a:rect l="l" t="t" r="r" b="b"/>
            <a:pathLst>
              <a:path w="5301620" h="1416068">
                <a:moveTo>
                  <a:pt x="69076" y="0"/>
                </a:moveTo>
                <a:lnTo>
                  <a:pt x="5232545" y="0"/>
                </a:lnTo>
                <a:cubicBezTo>
                  <a:pt x="5270694" y="0"/>
                  <a:pt x="5301620" y="30926"/>
                  <a:pt x="5301620" y="69076"/>
                </a:cubicBezTo>
                <a:lnTo>
                  <a:pt x="5301620" y="1346992"/>
                </a:lnTo>
                <a:cubicBezTo>
                  <a:pt x="5301620" y="1385142"/>
                  <a:pt x="5270694" y="1416068"/>
                  <a:pt x="5232545" y="1416068"/>
                </a:cubicBezTo>
                <a:lnTo>
                  <a:pt x="69076" y="1416068"/>
                </a:lnTo>
                <a:cubicBezTo>
                  <a:pt x="30926" y="1416068"/>
                  <a:pt x="0" y="1385142"/>
                  <a:pt x="0" y="1346992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99801" y="3876918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03415" y="3980533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110792" y="33486"/>
                </a:moveTo>
                <a:cubicBezTo>
                  <a:pt x="116378" y="37695"/>
                  <a:pt x="123204" y="41770"/>
                  <a:pt x="130814" y="42795"/>
                </a:cubicBezTo>
                <a:cubicBezTo>
                  <a:pt x="134348" y="43281"/>
                  <a:pt x="137613" y="40771"/>
                  <a:pt x="138099" y="37237"/>
                </a:cubicBezTo>
                <a:cubicBezTo>
                  <a:pt x="138585" y="33702"/>
                  <a:pt x="136075" y="30437"/>
                  <a:pt x="132541" y="29951"/>
                </a:cubicBezTo>
                <a:cubicBezTo>
                  <a:pt x="128250" y="29384"/>
                  <a:pt x="123582" y="26902"/>
                  <a:pt x="118590" y="23151"/>
                </a:cubicBezTo>
                <a:cubicBezTo>
                  <a:pt x="108229" y="15326"/>
                  <a:pt x="94171" y="15326"/>
                  <a:pt x="83782" y="23151"/>
                </a:cubicBezTo>
                <a:cubicBezTo>
                  <a:pt x="77306" y="28035"/>
                  <a:pt x="72800" y="30248"/>
                  <a:pt x="69076" y="30248"/>
                </a:cubicBezTo>
                <a:cubicBezTo>
                  <a:pt x="65353" y="30248"/>
                  <a:pt x="60847" y="28035"/>
                  <a:pt x="54371" y="23151"/>
                </a:cubicBezTo>
                <a:cubicBezTo>
                  <a:pt x="44009" y="15326"/>
                  <a:pt x="29951" y="15326"/>
                  <a:pt x="19563" y="23151"/>
                </a:cubicBezTo>
                <a:cubicBezTo>
                  <a:pt x="14571" y="26902"/>
                  <a:pt x="9903" y="29384"/>
                  <a:pt x="5612" y="29951"/>
                </a:cubicBezTo>
                <a:cubicBezTo>
                  <a:pt x="2078" y="30437"/>
                  <a:pt x="-432" y="33675"/>
                  <a:pt x="54" y="37237"/>
                </a:cubicBezTo>
                <a:cubicBezTo>
                  <a:pt x="540" y="40798"/>
                  <a:pt x="3778" y="43281"/>
                  <a:pt x="7339" y="42795"/>
                </a:cubicBezTo>
                <a:cubicBezTo>
                  <a:pt x="14949" y="41770"/>
                  <a:pt x="21802" y="37695"/>
                  <a:pt x="27361" y="33486"/>
                </a:cubicBezTo>
                <a:cubicBezTo>
                  <a:pt x="33108" y="29142"/>
                  <a:pt x="40825" y="29142"/>
                  <a:pt x="46573" y="33486"/>
                </a:cubicBezTo>
                <a:cubicBezTo>
                  <a:pt x="53103" y="38424"/>
                  <a:pt x="60685" y="43173"/>
                  <a:pt x="69076" y="43173"/>
                </a:cubicBezTo>
                <a:cubicBezTo>
                  <a:pt x="77468" y="43173"/>
                  <a:pt x="85023" y="38397"/>
                  <a:pt x="91580" y="33486"/>
                </a:cubicBezTo>
                <a:cubicBezTo>
                  <a:pt x="97328" y="29142"/>
                  <a:pt x="105045" y="29142"/>
                  <a:pt x="110792" y="33486"/>
                </a:cubicBezTo>
                <a:close/>
                <a:moveTo>
                  <a:pt x="110792" y="72341"/>
                </a:moveTo>
                <a:cubicBezTo>
                  <a:pt x="116378" y="76551"/>
                  <a:pt x="123204" y="80625"/>
                  <a:pt x="130814" y="81651"/>
                </a:cubicBezTo>
                <a:cubicBezTo>
                  <a:pt x="134348" y="82136"/>
                  <a:pt x="137613" y="79627"/>
                  <a:pt x="138099" y="76092"/>
                </a:cubicBezTo>
                <a:cubicBezTo>
                  <a:pt x="138585" y="72557"/>
                  <a:pt x="136075" y="69292"/>
                  <a:pt x="132541" y="68807"/>
                </a:cubicBezTo>
                <a:cubicBezTo>
                  <a:pt x="128250" y="68240"/>
                  <a:pt x="123582" y="65758"/>
                  <a:pt x="118590" y="62007"/>
                </a:cubicBezTo>
                <a:cubicBezTo>
                  <a:pt x="108229" y="54182"/>
                  <a:pt x="94171" y="54182"/>
                  <a:pt x="83782" y="62007"/>
                </a:cubicBezTo>
                <a:cubicBezTo>
                  <a:pt x="77306" y="66891"/>
                  <a:pt x="72800" y="69103"/>
                  <a:pt x="69076" y="69103"/>
                </a:cubicBezTo>
                <a:cubicBezTo>
                  <a:pt x="65353" y="69103"/>
                  <a:pt x="60847" y="66891"/>
                  <a:pt x="54371" y="62007"/>
                </a:cubicBezTo>
                <a:cubicBezTo>
                  <a:pt x="44009" y="54182"/>
                  <a:pt x="29951" y="54182"/>
                  <a:pt x="19563" y="62007"/>
                </a:cubicBezTo>
                <a:cubicBezTo>
                  <a:pt x="14571" y="65758"/>
                  <a:pt x="9903" y="68240"/>
                  <a:pt x="5612" y="68807"/>
                </a:cubicBezTo>
                <a:cubicBezTo>
                  <a:pt x="2078" y="69265"/>
                  <a:pt x="-432" y="72530"/>
                  <a:pt x="54" y="76092"/>
                </a:cubicBezTo>
                <a:cubicBezTo>
                  <a:pt x="540" y="79654"/>
                  <a:pt x="3778" y="82136"/>
                  <a:pt x="7339" y="81651"/>
                </a:cubicBezTo>
                <a:cubicBezTo>
                  <a:pt x="14949" y="80625"/>
                  <a:pt x="21802" y="76551"/>
                  <a:pt x="27361" y="72341"/>
                </a:cubicBezTo>
                <a:cubicBezTo>
                  <a:pt x="33108" y="67997"/>
                  <a:pt x="40825" y="67997"/>
                  <a:pt x="46573" y="72341"/>
                </a:cubicBezTo>
                <a:cubicBezTo>
                  <a:pt x="53103" y="77279"/>
                  <a:pt x="60685" y="82028"/>
                  <a:pt x="69076" y="82028"/>
                </a:cubicBezTo>
                <a:cubicBezTo>
                  <a:pt x="77468" y="82028"/>
                  <a:pt x="85023" y="77252"/>
                  <a:pt x="91580" y="72341"/>
                </a:cubicBezTo>
                <a:cubicBezTo>
                  <a:pt x="97328" y="67997"/>
                  <a:pt x="105045" y="67997"/>
                  <a:pt x="110792" y="72341"/>
                </a:cubicBezTo>
                <a:close/>
                <a:moveTo>
                  <a:pt x="91580" y="111197"/>
                </a:moveTo>
                <a:cubicBezTo>
                  <a:pt x="97328" y="106853"/>
                  <a:pt x="105045" y="106853"/>
                  <a:pt x="110792" y="111197"/>
                </a:cubicBezTo>
                <a:cubicBezTo>
                  <a:pt x="116378" y="115406"/>
                  <a:pt x="123204" y="119481"/>
                  <a:pt x="130814" y="120506"/>
                </a:cubicBezTo>
                <a:cubicBezTo>
                  <a:pt x="134348" y="120992"/>
                  <a:pt x="137613" y="118482"/>
                  <a:pt x="138099" y="114948"/>
                </a:cubicBezTo>
                <a:cubicBezTo>
                  <a:pt x="138585" y="111413"/>
                  <a:pt x="136075" y="108148"/>
                  <a:pt x="132541" y="107662"/>
                </a:cubicBezTo>
                <a:cubicBezTo>
                  <a:pt x="128250" y="107096"/>
                  <a:pt x="123582" y="104613"/>
                  <a:pt x="118590" y="100862"/>
                </a:cubicBezTo>
                <a:cubicBezTo>
                  <a:pt x="108229" y="93037"/>
                  <a:pt x="94171" y="93037"/>
                  <a:pt x="83782" y="100862"/>
                </a:cubicBezTo>
                <a:cubicBezTo>
                  <a:pt x="77306" y="105746"/>
                  <a:pt x="72800" y="107959"/>
                  <a:pt x="69076" y="107959"/>
                </a:cubicBezTo>
                <a:cubicBezTo>
                  <a:pt x="65353" y="107959"/>
                  <a:pt x="60847" y="105746"/>
                  <a:pt x="54371" y="100862"/>
                </a:cubicBezTo>
                <a:cubicBezTo>
                  <a:pt x="44009" y="93037"/>
                  <a:pt x="29951" y="93037"/>
                  <a:pt x="19563" y="100862"/>
                </a:cubicBezTo>
                <a:cubicBezTo>
                  <a:pt x="14571" y="104613"/>
                  <a:pt x="9903" y="107096"/>
                  <a:pt x="5612" y="107662"/>
                </a:cubicBezTo>
                <a:cubicBezTo>
                  <a:pt x="2078" y="108148"/>
                  <a:pt x="-432" y="111386"/>
                  <a:pt x="54" y="114948"/>
                </a:cubicBezTo>
                <a:cubicBezTo>
                  <a:pt x="540" y="118509"/>
                  <a:pt x="3778" y="120992"/>
                  <a:pt x="7339" y="120506"/>
                </a:cubicBezTo>
                <a:cubicBezTo>
                  <a:pt x="14949" y="119481"/>
                  <a:pt x="21802" y="115406"/>
                  <a:pt x="27361" y="111197"/>
                </a:cubicBezTo>
                <a:cubicBezTo>
                  <a:pt x="33108" y="106853"/>
                  <a:pt x="40825" y="106853"/>
                  <a:pt x="46573" y="111197"/>
                </a:cubicBezTo>
                <a:cubicBezTo>
                  <a:pt x="53103" y="116135"/>
                  <a:pt x="60685" y="120884"/>
                  <a:pt x="69076" y="120884"/>
                </a:cubicBezTo>
                <a:cubicBezTo>
                  <a:pt x="77468" y="120884"/>
                  <a:pt x="85023" y="116108"/>
                  <a:pt x="91580" y="111197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0" name="Text 38"/>
          <p:cNvSpPr/>
          <p:nvPr/>
        </p:nvSpPr>
        <p:spPr>
          <a:xfrm>
            <a:off x="6948798" y="3928725"/>
            <a:ext cx="113112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Liquidity Engine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9801" y="4291377"/>
            <a:ext cx="5094391" cy="41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Likvidlik stress simulyatsiyasi. NSFR va LCR hisoblash. Kunning istalgan vaqtida likvidlik holati.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99801" y="4774912"/>
            <a:ext cx="423093" cy="241768"/>
          </a:xfrm>
          <a:custGeom>
            <a:avLst/>
            <a:gdLst/>
            <a:ahLst/>
            <a:cxnLst/>
            <a:rect l="l" t="t" r="r" b="b"/>
            <a:pathLst>
              <a:path w="423093" h="241768">
                <a:moveTo>
                  <a:pt x="34539" y="0"/>
                </a:moveTo>
                <a:lnTo>
                  <a:pt x="388555" y="0"/>
                </a:lnTo>
                <a:cubicBezTo>
                  <a:pt x="407630" y="0"/>
                  <a:pt x="423093" y="15464"/>
                  <a:pt x="423093" y="34539"/>
                </a:cubicBezTo>
                <a:lnTo>
                  <a:pt x="423093" y="207229"/>
                </a:lnTo>
                <a:cubicBezTo>
                  <a:pt x="423093" y="226304"/>
                  <a:pt x="407630" y="241768"/>
                  <a:pt x="388555" y="241768"/>
                </a:cubicBezTo>
                <a:lnTo>
                  <a:pt x="34539" y="241768"/>
                </a:lnTo>
                <a:cubicBezTo>
                  <a:pt x="15464" y="241768"/>
                  <a:pt x="0" y="226304"/>
                  <a:pt x="0" y="207229"/>
                </a:cubicBezTo>
                <a:lnTo>
                  <a:pt x="0" y="34539"/>
                </a:lnTo>
                <a:cubicBezTo>
                  <a:pt x="0" y="15464"/>
                  <a:pt x="15464" y="0"/>
                  <a:pt x="34539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99801" y="4774912"/>
            <a:ext cx="483535" cy="241768"/>
          </a:xfrm>
          <a:prstGeom prst="rect">
            <a:avLst/>
          </a:prstGeom>
          <a:noFill/>
          <a:ln/>
        </p:spPr>
        <p:txBody>
          <a:bodyPr wrap="square" lIns="69076" tIns="34538" rIns="69076" bIns="34538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NSFR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88733" y="4774912"/>
            <a:ext cx="345382" cy="241768"/>
          </a:xfrm>
          <a:custGeom>
            <a:avLst/>
            <a:gdLst/>
            <a:ahLst/>
            <a:cxnLst/>
            <a:rect l="l" t="t" r="r" b="b"/>
            <a:pathLst>
              <a:path w="345382" h="241768">
                <a:moveTo>
                  <a:pt x="34539" y="0"/>
                </a:moveTo>
                <a:lnTo>
                  <a:pt x="310844" y="0"/>
                </a:lnTo>
                <a:cubicBezTo>
                  <a:pt x="329919" y="0"/>
                  <a:pt x="345382" y="15464"/>
                  <a:pt x="345382" y="34539"/>
                </a:cubicBezTo>
                <a:lnTo>
                  <a:pt x="345382" y="207229"/>
                </a:lnTo>
                <a:cubicBezTo>
                  <a:pt x="345382" y="226304"/>
                  <a:pt x="329919" y="241768"/>
                  <a:pt x="310844" y="241768"/>
                </a:cubicBezTo>
                <a:lnTo>
                  <a:pt x="34539" y="241768"/>
                </a:lnTo>
                <a:cubicBezTo>
                  <a:pt x="15464" y="241768"/>
                  <a:pt x="0" y="226304"/>
                  <a:pt x="0" y="207229"/>
                </a:cubicBezTo>
                <a:lnTo>
                  <a:pt x="0" y="34539"/>
                </a:lnTo>
                <a:cubicBezTo>
                  <a:pt x="0" y="15464"/>
                  <a:pt x="15464" y="0"/>
                  <a:pt x="34539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988733" y="4774912"/>
            <a:ext cx="405824" cy="241768"/>
          </a:xfrm>
          <a:prstGeom prst="rect">
            <a:avLst/>
          </a:prstGeom>
          <a:noFill/>
          <a:ln/>
        </p:spPr>
        <p:txBody>
          <a:bodyPr wrap="square" lIns="69076" tIns="34538" rIns="69076" bIns="34538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1648" y="5258448"/>
            <a:ext cx="5301620" cy="1208839"/>
          </a:xfrm>
          <a:custGeom>
            <a:avLst/>
            <a:gdLst/>
            <a:ahLst/>
            <a:cxnLst/>
            <a:rect l="l" t="t" r="r" b="b"/>
            <a:pathLst>
              <a:path w="5301620" h="1208839">
                <a:moveTo>
                  <a:pt x="69073" y="0"/>
                </a:moveTo>
                <a:lnTo>
                  <a:pt x="5232547" y="0"/>
                </a:lnTo>
                <a:cubicBezTo>
                  <a:pt x="5270670" y="0"/>
                  <a:pt x="5301620" y="30951"/>
                  <a:pt x="5301620" y="69073"/>
                </a:cubicBezTo>
                <a:lnTo>
                  <a:pt x="5301620" y="1139765"/>
                </a:lnTo>
                <a:cubicBezTo>
                  <a:pt x="5301620" y="1177888"/>
                  <a:pt x="5270670" y="1208839"/>
                  <a:pt x="5232547" y="1208839"/>
                </a:cubicBezTo>
                <a:lnTo>
                  <a:pt x="69073" y="1208839"/>
                </a:lnTo>
                <a:cubicBezTo>
                  <a:pt x="30951" y="1208839"/>
                  <a:pt x="0" y="1177888"/>
                  <a:pt x="0" y="1139765"/>
                </a:cubicBezTo>
                <a:lnTo>
                  <a:pt x="0" y="69073"/>
                </a:lnTo>
                <a:cubicBezTo>
                  <a:pt x="0" y="30951"/>
                  <a:pt x="30951" y="0"/>
                  <a:pt x="6907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99801" y="5396601"/>
            <a:ext cx="345382" cy="345382"/>
          </a:xfrm>
          <a:custGeom>
            <a:avLst/>
            <a:gdLst/>
            <a:ahLst/>
            <a:cxnLst/>
            <a:rect l="l" t="t" r="r" b="b"/>
            <a:pathLst>
              <a:path w="345382" h="345382">
                <a:moveTo>
                  <a:pt x="69076" y="0"/>
                </a:moveTo>
                <a:lnTo>
                  <a:pt x="276306" y="0"/>
                </a:lnTo>
                <a:cubicBezTo>
                  <a:pt x="314456" y="0"/>
                  <a:pt x="345382" y="30927"/>
                  <a:pt x="345382" y="69076"/>
                </a:cubicBezTo>
                <a:lnTo>
                  <a:pt x="345382" y="276306"/>
                </a:lnTo>
                <a:cubicBezTo>
                  <a:pt x="345382" y="314456"/>
                  <a:pt x="314456" y="345382"/>
                  <a:pt x="276306" y="345382"/>
                </a:cubicBezTo>
                <a:lnTo>
                  <a:pt x="69076" y="345382"/>
                </a:lnTo>
                <a:cubicBezTo>
                  <a:pt x="30927" y="345382"/>
                  <a:pt x="0" y="314456"/>
                  <a:pt x="0" y="276306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03415" y="5500215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0" y="21586"/>
                </a:moveTo>
                <a:cubicBezTo>
                  <a:pt x="0" y="14436"/>
                  <a:pt x="5801" y="8635"/>
                  <a:pt x="12952" y="8635"/>
                </a:cubicBezTo>
                <a:lnTo>
                  <a:pt x="38856" y="8635"/>
                </a:lnTo>
                <a:cubicBezTo>
                  <a:pt x="46006" y="8635"/>
                  <a:pt x="51807" y="14436"/>
                  <a:pt x="51807" y="21586"/>
                </a:cubicBezTo>
                <a:lnTo>
                  <a:pt x="51807" y="25904"/>
                </a:lnTo>
                <a:lnTo>
                  <a:pt x="86346" y="25904"/>
                </a:lnTo>
                <a:lnTo>
                  <a:pt x="86346" y="21586"/>
                </a:lnTo>
                <a:cubicBezTo>
                  <a:pt x="86346" y="14436"/>
                  <a:pt x="92147" y="8635"/>
                  <a:pt x="99297" y="8635"/>
                </a:cubicBezTo>
                <a:lnTo>
                  <a:pt x="125201" y="8635"/>
                </a:lnTo>
                <a:cubicBezTo>
                  <a:pt x="132352" y="8635"/>
                  <a:pt x="138153" y="14436"/>
                  <a:pt x="138153" y="21586"/>
                </a:cubicBezTo>
                <a:lnTo>
                  <a:pt x="138153" y="47490"/>
                </a:lnTo>
                <a:cubicBezTo>
                  <a:pt x="138153" y="54641"/>
                  <a:pt x="132352" y="60442"/>
                  <a:pt x="125201" y="60442"/>
                </a:cubicBezTo>
                <a:lnTo>
                  <a:pt x="99297" y="60442"/>
                </a:lnTo>
                <a:cubicBezTo>
                  <a:pt x="92147" y="60442"/>
                  <a:pt x="86346" y="54641"/>
                  <a:pt x="86346" y="47490"/>
                </a:cubicBezTo>
                <a:lnTo>
                  <a:pt x="86346" y="43173"/>
                </a:lnTo>
                <a:lnTo>
                  <a:pt x="51807" y="43173"/>
                </a:lnTo>
                <a:lnTo>
                  <a:pt x="51807" y="47490"/>
                </a:lnTo>
                <a:cubicBezTo>
                  <a:pt x="51807" y="49460"/>
                  <a:pt x="51349" y="51349"/>
                  <a:pt x="50566" y="53022"/>
                </a:cubicBezTo>
                <a:lnTo>
                  <a:pt x="69076" y="77711"/>
                </a:lnTo>
                <a:lnTo>
                  <a:pt x="90663" y="77711"/>
                </a:lnTo>
                <a:cubicBezTo>
                  <a:pt x="97813" y="77711"/>
                  <a:pt x="103615" y="83512"/>
                  <a:pt x="103615" y="90663"/>
                </a:cubicBezTo>
                <a:lnTo>
                  <a:pt x="103615" y="116567"/>
                </a:lnTo>
                <a:cubicBezTo>
                  <a:pt x="103615" y="123717"/>
                  <a:pt x="97813" y="129518"/>
                  <a:pt x="90663" y="129518"/>
                </a:cubicBezTo>
                <a:lnTo>
                  <a:pt x="64759" y="129518"/>
                </a:lnTo>
                <a:cubicBezTo>
                  <a:pt x="57609" y="129518"/>
                  <a:pt x="51807" y="123717"/>
                  <a:pt x="51807" y="116567"/>
                </a:cubicBezTo>
                <a:lnTo>
                  <a:pt x="51807" y="90663"/>
                </a:lnTo>
                <a:cubicBezTo>
                  <a:pt x="51807" y="88693"/>
                  <a:pt x="52266" y="86804"/>
                  <a:pt x="53049" y="85131"/>
                </a:cubicBezTo>
                <a:lnTo>
                  <a:pt x="34538" y="60442"/>
                </a:lnTo>
                <a:lnTo>
                  <a:pt x="12952" y="60442"/>
                </a:lnTo>
                <a:cubicBezTo>
                  <a:pt x="5801" y="60442"/>
                  <a:pt x="0" y="54641"/>
                  <a:pt x="0" y="47490"/>
                </a:cubicBezTo>
                <a:lnTo>
                  <a:pt x="0" y="21586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9" name="Text 47"/>
          <p:cNvSpPr/>
          <p:nvPr/>
        </p:nvSpPr>
        <p:spPr>
          <a:xfrm>
            <a:off x="6948798" y="5448408"/>
            <a:ext cx="1243377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Contagion Engine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99801" y="5811059"/>
            <a:ext cx="509439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Moliyaviy tarmoq ta'sir tahlili. Banklararo xavf tarqalishini modellashtirish.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99801" y="6087365"/>
            <a:ext cx="587150" cy="241768"/>
          </a:xfrm>
          <a:custGeom>
            <a:avLst/>
            <a:gdLst/>
            <a:ahLst/>
            <a:cxnLst/>
            <a:rect l="l" t="t" r="r" b="b"/>
            <a:pathLst>
              <a:path w="587150" h="241768">
                <a:moveTo>
                  <a:pt x="34539" y="0"/>
                </a:moveTo>
                <a:lnTo>
                  <a:pt x="552611" y="0"/>
                </a:lnTo>
                <a:cubicBezTo>
                  <a:pt x="571687" y="0"/>
                  <a:pt x="587150" y="15464"/>
                  <a:pt x="587150" y="34539"/>
                </a:cubicBezTo>
                <a:lnTo>
                  <a:pt x="587150" y="207229"/>
                </a:lnTo>
                <a:cubicBezTo>
                  <a:pt x="587150" y="226304"/>
                  <a:pt x="571687" y="241768"/>
                  <a:pt x="552611" y="241768"/>
                </a:cubicBezTo>
                <a:lnTo>
                  <a:pt x="34539" y="241768"/>
                </a:lnTo>
                <a:cubicBezTo>
                  <a:pt x="15464" y="241768"/>
                  <a:pt x="0" y="226304"/>
                  <a:pt x="0" y="207229"/>
                </a:cubicBezTo>
                <a:lnTo>
                  <a:pt x="0" y="34539"/>
                </a:lnTo>
                <a:cubicBezTo>
                  <a:pt x="0" y="15464"/>
                  <a:pt x="15464" y="0"/>
                  <a:pt x="3453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99801" y="6087365"/>
            <a:ext cx="647592" cy="241768"/>
          </a:xfrm>
          <a:prstGeom prst="rect">
            <a:avLst/>
          </a:prstGeom>
          <a:noFill/>
          <a:ln/>
        </p:spPr>
        <p:txBody>
          <a:bodyPr wrap="square" lIns="69076" tIns="34538" rIns="69076" bIns="34538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60210" y="6087365"/>
            <a:ext cx="673496" cy="241768"/>
          </a:xfrm>
          <a:custGeom>
            <a:avLst/>
            <a:gdLst/>
            <a:ahLst/>
            <a:cxnLst/>
            <a:rect l="l" t="t" r="r" b="b"/>
            <a:pathLst>
              <a:path w="673496" h="241768">
                <a:moveTo>
                  <a:pt x="34539" y="0"/>
                </a:moveTo>
                <a:lnTo>
                  <a:pt x="638957" y="0"/>
                </a:lnTo>
                <a:cubicBezTo>
                  <a:pt x="658032" y="0"/>
                  <a:pt x="673496" y="15464"/>
                  <a:pt x="673496" y="34539"/>
                </a:cubicBezTo>
                <a:lnTo>
                  <a:pt x="673496" y="207229"/>
                </a:lnTo>
                <a:cubicBezTo>
                  <a:pt x="673496" y="226304"/>
                  <a:pt x="658032" y="241768"/>
                  <a:pt x="638957" y="241768"/>
                </a:cubicBezTo>
                <a:lnTo>
                  <a:pt x="34539" y="241768"/>
                </a:lnTo>
                <a:cubicBezTo>
                  <a:pt x="15464" y="241768"/>
                  <a:pt x="0" y="226304"/>
                  <a:pt x="0" y="207229"/>
                </a:cubicBezTo>
                <a:lnTo>
                  <a:pt x="0" y="34539"/>
                </a:lnTo>
                <a:cubicBezTo>
                  <a:pt x="0" y="15464"/>
                  <a:pt x="15464" y="0"/>
                  <a:pt x="3453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160210" y="6087365"/>
            <a:ext cx="733938" cy="241768"/>
          </a:xfrm>
          <a:prstGeom prst="rect">
            <a:avLst/>
          </a:prstGeom>
          <a:noFill/>
          <a:ln/>
        </p:spPr>
        <p:txBody>
          <a:bodyPr wrap="square" lIns="69076" tIns="34538" rIns="69076" bIns="34538" rtlCol="0" anchor="ctr"/>
          <a:lstStyle/>
          <a:p>
            <a:pPr>
              <a:lnSpc>
                <a:spcPct val="120000"/>
              </a:lnSpc>
            </a:pPr>
            <a:r>
              <a:rPr lang="en-US" sz="952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va Boshqaruv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Chakana AI va Purple Override Boshqaruvi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469" y="1146969"/>
            <a:ext cx="5691188" cy="5802313"/>
          </a:xfrm>
          <a:custGeom>
            <a:avLst/>
            <a:gdLst/>
            <a:ahLst/>
            <a:cxnLst/>
            <a:rect l="l" t="t" r="r" b="b"/>
            <a:pathLst>
              <a:path w="5691188" h="5802313">
                <a:moveTo>
                  <a:pt x="63514" y="0"/>
                </a:moveTo>
                <a:lnTo>
                  <a:pt x="5627674" y="0"/>
                </a:lnTo>
                <a:cubicBezTo>
                  <a:pt x="5662751" y="0"/>
                  <a:pt x="5691188" y="28436"/>
                  <a:pt x="5691188" y="63514"/>
                </a:cubicBezTo>
                <a:lnTo>
                  <a:pt x="5691188" y="5738799"/>
                </a:lnTo>
                <a:cubicBezTo>
                  <a:pt x="5691188" y="5773876"/>
                  <a:pt x="5662751" y="5802313"/>
                  <a:pt x="5627674" y="5802313"/>
                </a:cubicBezTo>
                <a:lnTo>
                  <a:pt x="63514" y="5802313"/>
                </a:lnTo>
                <a:cubicBezTo>
                  <a:pt x="28436" y="5802313"/>
                  <a:pt x="0" y="5773876"/>
                  <a:pt x="0" y="5738799"/>
                </a:cubicBezTo>
                <a:lnTo>
                  <a:pt x="0" y="63514"/>
                </a:lnTo>
                <a:cubicBezTo>
                  <a:pt x="0" y="28460"/>
                  <a:pt x="28460" y="0"/>
                  <a:pt x="63514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187" y="1309688"/>
            <a:ext cx="546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AI Assistant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187" y="1690688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 va jismoniy shaxslar uchun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moliyaviy operatsiyalarni soddalashtirish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maqsadida yaratilgan AI yordamchisi.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187" y="2230438"/>
            <a:ext cx="5365750" cy="730250"/>
          </a:xfrm>
          <a:custGeom>
            <a:avLst/>
            <a:gdLst/>
            <a:ahLst/>
            <a:cxnLst/>
            <a:rect l="l" t="t" r="r" b="b"/>
            <a:pathLst>
              <a:path w="5365750" h="73025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666747"/>
                </a:lnTo>
                <a:cubicBezTo>
                  <a:pt x="5365750" y="701819"/>
                  <a:pt x="5337319" y="730250"/>
                  <a:pt x="530224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0875" y="23891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52865"/>
                </a:lnTo>
                <a:cubicBezTo>
                  <a:pt x="119062" y="47594"/>
                  <a:pt x="116985" y="42540"/>
                  <a:pt x="113264" y="38819"/>
                </a:cubicBezTo>
                <a:lnTo>
                  <a:pt x="80212" y="5798"/>
                </a:lnTo>
                <a:cubicBezTo>
                  <a:pt x="76491" y="2077"/>
                  <a:pt x="71469" y="0"/>
                  <a:pt x="66198" y="0"/>
                </a:cubicBezTo>
                <a:lnTo>
                  <a:pt x="19844" y="0"/>
                </a:lnTo>
                <a:close/>
                <a:moveTo>
                  <a:pt x="100924" y="54570"/>
                </a:moveTo>
                <a:lnTo>
                  <a:pt x="71934" y="54570"/>
                </a:lnTo>
                <a:cubicBezTo>
                  <a:pt x="67810" y="54570"/>
                  <a:pt x="64492" y="51253"/>
                  <a:pt x="64492" y="47129"/>
                </a:cubicBezTo>
                <a:lnTo>
                  <a:pt x="64492" y="18138"/>
                </a:lnTo>
                <a:lnTo>
                  <a:pt x="100924" y="54570"/>
                </a:lnTo>
                <a:close/>
                <a:moveTo>
                  <a:pt x="19844" y="119062"/>
                </a:moveTo>
                <a:lnTo>
                  <a:pt x="19844" y="99219"/>
                </a:lnTo>
                <a:cubicBezTo>
                  <a:pt x="19844" y="93731"/>
                  <a:pt x="24278" y="89297"/>
                  <a:pt x="29766" y="89297"/>
                </a:cubicBezTo>
                <a:lnTo>
                  <a:pt x="89297" y="89297"/>
                </a:lnTo>
                <a:cubicBezTo>
                  <a:pt x="94785" y="89297"/>
                  <a:pt x="99219" y="93731"/>
                  <a:pt x="99219" y="99219"/>
                </a:cubicBezTo>
                <a:lnTo>
                  <a:pt x="99219" y="119062"/>
                </a:lnTo>
                <a:cubicBezTo>
                  <a:pt x="99219" y="124551"/>
                  <a:pt x="94785" y="128984"/>
                  <a:pt x="89297" y="128984"/>
                </a:cubicBezTo>
                <a:lnTo>
                  <a:pt x="29766" y="128984"/>
                </a:lnTo>
                <a:cubicBezTo>
                  <a:pt x="24278" y="128984"/>
                  <a:pt x="19844" y="124551"/>
                  <a:pt x="19844" y="119062"/>
                </a:cubicBezTo>
                <a:close/>
                <a:moveTo>
                  <a:pt x="27285" y="19844"/>
                </a:moveTo>
                <a:lnTo>
                  <a:pt x="42168" y="19844"/>
                </a:lnTo>
                <a:cubicBezTo>
                  <a:pt x="46292" y="19844"/>
                  <a:pt x="49609" y="23161"/>
                  <a:pt x="49609" y="27285"/>
                </a:cubicBezTo>
                <a:cubicBezTo>
                  <a:pt x="49609" y="31409"/>
                  <a:pt x="46292" y="34727"/>
                  <a:pt x="42168" y="34727"/>
                </a:cubicBezTo>
                <a:lnTo>
                  <a:pt x="27285" y="34727"/>
                </a:lnTo>
                <a:cubicBezTo>
                  <a:pt x="23161" y="34727"/>
                  <a:pt x="19844" y="31409"/>
                  <a:pt x="19844" y="27285"/>
                </a:cubicBezTo>
                <a:cubicBezTo>
                  <a:pt x="19844" y="23161"/>
                  <a:pt x="23161" y="19844"/>
                  <a:pt x="27285" y="19844"/>
                </a:cubicBezTo>
                <a:close/>
                <a:moveTo>
                  <a:pt x="27285" y="49609"/>
                </a:moveTo>
                <a:lnTo>
                  <a:pt x="42168" y="49609"/>
                </a:lnTo>
                <a:cubicBezTo>
                  <a:pt x="46292" y="49609"/>
                  <a:pt x="49609" y="52927"/>
                  <a:pt x="49609" y="57051"/>
                </a:cubicBezTo>
                <a:cubicBezTo>
                  <a:pt x="49609" y="61175"/>
                  <a:pt x="46292" y="64492"/>
                  <a:pt x="42168" y="64492"/>
                </a:cubicBezTo>
                <a:lnTo>
                  <a:pt x="27285" y="64492"/>
                </a:lnTo>
                <a:cubicBezTo>
                  <a:pt x="23161" y="64492"/>
                  <a:pt x="19844" y="61175"/>
                  <a:pt x="19844" y="57051"/>
                </a:cubicBezTo>
                <a:cubicBezTo>
                  <a:pt x="19844" y="52927"/>
                  <a:pt x="23161" y="49609"/>
                  <a:pt x="27285" y="49609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904875" y="2357438"/>
            <a:ext cx="85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Hujjat O'qish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1188" y="2643188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hisob-fakturalar va moliyaviy hujjatlarni o'qiydi, ma'lumotlarni ajratib oladi.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187" y="3055938"/>
            <a:ext cx="5365750" cy="730250"/>
          </a:xfrm>
          <a:custGeom>
            <a:avLst/>
            <a:gdLst/>
            <a:ahLst/>
            <a:cxnLst/>
            <a:rect l="l" t="t" r="r" b="b"/>
            <a:pathLst>
              <a:path w="5365750" h="73025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666747"/>
                </a:lnTo>
                <a:cubicBezTo>
                  <a:pt x="5365750" y="701819"/>
                  <a:pt x="5337319" y="730250"/>
                  <a:pt x="530224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953" y="32146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904875" y="3182938"/>
            <a:ext cx="131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Tuzilma Ma'lumotlar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3468688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Hujjatlardan tuzilma tranzaksiya ma'lumotlarini ajratib oladi.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187" y="3881438"/>
            <a:ext cx="5365750" cy="730250"/>
          </a:xfrm>
          <a:custGeom>
            <a:avLst/>
            <a:gdLst/>
            <a:ahLst/>
            <a:cxnLst/>
            <a:rect l="l" t="t" r="r" b="b"/>
            <a:pathLst>
              <a:path w="5365750" h="73025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666747"/>
                </a:lnTo>
                <a:cubicBezTo>
                  <a:pt x="5365750" y="701819"/>
                  <a:pt x="5337319" y="730250"/>
                  <a:pt x="530224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1031" y="40401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3558" y="3783"/>
                </a:moveTo>
                <a:lnTo>
                  <a:pt x="96211" y="31130"/>
                </a:lnTo>
                <a:lnTo>
                  <a:pt x="127620" y="62539"/>
                </a:lnTo>
                <a:lnTo>
                  <a:pt x="154967" y="35192"/>
                </a:lnTo>
                <a:cubicBezTo>
                  <a:pt x="157386" y="32742"/>
                  <a:pt x="158750" y="29456"/>
                  <a:pt x="158750" y="26045"/>
                </a:cubicBezTo>
                <a:cubicBezTo>
                  <a:pt x="158750" y="22634"/>
                  <a:pt x="157386" y="19348"/>
                  <a:pt x="154967" y="16898"/>
                </a:cubicBezTo>
                <a:lnTo>
                  <a:pt x="141852" y="3783"/>
                </a:lnTo>
                <a:cubicBezTo>
                  <a:pt x="139402" y="1364"/>
                  <a:pt x="136116" y="0"/>
                  <a:pt x="132705" y="0"/>
                </a:cubicBezTo>
                <a:cubicBezTo>
                  <a:pt x="129294" y="0"/>
                  <a:pt x="126008" y="1364"/>
                  <a:pt x="123558" y="3783"/>
                </a:cubicBezTo>
                <a:close/>
                <a:moveTo>
                  <a:pt x="85700" y="41641"/>
                </a:moveTo>
                <a:lnTo>
                  <a:pt x="3783" y="123558"/>
                </a:lnTo>
                <a:cubicBezTo>
                  <a:pt x="1364" y="126008"/>
                  <a:pt x="0" y="129294"/>
                  <a:pt x="0" y="132705"/>
                </a:cubicBezTo>
                <a:cubicBezTo>
                  <a:pt x="0" y="136116"/>
                  <a:pt x="1364" y="139402"/>
                  <a:pt x="3783" y="141852"/>
                </a:cubicBezTo>
                <a:lnTo>
                  <a:pt x="16898" y="154967"/>
                </a:lnTo>
                <a:cubicBezTo>
                  <a:pt x="19348" y="157386"/>
                  <a:pt x="22634" y="158750"/>
                  <a:pt x="26045" y="158750"/>
                </a:cubicBezTo>
                <a:cubicBezTo>
                  <a:pt x="29456" y="158750"/>
                  <a:pt x="32742" y="157386"/>
                  <a:pt x="35192" y="154967"/>
                </a:cubicBezTo>
                <a:lnTo>
                  <a:pt x="117109" y="73050"/>
                </a:lnTo>
                <a:lnTo>
                  <a:pt x="85700" y="41641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4875" y="4008438"/>
            <a:ext cx="104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Auto-Fill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1188" y="4294188"/>
            <a:ext cx="517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 tranzaksiya payloadlarini avtomatik tayyorlaydi.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156" y="4742656"/>
            <a:ext cx="5357813" cy="452438"/>
          </a:xfrm>
          <a:custGeom>
            <a:avLst/>
            <a:gdLst/>
            <a:ahLst/>
            <a:cxnLst/>
            <a:rect l="l" t="t" r="r" b="b"/>
            <a:pathLst>
              <a:path w="5357813" h="452438">
                <a:moveTo>
                  <a:pt x="63500" y="0"/>
                </a:moveTo>
                <a:lnTo>
                  <a:pt x="5294313" y="0"/>
                </a:lnTo>
                <a:cubicBezTo>
                  <a:pt x="5329383" y="0"/>
                  <a:pt x="5357813" y="28430"/>
                  <a:pt x="5357813" y="63500"/>
                </a:cubicBezTo>
                <a:lnTo>
                  <a:pt x="5357813" y="388938"/>
                </a:lnTo>
                <a:cubicBezTo>
                  <a:pt x="5357813" y="424008"/>
                  <a:pt x="5329383" y="452438"/>
                  <a:pt x="5294313" y="452438"/>
                </a:cubicBezTo>
                <a:lnTo>
                  <a:pt x="63500" y="452438"/>
                </a:lnTo>
                <a:cubicBezTo>
                  <a:pt x="28430" y="452438"/>
                  <a:pt x="0" y="424008"/>
                  <a:pt x="0" y="388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969" y="4889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912813" y="4873625"/>
            <a:ext cx="362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Muhim Qoida: AI hech qachon moliyaviy qarorlar qabul qilmaydi.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9344" y="1146969"/>
            <a:ext cx="5691188" cy="4040188"/>
          </a:xfrm>
          <a:custGeom>
            <a:avLst/>
            <a:gdLst/>
            <a:ahLst/>
            <a:cxnLst/>
            <a:rect l="l" t="t" r="r" b="b"/>
            <a:pathLst>
              <a:path w="5691188" h="4040188">
                <a:moveTo>
                  <a:pt x="63512" y="0"/>
                </a:moveTo>
                <a:lnTo>
                  <a:pt x="5627676" y="0"/>
                </a:lnTo>
                <a:cubicBezTo>
                  <a:pt x="5662752" y="0"/>
                  <a:pt x="5691187" y="28435"/>
                  <a:pt x="5691187" y="63512"/>
                </a:cubicBezTo>
                <a:lnTo>
                  <a:pt x="5691188" y="3976676"/>
                </a:lnTo>
                <a:cubicBezTo>
                  <a:pt x="5691187" y="4011752"/>
                  <a:pt x="5662752" y="4040188"/>
                  <a:pt x="5627676" y="4040187"/>
                </a:cubicBezTo>
                <a:lnTo>
                  <a:pt x="63512" y="4040188"/>
                </a:lnTo>
                <a:cubicBezTo>
                  <a:pt x="28435" y="4040187"/>
                  <a:pt x="0" y="4011752"/>
                  <a:pt x="0" y="3976676"/>
                </a:cubicBezTo>
                <a:lnTo>
                  <a:pt x="0" y="63512"/>
                </a:lnTo>
                <a:cubicBezTo>
                  <a:pt x="0" y="28459"/>
                  <a:pt x="28459" y="0"/>
                  <a:pt x="63512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2063" y="1309688"/>
            <a:ext cx="546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E-IMZO Workflow Orkestratsiyasi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42063" y="17859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07386" y="1865312"/>
            <a:ext cx="12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0063" y="1690688"/>
            <a:ext cx="4857750" cy="571500"/>
          </a:xfrm>
          <a:custGeom>
            <a:avLst/>
            <a:gdLst/>
            <a:ahLst/>
            <a:cxnLst/>
            <a:rect l="l" t="t" r="r" b="b"/>
            <a:pathLst>
              <a:path w="4857750" h="571500">
                <a:moveTo>
                  <a:pt x="63499" y="0"/>
                </a:moveTo>
                <a:lnTo>
                  <a:pt x="4794251" y="0"/>
                </a:lnTo>
                <a:cubicBezTo>
                  <a:pt x="4829320" y="0"/>
                  <a:pt x="4857750" y="28430"/>
                  <a:pt x="4857750" y="63499"/>
                </a:cubicBezTo>
                <a:lnTo>
                  <a:pt x="4857750" y="508001"/>
                </a:lnTo>
                <a:cubicBezTo>
                  <a:pt x="4857750" y="543070"/>
                  <a:pt x="4829320" y="571500"/>
                  <a:pt x="4794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45313" y="178593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Hujjat Parsing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5313" y="197643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hujjatlarni tahlil qiladi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65406" y="235743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2063" y="27066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92131" y="2786063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0063" y="2611438"/>
            <a:ext cx="4857750" cy="571500"/>
          </a:xfrm>
          <a:custGeom>
            <a:avLst/>
            <a:gdLst/>
            <a:ahLst/>
            <a:cxnLst/>
            <a:rect l="l" t="t" r="r" b="b"/>
            <a:pathLst>
              <a:path w="4857750" h="571500">
                <a:moveTo>
                  <a:pt x="63499" y="0"/>
                </a:moveTo>
                <a:lnTo>
                  <a:pt x="4794251" y="0"/>
                </a:lnTo>
                <a:cubicBezTo>
                  <a:pt x="4829320" y="0"/>
                  <a:pt x="4857750" y="28430"/>
                  <a:pt x="4857750" y="63499"/>
                </a:cubicBezTo>
                <a:lnTo>
                  <a:pt x="4857750" y="508001"/>
                </a:lnTo>
                <a:cubicBezTo>
                  <a:pt x="4857750" y="543070"/>
                  <a:pt x="4829320" y="571500"/>
                  <a:pt x="4794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945313" y="270668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Foydalanuvchi Tekshiruvi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45313" y="289718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Mijoz ma'lumotlarni tasdiqlaydi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965406" y="327818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42063" y="36274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90022" y="3706813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0063" y="3532188"/>
            <a:ext cx="4857750" cy="571500"/>
          </a:xfrm>
          <a:custGeom>
            <a:avLst/>
            <a:gdLst/>
            <a:ahLst/>
            <a:cxnLst/>
            <a:rect l="l" t="t" r="r" b="b"/>
            <a:pathLst>
              <a:path w="4857750" h="571500">
                <a:moveTo>
                  <a:pt x="63499" y="0"/>
                </a:moveTo>
                <a:lnTo>
                  <a:pt x="4794251" y="0"/>
                </a:lnTo>
                <a:cubicBezTo>
                  <a:pt x="4829320" y="0"/>
                  <a:pt x="4857750" y="28430"/>
                  <a:pt x="4857750" y="63499"/>
                </a:cubicBezTo>
                <a:lnTo>
                  <a:pt x="4857750" y="508001"/>
                </a:lnTo>
                <a:cubicBezTo>
                  <a:pt x="4857750" y="543070"/>
                  <a:pt x="4829320" y="571500"/>
                  <a:pt x="4794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45313" y="362743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E-IMZO Imzo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45313" y="381793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Raqamli imzo qo'yiladi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965406" y="419893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342063" y="454818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92131" y="4627563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50063" y="4452938"/>
            <a:ext cx="4857750" cy="571500"/>
          </a:xfrm>
          <a:custGeom>
            <a:avLst/>
            <a:gdLst/>
            <a:ahLst/>
            <a:cxnLst/>
            <a:rect l="l" t="t" r="r" b="b"/>
            <a:pathLst>
              <a:path w="4857750" h="571500">
                <a:moveTo>
                  <a:pt x="63499" y="0"/>
                </a:moveTo>
                <a:lnTo>
                  <a:pt x="4794251" y="0"/>
                </a:lnTo>
                <a:cubicBezTo>
                  <a:pt x="4829320" y="0"/>
                  <a:pt x="4857750" y="28430"/>
                  <a:pt x="4857750" y="63499"/>
                </a:cubicBezTo>
                <a:lnTo>
                  <a:pt x="4857750" y="508001"/>
                </a:lnTo>
                <a:cubicBezTo>
                  <a:pt x="4857750" y="543070"/>
                  <a:pt x="4829320" y="571500"/>
                  <a:pt x="4794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945313" y="454818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Avtorizatsiya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45313" y="4738688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Tizim tranzaksiyani tasdiqlaydi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9344" y="5322094"/>
            <a:ext cx="5691188" cy="1627188"/>
          </a:xfrm>
          <a:custGeom>
            <a:avLst/>
            <a:gdLst/>
            <a:ahLst/>
            <a:cxnLst/>
            <a:rect l="l" t="t" r="r" b="b"/>
            <a:pathLst>
              <a:path w="5691188" h="1627188">
                <a:moveTo>
                  <a:pt x="63493" y="0"/>
                </a:moveTo>
                <a:lnTo>
                  <a:pt x="5627695" y="0"/>
                </a:lnTo>
                <a:cubicBezTo>
                  <a:pt x="5662737" y="0"/>
                  <a:pt x="5691188" y="28450"/>
                  <a:pt x="5691188" y="63493"/>
                </a:cubicBezTo>
                <a:lnTo>
                  <a:pt x="5691188" y="1563695"/>
                </a:lnTo>
                <a:cubicBezTo>
                  <a:pt x="5691187" y="1598761"/>
                  <a:pt x="5662761" y="1627188"/>
                  <a:pt x="5627695" y="1627188"/>
                </a:cubicBezTo>
                <a:lnTo>
                  <a:pt x="63493" y="1627188"/>
                </a:lnTo>
                <a:cubicBezTo>
                  <a:pt x="28427" y="1627188"/>
                  <a:pt x="0" y="1598761"/>
                  <a:pt x="0" y="1563695"/>
                </a:cubicBezTo>
                <a:lnTo>
                  <a:pt x="0" y="63493"/>
                </a:lnTo>
                <a:cubicBezTo>
                  <a:pt x="0" y="28427"/>
                  <a:pt x="28427" y="0"/>
                  <a:pt x="63493" y="0"/>
                </a:cubicBezTo>
                <a:close/>
              </a:path>
            </a:pathLst>
          </a:custGeom>
          <a:gradFill rotWithShape="1" flip="none">
            <a:gsLst>
              <a:gs pos="0">
                <a:srgbClr val="8B5C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0" scaled="1"/>
          </a:gra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2063" y="548481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Purple Override Boshqaruvi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42063" y="5802313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Favqulodda vaziyatlarda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rahbarlar uchun override mexanizmi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65875" y="6119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1" name="Text 49"/>
          <p:cNvSpPr/>
          <p:nvPr/>
        </p:nvSpPr>
        <p:spPr>
          <a:xfrm>
            <a:off x="6564313" y="6088063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Ikki rahbar E-IMZO imzosi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5875" y="6373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3" name="Text 51"/>
          <p:cNvSpPr/>
          <p:nvPr/>
        </p:nvSpPr>
        <p:spPr>
          <a:xfrm>
            <a:off x="6564313" y="6342063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Tuzilma asoslash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65875" y="6627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6564313" y="6596063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O'zgarmas ledger yozuvi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Joylashtirish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Qurilma Haqiqat va Joylashtirish Modeli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5610225" cy="5305425"/>
          </a:xfrm>
          <a:custGeom>
            <a:avLst/>
            <a:gdLst/>
            <a:ahLst/>
            <a:cxnLst/>
            <a:rect l="l" t="t" r="r" b="b"/>
            <a:pathLst>
              <a:path w="5610225" h="5305425">
                <a:moveTo>
                  <a:pt x="76186" y="0"/>
                </a:moveTo>
                <a:lnTo>
                  <a:pt x="5534039" y="0"/>
                </a:lnTo>
                <a:cubicBezTo>
                  <a:pt x="5576115" y="0"/>
                  <a:pt x="5610225" y="34110"/>
                  <a:pt x="5610225" y="76186"/>
                </a:cubicBezTo>
                <a:lnTo>
                  <a:pt x="5610225" y="5229239"/>
                </a:lnTo>
                <a:cubicBezTo>
                  <a:pt x="5610225" y="5271315"/>
                  <a:pt x="5576115" y="5305425"/>
                  <a:pt x="5534039" y="5305425"/>
                </a:cubicBezTo>
                <a:lnTo>
                  <a:pt x="76186" y="5305425"/>
                </a:lnTo>
                <a:cubicBezTo>
                  <a:pt x="34110" y="5305425"/>
                  <a:pt x="0" y="5271315"/>
                  <a:pt x="0" y="5229239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933575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CPU-First AI Joylashtirish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1025" y="239077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Ko'pgina banklarda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katta GPU klastrlari yo'q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REVENANT AI standart CPU infratuzilmasida samarali ishlashi mumkin.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0075" y="3038475"/>
            <a:ext cx="5200650" cy="1104900"/>
          </a:xfrm>
          <a:custGeom>
            <a:avLst/>
            <a:gdLst/>
            <a:ahLst/>
            <a:cxnLst/>
            <a:rect l="l" t="t" r="r" b="b"/>
            <a:pathLst>
              <a:path w="5200650" h="1104900">
                <a:moveTo>
                  <a:pt x="38100" y="0"/>
                </a:moveTo>
                <a:lnTo>
                  <a:pt x="5124445" y="0"/>
                </a:lnTo>
                <a:cubicBezTo>
                  <a:pt x="5166532" y="0"/>
                  <a:pt x="5200650" y="34118"/>
                  <a:pt x="5200650" y="76205"/>
                </a:cubicBezTo>
                <a:lnTo>
                  <a:pt x="5200650" y="1028695"/>
                </a:lnTo>
                <a:cubicBezTo>
                  <a:pt x="5200650" y="1070782"/>
                  <a:pt x="5166532" y="1104900"/>
                  <a:pt x="5124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0075" y="3038475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795338" y="3228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23950" y="3190875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Optimallashtirish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1525" y="3533775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modellari CPU uchun optimallashtirilgan. INT8 kvantlash va ONNX runtime.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425767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00097"/>
                </a:lnTo>
                <a:cubicBezTo>
                  <a:pt x="5200650" y="842183"/>
                  <a:pt x="5166533" y="876300"/>
                  <a:pt x="5124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0075" y="425767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338" y="4448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" y="4410075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Tezlashtirish (Ixtiyoriy)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1525" y="475297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mavjud bo'lganda tezlashtirish qo'shiladi, lekin talab qilinmaydi.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0075" y="5248275"/>
            <a:ext cx="5200650" cy="876300"/>
          </a:xfrm>
          <a:custGeom>
            <a:avLst/>
            <a:gdLst/>
            <a:ahLst/>
            <a:cxnLst/>
            <a:rect l="l" t="t" r="r" b="b"/>
            <a:pathLst>
              <a:path w="5200650" h="876300">
                <a:moveTo>
                  <a:pt x="38100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00097"/>
                </a:lnTo>
                <a:cubicBezTo>
                  <a:pt x="5200650" y="842183"/>
                  <a:pt x="5166533" y="876300"/>
                  <a:pt x="51244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0075" y="524827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7244" y="54387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1123950" y="54006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Tez Joylashtirish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1525" y="574357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Qimmatbaho qurilma xarid qilmasdan tez ishga tushirish mumkin.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376363"/>
            <a:ext cx="5610225" cy="5305425"/>
          </a:xfrm>
          <a:custGeom>
            <a:avLst/>
            <a:gdLst/>
            <a:ahLst/>
            <a:cxnLst/>
            <a:rect l="l" t="t" r="r" b="b"/>
            <a:pathLst>
              <a:path w="5610225" h="5305425">
                <a:moveTo>
                  <a:pt x="76186" y="0"/>
                </a:moveTo>
                <a:lnTo>
                  <a:pt x="5534039" y="0"/>
                </a:lnTo>
                <a:cubicBezTo>
                  <a:pt x="5576115" y="0"/>
                  <a:pt x="5610225" y="34110"/>
                  <a:pt x="5610225" y="76186"/>
                </a:cubicBezTo>
                <a:lnTo>
                  <a:pt x="5610225" y="5229239"/>
                </a:lnTo>
                <a:cubicBezTo>
                  <a:pt x="5610225" y="5271315"/>
                  <a:pt x="5576115" y="5305425"/>
                  <a:pt x="5534039" y="5305425"/>
                </a:cubicBezTo>
                <a:lnTo>
                  <a:pt x="76186" y="5305425"/>
                </a:lnTo>
                <a:cubicBezTo>
                  <a:pt x="34110" y="5305425"/>
                  <a:pt x="0" y="5271315"/>
                  <a:pt x="0" y="5229239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275" y="1571625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Joylashtirish Modeli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91275" y="20288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Infratuzilma pishloq darajasida turli xil banklar bilan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moslikni ta'minlash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uchun ikki joylashtirish modeli.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1275" y="2676525"/>
            <a:ext cx="5219700" cy="1828800"/>
          </a:xfrm>
          <a:custGeom>
            <a:avLst/>
            <a:gdLst/>
            <a:ahLst/>
            <a:cxnLst/>
            <a:rect l="l" t="t" r="r" b="b"/>
            <a:pathLst>
              <a:path w="5219700" h="1828800">
                <a:moveTo>
                  <a:pt x="76206" y="0"/>
                </a:moveTo>
                <a:lnTo>
                  <a:pt x="5143494" y="0"/>
                </a:lnTo>
                <a:cubicBezTo>
                  <a:pt x="5185581" y="0"/>
                  <a:pt x="5219700" y="34119"/>
                  <a:pt x="5219700" y="76206"/>
                </a:cubicBezTo>
                <a:lnTo>
                  <a:pt x="5219700" y="1752594"/>
                </a:lnTo>
                <a:cubicBezTo>
                  <a:pt x="5219700" y="1794681"/>
                  <a:pt x="5185581" y="1828800"/>
                  <a:pt x="51434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1775" y="2886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96075" y="3000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822" y="91842"/>
                </a:moveTo>
                <a:lnTo>
                  <a:pt x="172522" y="72866"/>
                </a:lnTo>
                <a:cubicBezTo>
                  <a:pt x="178683" y="81483"/>
                  <a:pt x="182969" y="91574"/>
                  <a:pt x="184755" y="102424"/>
                </a:cubicBezTo>
                <a:lnTo>
                  <a:pt x="156002" y="104343"/>
                </a:lnTo>
                <a:cubicBezTo>
                  <a:pt x="154930" y="99834"/>
                  <a:pt x="153144" y="95637"/>
                  <a:pt x="150822" y="91842"/>
                </a:cubicBezTo>
                <a:close/>
                <a:moveTo>
                  <a:pt x="213375" y="100548"/>
                </a:moveTo>
                <a:cubicBezTo>
                  <a:pt x="211009" y="83225"/>
                  <a:pt x="204177" y="67285"/>
                  <a:pt x="194087" y="53980"/>
                </a:cubicBezTo>
                <a:lnTo>
                  <a:pt x="194444" y="53667"/>
                </a:lnTo>
                <a:cubicBezTo>
                  <a:pt x="200471" y="48399"/>
                  <a:pt x="200784" y="39112"/>
                  <a:pt x="195114" y="33486"/>
                </a:cubicBezTo>
                <a:cubicBezTo>
                  <a:pt x="189443" y="27861"/>
                  <a:pt x="180201" y="28129"/>
                  <a:pt x="174933" y="34156"/>
                </a:cubicBezTo>
                <a:lnTo>
                  <a:pt x="174620" y="34513"/>
                </a:lnTo>
                <a:cubicBezTo>
                  <a:pt x="161315" y="24423"/>
                  <a:pt x="145375" y="17591"/>
                  <a:pt x="128052" y="15225"/>
                </a:cubicBezTo>
                <a:lnTo>
                  <a:pt x="128096" y="14734"/>
                </a:lnTo>
                <a:cubicBezTo>
                  <a:pt x="128632" y="6742"/>
                  <a:pt x="122292" y="0"/>
                  <a:pt x="114300" y="0"/>
                </a:cubicBezTo>
                <a:cubicBezTo>
                  <a:pt x="106308" y="0"/>
                  <a:pt x="99968" y="6787"/>
                  <a:pt x="100504" y="14734"/>
                </a:cubicBezTo>
                <a:lnTo>
                  <a:pt x="100548" y="15225"/>
                </a:lnTo>
                <a:cubicBezTo>
                  <a:pt x="83225" y="17591"/>
                  <a:pt x="67285" y="24423"/>
                  <a:pt x="53980" y="34513"/>
                </a:cubicBezTo>
                <a:lnTo>
                  <a:pt x="53667" y="34156"/>
                </a:lnTo>
                <a:cubicBezTo>
                  <a:pt x="48399" y="28129"/>
                  <a:pt x="39112" y="27816"/>
                  <a:pt x="33486" y="33486"/>
                </a:cubicBezTo>
                <a:cubicBezTo>
                  <a:pt x="27861" y="39157"/>
                  <a:pt x="28129" y="48399"/>
                  <a:pt x="34156" y="53667"/>
                </a:cubicBezTo>
                <a:lnTo>
                  <a:pt x="34513" y="53980"/>
                </a:lnTo>
                <a:cubicBezTo>
                  <a:pt x="24423" y="67285"/>
                  <a:pt x="17591" y="83225"/>
                  <a:pt x="15225" y="100548"/>
                </a:cubicBezTo>
                <a:lnTo>
                  <a:pt x="14734" y="100504"/>
                </a:lnTo>
                <a:cubicBezTo>
                  <a:pt x="6742" y="99968"/>
                  <a:pt x="0" y="106308"/>
                  <a:pt x="0" y="114300"/>
                </a:cubicBezTo>
                <a:cubicBezTo>
                  <a:pt x="0" y="122292"/>
                  <a:pt x="6787" y="128632"/>
                  <a:pt x="14734" y="128096"/>
                </a:cubicBezTo>
                <a:lnTo>
                  <a:pt x="15225" y="128052"/>
                </a:lnTo>
                <a:cubicBezTo>
                  <a:pt x="17591" y="145375"/>
                  <a:pt x="24423" y="161315"/>
                  <a:pt x="34513" y="174620"/>
                </a:cubicBezTo>
                <a:lnTo>
                  <a:pt x="34156" y="174933"/>
                </a:lnTo>
                <a:cubicBezTo>
                  <a:pt x="28129" y="180201"/>
                  <a:pt x="27816" y="189488"/>
                  <a:pt x="33486" y="195114"/>
                </a:cubicBezTo>
                <a:cubicBezTo>
                  <a:pt x="39157" y="200739"/>
                  <a:pt x="48399" y="200471"/>
                  <a:pt x="53667" y="194444"/>
                </a:cubicBezTo>
                <a:lnTo>
                  <a:pt x="53980" y="194087"/>
                </a:lnTo>
                <a:cubicBezTo>
                  <a:pt x="67285" y="204177"/>
                  <a:pt x="83225" y="211009"/>
                  <a:pt x="100548" y="213375"/>
                </a:cubicBezTo>
                <a:lnTo>
                  <a:pt x="100504" y="213866"/>
                </a:lnTo>
                <a:cubicBezTo>
                  <a:pt x="99968" y="221858"/>
                  <a:pt x="106308" y="228600"/>
                  <a:pt x="114300" y="228600"/>
                </a:cubicBezTo>
                <a:cubicBezTo>
                  <a:pt x="122292" y="228600"/>
                  <a:pt x="128632" y="221813"/>
                  <a:pt x="128096" y="213866"/>
                </a:cubicBezTo>
                <a:lnTo>
                  <a:pt x="128052" y="213375"/>
                </a:lnTo>
                <a:cubicBezTo>
                  <a:pt x="145375" y="211009"/>
                  <a:pt x="161315" y="204177"/>
                  <a:pt x="174620" y="194087"/>
                </a:cubicBezTo>
                <a:lnTo>
                  <a:pt x="174933" y="194444"/>
                </a:lnTo>
                <a:cubicBezTo>
                  <a:pt x="180201" y="200471"/>
                  <a:pt x="189443" y="200784"/>
                  <a:pt x="195114" y="195114"/>
                </a:cubicBezTo>
                <a:cubicBezTo>
                  <a:pt x="200784" y="189443"/>
                  <a:pt x="200471" y="180201"/>
                  <a:pt x="194444" y="174933"/>
                </a:cubicBezTo>
                <a:lnTo>
                  <a:pt x="194087" y="174620"/>
                </a:lnTo>
                <a:cubicBezTo>
                  <a:pt x="204177" y="161315"/>
                  <a:pt x="211009" y="145375"/>
                  <a:pt x="213375" y="128052"/>
                </a:cubicBezTo>
                <a:lnTo>
                  <a:pt x="213866" y="128096"/>
                </a:lnTo>
                <a:cubicBezTo>
                  <a:pt x="221858" y="128632"/>
                  <a:pt x="228600" y="122292"/>
                  <a:pt x="228600" y="114300"/>
                </a:cubicBezTo>
                <a:cubicBezTo>
                  <a:pt x="228600" y="106308"/>
                  <a:pt x="221813" y="99968"/>
                  <a:pt x="213866" y="100504"/>
                </a:cubicBezTo>
                <a:lnTo>
                  <a:pt x="213375" y="100548"/>
                </a:lnTo>
                <a:close/>
                <a:moveTo>
                  <a:pt x="72866" y="56078"/>
                </a:moveTo>
                <a:cubicBezTo>
                  <a:pt x="81483" y="49917"/>
                  <a:pt x="91574" y="45631"/>
                  <a:pt x="102424" y="43800"/>
                </a:cubicBezTo>
                <a:lnTo>
                  <a:pt x="104343" y="72554"/>
                </a:lnTo>
                <a:cubicBezTo>
                  <a:pt x="99879" y="73625"/>
                  <a:pt x="95637" y="75411"/>
                  <a:pt x="91842" y="77733"/>
                </a:cubicBezTo>
                <a:lnTo>
                  <a:pt x="72866" y="56034"/>
                </a:lnTo>
                <a:close/>
                <a:moveTo>
                  <a:pt x="43845" y="102424"/>
                </a:moveTo>
                <a:cubicBezTo>
                  <a:pt x="45675" y="91529"/>
                  <a:pt x="49962" y="81483"/>
                  <a:pt x="56123" y="72866"/>
                </a:cubicBezTo>
                <a:lnTo>
                  <a:pt x="77822" y="91842"/>
                </a:lnTo>
                <a:cubicBezTo>
                  <a:pt x="75456" y="95637"/>
                  <a:pt x="73715" y="99879"/>
                  <a:pt x="72643" y="104343"/>
                </a:cubicBezTo>
                <a:lnTo>
                  <a:pt x="43889" y="102424"/>
                </a:lnTo>
                <a:close/>
                <a:moveTo>
                  <a:pt x="56123" y="155734"/>
                </a:moveTo>
                <a:cubicBezTo>
                  <a:pt x="49962" y="147117"/>
                  <a:pt x="45675" y="137026"/>
                  <a:pt x="43845" y="126176"/>
                </a:cubicBezTo>
                <a:lnTo>
                  <a:pt x="72598" y="124257"/>
                </a:lnTo>
                <a:cubicBezTo>
                  <a:pt x="73670" y="128766"/>
                  <a:pt x="75456" y="132963"/>
                  <a:pt x="77778" y="136758"/>
                </a:cubicBezTo>
                <a:lnTo>
                  <a:pt x="56078" y="155734"/>
                </a:lnTo>
                <a:close/>
                <a:moveTo>
                  <a:pt x="102468" y="184755"/>
                </a:moveTo>
                <a:cubicBezTo>
                  <a:pt x="91574" y="182925"/>
                  <a:pt x="81528" y="178638"/>
                  <a:pt x="72911" y="172522"/>
                </a:cubicBezTo>
                <a:lnTo>
                  <a:pt x="91886" y="150822"/>
                </a:lnTo>
                <a:cubicBezTo>
                  <a:pt x="95682" y="153189"/>
                  <a:pt x="99923" y="154930"/>
                  <a:pt x="104388" y="156002"/>
                </a:cubicBezTo>
                <a:lnTo>
                  <a:pt x="102468" y="184755"/>
                </a:lnTo>
                <a:close/>
                <a:moveTo>
                  <a:pt x="155778" y="172522"/>
                </a:moveTo>
                <a:cubicBezTo>
                  <a:pt x="147161" y="178683"/>
                  <a:pt x="137071" y="182969"/>
                  <a:pt x="126221" y="184755"/>
                </a:cubicBezTo>
                <a:lnTo>
                  <a:pt x="124301" y="156002"/>
                </a:lnTo>
                <a:cubicBezTo>
                  <a:pt x="128766" y="154930"/>
                  <a:pt x="133008" y="153144"/>
                  <a:pt x="136803" y="150822"/>
                </a:cubicBezTo>
                <a:lnTo>
                  <a:pt x="155778" y="172522"/>
                </a:lnTo>
                <a:close/>
                <a:moveTo>
                  <a:pt x="184800" y="126176"/>
                </a:moveTo>
                <a:cubicBezTo>
                  <a:pt x="182969" y="137071"/>
                  <a:pt x="178683" y="147117"/>
                  <a:pt x="172566" y="155734"/>
                </a:cubicBezTo>
                <a:lnTo>
                  <a:pt x="150867" y="136758"/>
                </a:lnTo>
                <a:cubicBezTo>
                  <a:pt x="153233" y="132918"/>
                  <a:pt x="154975" y="128721"/>
                  <a:pt x="156046" y="124257"/>
                </a:cubicBezTo>
                <a:lnTo>
                  <a:pt x="184800" y="126176"/>
                </a:lnTo>
                <a:close/>
                <a:moveTo>
                  <a:pt x="155778" y="56123"/>
                </a:moveTo>
                <a:lnTo>
                  <a:pt x="136803" y="77822"/>
                </a:lnTo>
                <a:cubicBezTo>
                  <a:pt x="132963" y="75456"/>
                  <a:pt x="128766" y="73715"/>
                  <a:pt x="124301" y="72643"/>
                </a:cubicBezTo>
                <a:lnTo>
                  <a:pt x="126221" y="43889"/>
                </a:lnTo>
                <a:cubicBezTo>
                  <a:pt x="137115" y="45720"/>
                  <a:pt x="147161" y="50006"/>
                  <a:pt x="155778" y="56168"/>
                </a:cubicBezTo>
                <a:close/>
                <a:moveTo>
                  <a:pt x="114300" y="100013"/>
                </a:move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ubicBezTo>
                  <a:pt x="100013" y="106415"/>
                  <a:pt x="106415" y="100013"/>
                  <a:pt x="114300" y="10001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7153275" y="286702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Kubernetes Joylashtirish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53275" y="31337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Zamonaviy konteyner orkestratsiyasi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09159" y="3524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1" name="Text 29"/>
          <p:cNvSpPr/>
          <p:nvPr/>
        </p:nvSpPr>
        <p:spPr>
          <a:xfrm>
            <a:off x="6824663" y="3476625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 charts orqali oson joylashtirish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09159" y="3829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6824663" y="3781425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Avtomatik scaling va recovery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09159" y="4133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5" name="Text 33"/>
          <p:cNvSpPr/>
          <p:nvPr/>
        </p:nvSpPr>
        <p:spPr>
          <a:xfrm>
            <a:off x="6824663" y="408622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Cloud-native monitoring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1275" y="4657725"/>
            <a:ext cx="5219700" cy="1828800"/>
          </a:xfrm>
          <a:custGeom>
            <a:avLst/>
            <a:gdLst/>
            <a:ahLst/>
            <a:cxnLst/>
            <a:rect l="l" t="t" r="r" b="b"/>
            <a:pathLst>
              <a:path w="5219700" h="1828800">
                <a:moveTo>
                  <a:pt x="76206" y="0"/>
                </a:moveTo>
                <a:lnTo>
                  <a:pt x="5143494" y="0"/>
                </a:lnTo>
                <a:cubicBezTo>
                  <a:pt x="5185581" y="0"/>
                  <a:pt x="5219700" y="34119"/>
                  <a:pt x="5219700" y="76206"/>
                </a:cubicBezTo>
                <a:lnTo>
                  <a:pt x="5219700" y="1752594"/>
                </a:lnTo>
                <a:cubicBezTo>
                  <a:pt x="5219700" y="1794681"/>
                  <a:pt x="5185581" y="1828800"/>
                  <a:pt x="51434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1775" y="4867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710363" y="49815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9" name="Text 37"/>
          <p:cNvSpPr/>
          <p:nvPr/>
        </p:nvSpPr>
        <p:spPr>
          <a:xfrm>
            <a:off x="7153275" y="4848225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Bare-Metal Joylashtirish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53275" y="5114925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An'anaviy serverlar uchun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09159" y="55054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2" name="Text 40"/>
          <p:cNvSpPr/>
          <p:nvPr/>
        </p:nvSpPr>
        <p:spPr>
          <a:xfrm>
            <a:off x="6824663" y="5457825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Kompilyatsiya qilingan binary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09159" y="58102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4" name="Text 42"/>
          <p:cNvSpPr/>
          <p:nvPr/>
        </p:nvSpPr>
        <p:spPr>
          <a:xfrm>
            <a:off x="6824663" y="576262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 xizmatlari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609159" y="6115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6" name="Text 44"/>
          <p:cNvSpPr/>
          <p:nvPr/>
        </p:nvSpPr>
        <p:spPr>
          <a:xfrm>
            <a:off x="6824663" y="6067425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Konservativ muhitlarda ishlash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1156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spc="103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Biznes Strategiya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33835"/>
            <a:ext cx="11670018" cy="55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2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Biznes Model va Bozor Imkoniyati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505" y="1346899"/>
            <a:ext cx="5620624" cy="5508771"/>
          </a:xfrm>
          <a:custGeom>
            <a:avLst/>
            <a:gdLst/>
            <a:ahLst/>
            <a:cxnLst/>
            <a:rect l="l" t="t" r="r" b="b"/>
            <a:pathLst>
              <a:path w="5620624" h="5508771">
                <a:moveTo>
                  <a:pt x="74589" y="0"/>
                </a:moveTo>
                <a:lnTo>
                  <a:pt x="5546035" y="0"/>
                </a:lnTo>
                <a:cubicBezTo>
                  <a:pt x="5587202" y="0"/>
                  <a:pt x="5620624" y="33422"/>
                  <a:pt x="5620624" y="74589"/>
                </a:cubicBezTo>
                <a:lnTo>
                  <a:pt x="5620624" y="5434182"/>
                </a:lnTo>
                <a:cubicBezTo>
                  <a:pt x="5620624" y="5475349"/>
                  <a:pt x="5587202" y="5508771"/>
                  <a:pt x="5546035" y="5508771"/>
                </a:cubicBezTo>
                <a:lnTo>
                  <a:pt x="74589" y="5508771"/>
                </a:lnTo>
                <a:cubicBezTo>
                  <a:pt x="33422" y="5508771"/>
                  <a:pt x="0" y="5475349"/>
                  <a:pt x="0" y="5434182"/>
                </a:cubicBezTo>
                <a:lnTo>
                  <a:pt x="0" y="74589"/>
                </a:lnTo>
                <a:cubicBezTo>
                  <a:pt x="0" y="33422"/>
                  <a:pt x="33422" y="0"/>
                  <a:pt x="7458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8587" y="1537982"/>
            <a:ext cx="535031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Modulli Litsenziyalash Strategiyasi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8587" y="1985394"/>
            <a:ext cx="5313028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Banklar </a:t>
            </a:r>
            <a:pPr>
              <a:lnSpc>
                <a:spcPct val="140000"/>
              </a:lnSpc>
            </a:pPr>
            <a:r>
              <a:rPr lang="en-US" sz="1174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modullarni bosqichma-bosqich qabul qilishi</a:t>
            </a:r>
            <a:pPr>
              <a:lnSpc>
                <a:spcPct val="14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mumkin. Bu xarajatlarni boshqarish va xavfni kamaytirish imkonini beradi.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7229" y="2619229"/>
            <a:ext cx="5219817" cy="857541"/>
          </a:xfrm>
          <a:custGeom>
            <a:avLst/>
            <a:gdLst/>
            <a:ahLst/>
            <a:cxnLst/>
            <a:rect l="l" t="t" r="r" b="b"/>
            <a:pathLst>
              <a:path w="5219817" h="857541">
                <a:moveTo>
                  <a:pt x="37284" y="0"/>
                </a:moveTo>
                <a:lnTo>
                  <a:pt x="5145245" y="0"/>
                </a:lnTo>
                <a:cubicBezTo>
                  <a:pt x="5186430" y="0"/>
                  <a:pt x="5219817" y="33387"/>
                  <a:pt x="5219817" y="74572"/>
                </a:cubicBezTo>
                <a:lnTo>
                  <a:pt x="5219817" y="782969"/>
                </a:lnTo>
                <a:cubicBezTo>
                  <a:pt x="5219817" y="824154"/>
                  <a:pt x="5186430" y="857541"/>
                  <a:pt x="5145245" y="857541"/>
                </a:cubicBez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7229" y="2619229"/>
            <a:ext cx="37284" cy="857541"/>
          </a:xfrm>
          <a:custGeom>
            <a:avLst/>
            <a:gdLst/>
            <a:ahLst/>
            <a:cxnLst/>
            <a:rect l="l" t="t" r="r" b="b"/>
            <a:pathLst>
              <a:path w="37284" h="857541">
                <a:moveTo>
                  <a:pt x="37284" y="0"/>
                </a:moveTo>
                <a:lnTo>
                  <a:pt x="37284" y="0"/>
                </a:lnTo>
                <a:lnTo>
                  <a:pt x="37284" y="857541"/>
                </a:ln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55009" y="2768367"/>
            <a:ext cx="2153174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Gateway &amp; Integration Layer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66892" y="2768367"/>
            <a:ext cx="596550" cy="260991"/>
          </a:xfrm>
          <a:custGeom>
            <a:avLst/>
            <a:gdLst/>
            <a:ahLst/>
            <a:cxnLst/>
            <a:rect l="l" t="t" r="r" b="b"/>
            <a:pathLst>
              <a:path w="596550" h="260991">
                <a:moveTo>
                  <a:pt x="37285" y="0"/>
                </a:moveTo>
                <a:lnTo>
                  <a:pt x="559265" y="0"/>
                </a:lnTo>
                <a:cubicBezTo>
                  <a:pt x="579857" y="0"/>
                  <a:pt x="596550" y="16693"/>
                  <a:pt x="596550" y="37285"/>
                </a:cubicBezTo>
                <a:lnTo>
                  <a:pt x="596550" y="223706"/>
                </a:lnTo>
                <a:cubicBezTo>
                  <a:pt x="596550" y="244284"/>
                  <a:pt x="579844" y="260991"/>
                  <a:pt x="559265" y="260991"/>
                </a:cubicBezTo>
                <a:lnTo>
                  <a:pt x="37285" y="260991"/>
                </a:lnTo>
                <a:cubicBezTo>
                  <a:pt x="16693" y="260991"/>
                  <a:pt x="0" y="244298"/>
                  <a:pt x="0" y="223706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66892" y="2768367"/>
            <a:ext cx="661798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Asosiy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5009" y="3103927"/>
            <a:ext cx="497746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Pre-authorization gateway va integratsiya vositalari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7229" y="3588624"/>
            <a:ext cx="5219817" cy="857541"/>
          </a:xfrm>
          <a:custGeom>
            <a:avLst/>
            <a:gdLst/>
            <a:ahLst/>
            <a:cxnLst/>
            <a:rect l="l" t="t" r="r" b="b"/>
            <a:pathLst>
              <a:path w="5219817" h="857541">
                <a:moveTo>
                  <a:pt x="37284" y="0"/>
                </a:moveTo>
                <a:lnTo>
                  <a:pt x="5145245" y="0"/>
                </a:lnTo>
                <a:cubicBezTo>
                  <a:pt x="5186430" y="0"/>
                  <a:pt x="5219817" y="33387"/>
                  <a:pt x="5219817" y="74572"/>
                </a:cubicBezTo>
                <a:lnTo>
                  <a:pt x="5219817" y="782969"/>
                </a:lnTo>
                <a:cubicBezTo>
                  <a:pt x="5219817" y="824154"/>
                  <a:pt x="5186430" y="857541"/>
                  <a:pt x="5145245" y="857541"/>
                </a:cubicBez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7229" y="3588624"/>
            <a:ext cx="37284" cy="857541"/>
          </a:xfrm>
          <a:custGeom>
            <a:avLst/>
            <a:gdLst/>
            <a:ahLst/>
            <a:cxnLst/>
            <a:rect l="l" t="t" r="r" b="b"/>
            <a:pathLst>
              <a:path w="37284" h="857541">
                <a:moveTo>
                  <a:pt x="37284" y="0"/>
                </a:moveTo>
                <a:lnTo>
                  <a:pt x="37284" y="0"/>
                </a:lnTo>
                <a:lnTo>
                  <a:pt x="37284" y="857541"/>
                </a:ln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755009" y="3737761"/>
            <a:ext cx="1584587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&amp; Fraud Engines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16153" y="3737761"/>
            <a:ext cx="745688" cy="260991"/>
          </a:xfrm>
          <a:custGeom>
            <a:avLst/>
            <a:gdLst/>
            <a:ahLst/>
            <a:cxnLst/>
            <a:rect l="l" t="t" r="r" b="b"/>
            <a:pathLst>
              <a:path w="745688" h="260991">
                <a:moveTo>
                  <a:pt x="37285" y="0"/>
                </a:moveTo>
                <a:lnTo>
                  <a:pt x="708403" y="0"/>
                </a:lnTo>
                <a:cubicBezTo>
                  <a:pt x="728995" y="0"/>
                  <a:pt x="745688" y="16693"/>
                  <a:pt x="745688" y="37285"/>
                </a:cubicBezTo>
                <a:lnTo>
                  <a:pt x="745688" y="223706"/>
                </a:lnTo>
                <a:cubicBezTo>
                  <a:pt x="745688" y="244284"/>
                  <a:pt x="728981" y="260991"/>
                  <a:pt x="708403" y="260991"/>
                </a:cubicBezTo>
                <a:lnTo>
                  <a:pt x="37285" y="260991"/>
                </a:lnTo>
                <a:cubicBezTo>
                  <a:pt x="16693" y="260991"/>
                  <a:pt x="0" y="244298"/>
                  <a:pt x="0" y="223706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60A5FA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16153" y="3737761"/>
            <a:ext cx="81093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Xavfsizlik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5009" y="4073321"/>
            <a:ext cx="497746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Engine, AML va fraud tekshiruvlari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7229" y="4558018"/>
            <a:ext cx="5219817" cy="857541"/>
          </a:xfrm>
          <a:custGeom>
            <a:avLst/>
            <a:gdLst/>
            <a:ahLst/>
            <a:cxnLst/>
            <a:rect l="l" t="t" r="r" b="b"/>
            <a:pathLst>
              <a:path w="5219817" h="857541">
                <a:moveTo>
                  <a:pt x="37284" y="0"/>
                </a:moveTo>
                <a:lnTo>
                  <a:pt x="5145245" y="0"/>
                </a:lnTo>
                <a:cubicBezTo>
                  <a:pt x="5186430" y="0"/>
                  <a:pt x="5219817" y="33387"/>
                  <a:pt x="5219817" y="74572"/>
                </a:cubicBezTo>
                <a:lnTo>
                  <a:pt x="5219817" y="782969"/>
                </a:lnTo>
                <a:cubicBezTo>
                  <a:pt x="5219817" y="824154"/>
                  <a:pt x="5186430" y="857541"/>
                  <a:pt x="5145245" y="857541"/>
                </a:cubicBez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7229" y="4558018"/>
            <a:ext cx="37284" cy="857541"/>
          </a:xfrm>
          <a:custGeom>
            <a:avLst/>
            <a:gdLst/>
            <a:ahLst/>
            <a:cxnLst/>
            <a:rect l="l" t="t" r="r" b="b"/>
            <a:pathLst>
              <a:path w="37284" h="857541">
                <a:moveTo>
                  <a:pt x="37284" y="0"/>
                </a:moveTo>
                <a:lnTo>
                  <a:pt x="37284" y="0"/>
                </a:lnTo>
                <a:lnTo>
                  <a:pt x="37284" y="857541"/>
                </a:ln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55009" y="4707156"/>
            <a:ext cx="1370202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AI Assistant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16814" y="4707156"/>
            <a:ext cx="344881" cy="260991"/>
          </a:xfrm>
          <a:custGeom>
            <a:avLst/>
            <a:gdLst/>
            <a:ahLst/>
            <a:cxnLst/>
            <a:rect l="l" t="t" r="r" b="b"/>
            <a:pathLst>
              <a:path w="344881" h="260991">
                <a:moveTo>
                  <a:pt x="37285" y="0"/>
                </a:moveTo>
                <a:lnTo>
                  <a:pt x="307596" y="0"/>
                </a:lnTo>
                <a:cubicBezTo>
                  <a:pt x="328188" y="0"/>
                  <a:pt x="344881" y="16693"/>
                  <a:pt x="344881" y="37285"/>
                </a:cubicBezTo>
                <a:lnTo>
                  <a:pt x="344881" y="223706"/>
                </a:lnTo>
                <a:cubicBezTo>
                  <a:pt x="344881" y="244298"/>
                  <a:pt x="328188" y="260991"/>
                  <a:pt x="307596" y="260991"/>
                </a:cubicBezTo>
                <a:lnTo>
                  <a:pt x="37285" y="260991"/>
                </a:lnTo>
                <a:cubicBezTo>
                  <a:pt x="16693" y="260991"/>
                  <a:pt x="0" y="244298"/>
                  <a:pt x="0" y="223706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316814" y="4707156"/>
            <a:ext cx="410128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5009" y="5042716"/>
            <a:ext cx="497746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Hujjat avto-to'ldirish va AI yordamchi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7229" y="5527413"/>
            <a:ext cx="5219817" cy="857541"/>
          </a:xfrm>
          <a:custGeom>
            <a:avLst/>
            <a:gdLst/>
            <a:ahLst/>
            <a:cxnLst/>
            <a:rect l="l" t="t" r="r" b="b"/>
            <a:pathLst>
              <a:path w="5219817" h="857541">
                <a:moveTo>
                  <a:pt x="37284" y="0"/>
                </a:moveTo>
                <a:lnTo>
                  <a:pt x="5145245" y="0"/>
                </a:lnTo>
                <a:cubicBezTo>
                  <a:pt x="5186430" y="0"/>
                  <a:pt x="5219817" y="33387"/>
                  <a:pt x="5219817" y="74572"/>
                </a:cubicBezTo>
                <a:lnTo>
                  <a:pt x="5219817" y="782969"/>
                </a:lnTo>
                <a:cubicBezTo>
                  <a:pt x="5219817" y="824154"/>
                  <a:pt x="5186430" y="857541"/>
                  <a:pt x="5145245" y="857541"/>
                </a:cubicBez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7229" y="5527413"/>
            <a:ext cx="37284" cy="857541"/>
          </a:xfrm>
          <a:custGeom>
            <a:avLst/>
            <a:gdLst/>
            <a:ahLst/>
            <a:cxnLst/>
            <a:rect l="l" t="t" r="r" b="b"/>
            <a:pathLst>
              <a:path w="37284" h="857541">
                <a:moveTo>
                  <a:pt x="37284" y="0"/>
                </a:moveTo>
                <a:lnTo>
                  <a:pt x="37284" y="0"/>
                </a:lnTo>
                <a:lnTo>
                  <a:pt x="37284" y="857541"/>
                </a:lnTo>
                <a:lnTo>
                  <a:pt x="37284" y="857541"/>
                </a:lnTo>
                <a:cubicBezTo>
                  <a:pt x="16693" y="857541"/>
                  <a:pt x="0" y="840848"/>
                  <a:pt x="0" y="82025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7" name="Text 25"/>
          <p:cNvSpPr/>
          <p:nvPr/>
        </p:nvSpPr>
        <p:spPr>
          <a:xfrm>
            <a:off x="755009" y="5676550"/>
            <a:ext cx="168711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Contagion Intelligence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583" y="5676550"/>
            <a:ext cx="577908" cy="260991"/>
          </a:xfrm>
          <a:custGeom>
            <a:avLst/>
            <a:gdLst/>
            <a:ahLst/>
            <a:cxnLst/>
            <a:rect l="l" t="t" r="r" b="b"/>
            <a:pathLst>
              <a:path w="577908" h="260991">
                <a:moveTo>
                  <a:pt x="37285" y="0"/>
                </a:moveTo>
                <a:lnTo>
                  <a:pt x="540623" y="0"/>
                </a:lnTo>
                <a:cubicBezTo>
                  <a:pt x="561215" y="0"/>
                  <a:pt x="577908" y="16693"/>
                  <a:pt x="577908" y="37285"/>
                </a:cubicBezTo>
                <a:lnTo>
                  <a:pt x="577908" y="223706"/>
                </a:lnTo>
                <a:cubicBezTo>
                  <a:pt x="577908" y="244284"/>
                  <a:pt x="561201" y="260991"/>
                  <a:pt x="540623" y="260991"/>
                </a:cubicBezTo>
                <a:lnTo>
                  <a:pt x="37285" y="260991"/>
                </a:lnTo>
                <a:cubicBezTo>
                  <a:pt x="16693" y="260991"/>
                  <a:pt x="0" y="244298"/>
                  <a:pt x="0" y="223706"/>
                </a:cubicBezTo>
                <a:lnTo>
                  <a:pt x="0" y="37285"/>
                </a:lnTo>
                <a:cubicBezTo>
                  <a:pt x="0" y="16707"/>
                  <a:pt x="16707" y="0"/>
                  <a:pt x="37285" y="0"/>
                </a:cubicBezTo>
                <a:close/>
              </a:path>
            </a:pathLst>
          </a:custGeom>
          <a:solidFill>
            <a:srgbClr val="60A5FA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80583" y="5676550"/>
            <a:ext cx="643156" cy="260991"/>
          </a:xfrm>
          <a:prstGeom prst="rect">
            <a:avLst/>
          </a:prstGeom>
          <a:noFill/>
          <a:ln/>
        </p:spPr>
        <p:txBody>
          <a:bodyPr wrap="square" lIns="111853" tIns="37284" rIns="111853" bIns="37284" rtlCol="0" anchor="ctr"/>
          <a:lstStyle/>
          <a:p>
            <a:pPr>
              <a:lnSpc>
                <a:spcPct val="120000"/>
              </a:lnSpc>
            </a:pPr>
            <a:r>
              <a:rPr lang="en-US" sz="1028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Tizimli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5009" y="6012110"/>
            <a:ext cx="497746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Tarmoq ta'sir tahlili va tizimli xavf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5911" y="1346899"/>
            <a:ext cx="5620624" cy="4707156"/>
          </a:xfrm>
          <a:custGeom>
            <a:avLst/>
            <a:gdLst/>
            <a:ahLst/>
            <a:cxnLst/>
            <a:rect l="l" t="t" r="r" b="b"/>
            <a:pathLst>
              <a:path w="5620624" h="4707156">
                <a:moveTo>
                  <a:pt x="74561" y="0"/>
                </a:moveTo>
                <a:lnTo>
                  <a:pt x="5546063" y="0"/>
                </a:lnTo>
                <a:cubicBezTo>
                  <a:pt x="5587242" y="0"/>
                  <a:pt x="5620624" y="33382"/>
                  <a:pt x="5620624" y="74561"/>
                </a:cubicBezTo>
                <a:lnTo>
                  <a:pt x="5620624" y="4632595"/>
                </a:lnTo>
                <a:cubicBezTo>
                  <a:pt x="5620624" y="4673774"/>
                  <a:pt x="5587242" y="4707156"/>
                  <a:pt x="5546063" y="4707156"/>
                </a:cubicBezTo>
                <a:lnTo>
                  <a:pt x="74561" y="4707156"/>
                </a:lnTo>
                <a:cubicBezTo>
                  <a:pt x="33382" y="4707156"/>
                  <a:pt x="0" y="4673774"/>
                  <a:pt x="0" y="4632595"/>
                </a:cubicBezTo>
                <a:lnTo>
                  <a:pt x="0" y="74561"/>
                </a:lnTo>
                <a:cubicBezTo>
                  <a:pt x="0" y="33410"/>
                  <a:pt x="33410" y="0"/>
                  <a:pt x="7456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6993" y="1537982"/>
            <a:ext cx="535031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O'zbekiston Bank Bozori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6993" y="1985394"/>
            <a:ext cx="2544661" cy="1043963"/>
          </a:xfrm>
          <a:custGeom>
            <a:avLst/>
            <a:gdLst/>
            <a:ahLst/>
            <a:cxnLst/>
            <a:rect l="l" t="t" r="r" b="b"/>
            <a:pathLst>
              <a:path w="2544661" h="1043963">
                <a:moveTo>
                  <a:pt x="74570" y="0"/>
                </a:moveTo>
                <a:lnTo>
                  <a:pt x="2470090" y="0"/>
                </a:lnTo>
                <a:cubicBezTo>
                  <a:pt x="2511274" y="0"/>
                  <a:pt x="2544661" y="33386"/>
                  <a:pt x="2544661" y="74570"/>
                </a:cubicBezTo>
                <a:lnTo>
                  <a:pt x="2544661" y="969393"/>
                </a:lnTo>
                <a:cubicBezTo>
                  <a:pt x="2544661" y="1010577"/>
                  <a:pt x="2511274" y="1043963"/>
                  <a:pt x="2470090" y="1043963"/>
                </a:cubicBezTo>
                <a:lnTo>
                  <a:pt x="74570" y="1043963"/>
                </a:lnTo>
                <a:cubicBezTo>
                  <a:pt x="33386" y="1043963"/>
                  <a:pt x="0" y="1010577"/>
                  <a:pt x="0" y="96939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24278" y="2134532"/>
            <a:ext cx="247009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8846" y="2656514"/>
            <a:ext cx="232095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Tijorat Banklari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81811" y="1985394"/>
            <a:ext cx="2544661" cy="1043963"/>
          </a:xfrm>
          <a:custGeom>
            <a:avLst/>
            <a:gdLst/>
            <a:ahLst/>
            <a:cxnLst/>
            <a:rect l="l" t="t" r="r" b="b"/>
            <a:pathLst>
              <a:path w="2544661" h="1043963">
                <a:moveTo>
                  <a:pt x="74570" y="0"/>
                </a:moveTo>
                <a:lnTo>
                  <a:pt x="2470090" y="0"/>
                </a:lnTo>
                <a:cubicBezTo>
                  <a:pt x="2511274" y="0"/>
                  <a:pt x="2544661" y="33386"/>
                  <a:pt x="2544661" y="74570"/>
                </a:cubicBezTo>
                <a:lnTo>
                  <a:pt x="2544661" y="969393"/>
                </a:lnTo>
                <a:cubicBezTo>
                  <a:pt x="2544661" y="1010577"/>
                  <a:pt x="2511274" y="1043963"/>
                  <a:pt x="2470090" y="1043963"/>
                </a:cubicBezTo>
                <a:lnTo>
                  <a:pt x="74570" y="1043963"/>
                </a:lnTo>
                <a:cubicBezTo>
                  <a:pt x="33386" y="1043963"/>
                  <a:pt x="0" y="1010577"/>
                  <a:pt x="0" y="969393"/>
                </a:cubicBezTo>
                <a:lnTo>
                  <a:pt x="0" y="74570"/>
                </a:lnTo>
                <a:cubicBezTo>
                  <a:pt x="0" y="33414"/>
                  <a:pt x="33414" y="0"/>
                  <a:pt x="745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119095" y="2134532"/>
            <a:ext cx="2470092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23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+40%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93664" y="2656514"/>
            <a:ext cx="232095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Raqamli To'lov O'sishi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6993" y="3178495"/>
            <a:ext cx="5238459" cy="820257"/>
          </a:xfrm>
          <a:custGeom>
            <a:avLst/>
            <a:gdLst/>
            <a:ahLst/>
            <a:cxnLst/>
            <a:rect l="l" t="t" r="r" b="b"/>
            <a:pathLst>
              <a:path w="5238459" h="820257">
                <a:moveTo>
                  <a:pt x="74570" y="0"/>
                </a:moveTo>
                <a:lnTo>
                  <a:pt x="5163889" y="0"/>
                </a:lnTo>
                <a:cubicBezTo>
                  <a:pt x="5205073" y="0"/>
                  <a:pt x="5238459" y="33386"/>
                  <a:pt x="5238459" y="74570"/>
                </a:cubicBezTo>
                <a:lnTo>
                  <a:pt x="5238459" y="745687"/>
                </a:lnTo>
                <a:cubicBezTo>
                  <a:pt x="5238459" y="786871"/>
                  <a:pt x="5205073" y="820257"/>
                  <a:pt x="5163889" y="820257"/>
                </a:cubicBezTo>
                <a:lnTo>
                  <a:pt x="74570" y="820257"/>
                </a:lnTo>
                <a:cubicBezTo>
                  <a:pt x="33386" y="820257"/>
                  <a:pt x="0" y="786871"/>
                  <a:pt x="0" y="745687"/>
                </a:cubicBezTo>
                <a:lnTo>
                  <a:pt x="0" y="74570"/>
                </a:lnTo>
                <a:cubicBezTo>
                  <a:pt x="0" y="33413"/>
                  <a:pt x="33413" y="0"/>
                  <a:pt x="745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54773" y="3364917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18642" y="18642"/>
                </a:moveTo>
                <a:cubicBezTo>
                  <a:pt x="18642" y="13486"/>
                  <a:pt x="14477" y="9321"/>
                  <a:pt x="9321" y="9321"/>
                </a:cubicBezTo>
                <a:cubicBezTo>
                  <a:pt x="4165" y="9321"/>
                  <a:pt x="0" y="13486"/>
                  <a:pt x="0" y="18642"/>
                </a:cubicBezTo>
                <a:lnTo>
                  <a:pt x="0" y="116514"/>
                </a:lnTo>
                <a:cubicBezTo>
                  <a:pt x="0" y="129389"/>
                  <a:pt x="10428" y="139817"/>
                  <a:pt x="23303" y="139817"/>
                </a:cubicBezTo>
                <a:lnTo>
                  <a:pt x="139817" y="139817"/>
                </a:lnTo>
                <a:cubicBezTo>
                  <a:pt x="144972" y="139817"/>
                  <a:pt x="149138" y="135651"/>
                  <a:pt x="149138" y="130495"/>
                </a:cubicBezTo>
                <a:cubicBezTo>
                  <a:pt x="149138" y="125340"/>
                  <a:pt x="144972" y="121174"/>
                  <a:pt x="139817" y="121174"/>
                </a:cubicBezTo>
                <a:lnTo>
                  <a:pt x="23303" y="121174"/>
                </a:lnTo>
                <a:cubicBezTo>
                  <a:pt x="20739" y="121174"/>
                  <a:pt x="18642" y="119077"/>
                  <a:pt x="18642" y="116514"/>
                </a:cubicBezTo>
                <a:lnTo>
                  <a:pt x="18642" y="18642"/>
                </a:lnTo>
                <a:close/>
                <a:moveTo>
                  <a:pt x="137078" y="43867"/>
                </a:moveTo>
                <a:cubicBezTo>
                  <a:pt x="140719" y="40226"/>
                  <a:pt x="140719" y="34313"/>
                  <a:pt x="137078" y="30672"/>
                </a:cubicBezTo>
                <a:cubicBezTo>
                  <a:pt x="133437" y="27031"/>
                  <a:pt x="127524" y="27031"/>
                  <a:pt x="123883" y="30672"/>
                </a:cubicBezTo>
                <a:lnTo>
                  <a:pt x="93211" y="61374"/>
                </a:lnTo>
                <a:lnTo>
                  <a:pt x="76491" y="44683"/>
                </a:lnTo>
                <a:cubicBezTo>
                  <a:pt x="72850" y="41042"/>
                  <a:pt x="66937" y="41042"/>
                  <a:pt x="63296" y="44683"/>
                </a:cubicBezTo>
                <a:lnTo>
                  <a:pt x="35333" y="72646"/>
                </a:lnTo>
                <a:cubicBezTo>
                  <a:pt x="31692" y="76287"/>
                  <a:pt x="31692" y="82200"/>
                  <a:pt x="35333" y="85842"/>
                </a:cubicBezTo>
                <a:cubicBezTo>
                  <a:pt x="38974" y="89483"/>
                  <a:pt x="44887" y="89483"/>
                  <a:pt x="48528" y="85842"/>
                </a:cubicBezTo>
                <a:lnTo>
                  <a:pt x="69908" y="64461"/>
                </a:lnTo>
                <a:lnTo>
                  <a:pt x="86628" y="81181"/>
                </a:lnTo>
                <a:cubicBezTo>
                  <a:pt x="90269" y="84822"/>
                  <a:pt x="96182" y="84822"/>
                  <a:pt x="99823" y="81181"/>
                </a:cubicBezTo>
                <a:lnTo>
                  <a:pt x="137108" y="43897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1" name="Text 39"/>
          <p:cNvSpPr/>
          <p:nvPr/>
        </p:nvSpPr>
        <p:spPr>
          <a:xfrm>
            <a:off x="6834406" y="3327633"/>
            <a:ext cx="127699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Tez Raqamli O'sish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6131" y="3625908"/>
            <a:ext cx="501475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Mamlakatda raqamli to'lovlar hajmi tez sur'atlar bilan o'smoqda.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6993" y="4110606"/>
            <a:ext cx="5238459" cy="820257"/>
          </a:xfrm>
          <a:custGeom>
            <a:avLst/>
            <a:gdLst/>
            <a:ahLst/>
            <a:cxnLst/>
            <a:rect l="l" t="t" r="r" b="b"/>
            <a:pathLst>
              <a:path w="5238459" h="820257">
                <a:moveTo>
                  <a:pt x="74570" y="0"/>
                </a:moveTo>
                <a:lnTo>
                  <a:pt x="5163889" y="0"/>
                </a:lnTo>
                <a:cubicBezTo>
                  <a:pt x="5205073" y="0"/>
                  <a:pt x="5238459" y="33386"/>
                  <a:pt x="5238459" y="74570"/>
                </a:cubicBezTo>
                <a:lnTo>
                  <a:pt x="5238459" y="745687"/>
                </a:lnTo>
                <a:cubicBezTo>
                  <a:pt x="5238459" y="786871"/>
                  <a:pt x="5205073" y="820257"/>
                  <a:pt x="5163889" y="820257"/>
                </a:cubicBezTo>
                <a:lnTo>
                  <a:pt x="74570" y="820257"/>
                </a:lnTo>
                <a:cubicBezTo>
                  <a:pt x="33386" y="820257"/>
                  <a:pt x="0" y="786871"/>
                  <a:pt x="0" y="745687"/>
                </a:cubicBezTo>
                <a:lnTo>
                  <a:pt x="0" y="74570"/>
                </a:lnTo>
                <a:cubicBezTo>
                  <a:pt x="0" y="33413"/>
                  <a:pt x="33413" y="0"/>
                  <a:pt x="745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5452" y="4297028"/>
            <a:ext cx="167780" cy="149138"/>
          </a:xfrm>
          <a:custGeom>
            <a:avLst/>
            <a:gdLst/>
            <a:ahLst/>
            <a:cxnLst/>
            <a:rect l="l" t="t" r="r" b="b"/>
            <a:pathLst>
              <a:path w="167780" h="149138">
                <a:moveTo>
                  <a:pt x="49402" y="44683"/>
                </a:moveTo>
                <a:lnTo>
                  <a:pt x="43955" y="39236"/>
                </a:lnTo>
                <a:cubicBezTo>
                  <a:pt x="40314" y="35595"/>
                  <a:pt x="40314" y="29682"/>
                  <a:pt x="43955" y="26041"/>
                </a:cubicBezTo>
                <a:lnTo>
                  <a:pt x="77365" y="-7399"/>
                </a:lnTo>
                <a:cubicBezTo>
                  <a:pt x="81006" y="-11040"/>
                  <a:pt x="86919" y="-11040"/>
                  <a:pt x="90560" y="-7399"/>
                </a:cubicBezTo>
                <a:lnTo>
                  <a:pt x="96007" y="-1922"/>
                </a:lnTo>
                <a:cubicBezTo>
                  <a:pt x="99648" y="1719"/>
                  <a:pt x="99648" y="7632"/>
                  <a:pt x="96007" y="11273"/>
                </a:cubicBezTo>
                <a:lnTo>
                  <a:pt x="62597" y="44683"/>
                </a:lnTo>
                <a:cubicBezTo>
                  <a:pt x="58956" y="48324"/>
                  <a:pt x="53043" y="48324"/>
                  <a:pt x="49402" y="44683"/>
                </a:cubicBezTo>
                <a:close/>
                <a:moveTo>
                  <a:pt x="80394" y="61665"/>
                </a:moveTo>
                <a:lnTo>
                  <a:pt x="71248" y="52519"/>
                </a:lnTo>
                <a:lnTo>
                  <a:pt x="103872" y="19895"/>
                </a:lnTo>
                <a:lnTo>
                  <a:pt x="138651" y="54674"/>
                </a:lnTo>
                <a:lnTo>
                  <a:pt x="106028" y="87298"/>
                </a:lnTo>
                <a:lnTo>
                  <a:pt x="96881" y="78152"/>
                </a:lnTo>
                <a:lnTo>
                  <a:pt x="29303" y="145730"/>
                </a:lnTo>
                <a:cubicBezTo>
                  <a:pt x="24759" y="150274"/>
                  <a:pt x="17390" y="150274"/>
                  <a:pt x="12817" y="145730"/>
                </a:cubicBezTo>
                <a:cubicBezTo>
                  <a:pt x="8243" y="141186"/>
                  <a:pt x="8272" y="133816"/>
                  <a:pt x="12817" y="129243"/>
                </a:cubicBezTo>
                <a:lnTo>
                  <a:pt x="80394" y="61665"/>
                </a:lnTo>
                <a:close/>
                <a:moveTo>
                  <a:pt x="113863" y="109115"/>
                </a:moveTo>
                <a:cubicBezTo>
                  <a:pt x="110222" y="105474"/>
                  <a:pt x="110222" y="99561"/>
                  <a:pt x="113863" y="95920"/>
                </a:cubicBezTo>
                <a:lnTo>
                  <a:pt x="147273" y="62510"/>
                </a:lnTo>
                <a:cubicBezTo>
                  <a:pt x="150914" y="58869"/>
                  <a:pt x="156828" y="58869"/>
                  <a:pt x="160469" y="62510"/>
                </a:cubicBezTo>
                <a:lnTo>
                  <a:pt x="165916" y="67957"/>
                </a:lnTo>
                <a:cubicBezTo>
                  <a:pt x="169557" y="71598"/>
                  <a:pt x="169557" y="77511"/>
                  <a:pt x="165916" y="81152"/>
                </a:cubicBezTo>
                <a:lnTo>
                  <a:pt x="132505" y="114591"/>
                </a:lnTo>
                <a:cubicBezTo>
                  <a:pt x="128864" y="118232"/>
                  <a:pt x="122951" y="118232"/>
                  <a:pt x="119310" y="114591"/>
                </a:cubicBezTo>
                <a:lnTo>
                  <a:pt x="113863" y="109144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5" name="Text 43"/>
          <p:cNvSpPr/>
          <p:nvPr/>
        </p:nvSpPr>
        <p:spPr>
          <a:xfrm>
            <a:off x="6834406" y="4259743"/>
            <a:ext cx="1556624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Regulyativ Murakkablik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6131" y="4558018"/>
            <a:ext cx="501475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Markaziy Bank talablari doimiy ravishda kuchayib bormoqda.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6993" y="5042716"/>
            <a:ext cx="5238459" cy="820257"/>
          </a:xfrm>
          <a:custGeom>
            <a:avLst/>
            <a:gdLst/>
            <a:ahLst/>
            <a:cxnLst/>
            <a:rect l="l" t="t" r="r" b="b"/>
            <a:pathLst>
              <a:path w="5238459" h="820257">
                <a:moveTo>
                  <a:pt x="74570" y="0"/>
                </a:moveTo>
                <a:lnTo>
                  <a:pt x="5163889" y="0"/>
                </a:lnTo>
                <a:cubicBezTo>
                  <a:pt x="5205073" y="0"/>
                  <a:pt x="5238459" y="33386"/>
                  <a:pt x="5238459" y="74570"/>
                </a:cubicBezTo>
                <a:lnTo>
                  <a:pt x="5238459" y="745687"/>
                </a:lnTo>
                <a:cubicBezTo>
                  <a:pt x="5238459" y="786871"/>
                  <a:pt x="5205073" y="820257"/>
                  <a:pt x="5163889" y="820257"/>
                </a:cubicBezTo>
                <a:lnTo>
                  <a:pt x="74570" y="820257"/>
                </a:lnTo>
                <a:cubicBezTo>
                  <a:pt x="33386" y="820257"/>
                  <a:pt x="0" y="786871"/>
                  <a:pt x="0" y="745687"/>
                </a:cubicBezTo>
                <a:lnTo>
                  <a:pt x="0" y="74570"/>
                </a:lnTo>
                <a:cubicBezTo>
                  <a:pt x="0" y="33413"/>
                  <a:pt x="33413" y="0"/>
                  <a:pt x="7457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54773" y="5229138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4569" y="149138"/>
                </a:moveTo>
                <a:cubicBezTo>
                  <a:pt x="115724" y="149138"/>
                  <a:pt x="149138" y="115724"/>
                  <a:pt x="149138" y="74569"/>
                </a:cubicBezTo>
                <a:cubicBezTo>
                  <a:pt x="149138" y="33413"/>
                  <a:pt x="115724" y="0"/>
                  <a:pt x="74569" y="0"/>
                </a:cubicBezTo>
                <a:cubicBezTo>
                  <a:pt x="33413" y="0"/>
                  <a:pt x="0" y="33413"/>
                  <a:pt x="0" y="74569"/>
                </a:cubicBezTo>
                <a:cubicBezTo>
                  <a:pt x="0" y="115724"/>
                  <a:pt x="33413" y="149138"/>
                  <a:pt x="74569" y="149138"/>
                </a:cubicBezTo>
                <a:close/>
                <a:moveTo>
                  <a:pt x="74569" y="39615"/>
                </a:moveTo>
                <a:cubicBezTo>
                  <a:pt x="78443" y="39615"/>
                  <a:pt x="81560" y="42731"/>
                  <a:pt x="81560" y="46606"/>
                </a:cubicBezTo>
                <a:lnTo>
                  <a:pt x="81560" y="79229"/>
                </a:lnTo>
                <a:cubicBezTo>
                  <a:pt x="81560" y="83103"/>
                  <a:pt x="78443" y="86220"/>
                  <a:pt x="74569" y="86220"/>
                </a:cubicBezTo>
                <a:cubicBezTo>
                  <a:pt x="70695" y="86220"/>
                  <a:pt x="67578" y="83103"/>
                  <a:pt x="67578" y="79229"/>
                </a:cubicBezTo>
                <a:lnTo>
                  <a:pt x="67578" y="46606"/>
                </a:lnTo>
                <a:cubicBezTo>
                  <a:pt x="67578" y="42731"/>
                  <a:pt x="70695" y="39615"/>
                  <a:pt x="74569" y="39615"/>
                </a:cubicBezTo>
                <a:close/>
                <a:moveTo>
                  <a:pt x="66792" y="102532"/>
                </a:moveTo>
                <a:cubicBezTo>
                  <a:pt x="66615" y="99645"/>
                  <a:pt x="68054" y="96899"/>
                  <a:pt x="70529" y="95402"/>
                </a:cubicBezTo>
                <a:cubicBezTo>
                  <a:pt x="73004" y="93905"/>
                  <a:pt x="76105" y="93905"/>
                  <a:pt x="78579" y="95402"/>
                </a:cubicBezTo>
                <a:cubicBezTo>
                  <a:pt x="81054" y="96899"/>
                  <a:pt x="82494" y="99645"/>
                  <a:pt x="82317" y="102532"/>
                </a:cubicBezTo>
                <a:cubicBezTo>
                  <a:pt x="82494" y="105419"/>
                  <a:pt x="81054" y="108166"/>
                  <a:pt x="78579" y="109662"/>
                </a:cubicBezTo>
                <a:cubicBezTo>
                  <a:pt x="76105" y="111159"/>
                  <a:pt x="73004" y="111159"/>
                  <a:pt x="70529" y="109662"/>
                </a:cubicBezTo>
                <a:cubicBezTo>
                  <a:pt x="68054" y="108166"/>
                  <a:pt x="66615" y="105419"/>
                  <a:pt x="66792" y="102532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9" name="Text 47"/>
          <p:cNvSpPr/>
          <p:nvPr/>
        </p:nvSpPr>
        <p:spPr>
          <a:xfrm>
            <a:off x="6834406" y="5191853"/>
            <a:ext cx="568587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Bo'shliq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36131" y="5490128"/>
            <a:ext cx="501475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Hozirda standartlashtirilgan pre-avtorizatsiya infratuzilma platformasi yo'q.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5911" y="6212514"/>
            <a:ext cx="5620624" cy="643156"/>
          </a:xfrm>
          <a:custGeom>
            <a:avLst/>
            <a:gdLst/>
            <a:ahLst/>
            <a:cxnLst/>
            <a:rect l="l" t="t" r="r" b="b"/>
            <a:pathLst>
              <a:path w="5620624" h="643156">
                <a:moveTo>
                  <a:pt x="74568" y="0"/>
                </a:moveTo>
                <a:lnTo>
                  <a:pt x="5546056" y="0"/>
                </a:lnTo>
                <a:cubicBezTo>
                  <a:pt x="5587211" y="0"/>
                  <a:pt x="5620624" y="33413"/>
                  <a:pt x="5620624" y="74568"/>
                </a:cubicBezTo>
                <a:lnTo>
                  <a:pt x="5620624" y="568588"/>
                </a:lnTo>
                <a:cubicBezTo>
                  <a:pt x="5620624" y="609743"/>
                  <a:pt x="5587211" y="643156"/>
                  <a:pt x="5546056" y="643156"/>
                </a:cubicBezTo>
                <a:lnTo>
                  <a:pt x="74568" y="643156"/>
                </a:lnTo>
                <a:cubicBezTo>
                  <a:pt x="33413" y="643156"/>
                  <a:pt x="0" y="609743"/>
                  <a:pt x="0" y="568588"/>
                </a:cubicBezTo>
                <a:lnTo>
                  <a:pt x="0" y="74568"/>
                </a:lnTo>
                <a:cubicBezTo>
                  <a:pt x="0" y="33413"/>
                  <a:pt x="33413" y="0"/>
                  <a:pt x="74568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19474" y="6440881"/>
            <a:ext cx="257553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1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bu bo'shliqni to'ldiradi.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Strategik Pozitsiya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Raqobatdosh Pozitsiyalash va Milliy Viziya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76363"/>
            <a:ext cx="5610225" cy="5248275"/>
          </a:xfrm>
          <a:custGeom>
            <a:avLst/>
            <a:gdLst/>
            <a:ahLst/>
            <a:cxnLst/>
            <a:rect l="l" t="t" r="r" b="b"/>
            <a:pathLst>
              <a:path w="5610225" h="524827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5172070"/>
                </a:lnTo>
                <a:cubicBezTo>
                  <a:pt x="5610225" y="5214157"/>
                  <a:pt x="5576107" y="5248275"/>
                  <a:pt x="5534020" y="5248275"/>
                </a:cubicBezTo>
                <a:lnTo>
                  <a:pt x="76205" y="5248275"/>
                </a:lnTo>
                <a:cubicBezTo>
                  <a:pt x="34118" y="5248275"/>
                  <a:pt x="0" y="5214157"/>
                  <a:pt x="0" y="51720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571625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Raqobatdosh Tahlili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1025" y="202882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mavjud yechimlardan farq qiladi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 o'ziga xos pozitsiyani egallaydi.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1025" y="2428875"/>
            <a:ext cx="5219700" cy="1409700"/>
          </a:xfrm>
          <a:custGeom>
            <a:avLst/>
            <a:gdLst/>
            <a:ahLst/>
            <a:cxnLst/>
            <a:rect l="l" t="t" r="r" b="b"/>
            <a:pathLst>
              <a:path w="5219700" h="1409700">
                <a:moveTo>
                  <a:pt x="76194" y="0"/>
                </a:moveTo>
                <a:lnTo>
                  <a:pt x="5143506" y="0"/>
                </a:lnTo>
                <a:cubicBezTo>
                  <a:pt x="5185558" y="0"/>
                  <a:pt x="5219700" y="34142"/>
                  <a:pt x="5219700" y="76194"/>
                </a:cubicBezTo>
                <a:lnTo>
                  <a:pt x="5219700" y="1333506"/>
                </a:lnTo>
                <a:cubicBezTo>
                  <a:pt x="5219700" y="1375587"/>
                  <a:pt x="5185587" y="1409700"/>
                  <a:pt x="51435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5331" y="2619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085850" y="2581275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Bulut Provayderlari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3425" y="292417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Azure, GCP — umumiy bulut xizmatlari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3425" y="3228975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Farq: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REVENANT moliyaviy maxsus, ma'lumotlar rezidentligi, deterministik compliance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3952875"/>
            <a:ext cx="5219700" cy="1181100"/>
          </a:xfrm>
          <a:custGeom>
            <a:avLst/>
            <a:gdLst/>
            <a:ahLst/>
            <a:cxnLst/>
            <a:rect l="l" t="t" r="r" b="b"/>
            <a:pathLst>
              <a:path w="5219700" h="1181100">
                <a:moveTo>
                  <a:pt x="76205" y="0"/>
                </a:moveTo>
                <a:lnTo>
                  <a:pt x="5143495" y="0"/>
                </a:lnTo>
                <a:cubicBezTo>
                  <a:pt x="5185554" y="0"/>
                  <a:pt x="5219700" y="34146"/>
                  <a:pt x="5219700" y="76205"/>
                </a:cubicBezTo>
                <a:lnTo>
                  <a:pt x="5219700" y="1104895"/>
                </a:lnTo>
                <a:cubicBezTo>
                  <a:pt x="5219700" y="1146982"/>
                  <a:pt x="5185582" y="1181100"/>
                  <a:pt x="51434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7238" y="4143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1085850" y="4105275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Banking Provayderlari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3425" y="444817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Temenos, Finacle — to'liq Core Banking tizimlari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3425" y="475297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Farq: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REVENANT pre-authorization qatlami, Core bilan integratsiya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5248275"/>
            <a:ext cx="5219700" cy="1181100"/>
          </a:xfrm>
          <a:custGeom>
            <a:avLst/>
            <a:gdLst/>
            <a:ahLst/>
            <a:cxnLst/>
            <a:rect l="l" t="t" r="r" b="b"/>
            <a:pathLst>
              <a:path w="5219700" h="1181100">
                <a:moveTo>
                  <a:pt x="76205" y="0"/>
                </a:moveTo>
                <a:lnTo>
                  <a:pt x="5143495" y="0"/>
                </a:lnTo>
                <a:cubicBezTo>
                  <a:pt x="5185554" y="0"/>
                  <a:pt x="5219700" y="34146"/>
                  <a:pt x="5219700" y="76205"/>
                </a:cubicBezTo>
                <a:lnTo>
                  <a:pt x="5219700" y="1104895"/>
                </a:lnTo>
                <a:cubicBezTo>
                  <a:pt x="5219700" y="1146982"/>
                  <a:pt x="5185582" y="1181100"/>
                  <a:pt x="51434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45331" y="54387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1085850" y="5400675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Mahalliy Tizim Integratorlari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3425" y="574357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Loyiha-asosida yechimlar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3425" y="6048375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Farq: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REVENANT standartlashtirilgan platforma, takrorlanadigan arxitektura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376363"/>
            <a:ext cx="5610225" cy="5248275"/>
          </a:xfrm>
          <a:custGeom>
            <a:avLst/>
            <a:gdLst/>
            <a:ahLst/>
            <a:cxnLst/>
            <a:rect l="l" t="t" r="r" b="b"/>
            <a:pathLst>
              <a:path w="5610225" h="524827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5172070"/>
                </a:lnTo>
                <a:cubicBezTo>
                  <a:pt x="5610225" y="5214157"/>
                  <a:pt x="5576107" y="5248275"/>
                  <a:pt x="5534020" y="5248275"/>
                </a:cubicBezTo>
                <a:lnTo>
                  <a:pt x="76205" y="5248275"/>
                </a:lnTo>
                <a:cubicBezTo>
                  <a:pt x="34118" y="5248275"/>
                  <a:pt x="0" y="5214157"/>
                  <a:pt x="0" y="51720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275" y="1571625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Milliy Infratuzilma Viziyasi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91275" y="202882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REVENANT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banklar o'rtasida umumiy moliyaviy qaror qatlamiga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aylanadi.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1275" y="24288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723898"/>
                </a:lnTo>
                <a:cubicBezTo>
                  <a:pt x="5219700" y="765983"/>
                  <a:pt x="5185583" y="800100"/>
                  <a:pt x="51434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43675" y="2581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48450" y="26955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7038975" y="258127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Tizimli Xavf Ko'rinishi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38975" y="2847975"/>
            <a:ext cx="3457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Barcha banklar o'rtasida xavflarni real-time kuzatish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1275" y="33432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723898"/>
                </a:lnTo>
                <a:cubicBezTo>
                  <a:pt x="5219700" y="765983"/>
                  <a:pt x="5185583" y="800100"/>
                  <a:pt x="51434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43675" y="3495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38925" y="36099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7038975" y="3495675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Standartlashtirilgan Compliance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38975" y="3762375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Barcha banklar uchun bir xil regulyativ standartlar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275" y="42576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723898"/>
                </a:lnTo>
                <a:cubicBezTo>
                  <a:pt x="5219700" y="765983"/>
                  <a:pt x="5185583" y="800100"/>
                  <a:pt x="51434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43675" y="4410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67500" y="4524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38" name="Text 36"/>
          <p:cNvSpPr/>
          <p:nvPr/>
        </p:nvSpPr>
        <p:spPr>
          <a:xfrm>
            <a:off x="7038975" y="441007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Tezroq Raqamli Xizmatlar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38975" y="4676775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Mijozlar uchun tez va ishonchli bank xizmatlari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1275" y="5172075"/>
            <a:ext cx="5219700" cy="800100"/>
          </a:xfrm>
          <a:custGeom>
            <a:avLst/>
            <a:gdLst/>
            <a:ahLst/>
            <a:cxnLst/>
            <a:rect l="l" t="t" r="r" b="b"/>
            <a:pathLst>
              <a:path w="5219700" h="8001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723898"/>
                </a:lnTo>
                <a:cubicBezTo>
                  <a:pt x="5219700" y="765983"/>
                  <a:pt x="5185583" y="800100"/>
                  <a:pt x="514349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43675" y="5324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57975" y="5438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43" name="Text 41"/>
          <p:cNvSpPr/>
          <p:nvPr/>
        </p:nvSpPr>
        <p:spPr>
          <a:xfrm>
            <a:off x="7038975" y="5324475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Kuchliroq Moliyaviy Barqarorlik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38975" y="5591175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Tizimli xavflarni oldindan aniqlash va oldini olish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parkplacetechnologies.com/c1648d1107c55b6269760b7de6c35a7b5b1a03b5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2048" r="12048" t="0" b="0"/>
          <a:stretch/>
        </p:blipFill>
        <p:spPr>
          <a:xfrm>
            <a:off x="0" y="0"/>
            <a:ext cx="12192000" cy="685584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841"/>
          </a:xfrm>
          <a:custGeom>
            <a:avLst/>
            <a:gdLst/>
            <a:ahLst/>
            <a:cxnLst/>
            <a:rect l="l" t="t" r="r" b="b"/>
            <a:pathLst>
              <a:path w="12192000" h="6855841">
                <a:moveTo>
                  <a:pt x="0" y="0"/>
                </a:moveTo>
                <a:lnTo>
                  <a:pt x="12192000" y="0"/>
                </a:lnTo>
                <a:lnTo>
                  <a:pt x="12192000" y="6855841"/>
                </a:lnTo>
                <a:lnTo>
                  <a:pt x="0" y="685584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9700" y="349700"/>
            <a:ext cx="1752816" cy="354017"/>
          </a:xfrm>
          <a:custGeom>
            <a:avLst/>
            <a:gdLst/>
            <a:ahLst/>
            <a:cxnLst/>
            <a:rect l="l" t="t" r="r" b="b"/>
            <a:pathLst>
              <a:path w="1752816" h="354017">
                <a:moveTo>
                  <a:pt x="69076" y="0"/>
                </a:moveTo>
                <a:lnTo>
                  <a:pt x="1683740" y="0"/>
                </a:lnTo>
                <a:cubicBezTo>
                  <a:pt x="1721890" y="0"/>
                  <a:pt x="1752816" y="30926"/>
                  <a:pt x="1752816" y="69076"/>
                </a:cubicBezTo>
                <a:lnTo>
                  <a:pt x="1752816" y="284941"/>
                </a:lnTo>
                <a:cubicBezTo>
                  <a:pt x="1752816" y="323091"/>
                  <a:pt x="1721890" y="354017"/>
                  <a:pt x="1683740" y="354017"/>
                </a:cubicBezTo>
                <a:lnTo>
                  <a:pt x="69076" y="354017"/>
                </a:lnTo>
                <a:cubicBezTo>
                  <a:pt x="30952" y="354017"/>
                  <a:pt x="0" y="323065"/>
                  <a:pt x="0" y="284941"/>
                </a:cubicBezTo>
                <a:lnTo>
                  <a:pt x="0" y="69076"/>
                </a:lnTo>
                <a:cubicBezTo>
                  <a:pt x="0" y="30952"/>
                  <a:pt x="30952" y="0"/>
                  <a:pt x="6907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6708" y="423093"/>
            <a:ext cx="1467875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b="1" spc="109" kern="0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Kelajakni Qurish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5382" y="1191569"/>
            <a:ext cx="11760272" cy="64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7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Startap Missiyasi va Keyingi Qadamlar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9700" y="2119785"/>
            <a:ext cx="5638368" cy="1804623"/>
          </a:xfrm>
          <a:custGeom>
            <a:avLst/>
            <a:gdLst/>
            <a:ahLst/>
            <a:cxnLst/>
            <a:rect l="l" t="t" r="r" b="b"/>
            <a:pathLst>
              <a:path w="5638368" h="1804623">
                <a:moveTo>
                  <a:pt x="69081" y="0"/>
                </a:moveTo>
                <a:lnTo>
                  <a:pt x="5569287" y="0"/>
                </a:lnTo>
                <a:cubicBezTo>
                  <a:pt x="5607440" y="0"/>
                  <a:pt x="5638368" y="30929"/>
                  <a:pt x="5638368" y="69081"/>
                </a:cubicBezTo>
                <a:lnTo>
                  <a:pt x="5638368" y="1735542"/>
                </a:lnTo>
                <a:cubicBezTo>
                  <a:pt x="5638368" y="1773695"/>
                  <a:pt x="5607440" y="1804623"/>
                  <a:pt x="5569287" y="1804623"/>
                </a:cubicBezTo>
                <a:lnTo>
                  <a:pt x="69081" y="1804623"/>
                </a:lnTo>
                <a:cubicBezTo>
                  <a:pt x="30929" y="1804623"/>
                  <a:pt x="0" y="1773695"/>
                  <a:pt x="0" y="1735542"/>
                </a:cubicBezTo>
                <a:lnTo>
                  <a:pt x="0" y="69081"/>
                </a:lnTo>
                <a:cubicBezTo>
                  <a:pt x="0" y="30954"/>
                  <a:pt x="30954" y="0"/>
                  <a:pt x="6908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1246" y="2331331"/>
            <a:ext cx="414459" cy="414459"/>
          </a:xfrm>
          <a:custGeom>
            <a:avLst/>
            <a:gdLst/>
            <a:ahLst/>
            <a:cxnLst/>
            <a:rect l="l" t="t" r="r" b="b"/>
            <a:pathLst>
              <a:path w="414459" h="414459">
                <a:moveTo>
                  <a:pt x="69078" y="0"/>
                </a:moveTo>
                <a:lnTo>
                  <a:pt x="345381" y="0"/>
                </a:lnTo>
                <a:cubicBezTo>
                  <a:pt x="383532" y="0"/>
                  <a:pt x="414459" y="30927"/>
                  <a:pt x="414459" y="69078"/>
                </a:cubicBezTo>
                <a:lnTo>
                  <a:pt x="414459" y="345381"/>
                </a:lnTo>
                <a:cubicBezTo>
                  <a:pt x="414459" y="383532"/>
                  <a:pt x="383532" y="414459"/>
                  <a:pt x="345381" y="414459"/>
                </a:cubicBezTo>
                <a:lnTo>
                  <a:pt x="69078" y="414459"/>
                </a:lnTo>
                <a:cubicBezTo>
                  <a:pt x="30927" y="414459"/>
                  <a:pt x="0" y="383532"/>
                  <a:pt x="0" y="345381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4861" y="2434946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81326" y="103615"/>
                </a:moveTo>
                <a:cubicBezTo>
                  <a:pt x="181326" y="60725"/>
                  <a:pt x="146505" y="25904"/>
                  <a:pt x="103615" y="25904"/>
                </a:cubicBezTo>
                <a:cubicBezTo>
                  <a:pt x="60725" y="25904"/>
                  <a:pt x="25904" y="60725"/>
                  <a:pt x="25904" y="103615"/>
                </a:cubicBezTo>
                <a:cubicBezTo>
                  <a:pt x="25904" y="146505"/>
                  <a:pt x="60725" y="181326"/>
                  <a:pt x="103615" y="181326"/>
                </a:cubicBezTo>
                <a:cubicBezTo>
                  <a:pt x="146505" y="181326"/>
                  <a:pt x="181326" y="146505"/>
                  <a:pt x="181326" y="103615"/>
                </a:cubicBezTo>
                <a:close/>
                <a:moveTo>
                  <a:pt x="0" y="103615"/>
                </a:moveTo>
                <a:cubicBezTo>
                  <a:pt x="0" y="46428"/>
                  <a:pt x="46428" y="0"/>
                  <a:pt x="103615" y="0"/>
                </a:cubicBezTo>
                <a:cubicBezTo>
                  <a:pt x="160801" y="0"/>
                  <a:pt x="207229" y="46428"/>
                  <a:pt x="207229" y="103615"/>
                </a:cubicBezTo>
                <a:cubicBezTo>
                  <a:pt x="207229" y="160801"/>
                  <a:pt x="160801" y="207229"/>
                  <a:pt x="103615" y="207229"/>
                </a:cubicBezTo>
                <a:cubicBezTo>
                  <a:pt x="46428" y="207229"/>
                  <a:pt x="0" y="160801"/>
                  <a:pt x="0" y="103615"/>
                </a:cubicBezTo>
                <a:close/>
                <a:moveTo>
                  <a:pt x="103615" y="135994"/>
                </a:moveTo>
                <a:cubicBezTo>
                  <a:pt x="121486" y="135994"/>
                  <a:pt x="135994" y="121486"/>
                  <a:pt x="135994" y="103615"/>
                </a:cubicBezTo>
                <a:cubicBezTo>
                  <a:pt x="135994" y="85744"/>
                  <a:pt x="121486" y="71235"/>
                  <a:pt x="103615" y="71235"/>
                </a:cubicBezTo>
                <a:cubicBezTo>
                  <a:pt x="85744" y="71235"/>
                  <a:pt x="71235" y="85744"/>
                  <a:pt x="71235" y="103615"/>
                </a:cubicBezTo>
                <a:cubicBezTo>
                  <a:pt x="71235" y="121486"/>
                  <a:pt x="85744" y="135994"/>
                  <a:pt x="103615" y="135994"/>
                </a:cubicBezTo>
                <a:close/>
                <a:moveTo>
                  <a:pt x="103615" y="45331"/>
                </a:moveTo>
                <a:cubicBezTo>
                  <a:pt x="135782" y="45331"/>
                  <a:pt x="161898" y="71447"/>
                  <a:pt x="161898" y="103615"/>
                </a:cubicBezTo>
                <a:cubicBezTo>
                  <a:pt x="161898" y="135782"/>
                  <a:pt x="135782" y="161898"/>
                  <a:pt x="103615" y="161898"/>
                </a:cubicBezTo>
                <a:cubicBezTo>
                  <a:pt x="71447" y="161898"/>
                  <a:pt x="45331" y="135782"/>
                  <a:pt x="45331" y="103615"/>
                </a:cubicBezTo>
                <a:cubicBezTo>
                  <a:pt x="45331" y="71447"/>
                  <a:pt x="71447" y="45331"/>
                  <a:pt x="103615" y="45331"/>
                </a:cubicBezTo>
                <a:close/>
                <a:moveTo>
                  <a:pt x="90663" y="103615"/>
                </a:moveTo>
                <a:cubicBezTo>
                  <a:pt x="90663" y="96466"/>
                  <a:pt x="96466" y="90663"/>
                  <a:pt x="103615" y="90663"/>
                </a:cubicBezTo>
                <a:cubicBezTo>
                  <a:pt x="110763" y="90663"/>
                  <a:pt x="116567" y="96466"/>
                  <a:pt x="116567" y="103615"/>
                </a:cubicBezTo>
                <a:cubicBezTo>
                  <a:pt x="116567" y="110763"/>
                  <a:pt x="110763" y="116567"/>
                  <a:pt x="103615" y="116567"/>
                </a:cubicBezTo>
                <a:cubicBezTo>
                  <a:pt x="96466" y="116567"/>
                  <a:pt x="90663" y="110763"/>
                  <a:pt x="90663" y="103615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0" name="Text 7"/>
          <p:cNvSpPr/>
          <p:nvPr/>
        </p:nvSpPr>
        <p:spPr>
          <a:xfrm>
            <a:off x="1079320" y="2400408"/>
            <a:ext cx="803014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Missiya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8516" y="2918482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0"/>
                </a:moveTo>
                <a:cubicBezTo>
                  <a:pt x="70318" y="0"/>
                  <a:pt x="71559" y="270"/>
                  <a:pt x="72692" y="783"/>
                </a:cubicBezTo>
                <a:lnTo>
                  <a:pt x="123528" y="22342"/>
                </a:lnTo>
                <a:cubicBezTo>
                  <a:pt x="129464" y="24851"/>
                  <a:pt x="133890" y="30707"/>
                  <a:pt x="133863" y="37776"/>
                </a:cubicBezTo>
                <a:cubicBezTo>
                  <a:pt x="133728" y="64543"/>
                  <a:pt x="122719" y="113517"/>
                  <a:pt x="76227" y="135778"/>
                </a:cubicBezTo>
                <a:cubicBezTo>
                  <a:pt x="71721" y="137937"/>
                  <a:pt x="66486" y="137937"/>
                  <a:pt x="61980" y="135778"/>
                </a:cubicBezTo>
                <a:cubicBezTo>
                  <a:pt x="15461" y="113517"/>
                  <a:pt x="4479" y="64543"/>
                  <a:pt x="4344" y="37776"/>
                </a:cubicBezTo>
                <a:cubicBezTo>
                  <a:pt x="4317" y="30707"/>
                  <a:pt x="8742" y="24851"/>
                  <a:pt x="14679" y="22342"/>
                </a:cubicBezTo>
                <a:lnTo>
                  <a:pt x="65488" y="783"/>
                </a:lnTo>
                <a:cubicBezTo>
                  <a:pt x="66621" y="270"/>
                  <a:pt x="67835" y="0"/>
                  <a:pt x="69076" y="0"/>
                </a:cubicBezTo>
                <a:close/>
                <a:moveTo>
                  <a:pt x="69076" y="18025"/>
                </a:moveTo>
                <a:lnTo>
                  <a:pt x="69076" y="120047"/>
                </a:lnTo>
                <a:cubicBezTo>
                  <a:pt x="106313" y="102023"/>
                  <a:pt x="116324" y="62088"/>
                  <a:pt x="116567" y="38181"/>
                </a:cubicBezTo>
                <a:lnTo>
                  <a:pt x="69076" y="18052"/>
                </a:lnTo>
                <a:lnTo>
                  <a:pt x="69076" y="18052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2" name="Text 9"/>
          <p:cNvSpPr/>
          <p:nvPr/>
        </p:nvSpPr>
        <p:spPr>
          <a:xfrm>
            <a:off x="837552" y="2883943"/>
            <a:ext cx="1890969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Moliyaviy tizimni himoya qilish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7150" y="3229326"/>
            <a:ext cx="120884" cy="138153"/>
          </a:xfrm>
          <a:custGeom>
            <a:avLst/>
            <a:gdLst/>
            <a:ahLst/>
            <a:cxnLst/>
            <a:rect l="l" t="t" r="r" b="b"/>
            <a:pathLst>
              <a:path w="120884" h="138153">
                <a:moveTo>
                  <a:pt x="91418" y="-2671"/>
                </a:moveTo>
                <a:cubicBezTo>
                  <a:pt x="94629" y="-351"/>
                  <a:pt x="95817" y="3859"/>
                  <a:pt x="94360" y="7528"/>
                </a:cubicBezTo>
                <a:lnTo>
                  <a:pt x="73205" y="60442"/>
                </a:lnTo>
                <a:lnTo>
                  <a:pt x="112249" y="60442"/>
                </a:lnTo>
                <a:cubicBezTo>
                  <a:pt x="115892" y="60442"/>
                  <a:pt x="119130" y="62708"/>
                  <a:pt x="120371" y="66135"/>
                </a:cubicBezTo>
                <a:cubicBezTo>
                  <a:pt x="121612" y="69562"/>
                  <a:pt x="120560" y="73394"/>
                  <a:pt x="117781" y="75714"/>
                </a:cubicBezTo>
                <a:lnTo>
                  <a:pt x="40070" y="140474"/>
                </a:lnTo>
                <a:cubicBezTo>
                  <a:pt x="37021" y="143010"/>
                  <a:pt x="32676" y="143145"/>
                  <a:pt x="29465" y="140824"/>
                </a:cubicBezTo>
                <a:cubicBezTo>
                  <a:pt x="26254" y="138504"/>
                  <a:pt x="25067" y="134294"/>
                  <a:pt x="26524" y="130625"/>
                </a:cubicBezTo>
                <a:lnTo>
                  <a:pt x="47679" y="77711"/>
                </a:lnTo>
                <a:lnTo>
                  <a:pt x="8635" y="77711"/>
                </a:lnTo>
                <a:cubicBezTo>
                  <a:pt x="4992" y="77711"/>
                  <a:pt x="1754" y="75444"/>
                  <a:pt x="513" y="72018"/>
                </a:cubicBezTo>
                <a:cubicBezTo>
                  <a:pt x="-729" y="68591"/>
                  <a:pt x="324" y="64759"/>
                  <a:pt x="3103" y="62439"/>
                </a:cubicBezTo>
                <a:lnTo>
                  <a:pt x="80814" y="-2321"/>
                </a:lnTo>
                <a:cubicBezTo>
                  <a:pt x="83863" y="-4857"/>
                  <a:pt x="88207" y="-4992"/>
                  <a:pt x="91418" y="-267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4" name="Text 11"/>
          <p:cNvSpPr/>
          <p:nvPr/>
        </p:nvSpPr>
        <p:spPr>
          <a:xfrm>
            <a:off x="837552" y="3194788"/>
            <a:ext cx="1942776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Tezroq bank xizmatlarini yoqish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61246" y="3540170"/>
            <a:ext cx="172691" cy="138153"/>
          </a:xfrm>
          <a:custGeom>
            <a:avLst/>
            <a:gdLst/>
            <a:ahLst/>
            <a:cxnLst/>
            <a:rect l="l" t="t" r="r" b="b"/>
            <a:pathLst>
              <a:path w="172691" h="138153">
                <a:moveTo>
                  <a:pt x="103615" y="8635"/>
                </a:moveTo>
                <a:lnTo>
                  <a:pt x="138153" y="8635"/>
                </a:lnTo>
                <a:cubicBezTo>
                  <a:pt x="142929" y="8635"/>
                  <a:pt x="146788" y="12493"/>
                  <a:pt x="146788" y="17269"/>
                </a:cubicBezTo>
                <a:cubicBezTo>
                  <a:pt x="146788" y="22045"/>
                  <a:pt x="142929" y="25904"/>
                  <a:pt x="138153" y="25904"/>
                </a:cubicBezTo>
                <a:lnTo>
                  <a:pt x="107500" y="25904"/>
                </a:lnTo>
                <a:cubicBezTo>
                  <a:pt x="106097" y="32865"/>
                  <a:pt x="101321" y="38613"/>
                  <a:pt x="94980" y="41365"/>
                </a:cubicBezTo>
                <a:lnTo>
                  <a:pt x="94980" y="120884"/>
                </a:lnTo>
                <a:lnTo>
                  <a:pt x="138153" y="120884"/>
                </a:lnTo>
                <a:cubicBezTo>
                  <a:pt x="142929" y="120884"/>
                  <a:pt x="146788" y="124742"/>
                  <a:pt x="146788" y="129518"/>
                </a:cubicBezTo>
                <a:cubicBezTo>
                  <a:pt x="146788" y="134294"/>
                  <a:pt x="142929" y="138153"/>
                  <a:pt x="138153" y="138153"/>
                </a:cubicBezTo>
                <a:lnTo>
                  <a:pt x="34538" y="138153"/>
                </a:lnTo>
                <a:cubicBezTo>
                  <a:pt x="29762" y="138153"/>
                  <a:pt x="25904" y="134294"/>
                  <a:pt x="25904" y="129518"/>
                </a:cubicBezTo>
                <a:cubicBezTo>
                  <a:pt x="25904" y="124742"/>
                  <a:pt x="29762" y="120884"/>
                  <a:pt x="34538" y="120884"/>
                </a:cubicBezTo>
                <a:lnTo>
                  <a:pt x="77711" y="120884"/>
                </a:lnTo>
                <a:lnTo>
                  <a:pt x="77711" y="41365"/>
                </a:lnTo>
                <a:cubicBezTo>
                  <a:pt x="71370" y="38586"/>
                  <a:pt x="66594" y="32838"/>
                  <a:pt x="65191" y="25904"/>
                </a:cubicBezTo>
                <a:lnTo>
                  <a:pt x="34538" y="25904"/>
                </a:lnTo>
                <a:cubicBezTo>
                  <a:pt x="29762" y="25904"/>
                  <a:pt x="25904" y="22045"/>
                  <a:pt x="25904" y="17269"/>
                </a:cubicBezTo>
                <a:cubicBezTo>
                  <a:pt x="25904" y="12493"/>
                  <a:pt x="29762" y="8635"/>
                  <a:pt x="34538" y="8635"/>
                </a:cubicBezTo>
                <a:lnTo>
                  <a:pt x="69076" y="8635"/>
                </a:lnTo>
                <a:cubicBezTo>
                  <a:pt x="73016" y="3400"/>
                  <a:pt x="79276" y="0"/>
                  <a:pt x="86346" y="0"/>
                </a:cubicBezTo>
                <a:cubicBezTo>
                  <a:pt x="93415" y="0"/>
                  <a:pt x="99675" y="3400"/>
                  <a:pt x="103615" y="8635"/>
                </a:cubicBezTo>
                <a:close/>
                <a:moveTo>
                  <a:pt x="118617" y="86346"/>
                </a:moveTo>
                <a:lnTo>
                  <a:pt x="157689" y="86346"/>
                </a:lnTo>
                <a:lnTo>
                  <a:pt x="138153" y="52833"/>
                </a:lnTo>
                <a:lnTo>
                  <a:pt x="118617" y="86346"/>
                </a:lnTo>
                <a:close/>
                <a:moveTo>
                  <a:pt x="138153" y="112249"/>
                </a:moveTo>
                <a:cubicBezTo>
                  <a:pt x="121181" y="112249"/>
                  <a:pt x="107069" y="103075"/>
                  <a:pt x="104154" y="90960"/>
                </a:cubicBezTo>
                <a:cubicBezTo>
                  <a:pt x="103453" y="87992"/>
                  <a:pt x="104424" y="84942"/>
                  <a:pt x="105962" y="82298"/>
                </a:cubicBezTo>
                <a:lnTo>
                  <a:pt x="131650" y="38262"/>
                </a:lnTo>
                <a:cubicBezTo>
                  <a:pt x="132999" y="35941"/>
                  <a:pt x="135482" y="34538"/>
                  <a:pt x="138153" y="34538"/>
                </a:cubicBezTo>
                <a:cubicBezTo>
                  <a:pt x="140824" y="34538"/>
                  <a:pt x="143307" y="35968"/>
                  <a:pt x="144656" y="38262"/>
                </a:cubicBezTo>
                <a:lnTo>
                  <a:pt x="170344" y="82298"/>
                </a:lnTo>
                <a:cubicBezTo>
                  <a:pt x="171882" y="84942"/>
                  <a:pt x="172853" y="87992"/>
                  <a:pt x="172152" y="90960"/>
                </a:cubicBezTo>
                <a:cubicBezTo>
                  <a:pt x="169237" y="103048"/>
                  <a:pt x="155125" y="112249"/>
                  <a:pt x="138153" y="112249"/>
                </a:cubicBezTo>
                <a:close/>
                <a:moveTo>
                  <a:pt x="34214" y="52833"/>
                </a:moveTo>
                <a:lnTo>
                  <a:pt x="14679" y="86346"/>
                </a:lnTo>
                <a:lnTo>
                  <a:pt x="53777" y="86346"/>
                </a:lnTo>
                <a:lnTo>
                  <a:pt x="34214" y="52833"/>
                </a:lnTo>
                <a:close/>
                <a:moveTo>
                  <a:pt x="243" y="90960"/>
                </a:moveTo>
                <a:cubicBezTo>
                  <a:pt x="-459" y="87992"/>
                  <a:pt x="513" y="84942"/>
                  <a:pt x="2051" y="82298"/>
                </a:cubicBezTo>
                <a:lnTo>
                  <a:pt x="27739" y="38262"/>
                </a:lnTo>
                <a:cubicBezTo>
                  <a:pt x="29088" y="35941"/>
                  <a:pt x="31570" y="34538"/>
                  <a:pt x="34241" y="34538"/>
                </a:cubicBezTo>
                <a:cubicBezTo>
                  <a:pt x="36913" y="34538"/>
                  <a:pt x="39395" y="35968"/>
                  <a:pt x="40744" y="38262"/>
                </a:cubicBezTo>
                <a:lnTo>
                  <a:pt x="66432" y="82298"/>
                </a:lnTo>
                <a:cubicBezTo>
                  <a:pt x="67970" y="84942"/>
                  <a:pt x="68942" y="87992"/>
                  <a:pt x="68240" y="90960"/>
                </a:cubicBezTo>
                <a:cubicBezTo>
                  <a:pt x="65326" y="103048"/>
                  <a:pt x="51214" y="112249"/>
                  <a:pt x="34241" y="112249"/>
                </a:cubicBezTo>
                <a:cubicBezTo>
                  <a:pt x="17269" y="112249"/>
                  <a:pt x="3157" y="103075"/>
                  <a:pt x="243" y="90960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16" name="Text 13"/>
          <p:cNvSpPr/>
          <p:nvPr/>
        </p:nvSpPr>
        <p:spPr>
          <a:xfrm>
            <a:off x="837552" y="3505632"/>
            <a:ext cx="2193178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Regulyativ compliance ni ta'minlash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01908" y="2119785"/>
            <a:ext cx="5638368" cy="1804623"/>
          </a:xfrm>
          <a:custGeom>
            <a:avLst/>
            <a:gdLst/>
            <a:ahLst/>
            <a:cxnLst/>
            <a:rect l="l" t="t" r="r" b="b"/>
            <a:pathLst>
              <a:path w="5638368" h="1804623">
                <a:moveTo>
                  <a:pt x="69081" y="0"/>
                </a:moveTo>
                <a:lnTo>
                  <a:pt x="5569287" y="0"/>
                </a:lnTo>
                <a:cubicBezTo>
                  <a:pt x="5607440" y="0"/>
                  <a:pt x="5638368" y="30929"/>
                  <a:pt x="5638368" y="69081"/>
                </a:cubicBezTo>
                <a:lnTo>
                  <a:pt x="5638368" y="1735542"/>
                </a:lnTo>
                <a:cubicBezTo>
                  <a:pt x="5638368" y="1773695"/>
                  <a:pt x="5607440" y="1804623"/>
                  <a:pt x="5569287" y="1804623"/>
                </a:cubicBezTo>
                <a:lnTo>
                  <a:pt x="69081" y="1804623"/>
                </a:lnTo>
                <a:cubicBezTo>
                  <a:pt x="30929" y="1804623"/>
                  <a:pt x="0" y="1773695"/>
                  <a:pt x="0" y="1735542"/>
                </a:cubicBezTo>
                <a:lnTo>
                  <a:pt x="0" y="69081"/>
                </a:lnTo>
                <a:cubicBezTo>
                  <a:pt x="0" y="30954"/>
                  <a:pt x="30954" y="0"/>
                  <a:pt x="6908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13455" y="2331331"/>
            <a:ext cx="414459" cy="414459"/>
          </a:xfrm>
          <a:custGeom>
            <a:avLst/>
            <a:gdLst/>
            <a:ahLst/>
            <a:cxnLst/>
            <a:rect l="l" t="t" r="r" b="b"/>
            <a:pathLst>
              <a:path w="414459" h="414459">
                <a:moveTo>
                  <a:pt x="69078" y="0"/>
                </a:moveTo>
                <a:lnTo>
                  <a:pt x="345381" y="0"/>
                </a:lnTo>
                <a:cubicBezTo>
                  <a:pt x="383532" y="0"/>
                  <a:pt x="414459" y="30927"/>
                  <a:pt x="414459" y="69078"/>
                </a:cubicBezTo>
                <a:lnTo>
                  <a:pt x="414459" y="345381"/>
                </a:lnTo>
                <a:cubicBezTo>
                  <a:pt x="414459" y="383532"/>
                  <a:pt x="383532" y="414459"/>
                  <a:pt x="345381" y="414459"/>
                </a:cubicBezTo>
                <a:lnTo>
                  <a:pt x="69078" y="414459"/>
                </a:lnTo>
                <a:cubicBezTo>
                  <a:pt x="30927" y="414459"/>
                  <a:pt x="0" y="383532"/>
                  <a:pt x="0" y="345381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504118" y="2434946"/>
            <a:ext cx="233133" cy="207229"/>
          </a:xfrm>
          <a:custGeom>
            <a:avLst/>
            <a:gdLst/>
            <a:ahLst/>
            <a:cxnLst/>
            <a:rect l="l" t="t" r="r" b="b"/>
            <a:pathLst>
              <a:path w="233133" h="207229">
                <a:moveTo>
                  <a:pt x="116567" y="12952"/>
                </a:moveTo>
                <a:cubicBezTo>
                  <a:pt x="83863" y="12952"/>
                  <a:pt x="57676" y="27846"/>
                  <a:pt x="38613" y="45574"/>
                </a:cubicBezTo>
                <a:cubicBezTo>
                  <a:pt x="19671" y="63181"/>
                  <a:pt x="7002" y="84187"/>
                  <a:pt x="971" y="98636"/>
                </a:cubicBezTo>
                <a:cubicBezTo>
                  <a:pt x="-364" y="101834"/>
                  <a:pt x="-364" y="105396"/>
                  <a:pt x="971" y="108593"/>
                </a:cubicBezTo>
                <a:cubicBezTo>
                  <a:pt x="7002" y="123042"/>
                  <a:pt x="19671" y="144089"/>
                  <a:pt x="38613" y="161655"/>
                </a:cubicBezTo>
                <a:cubicBezTo>
                  <a:pt x="57676" y="179343"/>
                  <a:pt x="83863" y="194278"/>
                  <a:pt x="116567" y="194278"/>
                </a:cubicBezTo>
                <a:cubicBezTo>
                  <a:pt x="149270" y="194278"/>
                  <a:pt x="175457" y="179383"/>
                  <a:pt x="194520" y="161655"/>
                </a:cubicBezTo>
                <a:cubicBezTo>
                  <a:pt x="213463" y="144049"/>
                  <a:pt x="226131" y="123042"/>
                  <a:pt x="232162" y="108593"/>
                </a:cubicBezTo>
                <a:cubicBezTo>
                  <a:pt x="233497" y="105396"/>
                  <a:pt x="233497" y="101834"/>
                  <a:pt x="232162" y="98636"/>
                </a:cubicBezTo>
                <a:cubicBezTo>
                  <a:pt x="226131" y="84187"/>
                  <a:pt x="213463" y="63140"/>
                  <a:pt x="194520" y="45574"/>
                </a:cubicBezTo>
                <a:cubicBezTo>
                  <a:pt x="175457" y="27887"/>
                  <a:pt x="149270" y="12952"/>
                  <a:pt x="116567" y="12952"/>
                </a:cubicBezTo>
                <a:close/>
                <a:moveTo>
                  <a:pt x="58283" y="103615"/>
                </a:moveTo>
                <a:cubicBezTo>
                  <a:pt x="58283" y="71447"/>
                  <a:pt x="84399" y="45331"/>
                  <a:pt x="116567" y="45331"/>
                </a:cubicBezTo>
                <a:cubicBezTo>
                  <a:pt x="148734" y="45331"/>
                  <a:pt x="174850" y="71447"/>
                  <a:pt x="174850" y="103615"/>
                </a:cubicBezTo>
                <a:cubicBezTo>
                  <a:pt x="174850" y="135782"/>
                  <a:pt x="148734" y="161898"/>
                  <a:pt x="116567" y="161898"/>
                </a:cubicBezTo>
                <a:cubicBezTo>
                  <a:pt x="84399" y="161898"/>
                  <a:pt x="58283" y="135782"/>
                  <a:pt x="58283" y="103615"/>
                </a:cubicBezTo>
                <a:close/>
                <a:moveTo>
                  <a:pt x="116567" y="77711"/>
                </a:moveTo>
                <a:cubicBezTo>
                  <a:pt x="116567" y="91999"/>
                  <a:pt x="104950" y="103615"/>
                  <a:pt x="90663" y="103615"/>
                </a:cubicBezTo>
                <a:cubicBezTo>
                  <a:pt x="86008" y="103615"/>
                  <a:pt x="81637" y="102400"/>
                  <a:pt x="77832" y="100215"/>
                </a:cubicBezTo>
                <a:cubicBezTo>
                  <a:pt x="77428" y="104627"/>
                  <a:pt x="77792" y="109160"/>
                  <a:pt x="79006" y="113652"/>
                </a:cubicBezTo>
                <a:cubicBezTo>
                  <a:pt x="84551" y="134375"/>
                  <a:pt x="105881" y="146680"/>
                  <a:pt x="126604" y="141135"/>
                </a:cubicBezTo>
                <a:cubicBezTo>
                  <a:pt x="147327" y="135590"/>
                  <a:pt x="159631" y="114260"/>
                  <a:pt x="154086" y="93537"/>
                </a:cubicBezTo>
                <a:cubicBezTo>
                  <a:pt x="149149" y="75040"/>
                  <a:pt x="131623" y="63262"/>
                  <a:pt x="113167" y="64881"/>
                </a:cubicBezTo>
                <a:cubicBezTo>
                  <a:pt x="115312" y="68645"/>
                  <a:pt x="116567" y="73016"/>
                  <a:pt x="116567" y="77711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0" name="Text 17"/>
          <p:cNvSpPr/>
          <p:nvPr/>
        </p:nvSpPr>
        <p:spPr>
          <a:xfrm>
            <a:off x="6931529" y="2400408"/>
            <a:ext cx="647592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Viziya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39359" y="2918482"/>
            <a:ext cx="120884" cy="138153"/>
          </a:xfrm>
          <a:custGeom>
            <a:avLst/>
            <a:gdLst/>
            <a:ahLst/>
            <a:cxnLst/>
            <a:rect l="l" t="t" r="r" b="b"/>
            <a:pathLst>
              <a:path w="120884" h="138153">
                <a:moveTo>
                  <a:pt x="17269" y="8635"/>
                </a:moveTo>
                <a:cubicBezTo>
                  <a:pt x="17269" y="3859"/>
                  <a:pt x="13411" y="0"/>
                  <a:pt x="8635" y="0"/>
                </a:cubicBezTo>
                <a:cubicBezTo>
                  <a:pt x="3859" y="0"/>
                  <a:pt x="0" y="3859"/>
                  <a:pt x="0" y="8635"/>
                </a:cubicBezTo>
                <a:lnTo>
                  <a:pt x="0" y="129518"/>
                </a:lnTo>
                <a:cubicBezTo>
                  <a:pt x="0" y="134294"/>
                  <a:pt x="3859" y="138153"/>
                  <a:pt x="8635" y="138153"/>
                </a:cubicBezTo>
                <a:cubicBezTo>
                  <a:pt x="13411" y="138153"/>
                  <a:pt x="17269" y="134294"/>
                  <a:pt x="17269" y="129518"/>
                </a:cubicBezTo>
                <a:lnTo>
                  <a:pt x="17269" y="96707"/>
                </a:lnTo>
                <a:lnTo>
                  <a:pt x="34187" y="91634"/>
                </a:lnTo>
                <a:cubicBezTo>
                  <a:pt x="45493" y="88234"/>
                  <a:pt x="57690" y="89287"/>
                  <a:pt x="68240" y="94575"/>
                </a:cubicBezTo>
                <a:cubicBezTo>
                  <a:pt x="79762" y="100350"/>
                  <a:pt x="93199" y="101051"/>
                  <a:pt x="105261" y="96518"/>
                </a:cubicBezTo>
                <a:lnTo>
                  <a:pt x="115271" y="92768"/>
                </a:lnTo>
                <a:cubicBezTo>
                  <a:pt x="118644" y="91499"/>
                  <a:pt x="120884" y="88288"/>
                  <a:pt x="120884" y="84673"/>
                </a:cubicBezTo>
                <a:lnTo>
                  <a:pt x="120884" y="17836"/>
                </a:lnTo>
                <a:cubicBezTo>
                  <a:pt x="120884" y="11630"/>
                  <a:pt x="114354" y="7582"/>
                  <a:pt x="108795" y="10361"/>
                </a:cubicBezTo>
                <a:lnTo>
                  <a:pt x="105611" y="11953"/>
                </a:lnTo>
                <a:cubicBezTo>
                  <a:pt x="93496" y="18025"/>
                  <a:pt x="79222" y="18025"/>
                  <a:pt x="67080" y="11953"/>
                </a:cubicBezTo>
                <a:cubicBezTo>
                  <a:pt x="57258" y="7043"/>
                  <a:pt x="45952" y="6071"/>
                  <a:pt x="35456" y="9228"/>
                </a:cubicBezTo>
                <a:lnTo>
                  <a:pt x="17269" y="14679"/>
                </a:lnTo>
                <a:lnTo>
                  <a:pt x="17269" y="8635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2" name="Text 19"/>
          <p:cNvSpPr/>
          <p:nvPr/>
        </p:nvSpPr>
        <p:spPr>
          <a:xfrm>
            <a:off x="6689761" y="2883943"/>
            <a:ext cx="2711252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Suveren moliyaviy infratuzilma texnologiyasi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30724" y="3229326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94953" y="75552"/>
                </a:moveTo>
                <a:lnTo>
                  <a:pt x="43443" y="75552"/>
                </a:lnTo>
                <a:cubicBezTo>
                  <a:pt x="44225" y="92956"/>
                  <a:pt x="48084" y="108984"/>
                  <a:pt x="53561" y="120722"/>
                </a:cubicBezTo>
                <a:cubicBezTo>
                  <a:pt x="56637" y="127333"/>
                  <a:pt x="59956" y="132001"/>
                  <a:pt x="63032" y="134861"/>
                </a:cubicBezTo>
                <a:cubicBezTo>
                  <a:pt x="66054" y="137694"/>
                  <a:pt x="68132" y="138153"/>
                  <a:pt x="69211" y="138153"/>
                </a:cubicBezTo>
                <a:cubicBezTo>
                  <a:pt x="70291" y="138153"/>
                  <a:pt x="72368" y="137694"/>
                  <a:pt x="75391" y="134861"/>
                </a:cubicBezTo>
                <a:cubicBezTo>
                  <a:pt x="78467" y="132001"/>
                  <a:pt x="81785" y="127306"/>
                  <a:pt x="84862" y="120722"/>
                </a:cubicBezTo>
                <a:cubicBezTo>
                  <a:pt x="90339" y="108984"/>
                  <a:pt x="94198" y="92956"/>
                  <a:pt x="94980" y="75552"/>
                </a:cubicBezTo>
                <a:close/>
                <a:moveTo>
                  <a:pt x="43416" y="62601"/>
                </a:moveTo>
                <a:lnTo>
                  <a:pt x="94926" y="62601"/>
                </a:lnTo>
                <a:cubicBezTo>
                  <a:pt x="94171" y="45197"/>
                  <a:pt x="90312" y="29169"/>
                  <a:pt x="84835" y="17431"/>
                </a:cubicBezTo>
                <a:cubicBezTo>
                  <a:pt x="81758" y="10847"/>
                  <a:pt x="78440" y="6152"/>
                  <a:pt x="75364" y="3292"/>
                </a:cubicBezTo>
                <a:cubicBezTo>
                  <a:pt x="72341" y="459"/>
                  <a:pt x="70264" y="0"/>
                  <a:pt x="69184" y="0"/>
                </a:cubicBezTo>
                <a:cubicBezTo>
                  <a:pt x="68105" y="0"/>
                  <a:pt x="66027" y="459"/>
                  <a:pt x="63005" y="3292"/>
                </a:cubicBezTo>
                <a:cubicBezTo>
                  <a:pt x="59929" y="6152"/>
                  <a:pt x="56610" y="10847"/>
                  <a:pt x="53534" y="17431"/>
                </a:cubicBezTo>
                <a:cubicBezTo>
                  <a:pt x="48057" y="29169"/>
                  <a:pt x="44198" y="45197"/>
                  <a:pt x="43416" y="62601"/>
                </a:cubicBezTo>
                <a:close/>
                <a:moveTo>
                  <a:pt x="30464" y="62601"/>
                </a:moveTo>
                <a:cubicBezTo>
                  <a:pt x="31408" y="39503"/>
                  <a:pt x="37371" y="18052"/>
                  <a:pt x="46087" y="3967"/>
                </a:cubicBezTo>
                <a:cubicBezTo>
                  <a:pt x="21236" y="12763"/>
                  <a:pt x="2941" y="35402"/>
                  <a:pt x="405" y="62601"/>
                </a:cubicBezTo>
                <a:lnTo>
                  <a:pt x="30464" y="62601"/>
                </a:lnTo>
                <a:close/>
                <a:moveTo>
                  <a:pt x="405" y="75552"/>
                </a:moveTo>
                <a:cubicBezTo>
                  <a:pt x="2941" y="102751"/>
                  <a:pt x="21236" y="125390"/>
                  <a:pt x="46087" y="134186"/>
                </a:cubicBezTo>
                <a:cubicBezTo>
                  <a:pt x="37371" y="120101"/>
                  <a:pt x="31408" y="98650"/>
                  <a:pt x="30464" y="75552"/>
                </a:cubicBezTo>
                <a:lnTo>
                  <a:pt x="405" y="75552"/>
                </a:lnTo>
                <a:close/>
                <a:moveTo>
                  <a:pt x="107905" y="75552"/>
                </a:moveTo>
                <a:cubicBezTo>
                  <a:pt x="106961" y="98650"/>
                  <a:pt x="100997" y="120101"/>
                  <a:pt x="92282" y="134186"/>
                </a:cubicBezTo>
                <a:cubicBezTo>
                  <a:pt x="117133" y="125363"/>
                  <a:pt x="135428" y="102751"/>
                  <a:pt x="137964" y="75552"/>
                </a:cubicBezTo>
                <a:lnTo>
                  <a:pt x="107905" y="75552"/>
                </a:lnTo>
                <a:close/>
                <a:moveTo>
                  <a:pt x="137964" y="62601"/>
                </a:moveTo>
                <a:cubicBezTo>
                  <a:pt x="135428" y="35402"/>
                  <a:pt x="117133" y="12763"/>
                  <a:pt x="92282" y="3967"/>
                </a:cubicBezTo>
                <a:cubicBezTo>
                  <a:pt x="100997" y="18052"/>
                  <a:pt x="106961" y="39503"/>
                  <a:pt x="107905" y="62601"/>
                </a:cubicBezTo>
                <a:lnTo>
                  <a:pt x="137964" y="62601"/>
                </a:ln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4" name="Text 21"/>
          <p:cNvSpPr/>
          <p:nvPr/>
        </p:nvSpPr>
        <p:spPr>
          <a:xfrm>
            <a:off x="6689761" y="3194788"/>
            <a:ext cx="2555830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Mintaqaviy moliyaviy texnologiya markazi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30724" y="3540170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34538" y="86346"/>
                </a:moveTo>
                <a:lnTo>
                  <a:pt x="6611" y="86346"/>
                </a:lnTo>
                <a:cubicBezTo>
                  <a:pt x="-108" y="86346"/>
                  <a:pt x="-4236" y="79033"/>
                  <a:pt x="-783" y="73259"/>
                </a:cubicBezTo>
                <a:lnTo>
                  <a:pt x="13492" y="49460"/>
                </a:lnTo>
                <a:cubicBezTo>
                  <a:pt x="15839" y="45547"/>
                  <a:pt x="20048" y="43173"/>
                  <a:pt x="24608" y="43173"/>
                </a:cubicBezTo>
                <a:lnTo>
                  <a:pt x="50242" y="43173"/>
                </a:lnTo>
                <a:cubicBezTo>
                  <a:pt x="70776" y="8392"/>
                  <a:pt x="101402" y="6638"/>
                  <a:pt x="121882" y="9633"/>
                </a:cubicBezTo>
                <a:cubicBezTo>
                  <a:pt x="125336" y="10146"/>
                  <a:pt x="128034" y="12844"/>
                  <a:pt x="128520" y="16271"/>
                </a:cubicBezTo>
                <a:cubicBezTo>
                  <a:pt x="131515" y="36751"/>
                  <a:pt x="129761" y="67377"/>
                  <a:pt x="94980" y="87911"/>
                </a:cubicBezTo>
                <a:lnTo>
                  <a:pt x="94980" y="113544"/>
                </a:lnTo>
                <a:cubicBezTo>
                  <a:pt x="94980" y="118105"/>
                  <a:pt x="92606" y="122314"/>
                  <a:pt x="88693" y="124661"/>
                </a:cubicBezTo>
                <a:lnTo>
                  <a:pt x="64894" y="138935"/>
                </a:lnTo>
                <a:cubicBezTo>
                  <a:pt x="59147" y="142389"/>
                  <a:pt x="51807" y="138234"/>
                  <a:pt x="51807" y="131542"/>
                </a:cubicBezTo>
                <a:lnTo>
                  <a:pt x="51807" y="103615"/>
                </a:lnTo>
                <a:cubicBezTo>
                  <a:pt x="51807" y="94090"/>
                  <a:pt x="44063" y="86346"/>
                  <a:pt x="34538" y="86346"/>
                </a:cubicBezTo>
                <a:lnTo>
                  <a:pt x="34511" y="86346"/>
                </a:lnTo>
                <a:close/>
                <a:moveTo>
                  <a:pt x="107932" y="43173"/>
                </a:moveTo>
                <a:cubicBezTo>
                  <a:pt x="107932" y="36024"/>
                  <a:pt x="102128" y="30221"/>
                  <a:pt x="94980" y="30221"/>
                </a:cubicBezTo>
                <a:cubicBezTo>
                  <a:pt x="87832" y="30221"/>
                  <a:pt x="82028" y="36024"/>
                  <a:pt x="82028" y="43173"/>
                </a:cubicBezTo>
                <a:cubicBezTo>
                  <a:pt x="82028" y="50321"/>
                  <a:pt x="87832" y="56125"/>
                  <a:pt x="94980" y="56125"/>
                </a:cubicBezTo>
                <a:cubicBezTo>
                  <a:pt x="102128" y="56125"/>
                  <a:pt x="107932" y="50321"/>
                  <a:pt x="107932" y="43173"/>
                </a:cubicBezTo>
                <a:close/>
              </a:path>
            </a:pathLst>
          </a:custGeom>
          <a:solidFill>
            <a:srgbClr val="60A5FA"/>
          </a:solidFill>
          <a:ln/>
        </p:spPr>
      </p:sp>
      <p:sp>
        <p:nvSpPr>
          <p:cNvPr id="26" name="Text 23"/>
          <p:cNvSpPr/>
          <p:nvPr/>
        </p:nvSpPr>
        <p:spPr>
          <a:xfrm>
            <a:off x="6689761" y="3505632"/>
            <a:ext cx="174418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O'zbekistonni yetakchi qilish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49700" y="4209348"/>
            <a:ext cx="11492601" cy="1839161"/>
          </a:xfrm>
          <a:custGeom>
            <a:avLst/>
            <a:gdLst/>
            <a:ahLst/>
            <a:cxnLst/>
            <a:rect l="l" t="t" r="r" b="b"/>
            <a:pathLst>
              <a:path w="11492601" h="1839161">
                <a:moveTo>
                  <a:pt x="69079" y="0"/>
                </a:moveTo>
                <a:lnTo>
                  <a:pt x="11423522" y="0"/>
                </a:lnTo>
                <a:cubicBezTo>
                  <a:pt x="11461673" y="0"/>
                  <a:pt x="11492601" y="30928"/>
                  <a:pt x="11492601" y="69079"/>
                </a:cubicBezTo>
                <a:lnTo>
                  <a:pt x="11492601" y="1770083"/>
                </a:lnTo>
                <a:cubicBezTo>
                  <a:pt x="11492601" y="1808234"/>
                  <a:pt x="11461673" y="1839161"/>
                  <a:pt x="11423522" y="1839161"/>
                </a:cubicBezTo>
                <a:lnTo>
                  <a:pt x="69079" y="1839161"/>
                </a:lnTo>
                <a:cubicBezTo>
                  <a:pt x="30928" y="1839161"/>
                  <a:pt x="0" y="1808234"/>
                  <a:pt x="0" y="1770083"/>
                </a:cubicBezTo>
                <a:lnTo>
                  <a:pt x="0" y="69079"/>
                </a:lnTo>
                <a:cubicBezTo>
                  <a:pt x="0" y="30928"/>
                  <a:pt x="30928" y="0"/>
                  <a:pt x="69079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>
                  <a:alpha val="20000"/>
                </a:srgbClr>
              </a:gs>
              <a:gs pos="100000">
                <a:srgbClr val="1E3A5F">
                  <a:alpha val="4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1246" y="4420895"/>
            <a:ext cx="11173122" cy="27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Keyingi Qadamlar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650820" y="4835354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69078" y="0"/>
                </a:moveTo>
                <a:lnTo>
                  <a:pt x="414458" y="0"/>
                </a:lnTo>
                <a:cubicBezTo>
                  <a:pt x="452608" y="0"/>
                  <a:pt x="483535" y="30927"/>
                  <a:pt x="483535" y="69078"/>
                </a:cubicBezTo>
                <a:lnTo>
                  <a:pt x="483535" y="414458"/>
                </a:lnTo>
                <a:cubicBezTo>
                  <a:pt x="483535" y="452608"/>
                  <a:pt x="452608" y="483535"/>
                  <a:pt x="414458" y="483535"/>
                </a:cubicBezTo>
                <a:lnTo>
                  <a:pt x="69078" y="483535"/>
                </a:lnTo>
                <a:cubicBezTo>
                  <a:pt x="30927" y="483535"/>
                  <a:pt x="0" y="452608"/>
                  <a:pt x="0" y="414458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822027" y="4956238"/>
            <a:ext cx="138153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26708" y="5387966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Bank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26708" y="5629734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Joylashtirish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51656" y="4835354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69078" y="0"/>
                </a:moveTo>
                <a:lnTo>
                  <a:pt x="414458" y="0"/>
                </a:lnTo>
                <a:cubicBezTo>
                  <a:pt x="452608" y="0"/>
                  <a:pt x="483535" y="30927"/>
                  <a:pt x="483535" y="69078"/>
                </a:cubicBezTo>
                <a:lnTo>
                  <a:pt x="483535" y="414458"/>
                </a:lnTo>
                <a:cubicBezTo>
                  <a:pt x="483535" y="452608"/>
                  <a:pt x="452608" y="483535"/>
                  <a:pt x="414458" y="483535"/>
                </a:cubicBezTo>
                <a:lnTo>
                  <a:pt x="69078" y="483535"/>
                </a:lnTo>
                <a:cubicBezTo>
                  <a:pt x="30927" y="483535"/>
                  <a:pt x="0" y="452608"/>
                  <a:pt x="0" y="414458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4606268" y="4956238"/>
            <a:ext cx="172691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327544" y="5387966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Strategik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327544" y="5629734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Investitsiya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252626" y="4835354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69078" y="0"/>
                </a:moveTo>
                <a:lnTo>
                  <a:pt x="414458" y="0"/>
                </a:lnTo>
                <a:cubicBezTo>
                  <a:pt x="452608" y="0"/>
                  <a:pt x="483535" y="30927"/>
                  <a:pt x="483535" y="69078"/>
                </a:cubicBezTo>
                <a:lnTo>
                  <a:pt x="483535" y="414458"/>
                </a:lnTo>
                <a:cubicBezTo>
                  <a:pt x="483535" y="452608"/>
                  <a:pt x="452608" y="483535"/>
                  <a:pt x="414458" y="483535"/>
                </a:cubicBezTo>
                <a:lnTo>
                  <a:pt x="69078" y="483535"/>
                </a:lnTo>
                <a:cubicBezTo>
                  <a:pt x="30927" y="483535"/>
                  <a:pt x="0" y="452608"/>
                  <a:pt x="0" y="414458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404945" y="4956238"/>
            <a:ext cx="181326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128515" y="5387966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Regulyativ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128515" y="5629734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Hamkorlik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0053597" y="4835354"/>
            <a:ext cx="483535" cy="483535"/>
          </a:xfrm>
          <a:custGeom>
            <a:avLst/>
            <a:gdLst/>
            <a:ahLst/>
            <a:cxnLst/>
            <a:rect l="l" t="t" r="r" b="b"/>
            <a:pathLst>
              <a:path w="483535" h="483535">
                <a:moveTo>
                  <a:pt x="69078" y="0"/>
                </a:moveTo>
                <a:lnTo>
                  <a:pt x="414458" y="0"/>
                </a:lnTo>
                <a:cubicBezTo>
                  <a:pt x="452608" y="0"/>
                  <a:pt x="483535" y="30927"/>
                  <a:pt x="483535" y="69078"/>
                </a:cubicBezTo>
                <a:lnTo>
                  <a:pt x="483535" y="414458"/>
                </a:lnTo>
                <a:cubicBezTo>
                  <a:pt x="483535" y="452608"/>
                  <a:pt x="452608" y="483535"/>
                  <a:pt x="414458" y="483535"/>
                </a:cubicBezTo>
                <a:lnTo>
                  <a:pt x="69078" y="483535"/>
                </a:lnTo>
                <a:cubicBezTo>
                  <a:pt x="30927" y="483535"/>
                  <a:pt x="0" y="452608"/>
                  <a:pt x="0" y="414458"/>
                </a:cubicBezTo>
                <a:lnTo>
                  <a:pt x="0" y="69078"/>
                </a:lnTo>
                <a:cubicBezTo>
                  <a:pt x="0" y="30927"/>
                  <a:pt x="30927" y="0"/>
                  <a:pt x="69078" y="0"/>
                </a:cubicBezTo>
                <a:close/>
              </a:path>
            </a:pathLst>
          </a:custGeom>
          <a:solidFill>
            <a:srgbClr val="60A5FA">
              <a:alpha val="2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10208210" y="4956238"/>
            <a:ext cx="172691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0" b="1" dirty="0">
                <a:solidFill>
                  <a:srgbClr val="60A5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929485" y="5387966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929485" y="5629734"/>
            <a:ext cx="2728521" cy="20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8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Rollout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45382" y="6057144"/>
            <a:ext cx="11501235" cy="8635"/>
          </a:xfrm>
          <a:custGeom>
            <a:avLst/>
            <a:gdLst/>
            <a:ahLst/>
            <a:cxnLst/>
            <a:rect l="l" t="t" r="r" b="b"/>
            <a:pathLst>
              <a:path w="11501235" h="8635">
                <a:moveTo>
                  <a:pt x="0" y="0"/>
                </a:moveTo>
                <a:lnTo>
                  <a:pt x="11501235" y="0"/>
                </a:lnTo>
                <a:lnTo>
                  <a:pt x="11501235" y="8635"/>
                </a:lnTo>
                <a:lnTo>
                  <a:pt x="0" y="863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345382" y="6268691"/>
            <a:ext cx="2780329" cy="31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0" b="1" dirty="0">
                <a:solidFill>
                  <a:srgbClr val="60A5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REVENANT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345382" y="6614074"/>
            <a:ext cx="2728521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Milliy Moliyaviy Infratuzilma Platformasi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0493555" y="6320499"/>
            <a:ext cx="1346992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24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Aloqa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0484920" y="6562266"/>
            <a:ext cx="1355626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6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info@revenant.uz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REVENANT v3.1.2 — Milliy Moliyaviy Infratuzilma Platformasi</dc:title>
  <dc:subject>REVENANT v3.1.2 — Milliy Moliyaviy Infratuzilma Platformasi</dc:subject>
  <dc:creator>Kimi</dc:creator>
  <cp:lastModifiedBy>Kimi</cp:lastModifiedBy>
  <cp:revision>1</cp:revision>
  <dcterms:created xsi:type="dcterms:W3CDTF">2026-03-05T04:06:12Z</dcterms:created>
  <dcterms:modified xsi:type="dcterms:W3CDTF">2026-03-05T04:06:12Z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{"Label":"REVENANT v3.1.2 — Milliy Moliyaviy Infratuzilma Platformasi","ContentProducer":"001191110108MACG2KBH8F10000","ProduceID":"19cbc27e-1972-8efd-8000-0000210c6e7e","ReservedCode1":"","ContentPropagator":"001191110108MACG2KBH8F20000","PropagateID":"19cbc27e-1972-8efd-8000-0000210c6e7e","ReservedCode2":""}</vt:lpwstr>
  </property>
</Properties>
</file>