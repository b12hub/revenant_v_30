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embeddedFontLst>
    <p:embeddedFont>
      <p:font typeface="Liter" charset="-122" pitchFamily="34"/>
      <p:regular r:id="rId25"/>
    </p:embeddedFont>
    <p:embeddedFont>
      <p:font typeface="Quattrocento Sans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238f7881d4abe9d9d1bb03912d16f3cf9a6a145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33929" b="339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A5A78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238250"/>
            <a:ext cx="5638800" cy="390525"/>
          </a:xfrm>
          <a:custGeom>
            <a:avLst/>
            <a:gdLst/>
            <a:ahLst/>
            <a:cxnLst/>
            <a:rect l="l" t="t" r="r" b="b"/>
            <a:pathLst>
              <a:path w="5638800" h="390525">
                <a:moveTo>
                  <a:pt x="0" y="0"/>
                </a:moveTo>
                <a:lnTo>
                  <a:pt x="5638800" y="0"/>
                </a:lnTo>
                <a:lnTo>
                  <a:pt x="5638800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328738"/>
            <a:ext cx="53252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6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NATIONAL-GRADE FINANCIAL INFRASTRUCTURE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43138"/>
            <a:ext cx="120967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0500" b="1" spc="-262" kern="0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48087"/>
            <a:ext cx="1524000" cy="28575"/>
          </a:xfrm>
          <a:custGeom>
            <a:avLst/>
            <a:gdLst/>
            <a:ahLst/>
            <a:cxnLst/>
            <a:rect l="l" t="t" r="r" b="b"/>
            <a:pathLst>
              <a:path w="1524000" h="28575">
                <a:moveTo>
                  <a:pt x="0" y="0"/>
                </a:moveTo>
                <a:lnTo>
                  <a:pt x="1524000" y="0"/>
                </a:lnTo>
                <a:lnTo>
                  <a:pt x="1524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81463"/>
            <a:ext cx="8705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E0E2E5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Pre-Authorization Deterministic Risk &amp; Security Infrastructure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091113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v3.1.2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4840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Investor Presentation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7597" y="624840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COMPANY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Introducing the Startup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95288" y="1543050"/>
            <a:ext cx="5586413" cy="1866900"/>
          </a:xfrm>
          <a:custGeom>
            <a:avLst/>
            <a:gdLst/>
            <a:ahLst/>
            <a:cxnLst/>
            <a:rect l="l" t="t" r="r" b="b"/>
            <a:pathLst>
              <a:path w="5586413" h="1866900">
                <a:moveTo>
                  <a:pt x="0" y="0"/>
                </a:moveTo>
                <a:lnTo>
                  <a:pt x="5586413" y="0"/>
                </a:lnTo>
                <a:lnTo>
                  <a:pt x="5586413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43050"/>
            <a:ext cx="28575" cy="1866900"/>
          </a:xfrm>
          <a:custGeom>
            <a:avLst/>
            <a:gdLst/>
            <a:ahLst/>
            <a:cxnLst/>
            <a:rect l="l" t="t" r="r" b="b"/>
            <a:pathLst>
              <a:path w="28575" h="1866900">
                <a:moveTo>
                  <a:pt x="0" y="0"/>
                </a:moveTo>
                <a:lnTo>
                  <a:pt x="28575" y="0"/>
                </a:lnTo>
                <a:lnTo>
                  <a:pt x="2857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7" name="Shape 5"/>
          <p:cNvSpPr/>
          <p:nvPr/>
        </p:nvSpPr>
        <p:spPr>
          <a:xfrm>
            <a:off x="657225" y="19145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8764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0075" y="2333625"/>
            <a:ext cx="5267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is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national-grade financial infrastructure company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a fintech product builder. We engineer the foundational layer that governs financial decisions before money moves.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288" y="3600450"/>
            <a:ext cx="5586413" cy="1866900"/>
          </a:xfrm>
          <a:custGeom>
            <a:avLst/>
            <a:gdLst/>
            <a:ahLst/>
            <a:cxnLst/>
            <a:rect l="l" t="t" r="r" b="b"/>
            <a:pathLst>
              <a:path w="5586413" h="1866900">
                <a:moveTo>
                  <a:pt x="0" y="0"/>
                </a:moveTo>
                <a:lnTo>
                  <a:pt x="5586413" y="0"/>
                </a:lnTo>
                <a:lnTo>
                  <a:pt x="5586413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95288" y="3600450"/>
            <a:ext cx="28575" cy="1866900"/>
          </a:xfrm>
          <a:custGeom>
            <a:avLst/>
            <a:gdLst/>
            <a:ahLst/>
            <a:cxnLst/>
            <a:rect l="l" t="t" r="r" b="b"/>
            <a:pathLst>
              <a:path w="28575" h="1866900">
                <a:moveTo>
                  <a:pt x="0" y="0"/>
                </a:moveTo>
                <a:lnTo>
                  <a:pt x="28575" y="0"/>
                </a:lnTo>
                <a:lnTo>
                  <a:pt x="2857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8650" y="3971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" y="3933825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We Exist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0075" y="4391025"/>
            <a:ext cx="5267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to address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void in banking architecture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the absence of a deterministic, pre-authorization risk layer that can operate at national scale with regulatory precision.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4588" y="1543050"/>
            <a:ext cx="5586413" cy="1866900"/>
          </a:xfrm>
          <a:custGeom>
            <a:avLst/>
            <a:gdLst/>
            <a:ahLst/>
            <a:cxnLst/>
            <a:rect l="l" t="t" r="r" b="b"/>
            <a:pathLst>
              <a:path w="5586413" h="1866900">
                <a:moveTo>
                  <a:pt x="0" y="0"/>
                </a:moveTo>
                <a:lnTo>
                  <a:pt x="5586413" y="0"/>
                </a:lnTo>
                <a:lnTo>
                  <a:pt x="5586413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4588" y="1543050"/>
            <a:ext cx="28575" cy="1866900"/>
          </a:xfrm>
          <a:custGeom>
            <a:avLst/>
            <a:gdLst/>
            <a:ahLst/>
            <a:cxnLst/>
            <a:rect l="l" t="t" r="r" b="b"/>
            <a:pathLst>
              <a:path w="28575" h="1866900">
                <a:moveTo>
                  <a:pt x="0" y="0"/>
                </a:moveTo>
                <a:lnTo>
                  <a:pt x="28575" y="0"/>
                </a:lnTo>
                <a:lnTo>
                  <a:pt x="2857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7950" y="1914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6867525" y="1876425"/>
            <a:ext cx="1609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Build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9375" y="2333625"/>
            <a:ext cx="5267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infrastructure layer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positioned between digital channels and core banking systems. We don't compete with banks—we strengthen their foundations.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4588" y="3600450"/>
            <a:ext cx="5586413" cy="1866900"/>
          </a:xfrm>
          <a:custGeom>
            <a:avLst/>
            <a:gdLst/>
            <a:ahLst/>
            <a:cxnLst/>
            <a:rect l="l" t="t" r="r" b="b"/>
            <a:pathLst>
              <a:path w="5586413" h="1866900">
                <a:moveTo>
                  <a:pt x="0" y="0"/>
                </a:moveTo>
                <a:lnTo>
                  <a:pt x="5586413" y="0"/>
                </a:lnTo>
                <a:lnTo>
                  <a:pt x="5586413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24588" y="3600450"/>
            <a:ext cx="28575" cy="1866900"/>
          </a:xfrm>
          <a:custGeom>
            <a:avLst/>
            <a:gdLst/>
            <a:ahLst/>
            <a:cxnLst/>
            <a:rect l="l" t="t" r="r" b="b"/>
            <a:pathLst>
              <a:path w="28575" h="1866900">
                <a:moveTo>
                  <a:pt x="0" y="0"/>
                </a:moveTo>
                <a:lnTo>
                  <a:pt x="28575" y="0"/>
                </a:lnTo>
                <a:lnTo>
                  <a:pt x="28575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2238" y="39719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28575" y="6385"/>
                  <a:pt x="22190" y="0"/>
                  <a:pt x="14288" y="0"/>
                </a:cubicBezTo>
                <a:cubicBezTo>
                  <a:pt x="6385" y="0"/>
                  <a:pt x="0" y="6385"/>
                  <a:pt x="0" y="1428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60020"/>
                </a:lnTo>
                <a:lnTo>
                  <a:pt x="56570" y="151626"/>
                </a:lnTo>
                <a:cubicBezTo>
                  <a:pt x="75277" y="146000"/>
                  <a:pt x="95458" y="147742"/>
                  <a:pt x="112916" y="156493"/>
                </a:cubicBezTo>
                <a:cubicBezTo>
                  <a:pt x="131981" y="166048"/>
                  <a:pt x="154216" y="167208"/>
                  <a:pt x="174174" y="159707"/>
                </a:cubicBezTo>
                <a:lnTo>
                  <a:pt x="190738" y="153501"/>
                </a:lnTo>
                <a:cubicBezTo>
                  <a:pt x="196319" y="151403"/>
                  <a:pt x="200025" y="146090"/>
                  <a:pt x="200025" y="140107"/>
                </a:cubicBezTo>
                <a:lnTo>
                  <a:pt x="200025" y="29513"/>
                </a:lnTo>
                <a:cubicBezTo>
                  <a:pt x="200025" y="19243"/>
                  <a:pt x="189220" y="12546"/>
                  <a:pt x="180023" y="17145"/>
                </a:cubicBezTo>
                <a:lnTo>
                  <a:pt x="174754" y="19779"/>
                </a:lnTo>
                <a:cubicBezTo>
                  <a:pt x="154707" y="29825"/>
                  <a:pt x="131088" y="29825"/>
                  <a:pt x="110996" y="19779"/>
                </a:cubicBezTo>
                <a:cubicBezTo>
                  <a:pt x="94744" y="11653"/>
                  <a:pt x="76036" y="10046"/>
                  <a:pt x="58668" y="15270"/>
                </a:cubicBezTo>
                <a:lnTo>
                  <a:pt x="28575" y="24289"/>
                </a:lnTo>
                <a:lnTo>
                  <a:pt x="28575" y="14288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3" name="Text 21"/>
          <p:cNvSpPr/>
          <p:nvPr/>
        </p:nvSpPr>
        <p:spPr>
          <a:xfrm>
            <a:off x="6867525" y="3933825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29375" y="4391025"/>
            <a:ext cx="5267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establish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sovereign financial infrastructure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Uzbekistan—technology that serves as the backbone of the nation's banking system, exportable to regional markets.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5662613"/>
            <a:ext cx="11420475" cy="809625"/>
          </a:xfrm>
          <a:custGeom>
            <a:avLst/>
            <a:gdLst/>
            <a:ahLst/>
            <a:cxnLst/>
            <a:rect l="l" t="t" r="r" b="b"/>
            <a:pathLst>
              <a:path w="11420475" h="809625">
                <a:moveTo>
                  <a:pt x="0" y="0"/>
                </a:moveTo>
                <a:lnTo>
                  <a:pt x="11420475" y="0"/>
                </a:lnTo>
                <a:lnTo>
                  <a:pt x="114204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0196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925" y="5819775"/>
            <a:ext cx="11182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Infrastructure, Not Application: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REVENANT is the rails, not the train. We provide the deterministic decision-making layer that enables banks to move faster while maintaining absolute regulatory compliance and systemic stability.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Problem in Modern Banking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57313"/>
            <a:ext cx="3676650" cy="4238625"/>
          </a:xfrm>
          <a:custGeom>
            <a:avLst/>
            <a:gdLst/>
            <a:ahLst/>
            <a:cxnLst/>
            <a:rect l="l" t="t" r="r" b="b"/>
            <a:pathLst>
              <a:path w="3676650" h="4238625">
                <a:moveTo>
                  <a:pt x="0" y="0"/>
                </a:moveTo>
                <a:lnTo>
                  <a:pt x="3676650" y="0"/>
                </a:lnTo>
                <a:lnTo>
                  <a:pt x="367665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14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7" name="Shape 5"/>
          <p:cNvSpPr/>
          <p:nvPr/>
        </p:nvSpPr>
        <p:spPr>
          <a:xfrm>
            <a:off x="660797" y="16192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8" name="Text 6"/>
          <p:cNvSpPr/>
          <p:nvPr/>
        </p:nvSpPr>
        <p:spPr>
          <a:xfrm>
            <a:off x="1038225" y="1571625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8638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0" name="Text 8"/>
          <p:cNvSpPr/>
          <p:nvPr/>
        </p:nvSpPr>
        <p:spPr>
          <a:xfrm>
            <a:off x="722858" y="2009775"/>
            <a:ext cx="3257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 Roots: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Core systems designed for overnight batches, not real-time decisions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8638" y="2543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2" name="Text 10"/>
          <p:cNvSpPr/>
          <p:nvPr/>
        </p:nvSpPr>
        <p:spPr>
          <a:xfrm>
            <a:off x="726728" y="2505075"/>
            <a:ext cx="32480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Authorization: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2–5 second transaction delays create customer friction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8638" y="3038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4" name="Text 12"/>
          <p:cNvSpPr/>
          <p:nvPr/>
        </p:nvSpPr>
        <p:spPr>
          <a:xfrm>
            <a:off x="722858" y="3000375"/>
            <a:ext cx="3257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Risk Engines: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disconnected systems create decision gaps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533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6" name="Text 14"/>
          <p:cNvSpPr/>
          <p:nvPr/>
        </p:nvSpPr>
        <p:spPr>
          <a:xfrm>
            <a:off x="730448" y="3495675"/>
            <a:ext cx="32480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Bolt-On Fraud Tools: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External solutions patched onto ABS create latency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8638" y="4029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724198" y="3990975"/>
            <a:ext cx="3257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Scattered Compliance: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Checks distributed across systems = audit nightmares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59163" y="1357313"/>
            <a:ext cx="3676650" cy="4238625"/>
          </a:xfrm>
          <a:custGeom>
            <a:avLst/>
            <a:gdLst/>
            <a:ahLst/>
            <a:cxnLst/>
            <a:rect l="l" t="t" r="r" b="b"/>
            <a:pathLst>
              <a:path w="3676650" h="4238625">
                <a:moveTo>
                  <a:pt x="0" y="0"/>
                </a:moveTo>
                <a:lnTo>
                  <a:pt x="3676650" y="0"/>
                </a:lnTo>
                <a:lnTo>
                  <a:pt x="367665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16326" y="1514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12766" y="16192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5043" y="32515"/>
                </a:moveTo>
                <a:lnTo>
                  <a:pt x="75043" y="49124"/>
                </a:lnTo>
                <a:lnTo>
                  <a:pt x="75210" y="49292"/>
                </a:lnTo>
                <a:cubicBezTo>
                  <a:pt x="77387" y="21699"/>
                  <a:pt x="100459" y="0"/>
                  <a:pt x="128621" y="0"/>
                </a:cubicBezTo>
                <a:cubicBezTo>
                  <a:pt x="135352" y="0"/>
                  <a:pt x="141815" y="1239"/>
                  <a:pt x="147742" y="3516"/>
                </a:cubicBezTo>
                <a:cubicBezTo>
                  <a:pt x="151090" y="4789"/>
                  <a:pt x="151693" y="9041"/>
                  <a:pt x="149182" y="11586"/>
                </a:cubicBezTo>
                <a:lnTo>
                  <a:pt x="119479" y="41289"/>
                </a:lnTo>
                <a:cubicBezTo>
                  <a:pt x="118475" y="42293"/>
                  <a:pt x="117905" y="43666"/>
                  <a:pt x="117905" y="45073"/>
                </a:cubicBezTo>
                <a:lnTo>
                  <a:pt x="117905" y="58936"/>
                </a:lnTo>
                <a:cubicBezTo>
                  <a:pt x="117905" y="61883"/>
                  <a:pt x="120316" y="64294"/>
                  <a:pt x="123263" y="64294"/>
                </a:cubicBezTo>
                <a:lnTo>
                  <a:pt x="137127" y="64294"/>
                </a:lnTo>
                <a:cubicBezTo>
                  <a:pt x="138533" y="64294"/>
                  <a:pt x="139906" y="63724"/>
                  <a:pt x="140910" y="62720"/>
                </a:cubicBezTo>
                <a:lnTo>
                  <a:pt x="170613" y="33018"/>
                </a:lnTo>
                <a:cubicBezTo>
                  <a:pt x="173158" y="30473"/>
                  <a:pt x="177411" y="31109"/>
                  <a:pt x="178683" y="34457"/>
                </a:cubicBezTo>
                <a:cubicBezTo>
                  <a:pt x="180960" y="40385"/>
                  <a:pt x="182199" y="46847"/>
                  <a:pt x="182199" y="53578"/>
                </a:cubicBezTo>
                <a:cubicBezTo>
                  <a:pt x="182199" y="73871"/>
                  <a:pt x="170914" y="91552"/>
                  <a:pt x="154238" y="100626"/>
                </a:cubicBezTo>
                <a:lnTo>
                  <a:pt x="181529" y="127918"/>
                </a:lnTo>
                <a:cubicBezTo>
                  <a:pt x="187791" y="134180"/>
                  <a:pt x="187791" y="144360"/>
                  <a:pt x="181529" y="150655"/>
                </a:cubicBezTo>
                <a:lnTo>
                  <a:pt x="161404" y="170780"/>
                </a:lnTo>
                <a:cubicBezTo>
                  <a:pt x="155142" y="177042"/>
                  <a:pt x="144962" y="177042"/>
                  <a:pt x="138667" y="170780"/>
                </a:cubicBezTo>
                <a:lnTo>
                  <a:pt x="96474" y="128588"/>
                </a:lnTo>
                <a:cubicBezTo>
                  <a:pt x="87299" y="119412"/>
                  <a:pt x="85223" y="105850"/>
                  <a:pt x="90279" y="94666"/>
                </a:cubicBezTo>
                <a:lnTo>
                  <a:pt x="59907" y="64294"/>
                </a:lnTo>
                <a:lnTo>
                  <a:pt x="43298" y="64294"/>
                </a:lnTo>
                <a:cubicBezTo>
                  <a:pt x="39715" y="64294"/>
                  <a:pt x="36366" y="62519"/>
                  <a:pt x="34390" y="59539"/>
                </a:cubicBezTo>
                <a:lnTo>
                  <a:pt x="7836" y="19723"/>
                </a:lnTo>
                <a:cubicBezTo>
                  <a:pt x="6429" y="17614"/>
                  <a:pt x="6697" y="14767"/>
                  <a:pt x="8506" y="12959"/>
                </a:cubicBezTo>
                <a:lnTo>
                  <a:pt x="23708" y="-2244"/>
                </a:lnTo>
                <a:cubicBezTo>
                  <a:pt x="25517" y="-4052"/>
                  <a:pt x="28329" y="-4320"/>
                  <a:pt x="30473" y="-2913"/>
                </a:cubicBezTo>
                <a:lnTo>
                  <a:pt x="70288" y="23608"/>
                </a:lnTo>
                <a:cubicBezTo>
                  <a:pt x="73268" y="25584"/>
                  <a:pt x="75043" y="28932"/>
                  <a:pt x="75043" y="32515"/>
                </a:cubicBezTo>
                <a:close/>
                <a:moveTo>
                  <a:pt x="72197" y="99320"/>
                </a:moveTo>
                <a:cubicBezTo>
                  <a:pt x="70087" y="111710"/>
                  <a:pt x="73000" y="124804"/>
                  <a:pt x="81037" y="135285"/>
                </a:cubicBezTo>
                <a:lnTo>
                  <a:pt x="49225" y="167063"/>
                </a:lnTo>
                <a:cubicBezTo>
                  <a:pt x="39815" y="176473"/>
                  <a:pt x="24545" y="176473"/>
                  <a:pt x="15136" y="167063"/>
                </a:cubicBezTo>
                <a:cubicBezTo>
                  <a:pt x="5726" y="157654"/>
                  <a:pt x="5726" y="142384"/>
                  <a:pt x="15136" y="132974"/>
                </a:cubicBezTo>
                <a:lnTo>
                  <a:pt x="60476" y="87634"/>
                </a:lnTo>
                <a:lnTo>
                  <a:pt x="72197" y="99354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2" name="Text 20"/>
          <p:cNvSpPr/>
          <p:nvPr/>
        </p:nvSpPr>
        <p:spPr>
          <a:xfrm>
            <a:off x="4911626" y="1571625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Pain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2038" y="204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96259" y="2009775"/>
            <a:ext cx="3257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Digital Transactions: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abandonment due to authorization delays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6801" y="25431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6" name="Text 24"/>
          <p:cNvSpPr/>
          <p:nvPr/>
        </p:nvSpPr>
        <p:spPr>
          <a:xfrm>
            <a:off x="4602510" y="2505075"/>
            <a:ext cx="32480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Manual Costs: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 verification required for complex transactions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2038" y="3038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8" name="Text 26"/>
          <p:cNvSpPr/>
          <p:nvPr/>
        </p:nvSpPr>
        <p:spPr>
          <a:xfrm>
            <a:off x="4596259" y="3000375"/>
            <a:ext cx="3257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 Onboarding Friction: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 complexity blocks business banking growth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2038" y="3533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0" name="Text 28"/>
          <p:cNvSpPr/>
          <p:nvPr/>
        </p:nvSpPr>
        <p:spPr>
          <a:xfrm>
            <a:off x="4596259" y="3495675"/>
            <a:ext cx="3257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Document Handling: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Invoices, contracts require manual data extraction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2713" y="1357313"/>
            <a:ext cx="3676650" cy="4238625"/>
          </a:xfrm>
          <a:custGeom>
            <a:avLst/>
            <a:gdLst/>
            <a:ahLst/>
            <a:cxnLst/>
            <a:rect l="l" t="t" r="r" b="b"/>
            <a:pathLst>
              <a:path w="3676650" h="4238625">
                <a:moveTo>
                  <a:pt x="0" y="0"/>
                </a:moveTo>
                <a:lnTo>
                  <a:pt x="3676650" y="0"/>
                </a:lnTo>
                <a:lnTo>
                  <a:pt x="367665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9875" y="1514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3" name="Shape 31"/>
          <p:cNvSpPr/>
          <p:nvPr/>
        </p:nvSpPr>
        <p:spPr>
          <a:xfrm>
            <a:off x="8397032" y="1619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8785175" y="1571625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Pressure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67254" y="20478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4172" y="39953"/>
                </a:moveTo>
                <a:lnTo>
                  <a:pt x="39302" y="35083"/>
                </a:lnTo>
                <a:cubicBezTo>
                  <a:pt x="36046" y="31827"/>
                  <a:pt x="36046" y="26540"/>
                  <a:pt x="39302" y="23284"/>
                </a:cubicBezTo>
                <a:lnTo>
                  <a:pt x="69175" y="-6615"/>
                </a:lnTo>
                <a:cubicBezTo>
                  <a:pt x="72431" y="-9871"/>
                  <a:pt x="77718" y="-9871"/>
                  <a:pt x="80974" y="-6615"/>
                </a:cubicBezTo>
                <a:lnTo>
                  <a:pt x="85844" y="-1719"/>
                </a:lnTo>
                <a:cubicBezTo>
                  <a:pt x="89100" y="1537"/>
                  <a:pt x="89100" y="6824"/>
                  <a:pt x="85844" y="10079"/>
                </a:cubicBezTo>
                <a:lnTo>
                  <a:pt x="55971" y="39953"/>
                </a:lnTo>
                <a:cubicBezTo>
                  <a:pt x="52715" y="43209"/>
                  <a:pt x="47428" y="43209"/>
                  <a:pt x="44172" y="39953"/>
                </a:cubicBezTo>
                <a:close/>
                <a:moveTo>
                  <a:pt x="71884" y="55137"/>
                </a:moveTo>
                <a:lnTo>
                  <a:pt x="63706" y="46959"/>
                </a:lnTo>
                <a:lnTo>
                  <a:pt x="92876" y="17789"/>
                </a:lnTo>
                <a:lnTo>
                  <a:pt x="123974" y="48886"/>
                </a:lnTo>
                <a:lnTo>
                  <a:pt x="94804" y="78057"/>
                </a:lnTo>
                <a:lnTo>
                  <a:pt x="86625" y="69879"/>
                </a:lnTo>
                <a:lnTo>
                  <a:pt x="26201" y="130303"/>
                </a:lnTo>
                <a:cubicBezTo>
                  <a:pt x="22138" y="134366"/>
                  <a:pt x="15549" y="134366"/>
                  <a:pt x="11460" y="130303"/>
                </a:cubicBezTo>
                <a:cubicBezTo>
                  <a:pt x="7371" y="126240"/>
                  <a:pt x="7397" y="119650"/>
                  <a:pt x="11460" y="115561"/>
                </a:cubicBezTo>
                <a:lnTo>
                  <a:pt x="71884" y="55137"/>
                </a:lnTo>
                <a:close/>
                <a:moveTo>
                  <a:pt x="101810" y="97564"/>
                </a:moveTo>
                <a:cubicBezTo>
                  <a:pt x="98554" y="94309"/>
                  <a:pt x="98554" y="89022"/>
                  <a:pt x="101810" y="85766"/>
                </a:cubicBezTo>
                <a:lnTo>
                  <a:pt x="131683" y="55892"/>
                </a:lnTo>
                <a:cubicBezTo>
                  <a:pt x="134939" y="52637"/>
                  <a:pt x="140226" y="52637"/>
                  <a:pt x="143481" y="55892"/>
                </a:cubicBezTo>
                <a:lnTo>
                  <a:pt x="148352" y="60763"/>
                </a:lnTo>
                <a:cubicBezTo>
                  <a:pt x="151607" y="64018"/>
                  <a:pt x="151607" y="69306"/>
                  <a:pt x="148352" y="72561"/>
                </a:cubicBezTo>
                <a:lnTo>
                  <a:pt x="118478" y="102461"/>
                </a:lnTo>
                <a:cubicBezTo>
                  <a:pt x="115223" y="105716"/>
                  <a:pt x="109936" y="105716"/>
                  <a:pt x="106680" y="102461"/>
                </a:cubicBezTo>
                <a:lnTo>
                  <a:pt x="101810" y="9759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6" name="Text 34"/>
          <p:cNvSpPr/>
          <p:nvPr/>
        </p:nvSpPr>
        <p:spPr>
          <a:xfrm>
            <a:off x="8474869" y="2009775"/>
            <a:ext cx="32480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 Oversight: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Regulators demand real-time visibility into decisions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72016" y="25431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4172" y="39953"/>
                </a:moveTo>
                <a:lnTo>
                  <a:pt x="39302" y="35083"/>
                </a:lnTo>
                <a:cubicBezTo>
                  <a:pt x="36046" y="31827"/>
                  <a:pt x="36046" y="26540"/>
                  <a:pt x="39302" y="23284"/>
                </a:cubicBezTo>
                <a:lnTo>
                  <a:pt x="69175" y="-6615"/>
                </a:lnTo>
                <a:cubicBezTo>
                  <a:pt x="72431" y="-9871"/>
                  <a:pt x="77718" y="-9871"/>
                  <a:pt x="80974" y="-6615"/>
                </a:cubicBezTo>
                <a:lnTo>
                  <a:pt x="85844" y="-1719"/>
                </a:lnTo>
                <a:cubicBezTo>
                  <a:pt x="89100" y="1537"/>
                  <a:pt x="89100" y="6824"/>
                  <a:pt x="85844" y="10079"/>
                </a:cubicBezTo>
                <a:lnTo>
                  <a:pt x="55971" y="39953"/>
                </a:lnTo>
                <a:cubicBezTo>
                  <a:pt x="52715" y="43209"/>
                  <a:pt x="47428" y="43209"/>
                  <a:pt x="44172" y="39953"/>
                </a:cubicBezTo>
                <a:close/>
                <a:moveTo>
                  <a:pt x="71884" y="55137"/>
                </a:moveTo>
                <a:lnTo>
                  <a:pt x="63706" y="46959"/>
                </a:lnTo>
                <a:lnTo>
                  <a:pt x="92876" y="17789"/>
                </a:lnTo>
                <a:lnTo>
                  <a:pt x="123974" y="48886"/>
                </a:lnTo>
                <a:lnTo>
                  <a:pt x="94804" y="78057"/>
                </a:lnTo>
                <a:lnTo>
                  <a:pt x="86625" y="69879"/>
                </a:lnTo>
                <a:lnTo>
                  <a:pt x="26201" y="130303"/>
                </a:lnTo>
                <a:cubicBezTo>
                  <a:pt x="22138" y="134366"/>
                  <a:pt x="15549" y="134366"/>
                  <a:pt x="11460" y="130303"/>
                </a:cubicBezTo>
                <a:cubicBezTo>
                  <a:pt x="7371" y="126240"/>
                  <a:pt x="7397" y="119650"/>
                  <a:pt x="11460" y="115561"/>
                </a:cubicBezTo>
                <a:lnTo>
                  <a:pt x="71884" y="55137"/>
                </a:lnTo>
                <a:close/>
                <a:moveTo>
                  <a:pt x="101810" y="97564"/>
                </a:moveTo>
                <a:cubicBezTo>
                  <a:pt x="98554" y="94309"/>
                  <a:pt x="98554" y="89022"/>
                  <a:pt x="101810" y="85766"/>
                </a:cubicBezTo>
                <a:lnTo>
                  <a:pt x="131683" y="55892"/>
                </a:lnTo>
                <a:cubicBezTo>
                  <a:pt x="134939" y="52637"/>
                  <a:pt x="140226" y="52637"/>
                  <a:pt x="143481" y="55892"/>
                </a:cubicBezTo>
                <a:lnTo>
                  <a:pt x="148352" y="60763"/>
                </a:lnTo>
                <a:cubicBezTo>
                  <a:pt x="151607" y="64018"/>
                  <a:pt x="151607" y="69306"/>
                  <a:pt x="148352" y="72561"/>
                </a:cubicBezTo>
                <a:lnTo>
                  <a:pt x="118478" y="102461"/>
                </a:lnTo>
                <a:cubicBezTo>
                  <a:pt x="115223" y="105716"/>
                  <a:pt x="109936" y="105716"/>
                  <a:pt x="106680" y="102461"/>
                </a:cubicBezTo>
                <a:lnTo>
                  <a:pt x="101810" y="9759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8" name="Text 36"/>
          <p:cNvSpPr/>
          <p:nvPr/>
        </p:nvSpPr>
        <p:spPr>
          <a:xfrm>
            <a:off x="8478887" y="2505075"/>
            <a:ext cx="32480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Residency: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Cross-border cloud solutions face compliance barriers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76779" y="30384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4172" y="39953"/>
                </a:moveTo>
                <a:lnTo>
                  <a:pt x="39302" y="35083"/>
                </a:lnTo>
                <a:cubicBezTo>
                  <a:pt x="36046" y="31827"/>
                  <a:pt x="36046" y="26540"/>
                  <a:pt x="39302" y="23284"/>
                </a:cubicBezTo>
                <a:lnTo>
                  <a:pt x="69175" y="-6615"/>
                </a:lnTo>
                <a:cubicBezTo>
                  <a:pt x="72431" y="-9871"/>
                  <a:pt x="77718" y="-9871"/>
                  <a:pt x="80974" y="-6615"/>
                </a:cubicBezTo>
                <a:lnTo>
                  <a:pt x="85844" y="-1719"/>
                </a:lnTo>
                <a:cubicBezTo>
                  <a:pt x="89100" y="1537"/>
                  <a:pt x="89100" y="6824"/>
                  <a:pt x="85844" y="10079"/>
                </a:cubicBezTo>
                <a:lnTo>
                  <a:pt x="55971" y="39953"/>
                </a:lnTo>
                <a:cubicBezTo>
                  <a:pt x="52715" y="43209"/>
                  <a:pt x="47428" y="43209"/>
                  <a:pt x="44172" y="39953"/>
                </a:cubicBezTo>
                <a:close/>
                <a:moveTo>
                  <a:pt x="71884" y="55137"/>
                </a:moveTo>
                <a:lnTo>
                  <a:pt x="63706" y="46959"/>
                </a:lnTo>
                <a:lnTo>
                  <a:pt x="92876" y="17789"/>
                </a:lnTo>
                <a:lnTo>
                  <a:pt x="123974" y="48886"/>
                </a:lnTo>
                <a:lnTo>
                  <a:pt x="94804" y="78057"/>
                </a:lnTo>
                <a:lnTo>
                  <a:pt x="86625" y="69879"/>
                </a:lnTo>
                <a:lnTo>
                  <a:pt x="26201" y="130303"/>
                </a:lnTo>
                <a:cubicBezTo>
                  <a:pt x="22138" y="134366"/>
                  <a:pt x="15549" y="134366"/>
                  <a:pt x="11460" y="130303"/>
                </a:cubicBezTo>
                <a:cubicBezTo>
                  <a:pt x="7371" y="126240"/>
                  <a:pt x="7397" y="119650"/>
                  <a:pt x="11460" y="115561"/>
                </a:cubicBezTo>
                <a:lnTo>
                  <a:pt x="71884" y="55137"/>
                </a:lnTo>
                <a:close/>
                <a:moveTo>
                  <a:pt x="101810" y="97564"/>
                </a:moveTo>
                <a:cubicBezTo>
                  <a:pt x="98554" y="94309"/>
                  <a:pt x="98554" y="89022"/>
                  <a:pt x="101810" y="85766"/>
                </a:cubicBezTo>
                <a:lnTo>
                  <a:pt x="131683" y="55892"/>
                </a:lnTo>
                <a:cubicBezTo>
                  <a:pt x="134939" y="52637"/>
                  <a:pt x="140226" y="52637"/>
                  <a:pt x="143481" y="55892"/>
                </a:cubicBezTo>
                <a:lnTo>
                  <a:pt x="148352" y="60763"/>
                </a:lnTo>
                <a:cubicBezTo>
                  <a:pt x="151607" y="64018"/>
                  <a:pt x="151607" y="69306"/>
                  <a:pt x="148352" y="72561"/>
                </a:cubicBezTo>
                <a:lnTo>
                  <a:pt x="118478" y="102461"/>
                </a:lnTo>
                <a:cubicBezTo>
                  <a:pt x="115223" y="105716"/>
                  <a:pt x="109936" y="105716"/>
                  <a:pt x="106680" y="102461"/>
                </a:cubicBezTo>
                <a:lnTo>
                  <a:pt x="101810" y="9759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0" name="Text 38"/>
          <p:cNvSpPr/>
          <p:nvPr/>
        </p:nvSpPr>
        <p:spPr>
          <a:xfrm>
            <a:off x="8487073" y="3000375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Audit: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Need for replayable, immutable decision trails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2016" y="35337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4172" y="39953"/>
                </a:moveTo>
                <a:lnTo>
                  <a:pt x="39302" y="35083"/>
                </a:lnTo>
                <a:cubicBezTo>
                  <a:pt x="36046" y="31827"/>
                  <a:pt x="36046" y="26540"/>
                  <a:pt x="39302" y="23284"/>
                </a:cubicBezTo>
                <a:lnTo>
                  <a:pt x="69175" y="-6615"/>
                </a:lnTo>
                <a:cubicBezTo>
                  <a:pt x="72431" y="-9871"/>
                  <a:pt x="77718" y="-9871"/>
                  <a:pt x="80974" y="-6615"/>
                </a:cubicBezTo>
                <a:lnTo>
                  <a:pt x="85844" y="-1719"/>
                </a:lnTo>
                <a:cubicBezTo>
                  <a:pt x="89100" y="1537"/>
                  <a:pt x="89100" y="6824"/>
                  <a:pt x="85844" y="10079"/>
                </a:cubicBezTo>
                <a:lnTo>
                  <a:pt x="55971" y="39953"/>
                </a:lnTo>
                <a:cubicBezTo>
                  <a:pt x="52715" y="43209"/>
                  <a:pt x="47428" y="43209"/>
                  <a:pt x="44172" y="39953"/>
                </a:cubicBezTo>
                <a:close/>
                <a:moveTo>
                  <a:pt x="71884" y="55137"/>
                </a:moveTo>
                <a:lnTo>
                  <a:pt x="63706" y="46959"/>
                </a:lnTo>
                <a:lnTo>
                  <a:pt x="92876" y="17789"/>
                </a:lnTo>
                <a:lnTo>
                  <a:pt x="123974" y="48886"/>
                </a:lnTo>
                <a:lnTo>
                  <a:pt x="94804" y="78057"/>
                </a:lnTo>
                <a:lnTo>
                  <a:pt x="86625" y="69879"/>
                </a:lnTo>
                <a:lnTo>
                  <a:pt x="26201" y="130303"/>
                </a:lnTo>
                <a:cubicBezTo>
                  <a:pt x="22138" y="134366"/>
                  <a:pt x="15549" y="134366"/>
                  <a:pt x="11460" y="130303"/>
                </a:cubicBezTo>
                <a:cubicBezTo>
                  <a:pt x="7371" y="126240"/>
                  <a:pt x="7397" y="119650"/>
                  <a:pt x="11460" y="115561"/>
                </a:cubicBezTo>
                <a:lnTo>
                  <a:pt x="71884" y="55137"/>
                </a:lnTo>
                <a:close/>
                <a:moveTo>
                  <a:pt x="101810" y="97564"/>
                </a:moveTo>
                <a:cubicBezTo>
                  <a:pt x="98554" y="94309"/>
                  <a:pt x="98554" y="89022"/>
                  <a:pt x="101810" y="85766"/>
                </a:cubicBezTo>
                <a:lnTo>
                  <a:pt x="131683" y="55892"/>
                </a:lnTo>
                <a:cubicBezTo>
                  <a:pt x="134939" y="52637"/>
                  <a:pt x="140226" y="52637"/>
                  <a:pt x="143481" y="55892"/>
                </a:cubicBezTo>
                <a:lnTo>
                  <a:pt x="148352" y="60763"/>
                </a:lnTo>
                <a:cubicBezTo>
                  <a:pt x="151607" y="64018"/>
                  <a:pt x="151607" y="69306"/>
                  <a:pt x="148352" y="72561"/>
                </a:cubicBezTo>
                <a:lnTo>
                  <a:pt x="118478" y="102461"/>
                </a:lnTo>
                <a:cubicBezTo>
                  <a:pt x="115223" y="105716"/>
                  <a:pt x="109936" y="105716"/>
                  <a:pt x="106680" y="102461"/>
                </a:cubicBezTo>
                <a:lnTo>
                  <a:pt x="101810" y="9759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2" name="Text 40"/>
          <p:cNvSpPr/>
          <p:nvPr/>
        </p:nvSpPr>
        <p:spPr>
          <a:xfrm>
            <a:off x="8483501" y="3495675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Systemic Risk: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 banks require exposure visibility across banks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5288" y="5753100"/>
            <a:ext cx="11415713" cy="723900"/>
          </a:xfrm>
          <a:custGeom>
            <a:avLst/>
            <a:gdLst/>
            <a:ahLst/>
            <a:cxnLst/>
            <a:rect l="l" t="t" r="r" b="b"/>
            <a:pathLst>
              <a:path w="11415713" h="723900">
                <a:moveTo>
                  <a:pt x="0" y="0"/>
                </a:moveTo>
                <a:lnTo>
                  <a:pt x="11415713" y="0"/>
                </a:lnTo>
                <a:lnTo>
                  <a:pt x="11415713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95288" y="5753100"/>
            <a:ext cx="28575" cy="723900"/>
          </a:xfrm>
          <a:custGeom>
            <a:avLst/>
            <a:gdLst/>
            <a:ahLst/>
            <a:cxnLst/>
            <a:rect l="l" t="t" r="r" b="b"/>
            <a:pathLst>
              <a:path w="28575" h="723900">
                <a:moveTo>
                  <a:pt x="0" y="0"/>
                </a:moveTo>
                <a:lnTo>
                  <a:pt x="28575" y="0"/>
                </a:lnTo>
                <a:lnTo>
                  <a:pt x="2857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5" name="Text 43"/>
          <p:cNvSpPr/>
          <p:nvPr/>
        </p:nvSpPr>
        <p:spPr>
          <a:xfrm>
            <a:off x="523875" y="5867400"/>
            <a:ext cx="11249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Critical Gap: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Banks are running 21st-century digital services on 20th-century batch infrastructure. The result: slow transactions, fragmented risk management, and regulatory exposure.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3516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198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11849"/>
            <a:ext cx="1163413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REVENANT Breakthrough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911" y="1079734"/>
            <a:ext cx="863787" cy="17996"/>
          </a:xfrm>
          <a:custGeom>
            <a:avLst/>
            <a:gdLst/>
            <a:ahLst/>
            <a:cxnLst/>
            <a:rect l="l" t="t" r="r" b="b"/>
            <a:pathLst>
              <a:path w="863787" h="17996">
                <a:moveTo>
                  <a:pt x="0" y="0"/>
                </a:moveTo>
                <a:lnTo>
                  <a:pt x="863787" y="0"/>
                </a:lnTo>
                <a:lnTo>
                  <a:pt x="863787" y="17996"/>
                </a:lnTo>
                <a:lnTo>
                  <a:pt x="0" y="1799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64410" y="1282185"/>
            <a:ext cx="5155731" cy="2978267"/>
          </a:xfrm>
          <a:custGeom>
            <a:avLst/>
            <a:gdLst/>
            <a:ahLst/>
            <a:cxnLst/>
            <a:rect l="l" t="t" r="r" b="b"/>
            <a:pathLst>
              <a:path w="5155731" h="2978267">
                <a:moveTo>
                  <a:pt x="0" y="0"/>
                </a:moveTo>
                <a:lnTo>
                  <a:pt x="5155731" y="0"/>
                </a:lnTo>
                <a:lnTo>
                  <a:pt x="5155731" y="2978267"/>
                </a:lnTo>
                <a:lnTo>
                  <a:pt x="0" y="2978267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865" y="1466639"/>
            <a:ext cx="4894796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Pre-Authorization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865" y="1898533"/>
            <a:ext cx="4858804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introduces a </a:t>
            </a:r>
            <a:pPr>
              <a:lnSpc>
                <a:spcPct val="140000"/>
              </a:lnSpc>
            </a:pPr>
            <a:r>
              <a:rPr lang="en-US" sz="1134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decision layer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governs all financial transactions before they reach core banking systems.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3364" y="2514881"/>
            <a:ext cx="4777824" cy="1556617"/>
          </a:xfrm>
          <a:custGeom>
            <a:avLst/>
            <a:gdLst/>
            <a:ahLst/>
            <a:cxnLst/>
            <a:rect l="l" t="t" r="r" b="b"/>
            <a:pathLst>
              <a:path w="4777824" h="1556617">
                <a:moveTo>
                  <a:pt x="0" y="0"/>
                </a:moveTo>
                <a:lnTo>
                  <a:pt x="4777824" y="0"/>
                </a:lnTo>
                <a:lnTo>
                  <a:pt x="4777824" y="1556617"/>
                </a:lnTo>
                <a:lnTo>
                  <a:pt x="0" y="155661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291" y="2735327"/>
            <a:ext cx="575858" cy="575858"/>
          </a:xfrm>
          <a:custGeom>
            <a:avLst/>
            <a:gdLst/>
            <a:ahLst/>
            <a:cxnLst/>
            <a:rect l="l" t="t" r="r" b="b"/>
            <a:pathLst>
              <a:path w="575858" h="575858">
                <a:moveTo>
                  <a:pt x="0" y="0"/>
                </a:moveTo>
                <a:lnTo>
                  <a:pt x="575858" y="0"/>
                </a:lnTo>
                <a:lnTo>
                  <a:pt x="57585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7240" y="2915283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6748" y="26993"/>
                </a:moveTo>
                <a:cubicBezTo>
                  <a:pt x="6748" y="12105"/>
                  <a:pt x="18853" y="0"/>
                  <a:pt x="33742" y="0"/>
                </a:cubicBezTo>
                <a:lnTo>
                  <a:pt x="128218" y="0"/>
                </a:lnTo>
                <a:cubicBezTo>
                  <a:pt x="143107" y="0"/>
                  <a:pt x="155212" y="12105"/>
                  <a:pt x="155212" y="26993"/>
                </a:cubicBezTo>
                <a:lnTo>
                  <a:pt x="155212" y="188954"/>
                </a:lnTo>
                <a:cubicBezTo>
                  <a:pt x="155212" y="203842"/>
                  <a:pt x="143107" y="215947"/>
                  <a:pt x="128218" y="215947"/>
                </a:cubicBezTo>
                <a:lnTo>
                  <a:pt x="33742" y="215947"/>
                </a:lnTo>
                <a:cubicBezTo>
                  <a:pt x="18853" y="215947"/>
                  <a:pt x="6748" y="203842"/>
                  <a:pt x="6748" y="188954"/>
                </a:cubicBezTo>
                <a:lnTo>
                  <a:pt x="6748" y="26993"/>
                </a:lnTo>
                <a:close/>
                <a:moveTo>
                  <a:pt x="33742" y="26993"/>
                </a:moveTo>
                <a:lnTo>
                  <a:pt x="33742" y="155212"/>
                </a:lnTo>
                <a:lnTo>
                  <a:pt x="128218" y="155212"/>
                </a:lnTo>
                <a:lnTo>
                  <a:pt x="128218" y="26993"/>
                </a:lnTo>
                <a:lnTo>
                  <a:pt x="33742" y="26993"/>
                </a:lnTo>
                <a:close/>
                <a:moveTo>
                  <a:pt x="80980" y="199076"/>
                </a:moveTo>
                <a:cubicBezTo>
                  <a:pt x="88445" y="199076"/>
                  <a:pt x="94477" y="193045"/>
                  <a:pt x="94477" y="185579"/>
                </a:cubicBezTo>
                <a:cubicBezTo>
                  <a:pt x="94477" y="178114"/>
                  <a:pt x="88445" y="172083"/>
                  <a:pt x="80980" y="172083"/>
                </a:cubicBezTo>
                <a:cubicBezTo>
                  <a:pt x="73515" y="172083"/>
                  <a:pt x="67483" y="178114"/>
                  <a:pt x="67483" y="185579"/>
                </a:cubicBezTo>
                <a:cubicBezTo>
                  <a:pt x="67483" y="193045"/>
                  <a:pt x="73515" y="199076"/>
                  <a:pt x="80980" y="199076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1" name="Text 9"/>
          <p:cNvSpPr/>
          <p:nvPr/>
        </p:nvSpPr>
        <p:spPr>
          <a:xfrm>
            <a:off x="670335" y="3383168"/>
            <a:ext cx="93577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Channels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09177" y="3041252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211982" y="117505"/>
                </a:moveTo>
                <a:cubicBezTo>
                  <a:pt x="217254" y="112233"/>
                  <a:pt x="217254" y="103671"/>
                  <a:pt x="211982" y="98399"/>
                </a:cubicBezTo>
                <a:lnTo>
                  <a:pt x="144499" y="30916"/>
                </a:lnTo>
                <a:cubicBezTo>
                  <a:pt x="139227" y="25644"/>
                  <a:pt x="130665" y="25644"/>
                  <a:pt x="125393" y="30916"/>
                </a:cubicBezTo>
                <a:cubicBezTo>
                  <a:pt x="120120" y="36188"/>
                  <a:pt x="120120" y="44750"/>
                  <a:pt x="125393" y="50022"/>
                </a:cubicBezTo>
                <a:lnTo>
                  <a:pt x="169847" y="94477"/>
                </a:lnTo>
                <a:lnTo>
                  <a:pt x="13497" y="94477"/>
                </a:lnTo>
                <a:cubicBezTo>
                  <a:pt x="6031" y="94477"/>
                  <a:pt x="0" y="100508"/>
                  <a:pt x="0" y="107973"/>
                </a:cubicBezTo>
                <a:cubicBezTo>
                  <a:pt x="0" y="115439"/>
                  <a:pt x="6031" y="121470"/>
                  <a:pt x="13497" y="121470"/>
                </a:cubicBezTo>
                <a:lnTo>
                  <a:pt x="169847" y="121470"/>
                </a:lnTo>
                <a:lnTo>
                  <a:pt x="125393" y="165925"/>
                </a:lnTo>
                <a:cubicBezTo>
                  <a:pt x="120120" y="171197"/>
                  <a:pt x="120120" y="179759"/>
                  <a:pt x="125393" y="185031"/>
                </a:cubicBezTo>
                <a:cubicBezTo>
                  <a:pt x="130665" y="190303"/>
                  <a:pt x="139227" y="190303"/>
                  <a:pt x="144499" y="185031"/>
                </a:cubicBezTo>
                <a:lnTo>
                  <a:pt x="211982" y="117548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9408" y="2663345"/>
            <a:ext cx="719823" cy="719823"/>
          </a:xfrm>
          <a:custGeom>
            <a:avLst/>
            <a:gdLst/>
            <a:ahLst/>
            <a:cxnLst/>
            <a:rect l="l" t="t" r="r" b="b"/>
            <a:pathLst>
              <a:path w="719823" h="719823">
                <a:moveTo>
                  <a:pt x="0" y="0"/>
                </a:moveTo>
                <a:lnTo>
                  <a:pt x="719823" y="0"/>
                </a:lnTo>
                <a:lnTo>
                  <a:pt x="719823" y="719823"/>
                </a:lnTo>
                <a:lnTo>
                  <a:pt x="0" y="719823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4" name="Text 12"/>
          <p:cNvSpPr/>
          <p:nvPr/>
        </p:nvSpPr>
        <p:spPr>
          <a:xfrm>
            <a:off x="2826711" y="2897287"/>
            <a:ext cx="38690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27916" y="3455150"/>
            <a:ext cx="78280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3655" y="3041252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211982" y="117505"/>
                </a:moveTo>
                <a:cubicBezTo>
                  <a:pt x="217254" y="112233"/>
                  <a:pt x="217254" y="103671"/>
                  <a:pt x="211982" y="98399"/>
                </a:cubicBezTo>
                <a:lnTo>
                  <a:pt x="144499" y="30916"/>
                </a:lnTo>
                <a:cubicBezTo>
                  <a:pt x="139227" y="25644"/>
                  <a:pt x="130665" y="25644"/>
                  <a:pt x="125393" y="30916"/>
                </a:cubicBezTo>
                <a:cubicBezTo>
                  <a:pt x="120120" y="36188"/>
                  <a:pt x="120120" y="44750"/>
                  <a:pt x="125393" y="50022"/>
                </a:cubicBezTo>
                <a:lnTo>
                  <a:pt x="169847" y="94477"/>
                </a:lnTo>
                <a:lnTo>
                  <a:pt x="13497" y="94477"/>
                </a:lnTo>
                <a:cubicBezTo>
                  <a:pt x="6031" y="94477"/>
                  <a:pt x="0" y="100508"/>
                  <a:pt x="0" y="107973"/>
                </a:cubicBezTo>
                <a:cubicBezTo>
                  <a:pt x="0" y="115439"/>
                  <a:pt x="6031" y="121470"/>
                  <a:pt x="13497" y="121470"/>
                </a:cubicBezTo>
                <a:lnTo>
                  <a:pt x="169847" y="121470"/>
                </a:lnTo>
                <a:lnTo>
                  <a:pt x="125393" y="165925"/>
                </a:lnTo>
                <a:cubicBezTo>
                  <a:pt x="120120" y="171197"/>
                  <a:pt x="120120" y="179759"/>
                  <a:pt x="125393" y="185031"/>
                </a:cubicBezTo>
                <a:cubicBezTo>
                  <a:pt x="130665" y="190303"/>
                  <a:pt x="139227" y="190303"/>
                  <a:pt x="144499" y="185031"/>
                </a:cubicBezTo>
                <a:lnTo>
                  <a:pt x="211982" y="117548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33478" y="2735327"/>
            <a:ext cx="575858" cy="575858"/>
          </a:xfrm>
          <a:custGeom>
            <a:avLst/>
            <a:gdLst/>
            <a:ahLst/>
            <a:cxnLst/>
            <a:rect l="l" t="t" r="r" b="b"/>
            <a:pathLst>
              <a:path w="575858" h="575858">
                <a:moveTo>
                  <a:pt x="0" y="0"/>
                </a:moveTo>
                <a:lnTo>
                  <a:pt x="575858" y="0"/>
                </a:lnTo>
                <a:lnTo>
                  <a:pt x="57585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8" name="Shape 16"/>
          <p:cNvSpPr/>
          <p:nvPr/>
        </p:nvSpPr>
        <p:spPr>
          <a:xfrm>
            <a:off x="4713434" y="2915283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14680" y="8520"/>
                </a:moveTo>
                <a:cubicBezTo>
                  <a:pt x="110546" y="6158"/>
                  <a:pt x="105443" y="6158"/>
                  <a:pt x="101267" y="8520"/>
                </a:cubicBezTo>
                <a:lnTo>
                  <a:pt x="6791" y="62506"/>
                </a:lnTo>
                <a:cubicBezTo>
                  <a:pt x="1476" y="65543"/>
                  <a:pt x="-1139" y="71785"/>
                  <a:pt x="422" y="77690"/>
                </a:cubicBezTo>
                <a:cubicBezTo>
                  <a:pt x="1982" y="83595"/>
                  <a:pt x="7381" y="87728"/>
                  <a:pt x="13497" y="87728"/>
                </a:cubicBezTo>
                <a:lnTo>
                  <a:pt x="26993" y="87728"/>
                </a:lnTo>
                <a:lnTo>
                  <a:pt x="26993" y="175457"/>
                </a:lnTo>
                <a:lnTo>
                  <a:pt x="26993" y="175457"/>
                </a:lnTo>
                <a:lnTo>
                  <a:pt x="5399" y="191653"/>
                </a:lnTo>
                <a:cubicBezTo>
                  <a:pt x="1982" y="194183"/>
                  <a:pt x="0" y="198190"/>
                  <a:pt x="0" y="202450"/>
                </a:cubicBezTo>
                <a:cubicBezTo>
                  <a:pt x="0" y="209916"/>
                  <a:pt x="6031" y="215947"/>
                  <a:pt x="13497" y="215947"/>
                </a:cubicBezTo>
                <a:lnTo>
                  <a:pt x="202450" y="215947"/>
                </a:lnTo>
                <a:cubicBezTo>
                  <a:pt x="209916" y="215947"/>
                  <a:pt x="215947" y="209916"/>
                  <a:pt x="215947" y="202450"/>
                </a:cubicBezTo>
                <a:cubicBezTo>
                  <a:pt x="215947" y="198190"/>
                  <a:pt x="213965" y="194183"/>
                  <a:pt x="210548" y="191653"/>
                </a:cubicBezTo>
                <a:lnTo>
                  <a:pt x="188954" y="175457"/>
                </a:lnTo>
                <a:lnTo>
                  <a:pt x="188954" y="87728"/>
                </a:lnTo>
                <a:lnTo>
                  <a:pt x="202450" y="87728"/>
                </a:lnTo>
                <a:cubicBezTo>
                  <a:pt x="208566" y="87728"/>
                  <a:pt x="213922" y="83595"/>
                  <a:pt x="215483" y="77690"/>
                </a:cubicBezTo>
                <a:cubicBezTo>
                  <a:pt x="217043" y="71785"/>
                  <a:pt x="214428" y="65543"/>
                  <a:pt x="209114" y="62506"/>
                </a:cubicBezTo>
                <a:lnTo>
                  <a:pt x="114637" y="8520"/>
                </a:lnTo>
                <a:close/>
                <a:moveTo>
                  <a:pt x="168708" y="87728"/>
                </a:moveTo>
                <a:lnTo>
                  <a:pt x="168708" y="175457"/>
                </a:lnTo>
                <a:lnTo>
                  <a:pt x="141715" y="175457"/>
                </a:lnTo>
                <a:lnTo>
                  <a:pt x="141715" y="87728"/>
                </a:lnTo>
                <a:lnTo>
                  <a:pt x="168708" y="87728"/>
                </a:lnTo>
                <a:close/>
                <a:moveTo>
                  <a:pt x="121470" y="87728"/>
                </a:moveTo>
                <a:lnTo>
                  <a:pt x="121470" y="175457"/>
                </a:lnTo>
                <a:lnTo>
                  <a:pt x="94477" y="175457"/>
                </a:lnTo>
                <a:lnTo>
                  <a:pt x="94477" y="87728"/>
                </a:lnTo>
                <a:lnTo>
                  <a:pt x="121470" y="87728"/>
                </a:lnTo>
                <a:close/>
                <a:moveTo>
                  <a:pt x="74232" y="87728"/>
                </a:moveTo>
                <a:lnTo>
                  <a:pt x="74232" y="175457"/>
                </a:lnTo>
                <a:lnTo>
                  <a:pt x="47238" y="175457"/>
                </a:lnTo>
                <a:lnTo>
                  <a:pt x="47238" y="87728"/>
                </a:lnTo>
                <a:lnTo>
                  <a:pt x="74232" y="87728"/>
                </a:lnTo>
                <a:close/>
                <a:moveTo>
                  <a:pt x="107973" y="40490"/>
                </a:moveTo>
                <a:cubicBezTo>
                  <a:pt x="115422" y="40490"/>
                  <a:pt x="121470" y="46538"/>
                  <a:pt x="121470" y="53987"/>
                </a:cubicBezTo>
                <a:cubicBezTo>
                  <a:pt x="121470" y="61436"/>
                  <a:pt x="115422" y="67483"/>
                  <a:pt x="107973" y="67483"/>
                </a:cubicBezTo>
                <a:cubicBezTo>
                  <a:pt x="100524" y="67483"/>
                  <a:pt x="94477" y="61436"/>
                  <a:pt x="94477" y="53987"/>
                </a:cubicBezTo>
                <a:cubicBezTo>
                  <a:pt x="94477" y="46538"/>
                  <a:pt x="100524" y="40490"/>
                  <a:pt x="107973" y="40490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9" name="Text 17"/>
          <p:cNvSpPr/>
          <p:nvPr/>
        </p:nvSpPr>
        <p:spPr>
          <a:xfrm>
            <a:off x="4432394" y="3383168"/>
            <a:ext cx="77381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Banking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0335" y="3743079"/>
            <a:ext cx="454388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transactions flow through REVENANT first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4410" y="4413414"/>
            <a:ext cx="5155731" cy="2438400"/>
          </a:xfrm>
          <a:custGeom>
            <a:avLst/>
            <a:gdLst/>
            <a:ahLst/>
            <a:cxnLst/>
            <a:rect l="l" t="t" r="r" b="b"/>
            <a:pathLst>
              <a:path w="5155731" h="2438400">
                <a:moveTo>
                  <a:pt x="0" y="0"/>
                </a:moveTo>
                <a:lnTo>
                  <a:pt x="5155731" y="0"/>
                </a:lnTo>
                <a:lnTo>
                  <a:pt x="5155731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874" y="5101745"/>
            <a:ext cx="493978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874" y="5461656"/>
            <a:ext cx="4930787" cy="70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governs financial decisions before money is posted.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shifts risk management from reactive to proactive, from post-hoc analysis to pre-transaction control.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05440" y="1282185"/>
            <a:ext cx="6118494" cy="5569630"/>
          </a:xfrm>
          <a:custGeom>
            <a:avLst/>
            <a:gdLst/>
            <a:ahLst/>
            <a:cxnLst/>
            <a:rect l="l" t="t" r="r" b="b"/>
            <a:pathLst>
              <a:path w="6118494" h="5569630">
                <a:moveTo>
                  <a:pt x="0" y="0"/>
                </a:moveTo>
                <a:lnTo>
                  <a:pt x="6118494" y="0"/>
                </a:lnTo>
                <a:lnTo>
                  <a:pt x="6118494" y="5569630"/>
                </a:lnTo>
                <a:lnTo>
                  <a:pt x="0" y="556963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89894" y="1466639"/>
            <a:ext cx="5857559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Architectural Properties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03391" y="1898533"/>
            <a:ext cx="5736089" cy="899779"/>
          </a:xfrm>
          <a:custGeom>
            <a:avLst/>
            <a:gdLst/>
            <a:ahLst/>
            <a:cxnLst/>
            <a:rect l="l" t="t" r="r" b="b"/>
            <a:pathLst>
              <a:path w="5736089" h="899779">
                <a:moveTo>
                  <a:pt x="0" y="0"/>
                </a:moveTo>
                <a:lnTo>
                  <a:pt x="5736089" y="0"/>
                </a:lnTo>
                <a:lnTo>
                  <a:pt x="5736089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03391" y="1898533"/>
            <a:ext cx="26993" cy="899779"/>
          </a:xfrm>
          <a:custGeom>
            <a:avLst/>
            <a:gdLst/>
            <a:ahLst/>
            <a:cxnLst/>
            <a:rect l="l" t="t" r="r" b="b"/>
            <a:pathLst>
              <a:path w="26993" h="899779">
                <a:moveTo>
                  <a:pt x="0" y="0"/>
                </a:moveTo>
                <a:lnTo>
                  <a:pt x="26993" y="0"/>
                </a:lnTo>
                <a:lnTo>
                  <a:pt x="26993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8" name="Shape 26"/>
          <p:cNvSpPr/>
          <p:nvPr/>
        </p:nvSpPr>
        <p:spPr>
          <a:xfrm>
            <a:off x="6024861" y="2006506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0" y="0"/>
                </a:moveTo>
                <a:lnTo>
                  <a:pt x="287929" y="0"/>
                </a:lnTo>
                <a:lnTo>
                  <a:pt x="287929" y="287929"/>
                </a:lnTo>
                <a:lnTo>
                  <a:pt x="0" y="28792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9" name="Text 27"/>
          <p:cNvSpPr/>
          <p:nvPr/>
        </p:nvSpPr>
        <p:spPr>
          <a:xfrm>
            <a:off x="6145910" y="2042497"/>
            <a:ext cx="116971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20764" y="2006506"/>
            <a:ext cx="519172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Decision Engine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0764" y="2294435"/>
            <a:ext cx="5182725" cy="39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inputs always produce same outputs. No randomness, no ambiguity—perfectly reproducible decisions.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03391" y="2906285"/>
            <a:ext cx="5736089" cy="899779"/>
          </a:xfrm>
          <a:custGeom>
            <a:avLst/>
            <a:gdLst/>
            <a:ahLst/>
            <a:cxnLst/>
            <a:rect l="l" t="t" r="r" b="b"/>
            <a:pathLst>
              <a:path w="5736089" h="899779">
                <a:moveTo>
                  <a:pt x="0" y="0"/>
                </a:moveTo>
                <a:lnTo>
                  <a:pt x="5736089" y="0"/>
                </a:lnTo>
                <a:lnTo>
                  <a:pt x="5736089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03391" y="2906285"/>
            <a:ext cx="26993" cy="899779"/>
          </a:xfrm>
          <a:custGeom>
            <a:avLst/>
            <a:gdLst/>
            <a:ahLst/>
            <a:cxnLst/>
            <a:rect l="l" t="t" r="r" b="b"/>
            <a:pathLst>
              <a:path w="26993" h="899779">
                <a:moveTo>
                  <a:pt x="0" y="0"/>
                </a:moveTo>
                <a:lnTo>
                  <a:pt x="26993" y="0"/>
                </a:lnTo>
                <a:lnTo>
                  <a:pt x="26993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4" name="Shape 32"/>
          <p:cNvSpPr/>
          <p:nvPr/>
        </p:nvSpPr>
        <p:spPr>
          <a:xfrm>
            <a:off x="6024861" y="3014258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0" y="0"/>
                </a:moveTo>
                <a:lnTo>
                  <a:pt x="287929" y="0"/>
                </a:lnTo>
                <a:lnTo>
                  <a:pt x="287929" y="287929"/>
                </a:lnTo>
                <a:lnTo>
                  <a:pt x="0" y="287929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5" name="Text 33"/>
          <p:cNvSpPr/>
          <p:nvPr/>
        </p:nvSpPr>
        <p:spPr>
          <a:xfrm>
            <a:off x="6132132" y="3050249"/>
            <a:ext cx="14396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20764" y="3014258"/>
            <a:ext cx="519172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 Rule Execution Order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20764" y="3302187"/>
            <a:ext cx="5182725" cy="39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execute in strict, defined sequence. Sanctions → AML → Risk → Compliance. No race conditions.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03391" y="3914037"/>
            <a:ext cx="5736089" cy="899779"/>
          </a:xfrm>
          <a:custGeom>
            <a:avLst/>
            <a:gdLst/>
            <a:ahLst/>
            <a:cxnLst/>
            <a:rect l="l" t="t" r="r" b="b"/>
            <a:pathLst>
              <a:path w="5736089" h="899779">
                <a:moveTo>
                  <a:pt x="0" y="0"/>
                </a:moveTo>
                <a:lnTo>
                  <a:pt x="5736089" y="0"/>
                </a:lnTo>
                <a:lnTo>
                  <a:pt x="5736089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03391" y="3914037"/>
            <a:ext cx="26993" cy="899779"/>
          </a:xfrm>
          <a:custGeom>
            <a:avLst/>
            <a:gdLst/>
            <a:ahLst/>
            <a:cxnLst/>
            <a:rect l="l" t="t" r="r" b="b"/>
            <a:pathLst>
              <a:path w="26993" h="899779">
                <a:moveTo>
                  <a:pt x="0" y="0"/>
                </a:moveTo>
                <a:lnTo>
                  <a:pt x="26993" y="0"/>
                </a:lnTo>
                <a:lnTo>
                  <a:pt x="26993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0" name="Shape 38"/>
          <p:cNvSpPr/>
          <p:nvPr/>
        </p:nvSpPr>
        <p:spPr>
          <a:xfrm>
            <a:off x="6024861" y="4022010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0" y="0"/>
                </a:moveTo>
                <a:lnTo>
                  <a:pt x="287929" y="0"/>
                </a:lnTo>
                <a:lnTo>
                  <a:pt x="287929" y="287929"/>
                </a:lnTo>
                <a:lnTo>
                  <a:pt x="0" y="287929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1" name="Text 39"/>
          <p:cNvSpPr/>
          <p:nvPr/>
        </p:nvSpPr>
        <p:spPr>
          <a:xfrm>
            <a:off x="6130304" y="4058001"/>
            <a:ext cx="15296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20764" y="4022010"/>
            <a:ext cx="519172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Replayable Transactions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0764" y="4309939"/>
            <a:ext cx="5182725" cy="39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decision can be replayed with identical results. Complete auditability for regulators and internal review.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03391" y="4921789"/>
            <a:ext cx="5736089" cy="899779"/>
          </a:xfrm>
          <a:custGeom>
            <a:avLst/>
            <a:gdLst/>
            <a:ahLst/>
            <a:cxnLst/>
            <a:rect l="l" t="t" r="r" b="b"/>
            <a:pathLst>
              <a:path w="5736089" h="899779">
                <a:moveTo>
                  <a:pt x="0" y="0"/>
                </a:moveTo>
                <a:lnTo>
                  <a:pt x="5736089" y="0"/>
                </a:lnTo>
                <a:lnTo>
                  <a:pt x="5736089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3391" y="4921789"/>
            <a:ext cx="26993" cy="899779"/>
          </a:xfrm>
          <a:custGeom>
            <a:avLst/>
            <a:gdLst/>
            <a:ahLst/>
            <a:cxnLst/>
            <a:rect l="l" t="t" r="r" b="b"/>
            <a:pathLst>
              <a:path w="26993" h="899779">
                <a:moveTo>
                  <a:pt x="0" y="0"/>
                </a:moveTo>
                <a:lnTo>
                  <a:pt x="26993" y="0"/>
                </a:lnTo>
                <a:lnTo>
                  <a:pt x="26993" y="899779"/>
                </a:lnTo>
                <a:lnTo>
                  <a:pt x="0" y="89977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6" name="Shape 44"/>
          <p:cNvSpPr/>
          <p:nvPr/>
        </p:nvSpPr>
        <p:spPr>
          <a:xfrm>
            <a:off x="6024861" y="5029762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0" y="0"/>
                </a:moveTo>
                <a:lnTo>
                  <a:pt x="287929" y="0"/>
                </a:lnTo>
                <a:lnTo>
                  <a:pt x="287929" y="287929"/>
                </a:lnTo>
                <a:lnTo>
                  <a:pt x="0" y="28792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7" name="Text 45"/>
          <p:cNvSpPr/>
          <p:nvPr/>
        </p:nvSpPr>
        <p:spPr>
          <a:xfrm>
            <a:off x="6132132" y="5065754"/>
            <a:ext cx="14396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20764" y="5029762"/>
            <a:ext cx="519172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Immutable Configuration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0764" y="5317692"/>
            <a:ext cx="5182725" cy="39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rule versions stored immutably. Know exactly which rules were active for any transaction at any time.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94393" y="5934040"/>
            <a:ext cx="5740587" cy="728821"/>
          </a:xfrm>
          <a:custGeom>
            <a:avLst/>
            <a:gdLst/>
            <a:ahLst/>
            <a:cxnLst/>
            <a:rect l="l" t="t" r="r" b="b"/>
            <a:pathLst>
              <a:path w="5740587" h="728821">
                <a:moveTo>
                  <a:pt x="0" y="0"/>
                </a:moveTo>
                <a:lnTo>
                  <a:pt x="5740587" y="0"/>
                </a:lnTo>
                <a:lnTo>
                  <a:pt x="5740587" y="728821"/>
                </a:lnTo>
                <a:lnTo>
                  <a:pt x="0" y="728821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47356" y="6190477"/>
            <a:ext cx="188954" cy="215947"/>
          </a:xfrm>
          <a:custGeom>
            <a:avLst/>
            <a:gdLst/>
            <a:ahLst/>
            <a:cxnLst/>
            <a:rect l="l" t="t" r="r" b="b"/>
            <a:pathLst>
              <a:path w="188954" h="215947">
                <a:moveTo>
                  <a:pt x="142896" y="-4176"/>
                </a:moveTo>
                <a:cubicBezTo>
                  <a:pt x="147915" y="-548"/>
                  <a:pt x="149771" y="6031"/>
                  <a:pt x="147493" y="11767"/>
                </a:cubicBezTo>
                <a:lnTo>
                  <a:pt x="114427" y="94477"/>
                </a:lnTo>
                <a:lnTo>
                  <a:pt x="175457" y="94477"/>
                </a:lnTo>
                <a:cubicBezTo>
                  <a:pt x="181151" y="94477"/>
                  <a:pt x="186212" y="98020"/>
                  <a:pt x="188152" y="103376"/>
                </a:cubicBezTo>
                <a:cubicBezTo>
                  <a:pt x="190092" y="108733"/>
                  <a:pt x="188447" y="114722"/>
                  <a:pt x="184103" y="118349"/>
                </a:cubicBezTo>
                <a:lnTo>
                  <a:pt x="62633" y="219574"/>
                </a:lnTo>
                <a:cubicBezTo>
                  <a:pt x="57867" y="223539"/>
                  <a:pt x="51076" y="223750"/>
                  <a:pt x="46057" y="220122"/>
                </a:cubicBezTo>
                <a:cubicBezTo>
                  <a:pt x="41038" y="216495"/>
                  <a:pt x="39183" y="209916"/>
                  <a:pt x="41460" y="204179"/>
                </a:cubicBezTo>
                <a:lnTo>
                  <a:pt x="74527" y="121470"/>
                </a:lnTo>
                <a:lnTo>
                  <a:pt x="13497" y="121470"/>
                </a:lnTo>
                <a:cubicBezTo>
                  <a:pt x="7803" y="121470"/>
                  <a:pt x="2742" y="117927"/>
                  <a:pt x="801" y="112571"/>
                </a:cubicBezTo>
                <a:cubicBezTo>
                  <a:pt x="-1139" y="107214"/>
                  <a:pt x="506" y="101225"/>
                  <a:pt x="4850" y="97598"/>
                </a:cubicBezTo>
                <a:lnTo>
                  <a:pt x="126320" y="-3627"/>
                </a:lnTo>
                <a:cubicBezTo>
                  <a:pt x="131086" y="-7592"/>
                  <a:pt x="137877" y="-7803"/>
                  <a:pt x="142896" y="-4176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2" name="Text 50"/>
          <p:cNvSpPr/>
          <p:nvPr/>
        </p:nvSpPr>
        <p:spPr>
          <a:xfrm>
            <a:off x="6384773" y="6046512"/>
            <a:ext cx="156561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Decision Speed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4773" y="6226468"/>
            <a:ext cx="1637597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473845" y="6082503"/>
            <a:ext cx="105274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2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Legacy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446851" y="6262459"/>
            <a:ext cx="107973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2-5 seconds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spc="199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1780" y="615027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Infrastructure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780" y="1085341"/>
            <a:ext cx="868273" cy="18089"/>
          </a:xfrm>
          <a:custGeom>
            <a:avLst/>
            <a:gdLst/>
            <a:ahLst/>
            <a:cxnLst/>
            <a:rect l="l" t="t" r="r" b="b"/>
            <a:pathLst>
              <a:path w="868273" h="18089">
                <a:moveTo>
                  <a:pt x="0" y="0"/>
                </a:moveTo>
                <a:lnTo>
                  <a:pt x="868273" y="0"/>
                </a:lnTo>
                <a:lnTo>
                  <a:pt x="868273" y="18089"/>
                </a:lnTo>
                <a:lnTo>
                  <a:pt x="0" y="1808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66303" y="1288843"/>
            <a:ext cx="4576522" cy="3663027"/>
          </a:xfrm>
          <a:custGeom>
            <a:avLst/>
            <a:gdLst/>
            <a:ahLst/>
            <a:cxnLst/>
            <a:rect l="l" t="t" r="r" b="b"/>
            <a:pathLst>
              <a:path w="4576522" h="3663027">
                <a:moveTo>
                  <a:pt x="0" y="0"/>
                </a:moveTo>
                <a:lnTo>
                  <a:pt x="4576522" y="0"/>
                </a:lnTo>
                <a:lnTo>
                  <a:pt x="4576522" y="3663027"/>
                </a:lnTo>
                <a:lnTo>
                  <a:pt x="0" y="3663027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1715" y="1474255"/>
            <a:ext cx="4314231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 / Rust Gateway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1715" y="1908392"/>
            <a:ext cx="4278053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REVENANT's ingress layer is built exclusively in </a:t>
            </a:r>
            <a:pPr>
              <a:lnSpc>
                <a:spcPct val="140000"/>
              </a:lnSpc>
            </a:pPr>
            <a:r>
              <a:rPr lang="en-US" sz="1139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 and Rust</a:t>
            </a:r>
            <a:pPr>
              <a:lnSpc>
                <a:spcPct val="140000"/>
              </a:lnSpc>
            </a:pPr>
            <a:r>
              <a:rPr lang="en-US" sz="113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—languages designed for systems-level performance with predictable latency.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6237" y="2763098"/>
            <a:ext cx="4196653" cy="1998837"/>
          </a:xfrm>
          <a:custGeom>
            <a:avLst/>
            <a:gdLst/>
            <a:ahLst/>
            <a:cxnLst/>
            <a:rect l="l" t="t" r="r" b="b"/>
            <a:pathLst>
              <a:path w="4196653" h="1998837">
                <a:moveTo>
                  <a:pt x="0" y="0"/>
                </a:moveTo>
                <a:lnTo>
                  <a:pt x="4196653" y="0"/>
                </a:lnTo>
                <a:lnTo>
                  <a:pt x="4196653" y="1998837"/>
                </a:lnTo>
                <a:lnTo>
                  <a:pt x="0" y="199883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083" y="2957555"/>
            <a:ext cx="162801" cy="162801"/>
          </a:xfrm>
          <a:custGeom>
            <a:avLst/>
            <a:gdLst/>
            <a:ahLst/>
            <a:cxnLst/>
            <a:rect l="l" t="t" r="r" b="b"/>
            <a:pathLst>
              <a:path w="162801" h="162801">
                <a:moveTo>
                  <a:pt x="116759" y="131163"/>
                </a:moveTo>
                <a:lnTo>
                  <a:pt x="31638" y="46042"/>
                </a:lnTo>
                <a:cubicBezTo>
                  <a:pt x="24516" y="56027"/>
                  <a:pt x="20350" y="68237"/>
                  <a:pt x="20350" y="81401"/>
                </a:cubicBezTo>
                <a:cubicBezTo>
                  <a:pt x="20350" y="115106"/>
                  <a:pt x="47696" y="142451"/>
                  <a:pt x="81401" y="142451"/>
                </a:cubicBezTo>
                <a:cubicBezTo>
                  <a:pt x="94596" y="142451"/>
                  <a:pt x="106806" y="138286"/>
                  <a:pt x="116759" y="131163"/>
                </a:cubicBezTo>
                <a:close/>
                <a:moveTo>
                  <a:pt x="131163" y="116759"/>
                </a:moveTo>
                <a:cubicBezTo>
                  <a:pt x="138286" y="106775"/>
                  <a:pt x="142451" y="94565"/>
                  <a:pt x="142451" y="81401"/>
                </a:cubicBezTo>
                <a:cubicBezTo>
                  <a:pt x="142451" y="47696"/>
                  <a:pt x="115106" y="20350"/>
                  <a:pt x="81401" y="20350"/>
                </a:cubicBezTo>
                <a:cubicBezTo>
                  <a:pt x="68205" y="20350"/>
                  <a:pt x="55995" y="24516"/>
                  <a:pt x="46042" y="31638"/>
                </a:cubicBezTo>
                <a:lnTo>
                  <a:pt x="131163" y="116759"/>
                </a:lnTo>
                <a:close/>
                <a:moveTo>
                  <a:pt x="0" y="81401"/>
                </a:moveTo>
                <a:cubicBezTo>
                  <a:pt x="0" y="36474"/>
                  <a:pt x="36474" y="0"/>
                  <a:pt x="81401" y="0"/>
                </a:cubicBezTo>
                <a:cubicBezTo>
                  <a:pt x="126327" y="0"/>
                  <a:pt x="162801" y="36474"/>
                  <a:pt x="162801" y="81401"/>
                </a:cubicBezTo>
                <a:cubicBezTo>
                  <a:pt x="162801" y="126327"/>
                  <a:pt x="126327" y="162801"/>
                  <a:pt x="81401" y="162801"/>
                </a:cubicBezTo>
                <a:cubicBezTo>
                  <a:pt x="36474" y="162801"/>
                  <a:pt x="0" y="126327"/>
                  <a:pt x="0" y="8140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0" name="Text 8"/>
          <p:cNvSpPr/>
          <p:nvPr/>
        </p:nvSpPr>
        <p:spPr>
          <a:xfrm>
            <a:off x="965025" y="2912332"/>
            <a:ext cx="3720031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Forbidden in Ingress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6777" y="3310291"/>
            <a:ext cx="94967" cy="126623"/>
          </a:xfrm>
          <a:custGeom>
            <a:avLst/>
            <a:gdLst/>
            <a:ahLst/>
            <a:cxnLst/>
            <a:rect l="l" t="t" r="r" b="b"/>
            <a:pathLst>
              <a:path w="94967" h="126623">
                <a:moveTo>
                  <a:pt x="13627" y="18153"/>
                </a:moveTo>
                <a:cubicBezTo>
                  <a:pt x="10535" y="15061"/>
                  <a:pt x="5515" y="15061"/>
                  <a:pt x="2424" y="18153"/>
                </a:cubicBezTo>
                <a:cubicBezTo>
                  <a:pt x="-668" y="21244"/>
                  <a:pt x="-668" y="26264"/>
                  <a:pt x="2424" y="29356"/>
                </a:cubicBezTo>
                <a:lnTo>
                  <a:pt x="36404" y="63312"/>
                </a:lnTo>
                <a:lnTo>
                  <a:pt x="2448" y="97292"/>
                </a:lnTo>
                <a:cubicBezTo>
                  <a:pt x="-643" y="100383"/>
                  <a:pt x="-643" y="105404"/>
                  <a:pt x="2448" y="108495"/>
                </a:cubicBezTo>
                <a:cubicBezTo>
                  <a:pt x="5540" y="111587"/>
                  <a:pt x="10560" y="111587"/>
                  <a:pt x="13652" y="108495"/>
                </a:cubicBezTo>
                <a:lnTo>
                  <a:pt x="47607" y="74515"/>
                </a:lnTo>
                <a:lnTo>
                  <a:pt x="81588" y="108471"/>
                </a:lnTo>
                <a:cubicBezTo>
                  <a:pt x="84679" y="111562"/>
                  <a:pt x="89700" y="111562"/>
                  <a:pt x="92791" y="108471"/>
                </a:cubicBezTo>
                <a:cubicBezTo>
                  <a:pt x="95882" y="105379"/>
                  <a:pt x="95882" y="100359"/>
                  <a:pt x="92791" y="97267"/>
                </a:cubicBezTo>
                <a:lnTo>
                  <a:pt x="58811" y="63312"/>
                </a:lnTo>
                <a:lnTo>
                  <a:pt x="92766" y="29331"/>
                </a:lnTo>
                <a:cubicBezTo>
                  <a:pt x="95858" y="26240"/>
                  <a:pt x="95858" y="21219"/>
                  <a:pt x="92766" y="18128"/>
                </a:cubicBezTo>
                <a:cubicBezTo>
                  <a:pt x="89675" y="15036"/>
                  <a:pt x="84654" y="15036"/>
                  <a:pt x="81563" y="18128"/>
                </a:cubicBezTo>
                <a:lnTo>
                  <a:pt x="47607" y="52108"/>
                </a:lnTo>
                <a:lnTo>
                  <a:pt x="13627" y="18153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537" y="3274113"/>
            <a:ext cx="3780605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GC Latency Spikes:</a:t>
            </a:r>
            <a:pPr>
              <a:lnSpc>
                <a:spcPct val="110000"/>
              </a:lnSpc>
            </a:pPr>
            <a:r>
              <a:rPr lang="en-US" sz="113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Python's garbage collector introduces unpredictable pauses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6777" y="3780605"/>
            <a:ext cx="94967" cy="126623"/>
          </a:xfrm>
          <a:custGeom>
            <a:avLst/>
            <a:gdLst/>
            <a:ahLst/>
            <a:cxnLst/>
            <a:rect l="l" t="t" r="r" b="b"/>
            <a:pathLst>
              <a:path w="94967" h="126623">
                <a:moveTo>
                  <a:pt x="13627" y="18153"/>
                </a:moveTo>
                <a:cubicBezTo>
                  <a:pt x="10535" y="15061"/>
                  <a:pt x="5515" y="15061"/>
                  <a:pt x="2424" y="18153"/>
                </a:cubicBezTo>
                <a:cubicBezTo>
                  <a:pt x="-668" y="21244"/>
                  <a:pt x="-668" y="26264"/>
                  <a:pt x="2424" y="29356"/>
                </a:cubicBezTo>
                <a:lnTo>
                  <a:pt x="36404" y="63312"/>
                </a:lnTo>
                <a:lnTo>
                  <a:pt x="2448" y="97292"/>
                </a:lnTo>
                <a:cubicBezTo>
                  <a:pt x="-643" y="100383"/>
                  <a:pt x="-643" y="105404"/>
                  <a:pt x="2448" y="108495"/>
                </a:cubicBezTo>
                <a:cubicBezTo>
                  <a:pt x="5540" y="111587"/>
                  <a:pt x="10560" y="111587"/>
                  <a:pt x="13652" y="108495"/>
                </a:cubicBezTo>
                <a:lnTo>
                  <a:pt x="47607" y="74515"/>
                </a:lnTo>
                <a:lnTo>
                  <a:pt x="81588" y="108471"/>
                </a:lnTo>
                <a:cubicBezTo>
                  <a:pt x="84679" y="111562"/>
                  <a:pt x="89700" y="111562"/>
                  <a:pt x="92791" y="108471"/>
                </a:cubicBezTo>
                <a:cubicBezTo>
                  <a:pt x="95882" y="105379"/>
                  <a:pt x="95882" y="100359"/>
                  <a:pt x="92791" y="97267"/>
                </a:cubicBezTo>
                <a:lnTo>
                  <a:pt x="58811" y="63312"/>
                </a:lnTo>
                <a:lnTo>
                  <a:pt x="92766" y="29331"/>
                </a:lnTo>
                <a:cubicBezTo>
                  <a:pt x="95858" y="26240"/>
                  <a:pt x="95858" y="21219"/>
                  <a:pt x="92766" y="18128"/>
                </a:cubicBezTo>
                <a:cubicBezTo>
                  <a:pt x="89675" y="15036"/>
                  <a:pt x="84654" y="15036"/>
                  <a:pt x="81563" y="18128"/>
                </a:cubicBezTo>
                <a:lnTo>
                  <a:pt x="47607" y="52108"/>
                </a:lnTo>
                <a:lnTo>
                  <a:pt x="13627" y="18153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4" name="Text 12"/>
          <p:cNvSpPr/>
          <p:nvPr/>
        </p:nvSpPr>
        <p:spPr>
          <a:xfrm>
            <a:off x="895407" y="3744427"/>
            <a:ext cx="3780605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Unpredictable Pauses:</a:t>
            </a:r>
            <a:pPr>
              <a:lnSpc>
                <a:spcPct val="110000"/>
              </a:lnSpc>
            </a:pPr>
            <a:r>
              <a:rPr lang="en-US" sz="113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Stop-the-world events violate banking SLA requirements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0344" y="4250920"/>
            <a:ext cx="94967" cy="126623"/>
          </a:xfrm>
          <a:custGeom>
            <a:avLst/>
            <a:gdLst/>
            <a:ahLst/>
            <a:cxnLst/>
            <a:rect l="l" t="t" r="r" b="b"/>
            <a:pathLst>
              <a:path w="94967" h="126623">
                <a:moveTo>
                  <a:pt x="13627" y="18153"/>
                </a:moveTo>
                <a:cubicBezTo>
                  <a:pt x="10535" y="15061"/>
                  <a:pt x="5515" y="15061"/>
                  <a:pt x="2424" y="18153"/>
                </a:cubicBezTo>
                <a:cubicBezTo>
                  <a:pt x="-668" y="21244"/>
                  <a:pt x="-668" y="26264"/>
                  <a:pt x="2424" y="29356"/>
                </a:cubicBezTo>
                <a:lnTo>
                  <a:pt x="36404" y="63312"/>
                </a:lnTo>
                <a:lnTo>
                  <a:pt x="2448" y="97292"/>
                </a:lnTo>
                <a:cubicBezTo>
                  <a:pt x="-643" y="100383"/>
                  <a:pt x="-643" y="105404"/>
                  <a:pt x="2448" y="108495"/>
                </a:cubicBezTo>
                <a:cubicBezTo>
                  <a:pt x="5540" y="111587"/>
                  <a:pt x="10560" y="111587"/>
                  <a:pt x="13652" y="108495"/>
                </a:cubicBezTo>
                <a:lnTo>
                  <a:pt x="47607" y="74515"/>
                </a:lnTo>
                <a:lnTo>
                  <a:pt x="81588" y="108471"/>
                </a:lnTo>
                <a:cubicBezTo>
                  <a:pt x="84679" y="111562"/>
                  <a:pt x="89700" y="111562"/>
                  <a:pt x="92791" y="108471"/>
                </a:cubicBezTo>
                <a:cubicBezTo>
                  <a:pt x="95882" y="105379"/>
                  <a:pt x="95882" y="100359"/>
                  <a:pt x="92791" y="97267"/>
                </a:cubicBezTo>
                <a:lnTo>
                  <a:pt x="58811" y="63312"/>
                </a:lnTo>
                <a:lnTo>
                  <a:pt x="92766" y="29331"/>
                </a:lnTo>
                <a:cubicBezTo>
                  <a:pt x="95858" y="26240"/>
                  <a:pt x="95858" y="21219"/>
                  <a:pt x="92766" y="18128"/>
                </a:cubicBezTo>
                <a:cubicBezTo>
                  <a:pt x="89675" y="15036"/>
                  <a:pt x="84654" y="15036"/>
                  <a:pt x="81563" y="18128"/>
                </a:cubicBezTo>
                <a:lnTo>
                  <a:pt x="47607" y="52108"/>
                </a:lnTo>
                <a:lnTo>
                  <a:pt x="13627" y="18153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6" name="Text 14"/>
          <p:cNvSpPr/>
          <p:nvPr/>
        </p:nvSpPr>
        <p:spPr>
          <a:xfrm>
            <a:off x="922823" y="4214742"/>
            <a:ext cx="3753472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SLA Violation:</a:t>
            </a:r>
            <a:pPr>
              <a:lnSpc>
                <a:spcPct val="110000"/>
              </a:lnSpc>
            </a:pPr>
            <a:r>
              <a:rPr lang="en-US" sz="113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Banking requires sub-5ms p99 latency guarantees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6303" y="5105626"/>
            <a:ext cx="4576522" cy="1745591"/>
          </a:xfrm>
          <a:custGeom>
            <a:avLst/>
            <a:gdLst/>
            <a:ahLst/>
            <a:cxnLst/>
            <a:rect l="l" t="t" r="r" b="b"/>
            <a:pathLst>
              <a:path w="4576522" h="1745591">
                <a:moveTo>
                  <a:pt x="0" y="0"/>
                </a:moveTo>
                <a:lnTo>
                  <a:pt x="4576522" y="0"/>
                </a:lnTo>
                <a:lnTo>
                  <a:pt x="4576522" y="1745591"/>
                </a:lnTo>
                <a:lnTo>
                  <a:pt x="0" y="1745591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537" y="5254861"/>
            <a:ext cx="435945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Go &amp; Rust?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626" y="5652819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783" y="5616641"/>
            <a:ext cx="1492344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Zero-cost abstractions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626" y="5942243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2" name="Text 20"/>
          <p:cNvSpPr/>
          <p:nvPr/>
        </p:nvSpPr>
        <p:spPr>
          <a:xfrm>
            <a:off x="768783" y="5906065"/>
            <a:ext cx="2197816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 memory management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626" y="6231668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4" name="Text 22"/>
          <p:cNvSpPr/>
          <p:nvPr/>
        </p:nvSpPr>
        <p:spPr>
          <a:xfrm>
            <a:off x="768783" y="6195490"/>
            <a:ext cx="190839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garbage collection pauses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626" y="6521092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783" y="6484914"/>
            <a:ext cx="132049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performance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32901" y="1288843"/>
            <a:ext cx="6692938" cy="3699205"/>
          </a:xfrm>
          <a:custGeom>
            <a:avLst/>
            <a:gdLst/>
            <a:ahLst/>
            <a:cxnLst/>
            <a:rect l="l" t="t" r="r" b="b"/>
            <a:pathLst>
              <a:path w="6692938" h="3699205">
                <a:moveTo>
                  <a:pt x="0" y="0"/>
                </a:moveTo>
                <a:lnTo>
                  <a:pt x="6692938" y="0"/>
                </a:lnTo>
                <a:lnTo>
                  <a:pt x="6692938" y="3699205"/>
                </a:lnTo>
                <a:lnTo>
                  <a:pt x="0" y="369920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18313" y="1474255"/>
            <a:ext cx="643064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Gateway Responsibilities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1880" y="1908392"/>
            <a:ext cx="3088700" cy="1392855"/>
          </a:xfrm>
          <a:custGeom>
            <a:avLst/>
            <a:gdLst/>
            <a:ahLst/>
            <a:cxnLst/>
            <a:rect l="l" t="t" r="r" b="b"/>
            <a:pathLst>
              <a:path w="3088700" h="1392855">
                <a:moveTo>
                  <a:pt x="0" y="0"/>
                </a:moveTo>
                <a:lnTo>
                  <a:pt x="3088700" y="0"/>
                </a:lnTo>
                <a:lnTo>
                  <a:pt x="3088700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31880" y="1908392"/>
            <a:ext cx="27134" cy="1392855"/>
          </a:xfrm>
          <a:custGeom>
            <a:avLst/>
            <a:gdLst/>
            <a:ahLst/>
            <a:cxnLst/>
            <a:rect l="l" t="t" r="r" b="b"/>
            <a:pathLst>
              <a:path w="27134" h="1392855">
                <a:moveTo>
                  <a:pt x="0" y="0"/>
                </a:moveTo>
                <a:lnTo>
                  <a:pt x="27134" y="0"/>
                </a:lnTo>
                <a:lnTo>
                  <a:pt x="27134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1" name="Shape 29"/>
          <p:cNvSpPr/>
          <p:nvPr/>
        </p:nvSpPr>
        <p:spPr>
          <a:xfrm>
            <a:off x="5512770" y="2288261"/>
            <a:ext cx="162801" cy="162801"/>
          </a:xfrm>
          <a:custGeom>
            <a:avLst/>
            <a:gdLst/>
            <a:ahLst/>
            <a:cxnLst/>
            <a:rect l="l" t="t" r="r" b="b"/>
            <a:pathLst>
              <a:path w="162801" h="162801">
                <a:moveTo>
                  <a:pt x="106838" y="111926"/>
                </a:moveTo>
                <a:cubicBezTo>
                  <a:pt x="137745" y="111926"/>
                  <a:pt x="162801" y="86870"/>
                  <a:pt x="162801" y="55963"/>
                </a:cubicBezTo>
                <a:cubicBezTo>
                  <a:pt x="162801" y="25056"/>
                  <a:pt x="137745" y="0"/>
                  <a:pt x="106838" y="0"/>
                </a:cubicBezTo>
                <a:cubicBezTo>
                  <a:pt x="75931" y="0"/>
                  <a:pt x="50875" y="25056"/>
                  <a:pt x="50875" y="55963"/>
                </a:cubicBezTo>
                <a:cubicBezTo>
                  <a:pt x="50875" y="61909"/>
                  <a:pt x="51797" y="67664"/>
                  <a:pt x="53515" y="73038"/>
                </a:cubicBezTo>
                <a:lnTo>
                  <a:pt x="2226" y="124327"/>
                </a:lnTo>
                <a:cubicBezTo>
                  <a:pt x="795" y="125758"/>
                  <a:pt x="0" y="127697"/>
                  <a:pt x="0" y="129732"/>
                </a:cubicBezTo>
                <a:lnTo>
                  <a:pt x="0" y="155170"/>
                </a:lnTo>
                <a:cubicBezTo>
                  <a:pt x="0" y="159399"/>
                  <a:pt x="3402" y="162801"/>
                  <a:pt x="7631" y="162801"/>
                </a:cubicBezTo>
                <a:lnTo>
                  <a:pt x="33069" y="162801"/>
                </a:lnTo>
                <a:cubicBezTo>
                  <a:pt x="37298" y="162801"/>
                  <a:pt x="40700" y="159399"/>
                  <a:pt x="40700" y="155170"/>
                </a:cubicBezTo>
                <a:lnTo>
                  <a:pt x="40700" y="142451"/>
                </a:lnTo>
                <a:lnTo>
                  <a:pt x="53419" y="142451"/>
                </a:lnTo>
                <a:cubicBezTo>
                  <a:pt x="57648" y="142451"/>
                  <a:pt x="61050" y="139049"/>
                  <a:pt x="61050" y="134820"/>
                </a:cubicBezTo>
                <a:lnTo>
                  <a:pt x="61050" y="122101"/>
                </a:lnTo>
                <a:lnTo>
                  <a:pt x="73769" y="122101"/>
                </a:lnTo>
                <a:cubicBezTo>
                  <a:pt x="75804" y="122101"/>
                  <a:pt x="77744" y="121306"/>
                  <a:pt x="79175" y="119875"/>
                </a:cubicBezTo>
                <a:lnTo>
                  <a:pt x="89763" y="109287"/>
                </a:lnTo>
                <a:cubicBezTo>
                  <a:pt x="95137" y="111004"/>
                  <a:pt x="100892" y="111926"/>
                  <a:pt x="106838" y="111926"/>
                </a:cubicBezTo>
                <a:close/>
                <a:moveTo>
                  <a:pt x="119557" y="30525"/>
                </a:moveTo>
                <a:cubicBezTo>
                  <a:pt x="126577" y="30525"/>
                  <a:pt x="132276" y="36224"/>
                  <a:pt x="132276" y="43244"/>
                </a:cubicBezTo>
                <a:cubicBezTo>
                  <a:pt x="132276" y="50264"/>
                  <a:pt x="126577" y="55963"/>
                  <a:pt x="119557" y="55963"/>
                </a:cubicBezTo>
                <a:cubicBezTo>
                  <a:pt x="112537" y="55963"/>
                  <a:pt x="106838" y="50264"/>
                  <a:pt x="106838" y="43244"/>
                </a:cubicBezTo>
                <a:cubicBezTo>
                  <a:pt x="106838" y="36224"/>
                  <a:pt x="112537" y="30525"/>
                  <a:pt x="119557" y="30525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2" name="Text 30"/>
          <p:cNvSpPr/>
          <p:nvPr/>
        </p:nvSpPr>
        <p:spPr>
          <a:xfrm>
            <a:off x="5766017" y="2243039"/>
            <a:ext cx="113960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90159" y="2568641"/>
            <a:ext cx="2858065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JWT, mTLS, API keys before request enters decision pipeline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45084" y="1908392"/>
            <a:ext cx="3088700" cy="1392855"/>
          </a:xfrm>
          <a:custGeom>
            <a:avLst/>
            <a:gdLst/>
            <a:ahLst/>
            <a:cxnLst/>
            <a:rect l="l" t="t" r="r" b="b"/>
            <a:pathLst>
              <a:path w="3088700" h="1392855">
                <a:moveTo>
                  <a:pt x="0" y="0"/>
                </a:moveTo>
                <a:lnTo>
                  <a:pt x="3088700" y="0"/>
                </a:lnTo>
                <a:lnTo>
                  <a:pt x="3088700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545084" y="1908392"/>
            <a:ext cx="27134" cy="1392855"/>
          </a:xfrm>
          <a:custGeom>
            <a:avLst/>
            <a:gdLst/>
            <a:ahLst/>
            <a:cxnLst/>
            <a:rect l="l" t="t" r="r" b="b"/>
            <a:pathLst>
              <a:path w="27134" h="1392855">
                <a:moveTo>
                  <a:pt x="0" y="0"/>
                </a:moveTo>
                <a:lnTo>
                  <a:pt x="27134" y="0"/>
                </a:lnTo>
                <a:lnTo>
                  <a:pt x="27134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6" name="Shape 34"/>
          <p:cNvSpPr/>
          <p:nvPr/>
        </p:nvSpPr>
        <p:spPr>
          <a:xfrm>
            <a:off x="8725974" y="2288261"/>
            <a:ext cx="162801" cy="162801"/>
          </a:xfrm>
          <a:custGeom>
            <a:avLst/>
            <a:gdLst/>
            <a:ahLst/>
            <a:cxnLst/>
            <a:rect l="l" t="t" r="r" b="b"/>
            <a:pathLst>
              <a:path w="162801" h="162801">
                <a:moveTo>
                  <a:pt x="162801" y="30525"/>
                </a:moveTo>
                <a:cubicBezTo>
                  <a:pt x="162801" y="46487"/>
                  <a:pt x="144009" y="70303"/>
                  <a:pt x="135901" y="79811"/>
                </a:cubicBezTo>
                <a:cubicBezTo>
                  <a:pt x="134693" y="81210"/>
                  <a:pt x="132912" y="81750"/>
                  <a:pt x="131290" y="81401"/>
                </a:cubicBezTo>
                <a:lnTo>
                  <a:pt x="101751" y="81401"/>
                </a:lnTo>
                <a:cubicBezTo>
                  <a:pt x="96123" y="81401"/>
                  <a:pt x="91576" y="85948"/>
                  <a:pt x="91576" y="91576"/>
                </a:cubicBezTo>
                <a:cubicBezTo>
                  <a:pt x="91576" y="97204"/>
                  <a:pt x="96123" y="101751"/>
                  <a:pt x="101751" y="101751"/>
                </a:cubicBezTo>
                <a:lnTo>
                  <a:pt x="132276" y="101751"/>
                </a:lnTo>
                <a:cubicBezTo>
                  <a:pt x="149128" y="101751"/>
                  <a:pt x="162801" y="115423"/>
                  <a:pt x="162801" y="132276"/>
                </a:cubicBezTo>
                <a:cubicBezTo>
                  <a:pt x="162801" y="149128"/>
                  <a:pt x="149128" y="162801"/>
                  <a:pt x="132276" y="162801"/>
                </a:cubicBezTo>
                <a:lnTo>
                  <a:pt x="44389" y="162801"/>
                </a:lnTo>
                <a:cubicBezTo>
                  <a:pt x="47155" y="159653"/>
                  <a:pt x="50526" y="155615"/>
                  <a:pt x="53928" y="151100"/>
                </a:cubicBezTo>
                <a:cubicBezTo>
                  <a:pt x="55931" y="148429"/>
                  <a:pt x="57998" y="145504"/>
                  <a:pt x="59969" y="142451"/>
                </a:cubicBezTo>
                <a:lnTo>
                  <a:pt x="132276" y="142451"/>
                </a:lnTo>
                <a:cubicBezTo>
                  <a:pt x="137904" y="142451"/>
                  <a:pt x="142451" y="137904"/>
                  <a:pt x="142451" y="132276"/>
                </a:cubicBezTo>
                <a:cubicBezTo>
                  <a:pt x="142451" y="126648"/>
                  <a:pt x="137904" y="122101"/>
                  <a:pt x="132276" y="122101"/>
                </a:cubicBezTo>
                <a:lnTo>
                  <a:pt x="101751" y="122101"/>
                </a:lnTo>
                <a:cubicBezTo>
                  <a:pt x="84898" y="122101"/>
                  <a:pt x="71226" y="108428"/>
                  <a:pt x="71226" y="91576"/>
                </a:cubicBezTo>
                <a:cubicBezTo>
                  <a:pt x="71226" y="74723"/>
                  <a:pt x="84898" y="61050"/>
                  <a:pt x="101751" y="61050"/>
                </a:cubicBezTo>
                <a:lnTo>
                  <a:pt x="114406" y="61050"/>
                </a:lnTo>
                <a:cubicBezTo>
                  <a:pt x="107729" y="51034"/>
                  <a:pt x="101751" y="39524"/>
                  <a:pt x="101751" y="30525"/>
                </a:cubicBezTo>
                <a:cubicBezTo>
                  <a:pt x="101751" y="13673"/>
                  <a:pt x="115423" y="0"/>
                  <a:pt x="132276" y="0"/>
                </a:cubicBezTo>
                <a:cubicBezTo>
                  <a:pt x="149128" y="0"/>
                  <a:pt x="162801" y="13673"/>
                  <a:pt x="162801" y="30525"/>
                </a:cubicBezTo>
                <a:close/>
                <a:moveTo>
                  <a:pt x="37234" y="155520"/>
                </a:moveTo>
                <a:cubicBezTo>
                  <a:pt x="36026" y="156887"/>
                  <a:pt x="34945" y="158095"/>
                  <a:pt x="34023" y="159113"/>
                </a:cubicBezTo>
                <a:lnTo>
                  <a:pt x="33451" y="159749"/>
                </a:lnTo>
                <a:lnTo>
                  <a:pt x="33387" y="159685"/>
                </a:lnTo>
                <a:cubicBezTo>
                  <a:pt x="31479" y="161148"/>
                  <a:pt x="28745" y="160957"/>
                  <a:pt x="27028" y="159113"/>
                </a:cubicBezTo>
                <a:cubicBezTo>
                  <a:pt x="19015" y="150400"/>
                  <a:pt x="0" y="127983"/>
                  <a:pt x="0" y="111926"/>
                </a:cubicBezTo>
                <a:cubicBezTo>
                  <a:pt x="0" y="95073"/>
                  <a:pt x="13673" y="81401"/>
                  <a:pt x="30525" y="81401"/>
                </a:cubicBezTo>
                <a:cubicBezTo>
                  <a:pt x="47378" y="81401"/>
                  <a:pt x="61050" y="95073"/>
                  <a:pt x="61050" y="111926"/>
                </a:cubicBezTo>
                <a:cubicBezTo>
                  <a:pt x="61050" y="121465"/>
                  <a:pt x="54341" y="133230"/>
                  <a:pt x="47219" y="143055"/>
                </a:cubicBezTo>
                <a:cubicBezTo>
                  <a:pt x="43816" y="147729"/>
                  <a:pt x="40319" y="151958"/>
                  <a:pt x="37425" y="155297"/>
                </a:cubicBezTo>
                <a:lnTo>
                  <a:pt x="37234" y="155520"/>
                </a:lnTo>
                <a:close/>
                <a:moveTo>
                  <a:pt x="40700" y="111926"/>
                </a:moveTo>
                <a:cubicBezTo>
                  <a:pt x="40700" y="106310"/>
                  <a:pt x="36141" y="101751"/>
                  <a:pt x="30525" y="101751"/>
                </a:cubicBezTo>
                <a:cubicBezTo>
                  <a:pt x="24909" y="101751"/>
                  <a:pt x="20350" y="106310"/>
                  <a:pt x="20350" y="111926"/>
                </a:cubicBezTo>
                <a:cubicBezTo>
                  <a:pt x="20350" y="117542"/>
                  <a:pt x="24909" y="122101"/>
                  <a:pt x="30525" y="122101"/>
                </a:cubicBezTo>
                <a:cubicBezTo>
                  <a:pt x="36141" y="122101"/>
                  <a:pt x="40700" y="117542"/>
                  <a:pt x="40700" y="111926"/>
                </a:cubicBezTo>
                <a:close/>
                <a:moveTo>
                  <a:pt x="132276" y="40700"/>
                </a:moveTo>
                <a:cubicBezTo>
                  <a:pt x="137892" y="40700"/>
                  <a:pt x="142451" y="36141"/>
                  <a:pt x="142451" y="30525"/>
                </a:cubicBezTo>
                <a:cubicBezTo>
                  <a:pt x="142451" y="24909"/>
                  <a:pt x="137892" y="20350"/>
                  <a:pt x="132276" y="20350"/>
                </a:cubicBezTo>
                <a:cubicBezTo>
                  <a:pt x="126660" y="20350"/>
                  <a:pt x="122101" y="24909"/>
                  <a:pt x="122101" y="30525"/>
                </a:cubicBezTo>
                <a:cubicBezTo>
                  <a:pt x="122101" y="36141"/>
                  <a:pt x="126660" y="40700"/>
                  <a:pt x="132276" y="40700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7" name="Text 35"/>
          <p:cNvSpPr/>
          <p:nvPr/>
        </p:nvSpPr>
        <p:spPr>
          <a:xfrm>
            <a:off x="8979220" y="2243039"/>
            <a:ext cx="1266231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Routing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03363" y="2568641"/>
            <a:ext cx="2858065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transactions to appropriate risk engines based on type &amp; amount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31880" y="3409780"/>
            <a:ext cx="3088700" cy="1392855"/>
          </a:xfrm>
          <a:custGeom>
            <a:avLst/>
            <a:gdLst/>
            <a:ahLst/>
            <a:cxnLst/>
            <a:rect l="l" t="t" r="r" b="b"/>
            <a:pathLst>
              <a:path w="3088700" h="1392855">
                <a:moveTo>
                  <a:pt x="0" y="0"/>
                </a:moveTo>
                <a:lnTo>
                  <a:pt x="3088700" y="0"/>
                </a:lnTo>
                <a:lnTo>
                  <a:pt x="3088700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331880" y="3409780"/>
            <a:ext cx="27134" cy="1392855"/>
          </a:xfrm>
          <a:custGeom>
            <a:avLst/>
            <a:gdLst/>
            <a:ahLst/>
            <a:cxnLst/>
            <a:rect l="l" t="t" r="r" b="b"/>
            <a:pathLst>
              <a:path w="27134" h="1392855">
                <a:moveTo>
                  <a:pt x="0" y="0"/>
                </a:moveTo>
                <a:lnTo>
                  <a:pt x="27134" y="0"/>
                </a:lnTo>
                <a:lnTo>
                  <a:pt x="27134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1" name="Shape 39"/>
          <p:cNvSpPr/>
          <p:nvPr/>
        </p:nvSpPr>
        <p:spPr>
          <a:xfrm>
            <a:off x="5512770" y="3789650"/>
            <a:ext cx="162801" cy="162801"/>
          </a:xfrm>
          <a:custGeom>
            <a:avLst/>
            <a:gdLst/>
            <a:ahLst/>
            <a:cxnLst/>
            <a:rect l="l" t="t" r="r" b="b"/>
            <a:pathLst>
              <a:path w="162801" h="162801">
                <a:moveTo>
                  <a:pt x="81401" y="0"/>
                </a:moveTo>
                <a:cubicBezTo>
                  <a:pt x="126327" y="0"/>
                  <a:pt x="162801" y="36474"/>
                  <a:pt x="162801" y="81401"/>
                </a:cubicBezTo>
                <a:cubicBezTo>
                  <a:pt x="162801" y="126327"/>
                  <a:pt x="126327" y="162801"/>
                  <a:pt x="81401" y="162801"/>
                </a:cubicBezTo>
                <a:cubicBezTo>
                  <a:pt x="36474" y="162801"/>
                  <a:pt x="0" y="126327"/>
                  <a:pt x="0" y="81401"/>
                </a:cubicBezTo>
                <a:cubicBezTo>
                  <a:pt x="0" y="36474"/>
                  <a:pt x="36474" y="0"/>
                  <a:pt x="81401" y="0"/>
                </a:cubicBezTo>
                <a:close/>
                <a:moveTo>
                  <a:pt x="73769" y="38157"/>
                </a:moveTo>
                <a:lnTo>
                  <a:pt x="73769" y="81401"/>
                </a:lnTo>
                <a:cubicBezTo>
                  <a:pt x="73769" y="83944"/>
                  <a:pt x="75041" y="86329"/>
                  <a:pt x="77172" y="87760"/>
                </a:cubicBezTo>
                <a:lnTo>
                  <a:pt x="107697" y="108110"/>
                </a:lnTo>
                <a:cubicBezTo>
                  <a:pt x="111194" y="110463"/>
                  <a:pt x="115932" y="109509"/>
                  <a:pt x="118285" y="105980"/>
                </a:cubicBezTo>
                <a:cubicBezTo>
                  <a:pt x="120638" y="102450"/>
                  <a:pt x="119684" y="97744"/>
                  <a:pt x="116155" y="95391"/>
                </a:cubicBezTo>
                <a:lnTo>
                  <a:pt x="89032" y="77331"/>
                </a:lnTo>
                <a:lnTo>
                  <a:pt x="89032" y="38157"/>
                </a:lnTo>
                <a:cubicBezTo>
                  <a:pt x="89032" y="33928"/>
                  <a:pt x="85630" y="30525"/>
                  <a:pt x="81401" y="30525"/>
                </a:cubicBezTo>
                <a:cubicBezTo>
                  <a:pt x="77172" y="30525"/>
                  <a:pt x="73769" y="33928"/>
                  <a:pt x="73769" y="3815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2" name="Text 40"/>
          <p:cNvSpPr/>
          <p:nvPr/>
        </p:nvSpPr>
        <p:spPr>
          <a:xfrm>
            <a:off x="5766017" y="3744427"/>
            <a:ext cx="167323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Deadline Enforcement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90159" y="4070030"/>
            <a:ext cx="2858065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timeouts prevent cascade failures. Requests exceeding SLA auto-reject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45084" y="3409780"/>
            <a:ext cx="3088700" cy="1392855"/>
          </a:xfrm>
          <a:custGeom>
            <a:avLst/>
            <a:gdLst/>
            <a:ahLst/>
            <a:cxnLst/>
            <a:rect l="l" t="t" r="r" b="b"/>
            <a:pathLst>
              <a:path w="3088700" h="1392855">
                <a:moveTo>
                  <a:pt x="0" y="0"/>
                </a:moveTo>
                <a:lnTo>
                  <a:pt x="3088700" y="0"/>
                </a:lnTo>
                <a:lnTo>
                  <a:pt x="3088700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545084" y="3409780"/>
            <a:ext cx="27134" cy="1392855"/>
          </a:xfrm>
          <a:custGeom>
            <a:avLst/>
            <a:gdLst/>
            <a:ahLst/>
            <a:cxnLst/>
            <a:rect l="l" t="t" r="r" b="b"/>
            <a:pathLst>
              <a:path w="27134" h="1392855">
                <a:moveTo>
                  <a:pt x="0" y="0"/>
                </a:moveTo>
                <a:lnTo>
                  <a:pt x="27134" y="0"/>
                </a:lnTo>
                <a:lnTo>
                  <a:pt x="27134" y="1392855"/>
                </a:lnTo>
                <a:lnTo>
                  <a:pt x="0" y="139285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6" name="Shape 44"/>
          <p:cNvSpPr/>
          <p:nvPr/>
        </p:nvSpPr>
        <p:spPr>
          <a:xfrm>
            <a:off x="8725974" y="3789650"/>
            <a:ext cx="162801" cy="162801"/>
          </a:xfrm>
          <a:custGeom>
            <a:avLst/>
            <a:gdLst/>
            <a:ahLst/>
            <a:cxnLst/>
            <a:rect l="l" t="t" r="r" b="b"/>
            <a:pathLst>
              <a:path w="162801" h="162801">
                <a:moveTo>
                  <a:pt x="152658" y="61050"/>
                </a:moveTo>
                <a:lnTo>
                  <a:pt x="155170" y="61050"/>
                </a:lnTo>
                <a:cubicBezTo>
                  <a:pt x="159399" y="61050"/>
                  <a:pt x="162801" y="57648"/>
                  <a:pt x="162801" y="53419"/>
                </a:cubicBezTo>
                <a:lnTo>
                  <a:pt x="162801" y="7631"/>
                </a:lnTo>
                <a:cubicBezTo>
                  <a:pt x="162801" y="4547"/>
                  <a:pt x="160957" y="1749"/>
                  <a:pt x="158095" y="572"/>
                </a:cubicBezTo>
                <a:cubicBezTo>
                  <a:pt x="155233" y="-604"/>
                  <a:pt x="151958" y="64"/>
                  <a:pt x="149764" y="2226"/>
                </a:cubicBezTo>
                <a:lnTo>
                  <a:pt x="133325" y="18697"/>
                </a:lnTo>
                <a:cubicBezTo>
                  <a:pt x="119239" y="7027"/>
                  <a:pt x="101115" y="0"/>
                  <a:pt x="81401" y="0"/>
                </a:cubicBezTo>
                <a:cubicBezTo>
                  <a:pt x="40382" y="0"/>
                  <a:pt x="6455" y="30334"/>
                  <a:pt x="827" y="69795"/>
                </a:cubicBezTo>
                <a:cubicBezTo>
                  <a:pt x="32" y="75359"/>
                  <a:pt x="3879" y="80510"/>
                  <a:pt x="9444" y="81305"/>
                </a:cubicBezTo>
                <a:cubicBezTo>
                  <a:pt x="15008" y="82100"/>
                  <a:pt x="20159" y="78221"/>
                  <a:pt x="20954" y="72688"/>
                </a:cubicBezTo>
                <a:cubicBezTo>
                  <a:pt x="25183" y="43085"/>
                  <a:pt x="50653" y="20350"/>
                  <a:pt x="81401" y="20350"/>
                </a:cubicBezTo>
                <a:cubicBezTo>
                  <a:pt x="95519" y="20350"/>
                  <a:pt x="108492" y="25120"/>
                  <a:pt x="118826" y="33164"/>
                </a:cubicBezTo>
                <a:lnTo>
                  <a:pt x="103977" y="48014"/>
                </a:lnTo>
                <a:cubicBezTo>
                  <a:pt x="101783" y="50208"/>
                  <a:pt x="101147" y="53483"/>
                  <a:pt x="102323" y="56344"/>
                </a:cubicBezTo>
                <a:cubicBezTo>
                  <a:pt x="103500" y="59206"/>
                  <a:pt x="106298" y="61050"/>
                  <a:pt x="109382" y="61050"/>
                </a:cubicBezTo>
                <a:lnTo>
                  <a:pt x="152658" y="61050"/>
                </a:lnTo>
                <a:close/>
                <a:moveTo>
                  <a:pt x="162006" y="93007"/>
                </a:moveTo>
                <a:cubicBezTo>
                  <a:pt x="162801" y="87442"/>
                  <a:pt x="158922" y="82291"/>
                  <a:pt x="153389" y="81496"/>
                </a:cubicBezTo>
                <a:cubicBezTo>
                  <a:pt x="147857" y="80701"/>
                  <a:pt x="142674" y="84580"/>
                  <a:pt x="141879" y="90113"/>
                </a:cubicBezTo>
                <a:cubicBezTo>
                  <a:pt x="137650" y="119684"/>
                  <a:pt x="112180" y="142419"/>
                  <a:pt x="81432" y="142419"/>
                </a:cubicBezTo>
                <a:cubicBezTo>
                  <a:pt x="67314" y="142419"/>
                  <a:pt x="54341" y="137650"/>
                  <a:pt x="44007" y="129605"/>
                </a:cubicBezTo>
                <a:lnTo>
                  <a:pt x="58825" y="114788"/>
                </a:lnTo>
                <a:cubicBezTo>
                  <a:pt x="61019" y="112594"/>
                  <a:pt x="61655" y="109318"/>
                  <a:pt x="60478" y="106457"/>
                </a:cubicBezTo>
                <a:cubicBezTo>
                  <a:pt x="59302" y="103595"/>
                  <a:pt x="56503" y="101751"/>
                  <a:pt x="53419" y="101751"/>
                </a:cubicBezTo>
                <a:lnTo>
                  <a:pt x="7631" y="101751"/>
                </a:lnTo>
                <a:cubicBezTo>
                  <a:pt x="3402" y="101751"/>
                  <a:pt x="0" y="105153"/>
                  <a:pt x="0" y="109382"/>
                </a:cubicBezTo>
                <a:lnTo>
                  <a:pt x="0" y="155170"/>
                </a:lnTo>
                <a:cubicBezTo>
                  <a:pt x="0" y="158254"/>
                  <a:pt x="1844" y="161052"/>
                  <a:pt x="4706" y="162229"/>
                </a:cubicBezTo>
                <a:cubicBezTo>
                  <a:pt x="7568" y="163405"/>
                  <a:pt x="10843" y="162738"/>
                  <a:pt x="13037" y="160575"/>
                </a:cubicBezTo>
                <a:lnTo>
                  <a:pt x="29508" y="144104"/>
                </a:lnTo>
                <a:cubicBezTo>
                  <a:pt x="43562" y="155774"/>
                  <a:pt x="61686" y="162801"/>
                  <a:pt x="81401" y="162801"/>
                </a:cubicBezTo>
                <a:cubicBezTo>
                  <a:pt x="122419" y="162801"/>
                  <a:pt x="156346" y="132467"/>
                  <a:pt x="161974" y="9300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7" name="Text 45"/>
          <p:cNvSpPr/>
          <p:nvPr/>
        </p:nvSpPr>
        <p:spPr>
          <a:xfrm>
            <a:off x="8979220" y="3744427"/>
            <a:ext cx="166419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Failover Orchestration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03363" y="4070030"/>
            <a:ext cx="2858065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failover to backup engines with zero transaction loss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32901" y="5141804"/>
            <a:ext cx="6692938" cy="1709412"/>
          </a:xfrm>
          <a:custGeom>
            <a:avLst/>
            <a:gdLst/>
            <a:ahLst/>
            <a:cxnLst/>
            <a:rect l="l" t="t" r="r" b="b"/>
            <a:pathLst>
              <a:path w="6692938" h="1709412">
                <a:moveTo>
                  <a:pt x="0" y="0"/>
                </a:moveTo>
                <a:lnTo>
                  <a:pt x="6692938" y="0"/>
                </a:lnTo>
                <a:lnTo>
                  <a:pt x="6692938" y="1709412"/>
                </a:lnTo>
                <a:lnTo>
                  <a:pt x="0" y="1709412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18313" y="5707086"/>
            <a:ext cx="578849" cy="578849"/>
          </a:xfrm>
          <a:custGeom>
            <a:avLst/>
            <a:gdLst/>
            <a:ahLst/>
            <a:cxnLst/>
            <a:rect l="l" t="t" r="r" b="b"/>
            <a:pathLst>
              <a:path w="578849" h="578849">
                <a:moveTo>
                  <a:pt x="0" y="0"/>
                </a:moveTo>
                <a:lnTo>
                  <a:pt x="578849" y="0"/>
                </a:lnTo>
                <a:lnTo>
                  <a:pt x="578849" y="578849"/>
                </a:lnTo>
                <a:lnTo>
                  <a:pt x="0" y="57884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1" name="Shape 49"/>
          <p:cNvSpPr/>
          <p:nvPr/>
        </p:nvSpPr>
        <p:spPr>
          <a:xfrm>
            <a:off x="5474331" y="5860843"/>
            <a:ext cx="271335" cy="271335"/>
          </a:xfrm>
          <a:custGeom>
            <a:avLst/>
            <a:gdLst/>
            <a:ahLst/>
            <a:cxnLst/>
            <a:rect l="l" t="t" r="r" b="b"/>
            <a:pathLst>
              <a:path w="271335" h="271335">
                <a:moveTo>
                  <a:pt x="0" y="135668"/>
                </a:moveTo>
                <a:cubicBezTo>
                  <a:pt x="0" y="60791"/>
                  <a:pt x="60791" y="0"/>
                  <a:pt x="135668" y="0"/>
                </a:cubicBezTo>
                <a:cubicBezTo>
                  <a:pt x="210545" y="0"/>
                  <a:pt x="271335" y="60791"/>
                  <a:pt x="271335" y="135668"/>
                </a:cubicBezTo>
                <a:cubicBezTo>
                  <a:pt x="271335" y="210545"/>
                  <a:pt x="210545" y="271335"/>
                  <a:pt x="135668" y="271335"/>
                </a:cubicBezTo>
                <a:cubicBezTo>
                  <a:pt x="60791" y="271335"/>
                  <a:pt x="0" y="210545"/>
                  <a:pt x="0" y="135668"/>
                </a:cubicBezTo>
                <a:close/>
                <a:moveTo>
                  <a:pt x="152626" y="50875"/>
                </a:moveTo>
                <a:cubicBezTo>
                  <a:pt x="152626" y="41516"/>
                  <a:pt x="145027" y="33917"/>
                  <a:pt x="135668" y="33917"/>
                </a:cubicBezTo>
                <a:cubicBezTo>
                  <a:pt x="126308" y="33917"/>
                  <a:pt x="118709" y="41516"/>
                  <a:pt x="118709" y="50875"/>
                </a:cubicBezTo>
                <a:cubicBezTo>
                  <a:pt x="118709" y="60235"/>
                  <a:pt x="126308" y="67834"/>
                  <a:pt x="135668" y="67834"/>
                </a:cubicBezTo>
                <a:cubicBezTo>
                  <a:pt x="145027" y="67834"/>
                  <a:pt x="152626" y="60235"/>
                  <a:pt x="152626" y="50875"/>
                </a:cubicBezTo>
                <a:close/>
                <a:moveTo>
                  <a:pt x="135668" y="220460"/>
                </a:moveTo>
                <a:cubicBezTo>
                  <a:pt x="154375" y="220460"/>
                  <a:pt x="169585" y="205250"/>
                  <a:pt x="169585" y="186543"/>
                </a:cubicBezTo>
                <a:cubicBezTo>
                  <a:pt x="169585" y="177958"/>
                  <a:pt x="166405" y="170062"/>
                  <a:pt x="161105" y="164126"/>
                </a:cubicBezTo>
                <a:lnTo>
                  <a:pt x="197937" y="90516"/>
                </a:lnTo>
                <a:cubicBezTo>
                  <a:pt x="201064" y="84209"/>
                  <a:pt x="198520" y="76578"/>
                  <a:pt x="192267" y="73451"/>
                </a:cubicBezTo>
                <a:cubicBezTo>
                  <a:pt x="186013" y="70325"/>
                  <a:pt x="178329" y="72868"/>
                  <a:pt x="175202" y="79122"/>
                </a:cubicBezTo>
                <a:lnTo>
                  <a:pt x="138370" y="152732"/>
                </a:lnTo>
                <a:cubicBezTo>
                  <a:pt x="137469" y="152679"/>
                  <a:pt x="136569" y="152626"/>
                  <a:pt x="135668" y="152626"/>
                </a:cubicBezTo>
                <a:cubicBezTo>
                  <a:pt x="116960" y="152626"/>
                  <a:pt x="101751" y="167836"/>
                  <a:pt x="101751" y="186543"/>
                </a:cubicBezTo>
                <a:cubicBezTo>
                  <a:pt x="101751" y="205250"/>
                  <a:pt x="116960" y="220460"/>
                  <a:pt x="135668" y="220460"/>
                </a:cubicBezTo>
                <a:close/>
                <a:moveTo>
                  <a:pt x="93272" y="76313"/>
                </a:moveTo>
                <a:cubicBezTo>
                  <a:pt x="93272" y="66953"/>
                  <a:pt x="85673" y="59355"/>
                  <a:pt x="76313" y="59355"/>
                </a:cubicBezTo>
                <a:cubicBezTo>
                  <a:pt x="66953" y="59355"/>
                  <a:pt x="59355" y="66953"/>
                  <a:pt x="59355" y="76313"/>
                </a:cubicBezTo>
                <a:cubicBezTo>
                  <a:pt x="59355" y="85673"/>
                  <a:pt x="66953" y="93272"/>
                  <a:pt x="76313" y="93272"/>
                </a:cubicBezTo>
                <a:cubicBezTo>
                  <a:pt x="85673" y="93272"/>
                  <a:pt x="93272" y="85673"/>
                  <a:pt x="93272" y="76313"/>
                </a:cubicBezTo>
                <a:close/>
                <a:moveTo>
                  <a:pt x="50875" y="152626"/>
                </a:moveTo>
                <a:cubicBezTo>
                  <a:pt x="60235" y="152626"/>
                  <a:pt x="67834" y="145027"/>
                  <a:pt x="67834" y="135668"/>
                </a:cubicBezTo>
                <a:cubicBezTo>
                  <a:pt x="67834" y="126308"/>
                  <a:pt x="60235" y="118709"/>
                  <a:pt x="50875" y="118709"/>
                </a:cubicBezTo>
                <a:cubicBezTo>
                  <a:pt x="41516" y="118709"/>
                  <a:pt x="33917" y="126308"/>
                  <a:pt x="33917" y="135668"/>
                </a:cubicBezTo>
                <a:cubicBezTo>
                  <a:pt x="33917" y="145027"/>
                  <a:pt x="41516" y="152626"/>
                  <a:pt x="50875" y="152626"/>
                </a:cubicBezTo>
                <a:close/>
                <a:moveTo>
                  <a:pt x="237418" y="135668"/>
                </a:moveTo>
                <a:cubicBezTo>
                  <a:pt x="237418" y="126308"/>
                  <a:pt x="229820" y="118709"/>
                  <a:pt x="220460" y="118709"/>
                </a:cubicBezTo>
                <a:cubicBezTo>
                  <a:pt x="211100" y="118709"/>
                  <a:pt x="203501" y="126308"/>
                  <a:pt x="203501" y="135668"/>
                </a:cubicBezTo>
                <a:cubicBezTo>
                  <a:pt x="203501" y="145027"/>
                  <a:pt x="211100" y="152626"/>
                  <a:pt x="220460" y="152626"/>
                </a:cubicBezTo>
                <a:cubicBezTo>
                  <a:pt x="229820" y="152626"/>
                  <a:pt x="237418" y="145027"/>
                  <a:pt x="237418" y="13566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6041874" y="5562374"/>
            <a:ext cx="128432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Ingress Latency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041874" y="5779442"/>
            <a:ext cx="1438077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041874" y="6249757"/>
            <a:ext cx="1284320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p99 percentile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276825" y="5331739"/>
            <a:ext cx="1356677" cy="624071"/>
          </a:xfrm>
          <a:custGeom>
            <a:avLst/>
            <a:gdLst/>
            <a:ahLst/>
            <a:cxnLst/>
            <a:rect l="l" t="t" r="r" b="b"/>
            <a:pathLst>
              <a:path w="1356677" h="624071">
                <a:moveTo>
                  <a:pt x="0" y="0"/>
                </a:moveTo>
                <a:lnTo>
                  <a:pt x="1356677" y="0"/>
                </a:lnTo>
                <a:lnTo>
                  <a:pt x="1356677" y="624071"/>
                </a:lnTo>
                <a:lnTo>
                  <a:pt x="0" y="62407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62748" y="5408617"/>
            <a:ext cx="112151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317525" y="5589507"/>
            <a:ext cx="116674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70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 TPS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276825" y="6037211"/>
            <a:ext cx="1356677" cy="624071"/>
          </a:xfrm>
          <a:custGeom>
            <a:avLst/>
            <a:gdLst/>
            <a:ahLst/>
            <a:cxnLst/>
            <a:rect l="l" t="t" r="r" b="b"/>
            <a:pathLst>
              <a:path w="1356677" h="624071">
                <a:moveTo>
                  <a:pt x="0" y="0"/>
                </a:moveTo>
                <a:lnTo>
                  <a:pt x="1356677" y="0"/>
                </a:lnTo>
                <a:lnTo>
                  <a:pt x="1356677" y="624071"/>
                </a:lnTo>
                <a:lnTo>
                  <a:pt x="0" y="62407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362748" y="6114089"/>
            <a:ext cx="1121519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97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317525" y="6294979"/>
            <a:ext cx="116674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70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99.99%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977" y="360977"/>
            <a:ext cx="11533217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b="1" spc="199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0977" y="613661"/>
            <a:ext cx="11632486" cy="36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Shield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0977" y="1082931"/>
            <a:ext cx="866345" cy="18049"/>
          </a:xfrm>
          <a:custGeom>
            <a:avLst/>
            <a:gdLst/>
            <a:ahLst/>
            <a:cxnLst/>
            <a:rect l="l" t="t" r="r" b="b"/>
            <a:pathLst>
              <a:path w="866345" h="18049">
                <a:moveTo>
                  <a:pt x="0" y="0"/>
                </a:moveTo>
                <a:lnTo>
                  <a:pt x="866345" y="0"/>
                </a:lnTo>
                <a:lnTo>
                  <a:pt x="866345" y="18049"/>
                </a:lnTo>
                <a:lnTo>
                  <a:pt x="0" y="1804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65489" y="1285981"/>
            <a:ext cx="5152947" cy="3023183"/>
          </a:xfrm>
          <a:custGeom>
            <a:avLst/>
            <a:gdLst/>
            <a:ahLst/>
            <a:cxnLst/>
            <a:rect l="l" t="t" r="r" b="b"/>
            <a:pathLst>
              <a:path w="5152947" h="3023183">
                <a:moveTo>
                  <a:pt x="0" y="0"/>
                </a:moveTo>
                <a:lnTo>
                  <a:pt x="5152947" y="0"/>
                </a:lnTo>
                <a:lnTo>
                  <a:pt x="5152947" y="3023183"/>
                </a:lnTo>
                <a:lnTo>
                  <a:pt x="0" y="3023183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0490" y="1470981"/>
            <a:ext cx="4891239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Context-Aware Failover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0490" y="1904154"/>
            <a:ext cx="4855141" cy="7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REVENANT's failover logic is </a:t>
            </a:r>
            <a:pPr>
              <a:lnSpc>
                <a:spcPct val="140000"/>
              </a:lnSpc>
            </a:pPr>
            <a:r>
              <a:rPr lang="en-US" sz="1137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risk-segmented</a:t>
            </a:r>
            <a:pPr>
              <a:lnSpc>
                <a:spcPct val="140000"/>
              </a:lnSpc>
            </a:pPr>
            <a:r>
              <a:rPr lang="en-US" sz="1137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binary. Different transaction types trigger different failover behaviors based on regulatory requirements.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5002" y="2756962"/>
            <a:ext cx="4773922" cy="1362688"/>
          </a:xfrm>
          <a:custGeom>
            <a:avLst/>
            <a:gdLst/>
            <a:ahLst/>
            <a:cxnLst/>
            <a:rect l="l" t="t" r="r" b="b"/>
            <a:pathLst>
              <a:path w="4773922" h="1362688">
                <a:moveTo>
                  <a:pt x="0" y="0"/>
                </a:moveTo>
                <a:lnTo>
                  <a:pt x="4773922" y="0"/>
                </a:lnTo>
                <a:lnTo>
                  <a:pt x="4773922" y="1362688"/>
                </a:lnTo>
                <a:lnTo>
                  <a:pt x="0" y="136268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3905" y="2905865"/>
            <a:ext cx="4557335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Simple Fail-Open vs Fail-Closed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3905" y="3266842"/>
            <a:ext cx="4548311" cy="70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systems choose between allowing all or blocking all transactions during outages. REVENANT makes </a:t>
            </a:r>
            <a:pPr>
              <a:lnSpc>
                <a:spcPct val="140000"/>
              </a:lnSpc>
            </a:pPr>
            <a:r>
              <a:rPr lang="en-US" sz="1137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decisions</a:t>
            </a:r>
            <a:pPr>
              <a:lnSpc>
                <a:spcPct val="140000"/>
              </a:lnSpc>
            </a:pPr>
            <a:r>
              <a:rPr lang="en-US" sz="113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transaction risk profile.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489" y="4462579"/>
            <a:ext cx="5152947" cy="2391473"/>
          </a:xfrm>
          <a:custGeom>
            <a:avLst/>
            <a:gdLst/>
            <a:ahLst/>
            <a:cxnLst/>
            <a:rect l="l" t="t" r="r" b="b"/>
            <a:pathLst>
              <a:path w="5152947" h="2391473">
                <a:moveTo>
                  <a:pt x="0" y="0"/>
                </a:moveTo>
                <a:lnTo>
                  <a:pt x="5152947" y="0"/>
                </a:lnTo>
                <a:lnTo>
                  <a:pt x="5152947" y="2391473"/>
                </a:lnTo>
                <a:lnTo>
                  <a:pt x="0" y="2391473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6953" y="5288314"/>
            <a:ext cx="162440" cy="162440"/>
          </a:xfrm>
          <a:custGeom>
            <a:avLst/>
            <a:gdLst/>
            <a:ahLst/>
            <a:cxnLst/>
            <a:rect l="l" t="t" r="r" b="b"/>
            <a:pathLst>
              <a:path w="162440" h="162440">
                <a:moveTo>
                  <a:pt x="81220" y="0"/>
                </a:moveTo>
                <a:cubicBezTo>
                  <a:pt x="82679" y="0"/>
                  <a:pt x="84139" y="317"/>
                  <a:pt x="85471" y="920"/>
                </a:cubicBezTo>
                <a:lnTo>
                  <a:pt x="145244" y="26270"/>
                </a:lnTo>
                <a:cubicBezTo>
                  <a:pt x="152224" y="29220"/>
                  <a:pt x="157427" y="36105"/>
                  <a:pt x="157395" y="44417"/>
                </a:cubicBezTo>
                <a:cubicBezTo>
                  <a:pt x="157237" y="75890"/>
                  <a:pt x="144292" y="133473"/>
                  <a:pt x="89627" y="159648"/>
                </a:cubicBezTo>
                <a:cubicBezTo>
                  <a:pt x="84329" y="162186"/>
                  <a:pt x="78174" y="162186"/>
                  <a:pt x="72876" y="159648"/>
                </a:cubicBezTo>
                <a:cubicBezTo>
                  <a:pt x="18179" y="133473"/>
                  <a:pt x="5267" y="75890"/>
                  <a:pt x="5108" y="44417"/>
                </a:cubicBezTo>
                <a:cubicBezTo>
                  <a:pt x="5076" y="36105"/>
                  <a:pt x="10279" y="29220"/>
                  <a:pt x="17259" y="26270"/>
                </a:cubicBezTo>
                <a:lnTo>
                  <a:pt x="77000" y="920"/>
                </a:lnTo>
                <a:cubicBezTo>
                  <a:pt x="78333" y="317"/>
                  <a:pt x="79760" y="0"/>
                  <a:pt x="81220" y="0"/>
                </a:cubicBezTo>
                <a:close/>
                <a:moveTo>
                  <a:pt x="81220" y="21193"/>
                </a:moveTo>
                <a:lnTo>
                  <a:pt x="81220" y="141151"/>
                </a:lnTo>
                <a:cubicBezTo>
                  <a:pt x="125002" y="119958"/>
                  <a:pt x="136773" y="73003"/>
                  <a:pt x="137058" y="44893"/>
                </a:cubicBezTo>
                <a:lnTo>
                  <a:pt x="81220" y="21225"/>
                </a:lnTo>
                <a:lnTo>
                  <a:pt x="81220" y="21225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773255" y="5243192"/>
            <a:ext cx="4677498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Protection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92" y="5604169"/>
            <a:ext cx="4927337" cy="469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architecture </a:t>
            </a:r>
            <a:pPr>
              <a:lnSpc>
                <a:spcPct val="140000"/>
              </a:lnSpc>
            </a:pPr>
            <a:r>
              <a:rPr lang="en-US" sz="113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protects banks from regulatory penalties during outages</a:t>
            </a:r>
            <a:pPr>
              <a:lnSpc>
                <a:spcPct val="140000"/>
              </a:lnSpc>
            </a:pPr>
            <a:r>
              <a:rPr lang="en-US" sz="113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Sanctions violations are impossible even during complete system failure.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07809" y="1285981"/>
            <a:ext cx="6118561" cy="5568071"/>
          </a:xfrm>
          <a:custGeom>
            <a:avLst/>
            <a:gdLst/>
            <a:ahLst/>
            <a:cxnLst/>
            <a:rect l="l" t="t" r="r" b="b"/>
            <a:pathLst>
              <a:path w="6118561" h="5568071">
                <a:moveTo>
                  <a:pt x="0" y="0"/>
                </a:moveTo>
                <a:lnTo>
                  <a:pt x="6118561" y="0"/>
                </a:lnTo>
                <a:lnTo>
                  <a:pt x="6118561" y="5568071"/>
                </a:lnTo>
                <a:lnTo>
                  <a:pt x="0" y="5568071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2809" y="1470981"/>
            <a:ext cx="585685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Risk-Segmented Failover Logic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10858" y="1904154"/>
            <a:ext cx="5730511" cy="1516104"/>
          </a:xfrm>
          <a:custGeom>
            <a:avLst/>
            <a:gdLst/>
            <a:ahLst/>
            <a:cxnLst/>
            <a:rect l="l" t="t" r="r" b="b"/>
            <a:pathLst>
              <a:path w="5730511" h="1516104">
                <a:moveTo>
                  <a:pt x="0" y="0"/>
                </a:moveTo>
                <a:lnTo>
                  <a:pt x="5730511" y="0"/>
                </a:lnTo>
                <a:lnTo>
                  <a:pt x="5730511" y="1516104"/>
                </a:lnTo>
                <a:lnTo>
                  <a:pt x="0" y="15161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10858" y="1904154"/>
            <a:ext cx="36098" cy="1516104"/>
          </a:xfrm>
          <a:custGeom>
            <a:avLst/>
            <a:gdLst/>
            <a:ahLst/>
            <a:cxnLst/>
            <a:rect l="l" t="t" r="r" b="b"/>
            <a:pathLst>
              <a:path w="36098" h="1516104">
                <a:moveTo>
                  <a:pt x="0" y="0"/>
                </a:moveTo>
                <a:lnTo>
                  <a:pt x="36098" y="0"/>
                </a:lnTo>
                <a:lnTo>
                  <a:pt x="36098" y="1516104"/>
                </a:lnTo>
                <a:lnTo>
                  <a:pt x="0" y="1516104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73298" y="2048545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0" y="0"/>
                </a:moveTo>
                <a:lnTo>
                  <a:pt x="433172" y="0"/>
                </a:lnTo>
                <a:lnTo>
                  <a:pt x="433172" y="433172"/>
                </a:lnTo>
                <a:lnTo>
                  <a:pt x="0" y="433172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99640" y="2174887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129444" y="145413"/>
                </a:moveTo>
                <a:lnTo>
                  <a:pt x="35075" y="51044"/>
                </a:lnTo>
                <a:cubicBezTo>
                  <a:pt x="27179" y="62113"/>
                  <a:pt x="22561" y="75650"/>
                  <a:pt x="22561" y="90244"/>
                </a:cubicBezTo>
                <a:cubicBezTo>
                  <a:pt x="22561" y="127611"/>
                  <a:pt x="52877" y="157927"/>
                  <a:pt x="90244" y="157927"/>
                </a:cubicBezTo>
                <a:cubicBezTo>
                  <a:pt x="104874" y="157927"/>
                  <a:pt x="118410" y="153309"/>
                  <a:pt x="129444" y="145413"/>
                </a:cubicBezTo>
                <a:close/>
                <a:moveTo>
                  <a:pt x="145413" y="129444"/>
                </a:moveTo>
                <a:cubicBezTo>
                  <a:pt x="153309" y="118375"/>
                  <a:pt x="157927" y="104838"/>
                  <a:pt x="157927" y="90244"/>
                </a:cubicBezTo>
                <a:cubicBezTo>
                  <a:pt x="157927" y="52877"/>
                  <a:pt x="127611" y="22561"/>
                  <a:pt x="90244" y="22561"/>
                </a:cubicBezTo>
                <a:cubicBezTo>
                  <a:pt x="75615" y="22561"/>
                  <a:pt x="62078" y="27179"/>
                  <a:pt x="51044" y="35075"/>
                </a:cubicBezTo>
                <a:lnTo>
                  <a:pt x="145413" y="129444"/>
                </a:lnTo>
                <a:close/>
                <a:moveTo>
                  <a:pt x="0" y="90244"/>
                </a:moveTo>
                <a:cubicBezTo>
                  <a:pt x="0" y="40437"/>
                  <a:pt x="40437" y="0"/>
                  <a:pt x="90244" y="0"/>
                </a:cubicBezTo>
                <a:cubicBezTo>
                  <a:pt x="140051" y="0"/>
                  <a:pt x="180489" y="40437"/>
                  <a:pt x="180489" y="90244"/>
                </a:cubicBezTo>
                <a:cubicBezTo>
                  <a:pt x="180489" y="140051"/>
                  <a:pt x="140051" y="180489"/>
                  <a:pt x="90244" y="180489"/>
                </a:cubicBezTo>
                <a:cubicBezTo>
                  <a:pt x="40437" y="180489"/>
                  <a:pt x="0" y="140051"/>
                  <a:pt x="0" y="90244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64" y="2048545"/>
            <a:ext cx="497245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Sanctions / AML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64" y="2373424"/>
            <a:ext cx="4954410" cy="19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transaction matching sanctions lists or AML triggers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19276" y="2648669"/>
            <a:ext cx="4873190" cy="370001"/>
          </a:xfrm>
          <a:custGeom>
            <a:avLst/>
            <a:gdLst/>
            <a:ahLst/>
            <a:cxnLst/>
            <a:rect l="l" t="t" r="r" b="b"/>
            <a:pathLst>
              <a:path w="4873190" h="370001">
                <a:moveTo>
                  <a:pt x="0" y="0"/>
                </a:moveTo>
                <a:lnTo>
                  <a:pt x="4873190" y="0"/>
                </a:lnTo>
                <a:lnTo>
                  <a:pt x="4873190" y="370001"/>
                </a:lnTo>
                <a:lnTo>
                  <a:pt x="0" y="370001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0130" y="2761474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41740" y="78569"/>
                </a:moveTo>
                <a:cubicBezTo>
                  <a:pt x="145265" y="75044"/>
                  <a:pt x="145265" y="69319"/>
                  <a:pt x="141740" y="65794"/>
                </a:cubicBezTo>
                <a:lnTo>
                  <a:pt x="96618" y="20672"/>
                </a:lnTo>
                <a:cubicBezTo>
                  <a:pt x="93093" y="17146"/>
                  <a:pt x="87368" y="17146"/>
                  <a:pt x="83843" y="20672"/>
                </a:cubicBezTo>
                <a:cubicBezTo>
                  <a:pt x="80317" y="24197"/>
                  <a:pt x="80317" y="29922"/>
                  <a:pt x="83843" y="33447"/>
                </a:cubicBezTo>
                <a:lnTo>
                  <a:pt x="113567" y="63171"/>
                </a:lnTo>
                <a:lnTo>
                  <a:pt x="9024" y="63171"/>
                </a:lnTo>
                <a:cubicBezTo>
                  <a:pt x="4033" y="63171"/>
                  <a:pt x="0" y="67204"/>
                  <a:pt x="0" y="72195"/>
                </a:cubicBezTo>
                <a:cubicBezTo>
                  <a:pt x="0" y="77187"/>
                  <a:pt x="4033" y="81220"/>
                  <a:pt x="9024" y="81220"/>
                </a:cubicBezTo>
                <a:lnTo>
                  <a:pt x="113567" y="81220"/>
                </a:lnTo>
                <a:lnTo>
                  <a:pt x="83843" y="110944"/>
                </a:lnTo>
                <a:cubicBezTo>
                  <a:pt x="80317" y="114469"/>
                  <a:pt x="80317" y="120194"/>
                  <a:pt x="83843" y="123719"/>
                </a:cubicBezTo>
                <a:cubicBezTo>
                  <a:pt x="87368" y="127244"/>
                  <a:pt x="93093" y="127244"/>
                  <a:pt x="96618" y="123719"/>
                </a:cubicBezTo>
                <a:lnTo>
                  <a:pt x="141740" y="78597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5" name="Text 23"/>
          <p:cNvSpPr/>
          <p:nvPr/>
        </p:nvSpPr>
        <p:spPr>
          <a:xfrm>
            <a:off x="6963871" y="2725377"/>
            <a:ext cx="448798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Block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14764" y="3095378"/>
            <a:ext cx="494538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 during complete system outage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10858" y="3528551"/>
            <a:ext cx="5730511" cy="1516104"/>
          </a:xfrm>
          <a:custGeom>
            <a:avLst/>
            <a:gdLst/>
            <a:ahLst/>
            <a:cxnLst/>
            <a:rect l="l" t="t" r="r" b="b"/>
            <a:pathLst>
              <a:path w="5730511" h="1516104">
                <a:moveTo>
                  <a:pt x="0" y="0"/>
                </a:moveTo>
                <a:lnTo>
                  <a:pt x="5730511" y="0"/>
                </a:lnTo>
                <a:lnTo>
                  <a:pt x="5730511" y="1516104"/>
                </a:lnTo>
                <a:lnTo>
                  <a:pt x="0" y="15161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10858" y="3528551"/>
            <a:ext cx="36098" cy="1516104"/>
          </a:xfrm>
          <a:custGeom>
            <a:avLst/>
            <a:gdLst/>
            <a:ahLst/>
            <a:cxnLst/>
            <a:rect l="l" t="t" r="r" b="b"/>
            <a:pathLst>
              <a:path w="36098" h="1516104">
                <a:moveTo>
                  <a:pt x="0" y="0"/>
                </a:moveTo>
                <a:lnTo>
                  <a:pt x="36098" y="0"/>
                </a:lnTo>
                <a:lnTo>
                  <a:pt x="36098" y="1516104"/>
                </a:lnTo>
                <a:lnTo>
                  <a:pt x="0" y="1516104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073298" y="3672942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0" y="0"/>
                </a:moveTo>
                <a:lnTo>
                  <a:pt x="433172" y="0"/>
                </a:lnTo>
                <a:lnTo>
                  <a:pt x="433172" y="433172"/>
                </a:lnTo>
                <a:lnTo>
                  <a:pt x="0" y="433172"/>
                </a:lnTo>
                <a:lnTo>
                  <a:pt x="0" y="0"/>
                </a:lnTo>
                <a:close/>
              </a:path>
            </a:pathLst>
          </a:custGeom>
          <a:solidFill>
            <a:srgbClr val="F0B100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99640" y="3799283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90244" y="0"/>
                </a:moveTo>
                <a:cubicBezTo>
                  <a:pt x="95426" y="0"/>
                  <a:pt x="100185" y="2855"/>
                  <a:pt x="102653" y="7403"/>
                </a:cubicBezTo>
                <a:lnTo>
                  <a:pt x="178796" y="148410"/>
                </a:lnTo>
                <a:cubicBezTo>
                  <a:pt x="181158" y="152781"/>
                  <a:pt x="181053" y="158068"/>
                  <a:pt x="178514" y="162334"/>
                </a:cubicBezTo>
                <a:cubicBezTo>
                  <a:pt x="175976" y="166599"/>
                  <a:pt x="171358" y="169208"/>
                  <a:pt x="166388" y="169208"/>
                </a:cubicBezTo>
                <a:lnTo>
                  <a:pt x="14101" y="169208"/>
                </a:lnTo>
                <a:cubicBezTo>
                  <a:pt x="9130" y="169208"/>
                  <a:pt x="4547" y="166599"/>
                  <a:pt x="1974" y="162334"/>
                </a:cubicBezTo>
                <a:cubicBezTo>
                  <a:pt x="-599" y="158068"/>
                  <a:pt x="-670" y="152781"/>
                  <a:pt x="1692" y="148410"/>
                </a:cubicBezTo>
                <a:lnTo>
                  <a:pt x="77836" y="7403"/>
                </a:lnTo>
                <a:cubicBezTo>
                  <a:pt x="80303" y="2855"/>
                  <a:pt x="85062" y="0"/>
                  <a:pt x="90244" y="0"/>
                </a:cubicBezTo>
                <a:close/>
                <a:moveTo>
                  <a:pt x="90244" y="59223"/>
                </a:moveTo>
                <a:cubicBezTo>
                  <a:pt x="85556" y="59223"/>
                  <a:pt x="81784" y="62995"/>
                  <a:pt x="81784" y="67683"/>
                </a:cubicBezTo>
                <a:lnTo>
                  <a:pt x="81784" y="107165"/>
                </a:lnTo>
                <a:cubicBezTo>
                  <a:pt x="81784" y="111854"/>
                  <a:pt x="85556" y="115625"/>
                  <a:pt x="90244" y="115625"/>
                </a:cubicBezTo>
                <a:cubicBezTo>
                  <a:pt x="94933" y="115625"/>
                  <a:pt x="98705" y="111854"/>
                  <a:pt x="98705" y="107165"/>
                </a:cubicBezTo>
                <a:lnTo>
                  <a:pt x="98705" y="67683"/>
                </a:lnTo>
                <a:cubicBezTo>
                  <a:pt x="98705" y="62995"/>
                  <a:pt x="94933" y="59223"/>
                  <a:pt x="90244" y="59223"/>
                </a:cubicBezTo>
                <a:close/>
                <a:moveTo>
                  <a:pt x="99656" y="135366"/>
                </a:moveTo>
                <a:cubicBezTo>
                  <a:pt x="99871" y="131873"/>
                  <a:pt x="98128" y="128549"/>
                  <a:pt x="95133" y="126737"/>
                </a:cubicBezTo>
                <a:cubicBezTo>
                  <a:pt x="92138" y="124926"/>
                  <a:pt x="88385" y="124926"/>
                  <a:pt x="85390" y="126737"/>
                </a:cubicBezTo>
                <a:cubicBezTo>
                  <a:pt x="82396" y="128549"/>
                  <a:pt x="80653" y="131873"/>
                  <a:pt x="80867" y="135366"/>
                </a:cubicBezTo>
                <a:cubicBezTo>
                  <a:pt x="80653" y="138860"/>
                  <a:pt x="82396" y="142184"/>
                  <a:pt x="85390" y="143996"/>
                </a:cubicBezTo>
                <a:cubicBezTo>
                  <a:pt x="88385" y="145807"/>
                  <a:pt x="92138" y="145807"/>
                  <a:pt x="95133" y="143996"/>
                </a:cubicBezTo>
                <a:cubicBezTo>
                  <a:pt x="98128" y="142184"/>
                  <a:pt x="99871" y="138860"/>
                  <a:pt x="99656" y="135366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1" name="Text 29"/>
          <p:cNvSpPr/>
          <p:nvPr/>
        </p:nvSpPr>
        <p:spPr>
          <a:xfrm>
            <a:off x="6614764" y="3672942"/>
            <a:ext cx="497245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High-Risk Transfers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14764" y="3997821"/>
            <a:ext cx="4954410" cy="19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amounts, cross-border, new beneficiaries, unusual patterns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19276" y="4273066"/>
            <a:ext cx="4873190" cy="370001"/>
          </a:xfrm>
          <a:custGeom>
            <a:avLst/>
            <a:gdLst/>
            <a:ahLst/>
            <a:cxnLst/>
            <a:rect l="l" t="t" r="r" b="b"/>
            <a:pathLst>
              <a:path w="4873190" h="370001">
                <a:moveTo>
                  <a:pt x="0" y="0"/>
                </a:moveTo>
                <a:lnTo>
                  <a:pt x="4873190" y="0"/>
                </a:lnTo>
                <a:lnTo>
                  <a:pt x="4873190" y="370001"/>
                </a:lnTo>
                <a:lnTo>
                  <a:pt x="0" y="370001"/>
                </a:lnTo>
                <a:lnTo>
                  <a:pt x="0" y="0"/>
                </a:lnTo>
                <a:close/>
              </a:path>
            </a:pathLst>
          </a:custGeom>
          <a:solidFill>
            <a:srgbClr val="F0B100">
              <a:alpha val="10196"/>
            </a:srgbClr>
          </a:solidFill>
          <a:ln w="12700">
            <a:solidFill>
              <a:srgbClr val="F0B100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0130" y="4385871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41740" y="78569"/>
                </a:moveTo>
                <a:cubicBezTo>
                  <a:pt x="145265" y="75044"/>
                  <a:pt x="145265" y="69319"/>
                  <a:pt x="141740" y="65794"/>
                </a:cubicBezTo>
                <a:lnTo>
                  <a:pt x="96618" y="20672"/>
                </a:lnTo>
                <a:cubicBezTo>
                  <a:pt x="93093" y="17146"/>
                  <a:pt x="87368" y="17146"/>
                  <a:pt x="83843" y="20672"/>
                </a:cubicBezTo>
                <a:cubicBezTo>
                  <a:pt x="80317" y="24197"/>
                  <a:pt x="80317" y="29922"/>
                  <a:pt x="83843" y="33447"/>
                </a:cubicBezTo>
                <a:lnTo>
                  <a:pt x="113567" y="63171"/>
                </a:lnTo>
                <a:lnTo>
                  <a:pt x="9024" y="63171"/>
                </a:lnTo>
                <a:cubicBezTo>
                  <a:pt x="4033" y="63171"/>
                  <a:pt x="0" y="67204"/>
                  <a:pt x="0" y="72195"/>
                </a:cubicBezTo>
                <a:cubicBezTo>
                  <a:pt x="0" y="77187"/>
                  <a:pt x="4033" y="81220"/>
                  <a:pt x="9024" y="81220"/>
                </a:cubicBezTo>
                <a:lnTo>
                  <a:pt x="113567" y="81220"/>
                </a:lnTo>
                <a:lnTo>
                  <a:pt x="83843" y="110944"/>
                </a:lnTo>
                <a:cubicBezTo>
                  <a:pt x="80317" y="114469"/>
                  <a:pt x="80317" y="120194"/>
                  <a:pt x="83843" y="123719"/>
                </a:cubicBezTo>
                <a:cubicBezTo>
                  <a:pt x="87368" y="127244"/>
                  <a:pt x="93093" y="127244"/>
                  <a:pt x="96618" y="123719"/>
                </a:cubicBezTo>
                <a:lnTo>
                  <a:pt x="141740" y="78597"/>
                </a:ln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5" name="Text 33"/>
          <p:cNvSpPr/>
          <p:nvPr/>
        </p:nvSpPr>
        <p:spPr>
          <a:xfrm>
            <a:off x="6963871" y="4349774"/>
            <a:ext cx="448798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Engine Decision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14764" y="4719775"/>
            <a:ext cx="494538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 for manual review if engine unavailable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10858" y="5152947"/>
            <a:ext cx="5730511" cy="1516104"/>
          </a:xfrm>
          <a:custGeom>
            <a:avLst/>
            <a:gdLst/>
            <a:ahLst/>
            <a:cxnLst/>
            <a:rect l="l" t="t" r="r" b="b"/>
            <a:pathLst>
              <a:path w="5730511" h="1516104">
                <a:moveTo>
                  <a:pt x="0" y="0"/>
                </a:moveTo>
                <a:lnTo>
                  <a:pt x="5730511" y="0"/>
                </a:lnTo>
                <a:lnTo>
                  <a:pt x="5730511" y="1516104"/>
                </a:lnTo>
                <a:lnTo>
                  <a:pt x="0" y="15161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10858" y="5152947"/>
            <a:ext cx="36098" cy="1516104"/>
          </a:xfrm>
          <a:custGeom>
            <a:avLst/>
            <a:gdLst/>
            <a:ahLst/>
            <a:cxnLst/>
            <a:rect l="l" t="t" r="r" b="b"/>
            <a:pathLst>
              <a:path w="36098" h="1516104">
                <a:moveTo>
                  <a:pt x="0" y="0"/>
                </a:moveTo>
                <a:lnTo>
                  <a:pt x="36098" y="0"/>
                </a:lnTo>
                <a:lnTo>
                  <a:pt x="36098" y="1516104"/>
                </a:lnTo>
                <a:lnTo>
                  <a:pt x="0" y="1516104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9" name="Shape 37"/>
          <p:cNvSpPr/>
          <p:nvPr/>
        </p:nvSpPr>
        <p:spPr>
          <a:xfrm>
            <a:off x="6073298" y="5297338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0" y="0"/>
                </a:moveTo>
                <a:lnTo>
                  <a:pt x="433172" y="0"/>
                </a:lnTo>
                <a:lnTo>
                  <a:pt x="433172" y="433172"/>
                </a:lnTo>
                <a:lnTo>
                  <a:pt x="0" y="433172"/>
                </a:lnTo>
                <a:lnTo>
                  <a:pt x="0" y="0"/>
                </a:ln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99640" y="5423680"/>
            <a:ext cx="180489" cy="180489"/>
          </a:xfrm>
          <a:custGeom>
            <a:avLst/>
            <a:gdLst/>
            <a:ahLst/>
            <a:cxnLst/>
            <a:rect l="l" t="t" r="r" b="b"/>
            <a:pathLst>
              <a:path w="180489" h="180489">
                <a:moveTo>
                  <a:pt x="90244" y="180489"/>
                </a:moveTo>
                <a:cubicBezTo>
                  <a:pt x="140051" y="180489"/>
                  <a:pt x="180489" y="140051"/>
                  <a:pt x="180489" y="90244"/>
                </a:cubicBezTo>
                <a:cubicBezTo>
                  <a:pt x="180489" y="40437"/>
                  <a:pt x="140051" y="0"/>
                  <a:pt x="90244" y="0"/>
                </a:cubicBezTo>
                <a:cubicBezTo>
                  <a:pt x="40437" y="0"/>
                  <a:pt x="0" y="40437"/>
                  <a:pt x="0" y="90244"/>
                </a:cubicBezTo>
                <a:cubicBezTo>
                  <a:pt x="0" y="140051"/>
                  <a:pt x="40437" y="180489"/>
                  <a:pt x="90244" y="180489"/>
                </a:cubicBezTo>
                <a:close/>
                <a:moveTo>
                  <a:pt x="119997" y="74980"/>
                </a:moveTo>
                <a:lnTo>
                  <a:pt x="91795" y="120102"/>
                </a:lnTo>
                <a:cubicBezTo>
                  <a:pt x="90315" y="122464"/>
                  <a:pt x="87777" y="123945"/>
                  <a:pt x="84992" y="124086"/>
                </a:cubicBezTo>
                <a:cubicBezTo>
                  <a:pt x="82207" y="124227"/>
                  <a:pt x="79528" y="122958"/>
                  <a:pt x="77871" y="120702"/>
                </a:cubicBezTo>
                <a:lnTo>
                  <a:pt x="60950" y="98141"/>
                </a:lnTo>
                <a:cubicBezTo>
                  <a:pt x="58130" y="94404"/>
                  <a:pt x="58906" y="89116"/>
                  <a:pt x="62642" y="86296"/>
                </a:cubicBezTo>
                <a:cubicBezTo>
                  <a:pt x="66379" y="83476"/>
                  <a:pt x="71667" y="84251"/>
                  <a:pt x="74487" y="87988"/>
                </a:cubicBezTo>
                <a:lnTo>
                  <a:pt x="84005" y="100679"/>
                </a:lnTo>
                <a:lnTo>
                  <a:pt x="105649" y="66026"/>
                </a:lnTo>
                <a:cubicBezTo>
                  <a:pt x="108117" y="62078"/>
                  <a:pt x="113334" y="60844"/>
                  <a:pt x="117318" y="63347"/>
                </a:cubicBezTo>
                <a:cubicBezTo>
                  <a:pt x="121301" y="65850"/>
                  <a:pt x="122500" y="71032"/>
                  <a:pt x="119997" y="7501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1" name="Text 39"/>
          <p:cNvSpPr/>
          <p:nvPr/>
        </p:nvSpPr>
        <p:spPr>
          <a:xfrm>
            <a:off x="6614764" y="5297338"/>
            <a:ext cx="4972459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Low-Risk Payments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14764" y="5622218"/>
            <a:ext cx="4954410" cy="198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Utilities, telecom, recurring subscriptions, trusted beneficiaries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19276" y="5897463"/>
            <a:ext cx="4873190" cy="370001"/>
          </a:xfrm>
          <a:custGeom>
            <a:avLst/>
            <a:gdLst/>
            <a:ahLst/>
            <a:cxnLst/>
            <a:rect l="l" t="t" r="r" b="b"/>
            <a:pathLst>
              <a:path w="4873190" h="370001">
                <a:moveTo>
                  <a:pt x="0" y="0"/>
                </a:moveTo>
                <a:lnTo>
                  <a:pt x="4873190" y="0"/>
                </a:lnTo>
                <a:lnTo>
                  <a:pt x="4873190" y="370001"/>
                </a:lnTo>
                <a:lnTo>
                  <a:pt x="0" y="370001"/>
                </a:lnTo>
                <a:lnTo>
                  <a:pt x="0" y="0"/>
                </a:lnTo>
                <a:close/>
              </a:path>
            </a:pathLst>
          </a:custGeom>
          <a:solidFill>
            <a:srgbClr val="00C950">
              <a:alpha val="10196"/>
            </a:srgbClr>
          </a:solidFill>
          <a:ln w="12700">
            <a:solidFill>
              <a:srgbClr val="00C950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50130" y="6010268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141740" y="78569"/>
                </a:moveTo>
                <a:cubicBezTo>
                  <a:pt x="145265" y="75044"/>
                  <a:pt x="145265" y="69319"/>
                  <a:pt x="141740" y="65794"/>
                </a:cubicBezTo>
                <a:lnTo>
                  <a:pt x="96618" y="20672"/>
                </a:lnTo>
                <a:cubicBezTo>
                  <a:pt x="93093" y="17146"/>
                  <a:pt x="87368" y="17146"/>
                  <a:pt x="83843" y="20672"/>
                </a:cubicBezTo>
                <a:cubicBezTo>
                  <a:pt x="80317" y="24197"/>
                  <a:pt x="80317" y="29922"/>
                  <a:pt x="83843" y="33447"/>
                </a:cubicBezTo>
                <a:lnTo>
                  <a:pt x="113567" y="63171"/>
                </a:lnTo>
                <a:lnTo>
                  <a:pt x="9024" y="63171"/>
                </a:lnTo>
                <a:cubicBezTo>
                  <a:pt x="4033" y="63171"/>
                  <a:pt x="0" y="67204"/>
                  <a:pt x="0" y="72195"/>
                </a:cubicBezTo>
                <a:cubicBezTo>
                  <a:pt x="0" y="77187"/>
                  <a:pt x="4033" y="81220"/>
                  <a:pt x="9024" y="81220"/>
                </a:cubicBezTo>
                <a:lnTo>
                  <a:pt x="113567" y="81220"/>
                </a:lnTo>
                <a:lnTo>
                  <a:pt x="83843" y="110944"/>
                </a:lnTo>
                <a:cubicBezTo>
                  <a:pt x="80317" y="114469"/>
                  <a:pt x="80317" y="120194"/>
                  <a:pt x="83843" y="123719"/>
                </a:cubicBezTo>
                <a:cubicBezTo>
                  <a:pt x="87368" y="127244"/>
                  <a:pt x="93093" y="127244"/>
                  <a:pt x="96618" y="123719"/>
                </a:cubicBezTo>
                <a:lnTo>
                  <a:pt x="141740" y="78597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5" name="Text 43"/>
          <p:cNvSpPr/>
          <p:nvPr/>
        </p:nvSpPr>
        <p:spPr>
          <a:xfrm>
            <a:off x="6963871" y="5974170"/>
            <a:ext cx="448798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Allowed to Pass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14764" y="6344172"/>
            <a:ext cx="4945386" cy="18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engine unavailable, pass with post-hoc audit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Triple Integration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57313"/>
            <a:ext cx="11420475" cy="809625"/>
          </a:xfrm>
          <a:custGeom>
            <a:avLst/>
            <a:gdLst/>
            <a:ahLst/>
            <a:cxnLst/>
            <a:rect l="l" t="t" r="r" b="b"/>
            <a:pathLst>
              <a:path w="11420475" h="809625">
                <a:moveTo>
                  <a:pt x="0" y="0"/>
                </a:moveTo>
                <a:lnTo>
                  <a:pt x="11420475" y="0"/>
                </a:lnTo>
                <a:lnTo>
                  <a:pt x="1142047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514475"/>
            <a:ext cx="11182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Deployment Barrier: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Conservative banks resist invasive integration. REVENANT offers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integration modes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remove the biggest deployment obstacle—adapting to any legacy environment without disruption.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2328863"/>
            <a:ext cx="3695700" cy="3438525"/>
          </a:xfrm>
          <a:custGeom>
            <a:avLst/>
            <a:gdLst/>
            <a:ahLst/>
            <a:cxnLst/>
            <a:rect l="l" t="t" r="r" b="b"/>
            <a:pathLst>
              <a:path w="3695700" h="3438525">
                <a:moveTo>
                  <a:pt x="0" y="0"/>
                </a:moveTo>
                <a:lnTo>
                  <a:pt x="3695700" y="0"/>
                </a:lnTo>
                <a:lnTo>
                  <a:pt x="36957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2925" y="2486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9" name="Text 7"/>
          <p:cNvSpPr/>
          <p:nvPr/>
        </p:nvSpPr>
        <p:spPr>
          <a:xfrm>
            <a:off x="672554" y="258127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425" y="2581275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CDC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7213" y="3057525"/>
            <a:ext cx="3367088" cy="676275"/>
          </a:xfrm>
          <a:custGeom>
            <a:avLst/>
            <a:gdLst/>
            <a:ahLst/>
            <a:cxnLst/>
            <a:rect l="l" t="t" r="r" b="b"/>
            <a:pathLst>
              <a:path w="3367088" h="676275">
                <a:moveTo>
                  <a:pt x="0" y="0"/>
                </a:moveTo>
                <a:lnTo>
                  <a:pt x="3367088" y="0"/>
                </a:lnTo>
                <a:lnTo>
                  <a:pt x="3367088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57213" y="3057525"/>
            <a:ext cx="28575" cy="676275"/>
          </a:xfrm>
          <a:custGeom>
            <a:avLst/>
            <a:gdLst/>
            <a:ahLst/>
            <a:cxnLst/>
            <a:rect l="l" t="t" r="r" b="b"/>
            <a:pathLst>
              <a:path w="28575" h="676275">
                <a:moveTo>
                  <a:pt x="0" y="0"/>
                </a:moveTo>
                <a:lnTo>
                  <a:pt x="28575" y="0"/>
                </a:lnTo>
                <a:lnTo>
                  <a:pt x="285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7182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Oracle LogMiner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438525"/>
            <a:ext cx="3190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redo logs for near real-time change detection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7213" y="3812381"/>
            <a:ext cx="3367088" cy="676275"/>
          </a:xfrm>
          <a:custGeom>
            <a:avLst/>
            <a:gdLst/>
            <a:ahLst/>
            <a:cxnLst/>
            <a:rect l="l" t="t" r="r" b="b"/>
            <a:pathLst>
              <a:path w="3367088" h="676275">
                <a:moveTo>
                  <a:pt x="0" y="0"/>
                </a:moveTo>
                <a:lnTo>
                  <a:pt x="3367088" y="0"/>
                </a:lnTo>
                <a:lnTo>
                  <a:pt x="3367088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7213" y="3812381"/>
            <a:ext cx="28575" cy="676275"/>
          </a:xfrm>
          <a:custGeom>
            <a:avLst/>
            <a:gdLst/>
            <a:ahLst/>
            <a:cxnLst/>
            <a:rect l="l" t="t" r="r" b="b"/>
            <a:pathLst>
              <a:path w="28575" h="676275">
                <a:moveTo>
                  <a:pt x="0" y="0"/>
                </a:moveTo>
                <a:lnTo>
                  <a:pt x="28575" y="0"/>
                </a:lnTo>
                <a:lnTo>
                  <a:pt x="285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26681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WAL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193381"/>
            <a:ext cx="3190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 replication for streaming transaction events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4567238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0" y="0"/>
                </a:moveTo>
                <a:lnTo>
                  <a:pt x="3381375" y="0"/>
                </a:lnTo>
                <a:lnTo>
                  <a:pt x="33813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4609" y="471011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1" name="Text 19"/>
          <p:cNvSpPr/>
          <p:nvPr/>
        </p:nvSpPr>
        <p:spPr>
          <a:xfrm>
            <a:off x="885825" y="4681538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 real-time streaming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688" y="5253038"/>
            <a:ext cx="3371850" cy="352425"/>
          </a:xfrm>
          <a:custGeom>
            <a:avLst/>
            <a:gdLst/>
            <a:ahLst/>
            <a:cxnLst/>
            <a:rect l="l" t="t" r="r" b="b"/>
            <a:pathLst>
              <a:path w="3371850" h="352425">
                <a:moveTo>
                  <a:pt x="0" y="0"/>
                </a:moveTo>
                <a:lnTo>
                  <a:pt x="3371850" y="0"/>
                </a:lnTo>
                <a:lnTo>
                  <a:pt x="337185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466" y="53625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4" name="Text 22"/>
          <p:cNvSpPr/>
          <p:nvPr/>
        </p:nvSpPr>
        <p:spPr>
          <a:xfrm>
            <a:off x="895350" y="53340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for modern banks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6513" y="2328863"/>
            <a:ext cx="3695700" cy="3438525"/>
          </a:xfrm>
          <a:custGeom>
            <a:avLst/>
            <a:gdLst/>
            <a:ahLst/>
            <a:cxnLst/>
            <a:rect l="l" t="t" r="r" b="b"/>
            <a:pathLst>
              <a:path w="3695700" h="3438525">
                <a:moveTo>
                  <a:pt x="0" y="0"/>
                </a:moveTo>
                <a:lnTo>
                  <a:pt x="3695700" y="0"/>
                </a:lnTo>
                <a:lnTo>
                  <a:pt x="36957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3675" y="2486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7" name="Text 25"/>
          <p:cNvSpPr/>
          <p:nvPr/>
        </p:nvSpPr>
        <p:spPr>
          <a:xfrm>
            <a:off x="4516041" y="25812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75175" y="258127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Shadow Table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17963" y="3057525"/>
            <a:ext cx="3367088" cy="676275"/>
          </a:xfrm>
          <a:custGeom>
            <a:avLst/>
            <a:gdLst/>
            <a:ahLst/>
            <a:cxnLst/>
            <a:rect l="l" t="t" r="r" b="b"/>
            <a:pathLst>
              <a:path w="3367088" h="676275">
                <a:moveTo>
                  <a:pt x="0" y="0"/>
                </a:moveTo>
                <a:lnTo>
                  <a:pt x="3367088" y="0"/>
                </a:lnTo>
                <a:lnTo>
                  <a:pt x="3367088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17963" y="3057525"/>
            <a:ext cx="28575" cy="676275"/>
          </a:xfrm>
          <a:custGeom>
            <a:avLst/>
            <a:gdLst/>
            <a:ahLst/>
            <a:cxnLst/>
            <a:rect l="l" t="t" r="r" b="b"/>
            <a:pathLst>
              <a:path w="28575" h="676275">
                <a:moveTo>
                  <a:pt x="0" y="0"/>
                </a:moveTo>
                <a:lnTo>
                  <a:pt x="28575" y="0"/>
                </a:lnTo>
                <a:lnTo>
                  <a:pt x="285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Text 29"/>
          <p:cNvSpPr/>
          <p:nvPr/>
        </p:nvSpPr>
        <p:spPr>
          <a:xfrm>
            <a:off x="4546550" y="317182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Triggers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46550" y="3438525"/>
            <a:ext cx="3190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triggers write to shadow tables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7963" y="3812381"/>
            <a:ext cx="3367088" cy="676275"/>
          </a:xfrm>
          <a:custGeom>
            <a:avLst/>
            <a:gdLst/>
            <a:ahLst/>
            <a:cxnLst/>
            <a:rect l="l" t="t" r="r" b="b"/>
            <a:pathLst>
              <a:path w="3367088" h="676275">
                <a:moveTo>
                  <a:pt x="0" y="0"/>
                </a:moveTo>
                <a:lnTo>
                  <a:pt x="3367088" y="0"/>
                </a:lnTo>
                <a:lnTo>
                  <a:pt x="3367088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17963" y="3812381"/>
            <a:ext cx="28575" cy="676275"/>
          </a:xfrm>
          <a:custGeom>
            <a:avLst/>
            <a:gdLst/>
            <a:ahLst/>
            <a:cxnLst/>
            <a:rect l="l" t="t" r="r" b="b"/>
            <a:pathLst>
              <a:path w="28575" h="676275">
                <a:moveTo>
                  <a:pt x="0" y="0"/>
                </a:moveTo>
                <a:lnTo>
                  <a:pt x="28575" y="0"/>
                </a:lnTo>
                <a:lnTo>
                  <a:pt x="285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5" name="Text 33"/>
          <p:cNvSpPr/>
          <p:nvPr/>
        </p:nvSpPr>
        <p:spPr>
          <a:xfrm>
            <a:off x="4546550" y="3926681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Permissions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46550" y="4193381"/>
            <a:ext cx="3190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 access to core tables, write to shadow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03675" y="4567238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0" y="0"/>
                </a:moveTo>
                <a:lnTo>
                  <a:pt x="3381375" y="0"/>
                </a:lnTo>
                <a:lnTo>
                  <a:pt x="33813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45360" y="471011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9" name="Text 37"/>
          <p:cNvSpPr/>
          <p:nvPr/>
        </p:nvSpPr>
        <p:spPr>
          <a:xfrm>
            <a:off x="4746575" y="4681538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with legacy Oracle/ASBT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08438" y="5253038"/>
            <a:ext cx="3371850" cy="352425"/>
          </a:xfrm>
          <a:custGeom>
            <a:avLst/>
            <a:gdLst/>
            <a:ahLst/>
            <a:cxnLst/>
            <a:rect l="l" t="t" r="r" b="b"/>
            <a:pathLst>
              <a:path w="3371850" h="352425">
                <a:moveTo>
                  <a:pt x="0" y="0"/>
                </a:moveTo>
                <a:lnTo>
                  <a:pt x="3371850" y="0"/>
                </a:lnTo>
                <a:lnTo>
                  <a:pt x="337185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9882" y="53625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0013" y="8334"/>
                </a:moveTo>
                <a:lnTo>
                  <a:pt x="133350" y="8334"/>
                </a:lnTo>
                <a:cubicBezTo>
                  <a:pt x="137960" y="8334"/>
                  <a:pt x="141684" y="12059"/>
                  <a:pt x="141684" y="16669"/>
                </a:cubicBezTo>
                <a:cubicBezTo>
                  <a:pt x="141684" y="21279"/>
                  <a:pt x="137960" y="25003"/>
                  <a:pt x="133350" y="25003"/>
                </a:cubicBezTo>
                <a:lnTo>
                  <a:pt x="103763" y="25003"/>
                </a:lnTo>
                <a:cubicBezTo>
                  <a:pt x="102409" y="31723"/>
                  <a:pt x="97799" y="37270"/>
                  <a:pt x="91678" y="39927"/>
                </a:cubicBezTo>
                <a:lnTo>
                  <a:pt x="91678" y="116681"/>
                </a:lnTo>
                <a:lnTo>
                  <a:pt x="133350" y="116681"/>
                </a:lnTo>
                <a:cubicBezTo>
                  <a:pt x="137960" y="116681"/>
                  <a:pt x="141684" y="120406"/>
                  <a:pt x="141684" y="125016"/>
                </a:cubicBezTo>
                <a:cubicBezTo>
                  <a:pt x="141684" y="129626"/>
                  <a:pt x="137960" y="133350"/>
                  <a:pt x="133350" y="133350"/>
                </a:cubicBezTo>
                <a:lnTo>
                  <a:pt x="33337" y="133350"/>
                </a:lnTo>
                <a:cubicBezTo>
                  <a:pt x="28728" y="133350"/>
                  <a:pt x="25003" y="129626"/>
                  <a:pt x="25003" y="125016"/>
                </a:cubicBezTo>
                <a:cubicBezTo>
                  <a:pt x="25003" y="120406"/>
                  <a:pt x="28728" y="116681"/>
                  <a:pt x="33337" y="116681"/>
                </a:cubicBezTo>
                <a:lnTo>
                  <a:pt x="75009" y="116681"/>
                </a:lnTo>
                <a:lnTo>
                  <a:pt x="75009" y="39927"/>
                </a:lnTo>
                <a:cubicBezTo>
                  <a:pt x="68889" y="37244"/>
                  <a:pt x="64279" y="31697"/>
                  <a:pt x="62925" y="25003"/>
                </a:cubicBezTo>
                <a:lnTo>
                  <a:pt x="33337" y="25003"/>
                </a:lnTo>
                <a:cubicBezTo>
                  <a:pt x="28728" y="25003"/>
                  <a:pt x="25003" y="21279"/>
                  <a:pt x="25003" y="16669"/>
                </a:cubicBezTo>
                <a:cubicBezTo>
                  <a:pt x="25003" y="12059"/>
                  <a:pt x="28728" y="8334"/>
                  <a:pt x="33337" y="8334"/>
                </a:cubicBezTo>
                <a:lnTo>
                  <a:pt x="66675" y="8334"/>
                </a:lnTo>
                <a:cubicBezTo>
                  <a:pt x="70478" y="3282"/>
                  <a:pt x="76520" y="0"/>
                  <a:pt x="83344" y="0"/>
                </a:cubicBezTo>
                <a:cubicBezTo>
                  <a:pt x="90168" y="0"/>
                  <a:pt x="96210" y="3282"/>
                  <a:pt x="100013" y="8334"/>
                </a:cubicBezTo>
                <a:close/>
                <a:moveTo>
                  <a:pt x="114493" y="83344"/>
                </a:moveTo>
                <a:lnTo>
                  <a:pt x="152207" y="83344"/>
                </a:lnTo>
                <a:lnTo>
                  <a:pt x="133350" y="50996"/>
                </a:lnTo>
                <a:lnTo>
                  <a:pt x="114493" y="83344"/>
                </a:lnTo>
                <a:close/>
                <a:moveTo>
                  <a:pt x="133350" y="108347"/>
                </a:moveTo>
                <a:cubicBezTo>
                  <a:pt x="116968" y="108347"/>
                  <a:pt x="103346" y="99492"/>
                  <a:pt x="100533" y="87797"/>
                </a:cubicBezTo>
                <a:cubicBezTo>
                  <a:pt x="99856" y="84932"/>
                  <a:pt x="100794" y="81989"/>
                  <a:pt x="102278" y="79437"/>
                </a:cubicBezTo>
                <a:lnTo>
                  <a:pt x="127073" y="36932"/>
                </a:lnTo>
                <a:cubicBezTo>
                  <a:pt x="128375" y="34692"/>
                  <a:pt x="130772" y="33337"/>
                  <a:pt x="133350" y="33337"/>
                </a:cubicBezTo>
                <a:cubicBezTo>
                  <a:pt x="135928" y="33337"/>
                  <a:pt x="138325" y="34718"/>
                  <a:pt x="139627" y="36932"/>
                </a:cubicBezTo>
                <a:lnTo>
                  <a:pt x="164422" y="79437"/>
                </a:lnTo>
                <a:cubicBezTo>
                  <a:pt x="165906" y="81989"/>
                  <a:pt x="166844" y="84932"/>
                  <a:pt x="166167" y="87797"/>
                </a:cubicBezTo>
                <a:cubicBezTo>
                  <a:pt x="163354" y="99466"/>
                  <a:pt x="149732" y="108347"/>
                  <a:pt x="133350" y="108347"/>
                </a:cubicBezTo>
                <a:close/>
                <a:moveTo>
                  <a:pt x="33025" y="50996"/>
                </a:moveTo>
                <a:lnTo>
                  <a:pt x="14168" y="83344"/>
                </a:lnTo>
                <a:lnTo>
                  <a:pt x="51908" y="83344"/>
                </a:lnTo>
                <a:lnTo>
                  <a:pt x="33025" y="50996"/>
                </a:lnTo>
                <a:close/>
                <a:moveTo>
                  <a:pt x="234" y="87797"/>
                </a:moveTo>
                <a:cubicBezTo>
                  <a:pt x="-443" y="84932"/>
                  <a:pt x="495" y="81989"/>
                  <a:pt x="1979" y="79437"/>
                </a:cubicBezTo>
                <a:lnTo>
                  <a:pt x="26774" y="36932"/>
                </a:lnTo>
                <a:cubicBezTo>
                  <a:pt x="28076" y="34692"/>
                  <a:pt x="30473" y="33337"/>
                  <a:pt x="33051" y="33337"/>
                </a:cubicBezTo>
                <a:cubicBezTo>
                  <a:pt x="35629" y="33337"/>
                  <a:pt x="38026" y="34718"/>
                  <a:pt x="39328" y="36932"/>
                </a:cubicBezTo>
                <a:lnTo>
                  <a:pt x="64123" y="79437"/>
                </a:lnTo>
                <a:cubicBezTo>
                  <a:pt x="65607" y="81989"/>
                  <a:pt x="66545" y="84932"/>
                  <a:pt x="65868" y="87797"/>
                </a:cubicBezTo>
                <a:cubicBezTo>
                  <a:pt x="63055" y="99466"/>
                  <a:pt x="49433" y="108347"/>
                  <a:pt x="33051" y="108347"/>
                </a:cubicBezTo>
                <a:cubicBezTo>
                  <a:pt x="16669" y="108347"/>
                  <a:pt x="3047" y="99492"/>
                  <a:pt x="234" y="87797"/>
                </a:cubicBezTo>
                <a:close/>
              </a:path>
            </a:pathLst>
          </a:custGeom>
          <a:solidFill>
            <a:srgbClr val="E0E2E5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56100" y="53340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of speed &amp; safety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7263" y="2328863"/>
            <a:ext cx="3695700" cy="3438525"/>
          </a:xfrm>
          <a:custGeom>
            <a:avLst/>
            <a:gdLst/>
            <a:ahLst/>
            <a:cxnLst/>
            <a:rect l="l" t="t" r="r" b="b"/>
            <a:pathLst>
              <a:path w="3695700" h="3438525">
                <a:moveTo>
                  <a:pt x="0" y="0"/>
                </a:moveTo>
                <a:lnTo>
                  <a:pt x="3695700" y="0"/>
                </a:lnTo>
                <a:lnTo>
                  <a:pt x="36957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64426" y="2486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5" name="Text 43"/>
          <p:cNvSpPr/>
          <p:nvPr/>
        </p:nvSpPr>
        <p:spPr>
          <a:xfrm>
            <a:off x="8376047" y="25812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35926" y="2581275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Micro-Batch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78713" y="3057525"/>
            <a:ext cx="3367088" cy="676275"/>
          </a:xfrm>
          <a:custGeom>
            <a:avLst/>
            <a:gdLst/>
            <a:ahLst/>
            <a:cxnLst/>
            <a:rect l="l" t="t" r="r" b="b"/>
            <a:pathLst>
              <a:path w="3367088" h="676275">
                <a:moveTo>
                  <a:pt x="0" y="0"/>
                </a:moveTo>
                <a:lnTo>
                  <a:pt x="3367088" y="0"/>
                </a:lnTo>
                <a:lnTo>
                  <a:pt x="3367088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78713" y="3057525"/>
            <a:ext cx="28575" cy="676275"/>
          </a:xfrm>
          <a:custGeom>
            <a:avLst/>
            <a:gdLst/>
            <a:ahLst/>
            <a:cxnLst/>
            <a:rect l="l" t="t" r="r" b="b"/>
            <a:pathLst>
              <a:path w="28575" h="676275">
                <a:moveTo>
                  <a:pt x="0" y="0"/>
                </a:moveTo>
                <a:lnTo>
                  <a:pt x="28575" y="0"/>
                </a:lnTo>
                <a:lnTo>
                  <a:pt x="285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9" name="Text 47"/>
          <p:cNvSpPr/>
          <p:nvPr/>
        </p:nvSpPr>
        <p:spPr>
          <a:xfrm>
            <a:off x="8407301" y="317182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 Polling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07301" y="3438525"/>
            <a:ext cx="3190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Polls for new records based on timestamp columns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78713" y="3812381"/>
            <a:ext cx="3367088" cy="676275"/>
          </a:xfrm>
          <a:custGeom>
            <a:avLst/>
            <a:gdLst/>
            <a:ahLst/>
            <a:cxnLst/>
            <a:rect l="l" t="t" r="r" b="b"/>
            <a:pathLst>
              <a:path w="3367088" h="676275">
                <a:moveTo>
                  <a:pt x="0" y="0"/>
                </a:moveTo>
                <a:lnTo>
                  <a:pt x="3367088" y="0"/>
                </a:lnTo>
                <a:lnTo>
                  <a:pt x="3367088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78713" y="3812381"/>
            <a:ext cx="28575" cy="676275"/>
          </a:xfrm>
          <a:custGeom>
            <a:avLst/>
            <a:gdLst/>
            <a:ahLst/>
            <a:cxnLst/>
            <a:rect l="l" t="t" r="r" b="b"/>
            <a:pathLst>
              <a:path w="28575" h="676275">
                <a:moveTo>
                  <a:pt x="0" y="0"/>
                </a:moveTo>
                <a:lnTo>
                  <a:pt x="28575" y="0"/>
                </a:lnTo>
                <a:lnTo>
                  <a:pt x="28575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3" name="Text 51"/>
          <p:cNvSpPr/>
          <p:nvPr/>
        </p:nvSpPr>
        <p:spPr>
          <a:xfrm>
            <a:off x="8407301" y="3926681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Triggers Needed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07301" y="4193381"/>
            <a:ext cx="3190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Pure SELECT queries, zero database changes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64426" y="4567238"/>
            <a:ext cx="3381375" cy="419100"/>
          </a:xfrm>
          <a:custGeom>
            <a:avLst/>
            <a:gdLst/>
            <a:ahLst/>
            <a:cxnLst/>
            <a:rect l="l" t="t" r="r" b="b"/>
            <a:pathLst>
              <a:path w="3381375" h="419100">
                <a:moveTo>
                  <a:pt x="0" y="0"/>
                </a:moveTo>
                <a:lnTo>
                  <a:pt x="3381375" y="0"/>
                </a:lnTo>
                <a:lnTo>
                  <a:pt x="33813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14445" y="4710113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7" name="Text 55"/>
          <p:cNvSpPr/>
          <p:nvPr/>
        </p:nvSpPr>
        <p:spPr>
          <a:xfrm>
            <a:off x="8607326" y="4681538"/>
            <a:ext cx="2990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restricted environments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69188" y="5253038"/>
            <a:ext cx="3371850" cy="352425"/>
          </a:xfrm>
          <a:custGeom>
            <a:avLst/>
            <a:gdLst/>
            <a:ahLst/>
            <a:cxnLst/>
            <a:rect l="l" t="t" r="r" b="b"/>
            <a:pathLst>
              <a:path w="3371850" h="352425">
                <a:moveTo>
                  <a:pt x="0" y="0"/>
                </a:moveTo>
                <a:lnTo>
                  <a:pt x="3371850" y="0"/>
                </a:lnTo>
                <a:lnTo>
                  <a:pt x="337185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07301" y="5362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0" name="Text 58"/>
          <p:cNvSpPr/>
          <p:nvPr/>
        </p:nvSpPr>
        <p:spPr>
          <a:xfrm>
            <a:off x="8616851" y="53340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compatibility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95288" y="5924550"/>
            <a:ext cx="11415713" cy="552450"/>
          </a:xfrm>
          <a:custGeom>
            <a:avLst/>
            <a:gdLst/>
            <a:ahLst/>
            <a:cxnLst/>
            <a:rect l="l" t="t" r="r" b="b"/>
            <a:pathLst>
              <a:path w="11415713" h="552450">
                <a:moveTo>
                  <a:pt x="0" y="0"/>
                </a:moveTo>
                <a:lnTo>
                  <a:pt x="11415713" y="0"/>
                </a:lnTo>
                <a:lnTo>
                  <a:pt x="11415713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95288" y="5924550"/>
            <a:ext cx="28575" cy="552450"/>
          </a:xfrm>
          <a:custGeom>
            <a:avLst/>
            <a:gdLst/>
            <a:ahLst/>
            <a:cxnLst/>
            <a:rect l="l" t="t" r="r" b="b"/>
            <a:pathLst>
              <a:path w="28575" h="552450">
                <a:moveTo>
                  <a:pt x="0" y="0"/>
                </a:moveTo>
                <a:lnTo>
                  <a:pt x="28575" y="0"/>
                </a:lnTo>
                <a:lnTo>
                  <a:pt x="285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3" name="Shape 61"/>
          <p:cNvSpPr/>
          <p:nvPr/>
        </p:nvSpPr>
        <p:spPr>
          <a:xfrm>
            <a:off x="600075" y="61245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4" name="Text 62"/>
          <p:cNvSpPr/>
          <p:nvPr/>
        </p:nvSpPr>
        <p:spPr>
          <a:xfrm>
            <a:off x="809625" y="6076950"/>
            <a:ext cx="10925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Flexibility: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Banks choose the mode that fits their risk tolerance and technical constraints. No forced migration. No disruption to existing operations.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spc="204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FINANCIAL BRAIN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29982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Deterministic Core Engines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578" y="1111733"/>
            <a:ext cx="889386" cy="18529"/>
          </a:xfrm>
          <a:custGeom>
            <a:avLst/>
            <a:gdLst/>
            <a:ahLst/>
            <a:cxnLst/>
            <a:rect l="l" t="t" r="r" b="b"/>
            <a:pathLst>
              <a:path w="889386" h="18529">
                <a:moveTo>
                  <a:pt x="0" y="0"/>
                </a:moveTo>
                <a:lnTo>
                  <a:pt x="889386" y="0"/>
                </a:lnTo>
                <a:lnTo>
                  <a:pt x="889386" y="18529"/>
                </a:lnTo>
                <a:lnTo>
                  <a:pt x="0" y="1852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75210" y="1320182"/>
            <a:ext cx="11441581" cy="546602"/>
          </a:xfrm>
          <a:custGeom>
            <a:avLst/>
            <a:gdLst/>
            <a:ahLst/>
            <a:cxnLst/>
            <a:rect l="l" t="t" r="r" b="b"/>
            <a:pathLst>
              <a:path w="11441581" h="546602">
                <a:moveTo>
                  <a:pt x="0" y="0"/>
                </a:moveTo>
                <a:lnTo>
                  <a:pt x="11441581" y="0"/>
                </a:lnTo>
                <a:lnTo>
                  <a:pt x="11441581" y="546602"/>
                </a:lnTo>
                <a:lnTo>
                  <a:pt x="0" y="546602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8073" y="1473046"/>
            <a:ext cx="11209970" cy="240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Routing: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REVENANT is not just a gateway. Behind the ingress layer are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financial engines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enable real-time risk simulation and control.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5210" y="2024280"/>
            <a:ext cx="3705775" cy="4141204"/>
          </a:xfrm>
          <a:custGeom>
            <a:avLst/>
            <a:gdLst/>
            <a:ahLst/>
            <a:cxnLst/>
            <a:rect l="l" t="t" r="r" b="b"/>
            <a:pathLst>
              <a:path w="3705775" h="4141204">
                <a:moveTo>
                  <a:pt x="0" y="0"/>
                </a:moveTo>
                <a:lnTo>
                  <a:pt x="3705775" y="0"/>
                </a:lnTo>
                <a:lnTo>
                  <a:pt x="3705775" y="4141204"/>
                </a:lnTo>
                <a:lnTo>
                  <a:pt x="0" y="4141204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8073" y="217714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0" y="0"/>
                </a:moveTo>
                <a:lnTo>
                  <a:pt x="518809" y="0"/>
                </a:lnTo>
                <a:lnTo>
                  <a:pt x="518809" y="518809"/>
                </a:lnTo>
                <a:lnTo>
                  <a:pt x="0" y="518809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9" name="Shape 7"/>
          <p:cNvSpPr/>
          <p:nvPr/>
        </p:nvSpPr>
        <p:spPr>
          <a:xfrm>
            <a:off x="676304" y="232537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27793" y="27793"/>
                </a:moveTo>
                <a:cubicBezTo>
                  <a:pt x="27793" y="20107"/>
                  <a:pt x="21583" y="13897"/>
                  <a:pt x="13897" y="13897"/>
                </a:cubicBezTo>
                <a:cubicBezTo>
                  <a:pt x="6210" y="13897"/>
                  <a:pt x="0" y="20107"/>
                  <a:pt x="0" y="27793"/>
                </a:cubicBezTo>
                <a:lnTo>
                  <a:pt x="0" y="173708"/>
                </a:lnTo>
                <a:cubicBezTo>
                  <a:pt x="0" y="192903"/>
                  <a:pt x="15547" y="208450"/>
                  <a:pt x="34742" y="208450"/>
                </a:cubicBezTo>
                <a:lnTo>
                  <a:pt x="208450" y="208450"/>
                </a:lnTo>
                <a:cubicBezTo>
                  <a:pt x="216136" y="208450"/>
                  <a:pt x="222347" y="202240"/>
                  <a:pt x="222347" y="194553"/>
                </a:cubicBezTo>
                <a:cubicBezTo>
                  <a:pt x="222347" y="186867"/>
                  <a:pt x="216136" y="180657"/>
                  <a:pt x="208450" y="180657"/>
                </a:cubicBezTo>
                <a:lnTo>
                  <a:pt x="34742" y="180657"/>
                </a:lnTo>
                <a:cubicBezTo>
                  <a:pt x="30920" y="180657"/>
                  <a:pt x="27793" y="177530"/>
                  <a:pt x="27793" y="173708"/>
                </a:cubicBezTo>
                <a:lnTo>
                  <a:pt x="27793" y="27793"/>
                </a:lnTo>
                <a:close/>
                <a:moveTo>
                  <a:pt x="204368" y="65401"/>
                </a:moveTo>
                <a:cubicBezTo>
                  <a:pt x="209796" y="59973"/>
                  <a:pt x="209796" y="51157"/>
                  <a:pt x="204368" y="45729"/>
                </a:cubicBezTo>
                <a:cubicBezTo>
                  <a:pt x="198939" y="40300"/>
                  <a:pt x="190124" y="40300"/>
                  <a:pt x="184695" y="45729"/>
                </a:cubicBezTo>
                <a:lnTo>
                  <a:pt x="138967" y="91501"/>
                </a:lnTo>
                <a:lnTo>
                  <a:pt x="114039" y="66617"/>
                </a:lnTo>
                <a:cubicBezTo>
                  <a:pt x="108611" y="61189"/>
                  <a:pt x="99795" y="61189"/>
                  <a:pt x="94367" y="66617"/>
                </a:cubicBezTo>
                <a:lnTo>
                  <a:pt x="52677" y="108307"/>
                </a:lnTo>
                <a:cubicBezTo>
                  <a:pt x="47249" y="113735"/>
                  <a:pt x="47249" y="122551"/>
                  <a:pt x="52677" y="127980"/>
                </a:cubicBezTo>
                <a:cubicBezTo>
                  <a:pt x="58105" y="133408"/>
                  <a:pt x="66921" y="133408"/>
                  <a:pt x="72349" y="127980"/>
                </a:cubicBezTo>
                <a:lnTo>
                  <a:pt x="104225" y="96104"/>
                </a:lnTo>
                <a:lnTo>
                  <a:pt x="129152" y="121031"/>
                </a:lnTo>
                <a:cubicBezTo>
                  <a:pt x="134580" y="126460"/>
                  <a:pt x="143396" y="126460"/>
                  <a:pt x="148825" y="121031"/>
                </a:cubicBezTo>
                <a:lnTo>
                  <a:pt x="204411" y="65445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0" name="Text 8"/>
          <p:cNvSpPr/>
          <p:nvPr/>
        </p:nvSpPr>
        <p:spPr>
          <a:xfrm>
            <a:off x="1158055" y="2288316"/>
            <a:ext cx="124143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Engine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1970" y="2807125"/>
            <a:ext cx="3386152" cy="843064"/>
          </a:xfrm>
          <a:custGeom>
            <a:avLst/>
            <a:gdLst/>
            <a:ahLst/>
            <a:cxnLst/>
            <a:rect l="l" t="t" r="r" b="b"/>
            <a:pathLst>
              <a:path w="3386152" h="843064">
                <a:moveTo>
                  <a:pt x="0" y="0"/>
                </a:moveTo>
                <a:lnTo>
                  <a:pt x="3386152" y="0"/>
                </a:lnTo>
                <a:lnTo>
                  <a:pt x="3386152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1970" y="2807125"/>
            <a:ext cx="27793" cy="843064"/>
          </a:xfrm>
          <a:custGeom>
            <a:avLst/>
            <a:gdLst/>
            <a:ahLst/>
            <a:cxnLst/>
            <a:rect l="l" t="t" r="r" b="b"/>
            <a:pathLst>
              <a:path w="27793" h="843064">
                <a:moveTo>
                  <a:pt x="0" y="0"/>
                </a:moveTo>
                <a:lnTo>
                  <a:pt x="27793" y="0"/>
                </a:lnTo>
                <a:lnTo>
                  <a:pt x="27793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040" y="2918298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Basel-Style Risk Weighting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040" y="3177702"/>
            <a:ext cx="3214760" cy="361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 standardized risk weights for asset classes and counterparties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970" y="3756729"/>
            <a:ext cx="3386152" cy="657775"/>
          </a:xfrm>
          <a:custGeom>
            <a:avLst/>
            <a:gdLst/>
            <a:ahLst/>
            <a:cxnLst/>
            <a:rect l="l" t="t" r="r" b="b"/>
            <a:pathLst>
              <a:path w="3386152" h="657775">
                <a:moveTo>
                  <a:pt x="0" y="0"/>
                </a:moveTo>
                <a:lnTo>
                  <a:pt x="3386152" y="0"/>
                </a:lnTo>
                <a:lnTo>
                  <a:pt x="3386152" y="657775"/>
                </a:lnTo>
                <a:lnTo>
                  <a:pt x="0" y="6577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1970" y="3756729"/>
            <a:ext cx="27793" cy="657775"/>
          </a:xfrm>
          <a:custGeom>
            <a:avLst/>
            <a:gdLst/>
            <a:ahLst/>
            <a:cxnLst/>
            <a:rect l="l" t="t" r="r" b="b"/>
            <a:pathLst>
              <a:path w="27793" h="657775">
                <a:moveTo>
                  <a:pt x="0" y="0"/>
                </a:moveTo>
                <a:lnTo>
                  <a:pt x="27793" y="0"/>
                </a:lnTo>
                <a:lnTo>
                  <a:pt x="27793" y="657775"/>
                </a:lnTo>
                <a:lnTo>
                  <a:pt x="0" y="6577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040" y="3867903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Rule Calculations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040" y="4127307"/>
            <a:ext cx="3214760" cy="17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transaction + same rules = same risk score, always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1970" y="4527994"/>
            <a:ext cx="3386152" cy="843064"/>
          </a:xfrm>
          <a:custGeom>
            <a:avLst/>
            <a:gdLst/>
            <a:ahLst/>
            <a:cxnLst/>
            <a:rect l="l" t="t" r="r" b="b"/>
            <a:pathLst>
              <a:path w="3386152" h="843064">
                <a:moveTo>
                  <a:pt x="0" y="0"/>
                </a:moveTo>
                <a:lnTo>
                  <a:pt x="3386152" y="0"/>
                </a:lnTo>
                <a:lnTo>
                  <a:pt x="3386152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1970" y="4527994"/>
            <a:ext cx="27793" cy="843064"/>
          </a:xfrm>
          <a:custGeom>
            <a:avLst/>
            <a:gdLst/>
            <a:ahLst/>
            <a:cxnLst/>
            <a:rect l="l" t="t" r="r" b="b"/>
            <a:pathLst>
              <a:path w="27793" h="843064">
                <a:moveTo>
                  <a:pt x="0" y="0"/>
                </a:moveTo>
                <a:lnTo>
                  <a:pt x="27793" y="0"/>
                </a:lnTo>
                <a:lnTo>
                  <a:pt x="27793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040" y="4639167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Capital Adequacy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040" y="4898571"/>
            <a:ext cx="3214760" cy="361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 of risk-weighted assets vs. capital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2705" y="5660571"/>
            <a:ext cx="3390784" cy="342784"/>
          </a:xfrm>
          <a:custGeom>
            <a:avLst/>
            <a:gdLst/>
            <a:ahLst/>
            <a:cxnLst/>
            <a:rect l="l" t="t" r="r" b="b"/>
            <a:pathLst>
              <a:path w="3390784" h="342784">
                <a:moveTo>
                  <a:pt x="0" y="0"/>
                </a:moveTo>
                <a:lnTo>
                  <a:pt x="3390784" y="0"/>
                </a:lnTo>
                <a:lnTo>
                  <a:pt x="3390784" y="342784"/>
                </a:lnTo>
                <a:lnTo>
                  <a:pt x="0" y="342784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040" y="576711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113489" y="64851"/>
                </a:moveTo>
                <a:cubicBezTo>
                  <a:pt x="113489" y="38007"/>
                  <a:pt x="91695" y="16213"/>
                  <a:pt x="64851" y="16213"/>
                </a:cubicBezTo>
                <a:cubicBezTo>
                  <a:pt x="38007" y="16213"/>
                  <a:pt x="16213" y="38007"/>
                  <a:pt x="16213" y="64851"/>
                </a:cubicBezTo>
                <a:cubicBezTo>
                  <a:pt x="16213" y="91695"/>
                  <a:pt x="38007" y="113489"/>
                  <a:pt x="64851" y="113489"/>
                </a:cubicBezTo>
                <a:cubicBezTo>
                  <a:pt x="91695" y="113489"/>
                  <a:pt x="113489" y="91695"/>
                  <a:pt x="113489" y="64851"/>
                </a:cubicBezTo>
                <a:close/>
                <a:moveTo>
                  <a:pt x="0" y="64851"/>
                </a:moveTo>
                <a:cubicBezTo>
                  <a:pt x="0" y="29059"/>
                  <a:pt x="29059" y="0"/>
                  <a:pt x="64851" y="0"/>
                </a:cubicBezTo>
                <a:cubicBezTo>
                  <a:pt x="100643" y="0"/>
                  <a:pt x="129702" y="29059"/>
                  <a:pt x="129702" y="64851"/>
                </a:cubicBezTo>
                <a:cubicBezTo>
                  <a:pt x="129702" y="100643"/>
                  <a:pt x="100643" y="129702"/>
                  <a:pt x="64851" y="129702"/>
                </a:cubicBezTo>
                <a:cubicBezTo>
                  <a:pt x="29059" y="129702"/>
                  <a:pt x="0" y="100643"/>
                  <a:pt x="0" y="64851"/>
                </a:cubicBezTo>
                <a:close/>
                <a:moveTo>
                  <a:pt x="64851" y="85117"/>
                </a:moveTo>
                <a:cubicBezTo>
                  <a:pt x="76036" y="85117"/>
                  <a:pt x="85117" y="76036"/>
                  <a:pt x="85117" y="64851"/>
                </a:cubicBezTo>
                <a:cubicBezTo>
                  <a:pt x="85117" y="53666"/>
                  <a:pt x="76036" y="44585"/>
                  <a:pt x="64851" y="44585"/>
                </a:cubicBezTo>
                <a:cubicBezTo>
                  <a:pt x="53666" y="44585"/>
                  <a:pt x="44585" y="53666"/>
                  <a:pt x="44585" y="64851"/>
                </a:cubicBezTo>
                <a:cubicBezTo>
                  <a:pt x="44585" y="76036"/>
                  <a:pt x="53666" y="85117"/>
                  <a:pt x="64851" y="85117"/>
                </a:cubicBezTo>
                <a:close/>
                <a:moveTo>
                  <a:pt x="64851" y="28372"/>
                </a:moveTo>
                <a:cubicBezTo>
                  <a:pt x="84984" y="28372"/>
                  <a:pt x="101330" y="44718"/>
                  <a:pt x="101330" y="64851"/>
                </a:cubicBezTo>
                <a:cubicBezTo>
                  <a:pt x="101330" y="84984"/>
                  <a:pt x="84984" y="101330"/>
                  <a:pt x="64851" y="101330"/>
                </a:cubicBezTo>
                <a:cubicBezTo>
                  <a:pt x="44718" y="101330"/>
                  <a:pt x="28372" y="84984"/>
                  <a:pt x="28372" y="64851"/>
                </a:cubicBezTo>
                <a:cubicBezTo>
                  <a:pt x="28372" y="44718"/>
                  <a:pt x="44718" y="28372"/>
                  <a:pt x="64851" y="28372"/>
                </a:cubicBezTo>
                <a:close/>
                <a:moveTo>
                  <a:pt x="56745" y="64851"/>
                </a:moveTo>
                <a:cubicBezTo>
                  <a:pt x="56745" y="60377"/>
                  <a:pt x="60377" y="56745"/>
                  <a:pt x="64851" y="56745"/>
                </a:cubicBezTo>
                <a:cubicBezTo>
                  <a:pt x="69325" y="56745"/>
                  <a:pt x="72957" y="60377"/>
                  <a:pt x="72957" y="64851"/>
                </a:cubicBezTo>
                <a:cubicBezTo>
                  <a:pt x="72957" y="69325"/>
                  <a:pt x="69325" y="72957"/>
                  <a:pt x="64851" y="72957"/>
                </a:cubicBezTo>
                <a:cubicBezTo>
                  <a:pt x="60377" y="72957"/>
                  <a:pt x="56745" y="69325"/>
                  <a:pt x="56745" y="6485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5" name="Text 23"/>
          <p:cNvSpPr/>
          <p:nvPr/>
        </p:nvSpPr>
        <p:spPr>
          <a:xfrm>
            <a:off x="869337" y="5739319"/>
            <a:ext cx="300319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transaction risk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0073" y="2024280"/>
            <a:ext cx="3705775" cy="4141204"/>
          </a:xfrm>
          <a:custGeom>
            <a:avLst/>
            <a:gdLst/>
            <a:ahLst/>
            <a:cxnLst/>
            <a:rect l="l" t="t" r="r" b="b"/>
            <a:pathLst>
              <a:path w="3705775" h="4141204">
                <a:moveTo>
                  <a:pt x="0" y="0"/>
                </a:moveTo>
                <a:lnTo>
                  <a:pt x="3705775" y="0"/>
                </a:lnTo>
                <a:lnTo>
                  <a:pt x="3705775" y="4141204"/>
                </a:lnTo>
                <a:lnTo>
                  <a:pt x="0" y="4141204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92936" y="217714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0" y="0"/>
                </a:moveTo>
                <a:lnTo>
                  <a:pt x="518809" y="0"/>
                </a:lnTo>
                <a:lnTo>
                  <a:pt x="518809" y="518809"/>
                </a:lnTo>
                <a:lnTo>
                  <a:pt x="0" y="518809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68960" y="2325374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83380" y="222347"/>
                </a:moveTo>
                <a:cubicBezTo>
                  <a:pt x="37347" y="222347"/>
                  <a:pt x="0" y="184999"/>
                  <a:pt x="0" y="138967"/>
                </a:cubicBezTo>
                <a:cubicBezTo>
                  <a:pt x="0" y="99361"/>
                  <a:pt x="56542" y="19933"/>
                  <a:pt x="72349" y="-1520"/>
                </a:cubicBezTo>
                <a:cubicBezTo>
                  <a:pt x="74912" y="-4994"/>
                  <a:pt x="78950" y="-6948"/>
                  <a:pt x="83293" y="-6948"/>
                </a:cubicBezTo>
                <a:lnTo>
                  <a:pt x="83467" y="-6948"/>
                </a:lnTo>
                <a:cubicBezTo>
                  <a:pt x="87809" y="-6948"/>
                  <a:pt x="91848" y="-4994"/>
                  <a:pt x="94410" y="-1520"/>
                </a:cubicBezTo>
                <a:cubicBezTo>
                  <a:pt x="110218" y="19933"/>
                  <a:pt x="166760" y="99361"/>
                  <a:pt x="166760" y="138967"/>
                </a:cubicBezTo>
                <a:cubicBezTo>
                  <a:pt x="166760" y="184999"/>
                  <a:pt x="129413" y="222347"/>
                  <a:pt x="83380" y="222347"/>
                </a:cubicBezTo>
                <a:close/>
                <a:moveTo>
                  <a:pt x="48638" y="135492"/>
                </a:moveTo>
                <a:cubicBezTo>
                  <a:pt x="48638" y="129717"/>
                  <a:pt x="43992" y="125070"/>
                  <a:pt x="38216" y="125070"/>
                </a:cubicBezTo>
                <a:cubicBezTo>
                  <a:pt x="32440" y="125070"/>
                  <a:pt x="27793" y="129717"/>
                  <a:pt x="27793" y="135492"/>
                </a:cubicBezTo>
                <a:cubicBezTo>
                  <a:pt x="27793" y="168106"/>
                  <a:pt x="54240" y="194553"/>
                  <a:pt x="86854" y="194553"/>
                </a:cubicBezTo>
                <a:cubicBezTo>
                  <a:pt x="92630" y="194553"/>
                  <a:pt x="97277" y="189906"/>
                  <a:pt x="97277" y="184131"/>
                </a:cubicBezTo>
                <a:cubicBezTo>
                  <a:pt x="97277" y="178355"/>
                  <a:pt x="92630" y="173708"/>
                  <a:pt x="86854" y="173708"/>
                </a:cubicBezTo>
                <a:cubicBezTo>
                  <a:pt x="65749" y="173708"/>
                  <a:pt x="48638" y="156598"/>
                  <a:pt x="48638" y="135492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9" name="Text 27"/>
          <p:cNvSpPr/>
          <p:nvPr/>
        </p:nvSpPr>
        <p:spPr>
          <a:xfrm>
            <a:off x="5022918" y="2288316"/>
            <a:ext cx="168612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Liquidity Engine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6832" y="2807125"/>
            <a:ext cx="3386152" cy="843064"/>
          </a:xfrm>
          <a:custGeom>
            <a:avLst/>
            <a:gdLst/>
            <a:ahLst/>
            <a:cxnLst/>
            <a:rect l="l" t="t" r="r" b="b"/>
            <a:pathLst>
              <a:path w="3386152" h="843064">
                <a:moveTo>
                  <a:pt x="0" y="0"/>
                </a:moveTo>
                <a:lnTo>
                  <a:pt x="3386152" y="0"/>
                </a:lnTo>
                <a:lnTo>
                  <a:pt x="3386152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6832" y="2807125"/>
            <a:ext cx="27793" cy="843064"/>
          </a:xfrm>
          <a:custGeom>
            <a:avLst/>
            <a:gdLst/>
            <a:ahLst/>
            <a:cxnLst/>
            <a:rect l="l" t="t" r="r" b="b"/>
            <a:pathLst>
              <a:path w="27793" h="843064">
                <a:moveTo>
                  <a:pt x="0" y="0"/>
                </a:moveTo>
                <a:lnTo>
                  <a:pt x="27793" y="0"/>
                </a:lnTo>
                <a:lnTo>
                  <a:pt x="27793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2" name="Text 30"/>
          <p:cNvSpPr/>
          <p:nvPr/>
        </p:nvSpPr>
        <p:spPr>
          <a:xfrm>
            <a:off x="4531902" y="2918298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Liquidity Stress Simulation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31902" y="3177702"/>
            <a:ext cx="3214760" cy="361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run-out scenarios under various stress conditions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06832" y="3756729"/>
            <a:ext cx="3386152" cy="843064"/>
          </a:xfrm>
          <a:custGeom>
            <a:avLst/>
            <a:gdLst/>
            <a:ahLst/>
            <a:cxnLst/>
            <a:rect l="l" t="t" r="r" b="b"/>
            <a:pathLst>
              <a:path w="3386152" h="843064">
                <a:moveTo>
                  <a:pt x="0" y="0"/>
                </a:moveTo>
                <a:lnTo>
                  <a:pt x="3386152" y="0"/>
                </a:lnTo>
                <a:lnTo>
                  <a:pt x="3386152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6832" y="3756729"/>
            <a:ext cx="27793" cy="843064"/>
          </a:xfrm>
          <a:custGeom>
            <a:avLst/>
            <a:gdLst/>
            <a:ahLst/>
            <a:cxnLst/>
            <a:rect l="l" t="t" r="r" b="b"/>
            <a:pathLst>
              <a:path w="27793" h="843064">
                <a:moveTo>
                  <a:pt x="0" y="0"/>
                </a:moveTo>
                <a:lnTo>
                  <a:pt x="27793" y="0"/>
                </a:lnTo>
                <a:lnTo>
                  <a:pt x="27793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6" name="Text 34"/>
          <p:cNvSpPr/>
          <p:nvPr/>
        </p:nvSpPr>
        <p:spPr>
          <a:xfrm>
            <a:off x="4531902" y="3867903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Exposure Monitoring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31902" y="4127307"/>
            <a:ext cx="3214760" cy="361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tracking of concentrated exposures by sector, geography, counterparty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06832" y="4706334"/>
            <a:ext cx="3386152" cy="657775"/>
          </a:xfrm>
          <a:custGeom>
            <a:avLst/>
            <a:gdLst/>
            <a:ahLst/>
            <a:cxnLst/>
            <a:rect l="l" t="t" r="r" b="b"/>
            <a:pathLst>
              <a:path w="3386152" h="657775">
                <a:moveTo>
                  <a:pt x="0" y="0"/>
                </a:moveTo>
                <a:lnTo>
                  <a:pt x="3386152" y="0"/>
                </a:lnTo>
                <a:lnTo>
                  <a:pt x="3386152" y="657775"/>
                </a:lnTo>
                <a:lnTo>
                  <a:pt x="0" y="6577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06832" y="4706334"/>
            <a:ext cx="27793" cy="657775"/>
          </a:xfrm>
          <a:custGeom>
            <a:avLst/>
            <a:gdLst/>
            <a:ahLst/>
            <a:cxnLst/>
            <a:rect l="l" t="t" r="r" b="b"/>
            <a:pathLst>
              <a:path w="27793" h="657775">
                <a:moveTo>
                  <a:pt x="0" y="0"/>
                </a:moveTo>
                <a:lnTo>
                  <a:pt x="27793" y="0"/>
                </a:lnTo>
                <a:lnTo>
                  <a:pt x="27793" y="657775"/>
                </a:lnTo>
                <a:lnTo>
                  <a:pt x="0" y="657775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0" name="Text 38"/>
          <p:cNvSpPr/>
          <p:nvPr/>
        </p:nvSpPr>
        <p:spPr>
          <a:xfrm>
            <a:off x="4531902" y="4817508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LCR &amp; NSFR Compliance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31902" y="5076912"/>
            <a:ext cx="3214760" cy="17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calculation of liquidity coverage ratios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97568" y="5660571"/>
            <a:ext cx="3390784" cy="342784"/>
          </a:xfrm>
          <a:custGeom>
            <a:avLst/>
            <a:gdLst/>
            <a:ahLst/>
            <a:cxnLst/>
            <a:rect l="l" t="t" r="r" b="b"/>
            <a:pathLst>
              <a:path w="3390784" h="342784">
                <a:moveTo>
                  <a:pt x="0" y="0"/>
                </a:moveTo>
                <a:lnTo>
                  <a:pt x="3390784" y="0"/>
                </a:lnTo>
                <a:lnTo>
                  <a:pt x="3390784" y="342784"/>
                </a:lnTo>
                <a:lnTo>
                  <a:pt x="0" y="342784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31902" y="576711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113489" y="64851"/>
                </a:moveTo>
                <a:cubicBezTo>
                  <a:pt x="113489" y="38007"/>
                  <a:pt x="91695" y="16213"/>
                  <a:pt x="64851" y="16213"/>
                </a:cubicBezTo>
                <a:cubicBezTo>
                  <a:pt x="38007" y="16213"/>
                  <a:pt x="16213" y="38007"/>
                  <a:pt x="16213" y="64851"/>
                </a:cubicBezTo>
                <a:cubicBezTo>
                  <a:pt x="16213" y="91695"/>
                  <a:pt x="38007" y="113489"/>
                  <a:pt x="64851" y="113489"/>
                </a:cubicBezTo>
                <a:cubicBezTo>
                  <a:pt x="91695" y="113489"/>
                  <a:pt x="113489" y="91695"/>
                  <a:pt x="113489" y="64851"/>
                </a:cubicBezTo>
                <a:close/>
                <a:moveTo>
                  <a:pt x="0" y="64851"/>
                </a:moveTo>
                <a:cubicBezTo>
                  <a:pt x="0" y="29059"/>
                  <a:pt x="29059" y="0"/>
                  <a:pt x="64851" y="0"/>
                </a:cubicBezTo>
                <a:cubicBezTo>
                  <a:pt x="100643" y="0"/>
                  <a:pt x="129702" y="29059"/>
                  <a:pt x="129702" y="64851"/>
                </a:cubicBezTo>
                <a:cubicBezTo>
                  <a:pt x="129702" y="100643"/>
                  <a:pt x="100643" y="129702"/>
                  <a:pt x="64851" y="129702"/>
                </a:cubicBezTo>
                <a:cubicBezTo>
                  <a:pt x="29059" y="129702"/>
                  <a:pt x="0" y="100643"/>
                  <a:pt x="0" y="64851"/>
                </a:cubicBezTo>
                <a:close/>
                <a:moveTo>
                  <a:pt x="64851" y="85117"/>
                </a:moveTo>
                <a:cubicBezTo>
                  <a:pt x="76036" y="85117"/>
                  <a:pt x="85117" y="76036"/>
                  <a:pt x="85117" y="64851"/>
                </a:cubicBezTo>
                <a:cubicBezTo>
                  <a:pt x="85117" y="53666"/>
                  <a:pt x="76036" y="44585"/>
                  <a:pt x="64851" y="44585"/>
                </a:cubicBezTo>
                <a:cubicBezTo>
                  <a:pt x="53666" y="44585"/>
                  <a:pt x="44585" y="53666"/>
                  <a:pt x="44585" y="64851"/>
                </a:cubicBezTo>
                <a:cubicBezTo>
                  <a:pt x="44585" y="76036"/>
                  <a:pt x="53666" y="85117"/>
                  <a:pt x="64851" y="85117"/>
                </a:cubicBezTo>
                <a:close/>
                <a:moveTo>
                  <a:pt x="64851" y="28372"/>
                </a:moveTo>
                <a:cubicBezTo>
                  <a:pt x="84984" y="28372"/>
                  <a:pt x="101330" y="44718"/>
                  <a:pt x="101330" y="64851"/>
                </a:cubicBezTo>
                <a:cubicBezTo>
                  <a:pt x="101330" y="84984"/>
                  <a:pt x="84984" y="101330"/>
                  <a:pt x="64851" y="101330"/>
                </a:cubicBezTo>
                <a:cubicBezTo>
                  <a:pt x="44718" y="101330"/>
                  <a:pt x="28372" y="84984"/>
                  <a:pt x="28372" y="64851"/>
                </a:cubicBezTo>
                <a:cubicBezTo>
                  <a:pt x="28372" y="44718"/>
                  <a:pt x="44718" y="28372"/>
                  <a:pt x="64851" y="28372"/>
                </a:cubicBezTo>
                <a:close/>
                <a:moveTo>
                  <a:pt x="56745" y="64851"/>
                </a:moveTo>
                <a:cubicBezTo>
                  <a:pt x="56745" y="60377"/>
                  <a:pt x="60377" y="56745"/>
                  <a:pt x="64851" y="56745"/>
                </a:cubicBezTo>
                <a:cubicBezTo>
                  <a:pt x="69325" y="56745"/>
                  <a:pt x="72957" y="60377"/>
                  <a:pt x="72957" y="64851"/>
                </a:cubicBezTo>
                <a:cubicBezTo>
                  <a:pt x="72957" y="69325"/>
                  <a:pt x="69325" y="72957"/>
                  <a:pt x="64851" y="72957"/>
                </a:cubicBezTo>
                <a:cubicBezTo>
                  <a:pt x="60377" y="72957"/>
                  <a:pt x="56745" y="69325"/>
                  <a:pt x="56745" y="64851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4" name="Text 42"/>
          <p:cNvSpPr/>
          <p:nvPr/>
        </p:nvSpPr>
        <p:spPr>
          <a:xfrm>
            <a:off x="4734199" y="5739319"/>
            <a:ext cx="300319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Bank-level liquidity health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5080" y="2024280"/>
            <a:ext cx="3705775" cy="4141204"/>
          </a:xfrm>
          <a:custGeom>
            <a:avLst/>
            <a:gdLst/>
            <a:ahLst/>
            <a:cxnLst/>
            <a:rect l="l" t="t" r="r" b="b"/>
            <a:pathLst>
              <a:path w="3705775" h="4141204">
                <a:moveTo>
                  <a:pt x="0" y="0"/>
                </a:moveTo>
                <a:lnTo>
                  <a:pt x="3705775" y="0"/>
                </a:lnTo>
                <a:lnTo>
                  <a:pt x="3705775" y="4141204"/>
                </a:lnTo>
                <a:lnTo>
                  <a:pt x="0" y="4141204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7943" y="217714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0" y="0"/>
                </a:moveTo>
                <a:lnTo>
                  <a:pt x="518809" y="0"/>
                </a:lnTo>
                <a:lnTo>
                  <a:pt x="518809" y="518809"/>
                </a:lnTo>
                <a:lnTo>
                  <a:pt x="0" y="51880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7" name="Shape 45"/>
          <p:cNvSpPr/>
          <p:nvPr/>
        </p:nvSpPr>
        <p:spPr>
          <a:xfrm>
            <a:off x="8406174" y="232537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0" y="34742"/>
                </a:moveTo>
                <a:cubicBezTo>
                  <a:pt x="0" y="23233"/>
                  <a:pt x="9337" y="13897"/>
                  <a:pt x="20845" y="13897"/>
                </a:cubicBezTo>
                <a:lnTo>
                  <a:pt x="62535" y="13897"/>
                </a:lnTo>
                <a:cubicBezTo>
                  <a:pt x="74043" y="13897"/>
                  <a:pt x="83380" y="23233"/>
                  <a:pt x="83380" y="34742"/>
                </a:cubicBezTo>
                <a:lnTo>
                  <a:pt x="83380" y="41690"/>
                </a:lnTo>
                <a:lnTo>
                  <a:pt x="138967" y="41690"/>
                </a:lnTo>
                <a:lnTo>
                  <a:pt x="138967" y="34742"/>
                </a:lnTo>
                <a:cubicBezTo>
                  <a:pt x="138967" y="23233"/>
                  <a:pt x="148303" y="13897"/>
                  <a:pt x="159812" y="13897"/>
                </a:cubicBezTo>
                <a:lnTo>
                  <a:pt x="201502" y="13897"/>
                </a:lnTo>
                <a:cubicBezTo>
                  <a:pt x="213010" y="13897"/>
                  <a:pt x="222347" y="23233"/>
                  <a:pt x="222347" y="34742"/>
                </a:cubicBezTo>
                <a:lnTo>
                  <a:pt x="222347" y="76432"/>
                </a:lnTo>
                <a:cubicBezTo>
                  <a:pt x="222347" y="87940"/>
                  <a:pt x="213010" y="97277"/>
                  <a:pt x="201502" y="97277"/>
                </a:cubicBezTo>
                <a:lnTo>
                  <a:pt x="159812" y="97277"/>
                </a:lnTo>
                <a:cubicBezTo>
                  <a:pt x="148303" y="97277"/>
                  <a:pt x="138967" y="87940"/>
                  <a:pt x="138967" y="76432"/>
                </a:cubicBezTo>
                <a:lnTo>
                  <a:pt x="138967" y="69483"/>
                </a:lnTo>
                <a:lnTo>
                  <a:pt x="83380" y="69483"/>
                </a:lnTo>
                <a:lnTo>
                  <a:pt x="83380" y="76432"/>
                </a:lnTo>
                <a:cubicBezTo>
                  <a:pt x="83380" y="79602"/>
                  <a:pt x="82642" y="82642"/>
                  <a:pt x="81382" y="85334"/>
                </a:cubicBezTo>
                <a:lnTo>
                  <a:pt x="111173" y="125070"/>
                </a:lnTo>
                <a:lnTo>
                  <a:pt x="145915" y="125070"/>
                </a:lnTo>
                <a:cubicBezTo>
                  <a:pt x="157423" y="125070"/>
                  <a:pt x="166760" y="134407"/>
                  <a:pt x="166760" y="145915"/>
                </a:cubicBezTo>
                <a:lnTo>
                  <a:pt x="166760" y="187605"/>
                </a:lnTo>
                <a:cubicBezTo>
                  <a:pt x="166760" y="199113"/>
                  <a:pt x="157423" y="208450"/>
                  <a:pt x="145915" y="208450"/>
                </a:cubicBezTo>
                <a:lnTo>
                  <a:pt x="104225" y="208450"/>
                </a:lnTo>
                <a:cubicBezTo>
                  <a:pt x="92717" y="208450"/>
                  <a:pt x="83380" y="199113"/>
                  <a:pt x="83380" y="187605"/>
                </a:cubicBezTo>
                <a:lnTo>
                  <a:pt x="83380" y="145915"/>
                </a:lnTo>
                <a:cubicBezTo>
                  <a:pt x="83380" y="142745"/>
                  <a:pt x="84118" y="139705"/>
                  <a:pt x="85378" y="137012"/>
                </a:cubicBezTo>
                <a:lnTo>
                  <a:pt x="55587" y="97277"/>
                </a:lnTo>
                <a:lnTo>
                  <a:pt x="20845" y="97277"/>
                </a:lnTo>
                <a:cubicBezTo>
                  <a:pt x="9337" y="97277"/>
                  <a:pt x="0" y="87940"/>
                  <a:pt x="0" y="76432"/>
                </a:cubicBezTo>
                <a:lnTo>
                  <a:pt x="0" y="3474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8887925" y="2288316"/>
            <a:ext cx="184362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Contagion Engine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71840" y="2807125"/>
            <a:ext cx="3386152" cy="843064"/>
          </a:xfrm>
          <a:custGeom>
            <a:avLst/>
            <a:gdLst/>
            <a:ahLst/>
            <a:cxnLst/>
            <a:rect l="l" t="t" r="r" b="b"/>
            <a:pathLst>
              <a:path w="3386152" h="843064">
                <a:moveTo>
                  <a:pt x="0" y="0"/>
                </a:moveTo>
                <a:lnTo>
                  <a:pt x="3386152" y="0"/>
                </a:lnTo>
                <a:lnTo>
                  <a:pt x="3386152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71840" y="2807125"/>
            <a:ext cx="27793" cy="843064"/>
          </a:xfrm>
          <a:custGeom>
            <a:avLst/>
            <a:gdLst/>
            <a:ahLst/>
            <a:cxnLst/>
            <a:rect l="l" t="t" r="r" b="b"/>
            <a:pathLst>
              <a:path w="27793" h="843064">
                <a:moveTo>
                  <a:pt x="0" y="0"/>
                </a:moveTo>
                <a:lnTo>
                  <a:pt x="27793" y="0"/>
                </a:lnTo>
                <a:lnTo>
                  <a:pt x="27793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1" name="Text 49"/>
          <p:cNvSpPr/>
          <p:nvPr/>
        </p:nvSpPr>
        <p:spPr>
          <a:xfrm>
            <a:off x="8396910" y="2918298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Exposure Modeling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96910" y="3177702"/>
            <a:ext cx="3214760" cy="361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interconnected exposures across counterparties and sectors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71840" y="3756729"/>
            <a:ext cx="3386152" cy="843064"/>
          </a:xfrm>
          <a:custGeom>
            <a:avLst/>
            <a:gdLst/>
            <a:ahLst/>
            <a:cxnLst/>
            <a:rect l="l" t="t" r="r" b="b"/>
            <a:pathLst>
              <a:path w="3386152" h="843064">
                <a:moveTo>
                  <a:pt x="0" y="0"/>
                </a:moveTo>
                <a:lnTo>
                  <a:pt x="3386152" y="0"/>
                </a:lnTo>
                <a:lnTo>
                  <a:pt x="3386152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71840" y="3756729"/>
            <a:ext cx="27793" cy="843064"/>
          </a:xfrm>
          <a:custGeom>
            <a:avLst/>
            <a:gdLst/>
            <a:ahLst/>
            <a:cxnLst/>
            <a:rect l="l" t="t" r="r" b="b"/>
            <a:pathLst>
              <a:path w="27793" h="843064">
                <a:moveTo>
                  <a:pt x="0" y="0"/>
                </a:moveTo>
                <a:lnTo>
                  <a:pt x="27793" y="0"/>
                </a:lnTo>
                <a:lnTo>
                  <a:pt x="27793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5" name="Text 53"/>
          <p:cNvSpPr/>
          <p:nvPr/>
        </p:nvSpPr>
        <p:spPr>
          <a:xfrm>
            <a:off x="8396910" y="3867903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Systemic Risk Detection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96910" y="4127307"/>
            <a:ext cx="3214760" cy="361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concentration risks that could cascade through the system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71840" y="4706334"/>
            <a:ext cx="3386152" cy="843064"/>
          </a:xfrm>
          <a:custGeom>
            <a:avLst/>
            <a:gdLst/>
            <a:ahLst/>
            <a:cxnLst/>
            <a:rect l="l" t="t" r="r" b="b"/>
            <a:pathLst>
              <a:path w="3386152" h="843064">
                <a:moveTo>
                  <a:pt x="0" y="0"/>
                </a:moveTo>
                <a:lnTo>
                  <a:pt x="3386152" y="0"/>
                </a:lnTo>
                <a:lnTo>
                  <a:pt x="3386152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271840" y="4706334"/>
            <a:ext cx="27793" cy="843064"/>
          </a:xfrm>
          <a:custGeom>
            <a:avLst/>
            <a:gdLst/>
            <a:ahLst/>
            <a:cxnLst/>
            <a:rect l="l" t="t" r="r" b="b"/>
            <a:pathLst>
              <a:path w="27793" h="843064">
                <a:moveTo>
                  <a:pt x="0" y="0"/>
                </a:moveTo>
                <a:lnTo>
                  <a:pt x="27793" y="0"/>
                </a:lnTo>
                <a:lnTo>
                  <a:pt x="27793" y="843064"/>
                </a:lnTo>
                <a:lnTo>
                  <a:pt x="0" y="84306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9" name="Text 57"/>
          <p:cNvSpPr/>
          <p:nvPr/>
        </p:nvSpPr>
        <p:spPr>
          <a:xfrm>
            <a:off x="8396910" y="4817508"/>
            <a:ext cx="322402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Cross-Bank Visibility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96910" y="5076912"/>
            <a:ext cx="3214760" cy="361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multiple banks deploy REVENANT, enables systemic risk monitoring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62576" y="5660571"/>
            <a:ext cx="3390784" cy="342784"/>
          </a:xfrm>
          <a:custGeom>
            <a:avLst/>
            <a:gdLst/>
            <a:ahLst/>
            <a:cxnLst/>
            <a:rect l="l" t="t" r="r" b="b"/>
            <a:pathLst>
              <a:path w="3390784" h="342784">
                <a:moveTo>
                  <a:pt x="0" y="0"/>
                </a:moveTo>
                <a:lnTo>
                  <a:pt x="3390784" y="0"/>
                </a:lnTo>
                <a:lnTo>
                  <a:pt x="3390784" y="342784"/>
                </a:lnTo>
                <a:lnTo>
                  <a:pt x="0" y="342784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96910" y="576711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113489" y="64851"/>
                </a:moveTo>
                <a:cubicBezTo>
                  <a:pt x="113489" y="38007"/>
                  <a:pt x="91695" y="16213"/>
                  <a:pt x="64851" y="16213"/>
                </a:cubicBezTo>
                <a:cubicBezTo>
                  <a:pt x="38007" y="16213"/>
                  <a:pt x="16213" y="38007"/>
                  <a:pt x="16213" y="64851"/>
                </a:cubicBezTo>
                <a:cubicBezTo>
                  <a:pt x="16213" y="91695"/>
                  <a:pt x="38007" y="113489"/>
                  <a:pt x="64851" y="113489"/>
                </a:cubicBezTo>
                <a:cubicBezTo>
                  <a:pt x="91695" y="113489"/>
                  <a:pt x="113489" y="91695"/>
                  <a:pt x="113489" y="64851"/>
                </a:cubicBezTo>
                <a:close/>
                <a:moveTo>
                  <a:pt x="0" y="64851"/>
                </a:moveTo>
                <a:cubicBezTo>
                  <a:pt x="0" y="29059"/>
                  <a:pt x="29059" y="0"/>
                  <a:pt x="64851" y="0"/>
                </a:cubicBezTo>
                <a:cubicBezTo>
                  <a:pt x="100643" y="0"/>
                  <a:pt x="129702" y="29059"/>
                  <a:pt x="129702" y="64851"/>
                </a:cubicBezTo>
                <a:cubicBezTo>
                  <a:pt x="129702" y="100643"/>
                  <a:pt x="100643" y="129702"/>
                  <a:pt x="64851" y="129702"/>
                </a:cubicBezTo>
                <a:cubicBezTo>
                  <a:pt x="29059" y="129702"/>
                  <a:pt x="0" y="100643"/>
                  <a:pt x="0" y="64851"/>
                </a:cubicBezTo>
                <a:close/>
                <a:moveTo>
                  <a:pt x="64851" y="85117"/>
                </a:moveTo>
                <a:cubicBezTo>
                  <a:pt x="76036" y="85117"/>
                  <a:pt x="85117" y="76036"/>
                  <a:pt x="85117" y="64851"/>
                </a:cubicBezTo>
                <a:cubicBezTo>
                  <a:pt x="85117" y="53666"/>
                  <a:pt x="76036" y="44585"/>
                  <a:pt x="64851" y="44585"/>
                </a:cubicBezTo>
                <a:cubicBezTo>
                  <a:pt x="53666" y="44585"/>
                  <a:pt x="44585" y="53666"/>
                  <a:pt x="44585" y="64851"/>
                </a:cubicBezTo>
                <a:cubicBezTo>
                  <a:pt x="44585" y="76036"/>
                  <a:pt x="53666" y="85117"/>
                  <a:pt x="64851" y="85117"/>
                </a:cubicBezTo>
                <a:close/>
                <a:moveTo>
                  <a:pt x="64851" y="28372"/>
                </a:moveTo>
                <a:cubicBezTo>
                  <a:pt x="84984" y="28372"/>
                  <a:pt x="101330" y="44718"/>
                  <a:pt x="101330" y="64851"/>
                </a:cubicBezTo>
                <a:cubicBezTo>
                  <a:pt x="101330" y="84984"/>
                  <a:pt x="84984" y="101330"/>
                  <a:pt x="64851" y="101330"/>
                </a:cubicBezTo>
                <a:cubicBezTo>
                  <a:pt x="44718" y="101330"/>
                  <a:pt x="28372" y="84984"/>
                  <a:pt x="28372" y="64851"/>
                </a:cubicBezTo>
                <a:cubicBezTo>
                  <a:pt x="28372" y="44718"/>
                  <a:pt x="44718" y="28372"/>
                  <a:pt x="64851" y="28372"/>
                </a:cubicBezTo>
                <a:close/>
                <a:moveTo>
                  <a:pt x="56745" y="64851"/>
                </a:moveTo>
                <a:cubicBezTo>
                  <a:pt x="56745" y="60377"/>
                  <a:pt x="60377" y="56745"/>
                  <a:pt x="64851" y="56745"/>
                </a:cubicBezTo>
                <a:cubicBezTo>
                  <a:pt x="69325" y="56745"/>
                  <a:pt x="72957" y="60377"/>
                  <a:pt x="72957" y="64851"/>
                </a:cubicBezTo>
                <a:cubicBezTo>
                  <a:pt x="72957" y="69325"/>
                  <a:pt x="69325" y="72957"/>
                  <a:pt x="64851" y="72957"/>
                </a:cubicBezTo>
                <a:cubicBezTo>
                  <a:pt x="60377" y="72957"/>
                  <a:pt x="56745" y="69325"/>
                  <a:pt x="56745" y="6485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3" name="Text 61"/>
          <p:cNvSpPr/>
          <p:nvPr/>
        </p:nvSpPr>
        <p:spPr>
          <a:xfrm>
            <a:off x="8599207" y="5739319"/>
            <a:ext cx="3003198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Systemic stability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4474" y="6313714"/>
            <a:ext cx="11436948" cy="537337"/>
          </a:xfrm>
          <a:custGeom>
            <a:avLst/>
            <a:gdLst/>
            <a:ahLst/>
            <a:cxnLst/>
            <a:rect l="l" t="t" r="r" b="b"/>
            <a:pathLst>
              <a:path w="11436948" h="537337">
                <a:moveTo>
                  <a:pt x="0" y="0"/>
                </a:moveTo>
                <a:lnTo>
                  <a:pt x="11436948" y="0"/>
                </a:lnTo>
                <a:lnTo>
                  <a:pt x="11436948" y="537337"/>
                </a:lnTo>
                <a:lnTo>
                  <a:pt x="0" y="537337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84474" y="6313714"/>
            <a:ext cx="27793" cy="537337"/>
          </a:xfrm>
          <a:custGeom>
            <a:avLst/>
            <a:gdLst/>
            <a:ahLst/>
            <a:cxnLst/>
            <a:rect l="l" t="t" r="r" b="b"/>
            <a:pathLst>
              <a:path w="27793" h="537337">
                <a:moveTo>
                  <a:pt x="0" y="0"/>
                </a:moveTo>
                <a:lnTo>
                  <a:pt x="27793" y="0"/>
                </a:lnTo>
                <a:lnTo>
                  <a:pt x="27793" y="537337"/>
                </a:lnTo>
                <a:lnTo>
                  <a:pt x="0" y="53733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6" name="Shape 64"/>
          <p:cNvSpPr/>
          <p:nvPr/>
        </p:nvSpPr>
        <p:spPr>
          <a:xfrm>
            <a:off x="565131" y="6508267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34742" y="16213"/>
                </a:moveTo>
                <a:cubicBezTo>
                  <a:pt x="34742" y="7267"/>
                  <a:pt x="42008" y="0"/>
                  <a:pt x="50954" y="0"/>
                </a:cubicBezTo>
                <a:lnTo>
                  <a:pt x="57903" y="0"/>
                </a:lnTo>
                <a:cubicBezTo>
                  <a:pt x="63027" y="0"/>
                  <a:pt x="67167" y="4140"/>
                  <a:pt x="67167" y="9264"/>
                </a:cubicBezTo>
                <a:lnTo>
                  <a:pt x="67167" y="138967"/>
                </a:lnTo>
                <a:cubicBezTo>
                  <a:pt x="67167" y="144091"/>
                  <a:pt x="63027" y="148231"/>
                  <a:pt x="57903" y="148231"/>
                </a:cubicBezTo>
                <a:lnTo>
                  <a:pt x="48638" y="148231"/>
                </a:lnTo>
                <a:cubicBezTo>
                  <a:pt x="40011" y="148231"/>
                  <a:pt x="32744" y="142325"/>
                  <a:pt x="30688" y="134334"/>
                </a:cubicBezTo>
                <a:cubicBezTo>
                  <a:pt x="30486" y="134334"/>
                  <a:pt x="30312" y="134334"/>
                  <a:pt x="30109" y="134334"/>
                </a:cubicBezTo>
                <a:cubicBezTo>
                  <a:pt x="17313" y="134334"/>
                  <a:pt x="6948" y="123970"/>
                  <a:pt x="6948" y="111173"/>
                </a:cubicBezTo>
                <a:cubicBezTo>
                  <a:pt x="6948" y="105962"/>
                  <a:pt x="8685" y="101156"/>
                  <a:pt x="11581" y="97277"/>
                </a:cubicBezTo>
                <a:cubicBezTo>
                  <a:pt x="5964" y="93050"/>
                  <a:pt x="2316" y="86333"/>
                  <a:pt x="2316" y="78748"/>
                </a:cubicBezTo>
                <a:cubicBezTo>
                  <a:pt x="2316" y="69802"/>
                  <a:pt x="7412" y="62014"/>
                  <a:pt x="14823" y="58163"/>
                </a:cubicBezTo>
                <a:cubicBezTo>
                  <a:pt x="12768" y="54689"/>
                  <a:pt x="11581" y="50636"/>
                  <a:pt x="11581" y="46322"/>
                </a:cubicBezTo>
                <a:cubicBezTo>
                  <a:pt x="11581" y="33526"/>
                  <a:pt x="21945" y="23161"/>
                  <a:pt x="34742" y="23161"/>
                </a:cubicBezTo>
                <a:lnTo>
                  <a:pt x="34742" y="16213"/>
                </a:lnTo>
                <a:close/>
                <a:moveTo>
                  <a:pt x="113489" y="16213"/>
                </a:moveTo>
                <a:lnTo>
                  <a:pt x="113489" y="23161"/>
                </a:lnTo>
                <a:cubicBezTo>
                  <a:pt x="126286" y="23161"/>
                  <a:pt x="136650" y="33526"/>
                  <a:pt x="136650" y="46322"/>
                </a:cubicBezTo>
                <a:cubicBezTo>
                  <a:pt x="136650" y="50665"/>
                  <a:pt x="135463" y="54718"/>
                  <a:pt x="133408" y="58163"/>
                </a:cubicBezTo>
                <a:cubicBezTo>
                  <a:pt x="140848" y="62014"/>
                  <a:pt x="145915" y="69773"/>
                  <a:pt x="145915" y="78748"/>
                </a:cubicBezTo>
                <a:cubicBezTo>
                  <a:pt x="145915" y="86333"/>
                  <a:pt x="142267" y="93050"/>
                  <a:pt x="136650" y="97277"/>
                </a:cubicBezTo>
                <a:cubicBezTo>
                  <a:pt x="139546" y="101156"/>
                  <a:pt x="141283" y="105962"/>
                  <a:pt x="141283" y="111173"/>
                </a:cubicBezTo>
                <a:cubicBezTo>
                  <a:pt x="141283" y="123970"/>
                  <a:pt x="130918" y="134334"/>
                  <a:pt x="118122" y="134334"/>
                </a:cubicBezTo>
                <a:cubicBezTo>
                  <a:pt x="117919" y="134334"/>
                  <a:pt x="117745" y="134334"/>
                  <a:pt x="117543" y="134334"/>
                </a:cubicBezTo>
                <a:cubicBezTo>
                  <a:pt x="115487" y="142325"/>
                  <a:pt x="108220" y="148231"/>
                  <a:pt x="99593" y="148231"/>
                </a:cubicBezTo>
                <a:lnTo>
                  <a:pt x="90328" y="148231"/>
                </a:lnTo>
                <a:cubicBezTo>
                  <a:pt x="85204" y="148231"/>
                  <a:pt x="81064" y="144091"/>
                  <a:pt x="81064" y="138967"/>
                </a:cubicBezTo>
                <a:lnTo>
                  <a:pt x="81064" y="9264"/>
                </a:lnTo>
                <a:cubicBezTo>
                  <a:pt x="81064" y="4140"/>
                  <a:pt x="85204" y="0"/>
                  <a:pt x="90328" y="0"/>
                </a:cubicBezTo>
                <a:lnTo>
                  <a:pt x="97277" y="0"/>
                </a:lnTo>
                <a:cubicBezTo>
                  <a:pt x="106223" y="0"/>
                  <a:pt x="113489" y="7267"/>
                  <a:pt x="113489" y="16213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7" name="Text 65"/>
          <p:cNvSpPr/>
          <p:nvPr/>
        </p:nvSpPr>
        <p:spPr>
          <a:xfrm>
            <a:off x="785957" y="6461945"/>
            <a:ext cx="10961350" cy="240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Financial Intelligence: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engines allow banks to </a:t>
            </a:r>
            <a:pPr>
              <a:lnSpc>
                <a:spcPct val="140000"/>
              </a:lnSpc>
            </a:pPr>
            <a:r>
              <a:rPr lang="en-US" sz="116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 and control financial risk in real time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—not in overnight batches, but at the speed of business.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8448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spc="183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65909"/>
            <a:ext cx="11676025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Frictionless Retail Accessibility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2887" y="998662"/>
            <a:ext cx="798930" cy="16644"/>
          </a:xfrm>
          <a:custGeom>
            <a:avLst/>
            <a:gdLst/>
            <a:ahLst/>
            <a:cxnLst/>
            <a:rect l="l" t="t" r="r" b="b"/>
            <a:pathLst>
              <a:path w="798930" h="16644">
                <a:moveTo>
                  <a:pt x="0" y="0"/>
                </a:moveTo>
                <a:lnTo>
                  <a:pt x="798930" y="0"/>
                </a:lnTo>
                <a:lnTo>
                  <a:pt x="798930" y="16644"/>
                </a:lnTo>
                <a:lnTo>
                  <a:pt x="0" y="1664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37048" y="1185911"/>
            <a:ext cx="5176399" cy="2604844"/>
          </a:xfrm>
          <a:custGeom>
            <a:avLst/>
            <a:gdLst/>
            <a:ahLst/>
            <a:cxnLst/>
            <a:rect l="l" t="t" r="r" b="b"/>
            <a:pathLst>
              <a:path w="5176399" h="2604844">
                <a:moveTo>
                  <a:pt x="0" y="0"/>
                </a:moveTo>
                <a:lnTo>
                  <a:pt x="5176399" y="0"/>
                </a:lnTo>
                <a:lnTo>
                  <a:pt x="5176399" y="2604844"/>
                </a:lnTo>
                <a:lnTo>
                  <a:pt x="0" y="2604844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653" y="1356516"/>
            <a:ext cx="4935055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AI Assistant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653" y="1755981"/>
            <a:ext cx="4901767" cy="43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40000"/>
              </a:lnSpc>
            </a:pPr>
            <a:r>
              <a:rPr lang="en-US" sz="1048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Auto-Fill Engine</a:t>
            </a:r>
            <a:pPr>
              <a:lnSpc>
                <a:spcPct val="140000"/>
              </a:lnSpc>
            </a:pPr>
            <a:r>
              <a:rPr lang="en-US" sz="1048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eliminates friction for SMEs and individuals when creating complex financial transactions.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1814" y="2326051"/>
            <a:ext cx="4826867" cy="1289939"/>
          </a:xfrm>
          <a:custGeom>
            <a:avLst/>
            <a:gdLst/>
            <a:ahLst/>
            <a:cxnLst/>
            <a:rect l="l" t="t" r="r" b="b"/>
            <a:pathLst>
              <a:path w="4826867" h="1289939">
                <a:moveTo>
                  <a:pt x="0" y="0"/>
                </a:moveTo>
                <a:lnTo>
                  <a:pt x="4826867" y="0"/>
                </a:lnTo>
                <a:lnTo>
                  <a:pt x="4826867" y="1289939"/>
                </a:lnTo>
                <a:lnTo>
                  <a:pt x="0" y="128993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130" y="2463367"/>
            <a:ext cx="4627134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0339" y="2829543"/>
            <a:ext cx="87383" cy="116511"/>
          </a:xfrm>
          <a:custGeom>
            <a:avLst/>
            <a:gdLst/>
            <a:ahLst/>
            <a:cxnLst/>
            <a:rect l="l" t="t" r="r" b="b"/>
            <a:pathLst>
              <a:path w="87383" h="116511">
                <a:moveTo>
                  <a:pt x="14564" y="0"/>
                </a:moveTo>
                <a:cubicBezTo>
                  <a:pt x="6531" y="0"/>
                  <a:pt x="0" y="6531"/>
                  <a:pt x="0" y="14564"/>
                </a:cubicBezTo>
                <a:lnTo>
                  <a:pt x="0" y="101947"/>
                </a:lnTo>
                <a:cubicBezTo>
                  <a:pt x="0" y="109980"/>
                  <a:pt x="6531" y="116511"/>
                  <a:pt x="14564" y="116511"/>
                </a:cubicBezTo>
                <a:lnTo>
                  <a:pt x="72819" y="116511"/>
                </a:lnTo>
                <a:cubicBezTo>
                  <a:pt x="80852" y="116511"/>
                  <a:pt x="87383" y="109980"/>
                  <a:pt x="87383" y="101947"/>
                </a:cubicBezTo>
                <a:lnTo>
                  <a:pt x="87383" y="38799"/>
                </a:lnTo>
                <a:cubicBezTo>
                  <a:pt x="87383" y="34930"/>
                  <a:pt x="85858" y="31221"/>
                  <a:pt x="83128" y="28490"/>
                </a:cubicBezTo>
                <a:lnTo>
                  <a:pt x="58870" y="4255"/>
                </a:lnTo>
                <a:cubicBezTo>
                  <a:pt x="56139" y="1525"/>
                  <a:pt x="52453" y="0"/>
                  <a:pt x="48584" y="0"/>
                </a:cubicBezTo>
                <a:lnTo>
                  <a:pt x="14564" y="0"/>
                </a:lnTo>
                <a:close/>
                <a:moveTo>
                  <a:pt x="74071" y="40051"/>
                </a:moveTo>
                <a:lnTo>
                  <a:pt x="52794" y="40051"/>
                </a:lnTo>
                <a:cubicBezTo>
                  <a:pt x="49767" y="40051"/>
                  <a:pt x="47332" y="37616"/>
                  <a:pt x="47332" y="34589"/>
                </a:cubicBezTo>
                <a:lnTo>
                  <a:pt x="47332" y="13312"/>
                </a:lnTo>
                <a:lnTo>
                  <a:pt x="74071" y="40051"/>
                </a:lnTo>
                <a:close/>
                <a:moveTo>
                  <a:pt x="14564" y="87383"/>
                </a:moveTo>
                <a:lnTo>
                  <a:pt x="14564" y="72819"/>
                </a:lnTo>
                <a:cubicBezTo>
                  <a:pt x="14564" y="68791"/>
                  <a:pt x="17818" y="65537"/>
                  <a:pt x="21846" y="65537"/>
                </a:cubicBezTo>
                <a:lnTo>
                  <a:pt x="65537" y="65537"/>
                </a:lnTo>
                <a:cubicBezTo>
                  <a:pt x="69565" y="65537"/>
                  <a:pt x="72819" y="68791"/>
                  <a:pt x="72819" y="72819"/>
                </a:cubicBezTo>
                <a:lnTo>
                  <a:pt x="72819" y="87383"/>
                </a:lnTo>
                <a:cubicBezTo>
                  <a:pt x="72819" y="91411"/>
                  <a:pt x="69565" y="94665"/>
                  <a:pt x="65537" y="94665"/>
                </a:cubicBezTo>
                <a:lnTo>
                  <a:pt x="21846" y="94665"/>
                </a:lnTo>
                <a:cubicBezTo>
                  <a:pt x="17818" y="94665"/>
                  <a:pt x="14564" y="91411"/>
                  <a:pt x="14564" y="87383"/>
                </a:cubicBezTo>
                <a:close/>
                <a:moveTo>
                  <a:pt x="20025" y="14564"/>
                </a:moveTo>
                <a:lnTo>
                  <a:pt x="30948" y="14564"/>
                </a:lnTo>
                <a:cubicBezTo>
                  <a:pt x="33975" y="14564"/>
                  <a:pt x="36410" y="16999"/>
                  <a:pt x="36410" y="20025"/>
                </a:cubicBezTo>
                <a:cubicBezTo>
                  <a:pt x="36410" y="23052"/>
                  <a:pt x="33975" y="25487"/>
                  <a:pt x="30948" y="25487"/>
                </a:cubicBezTo>
                <a:lnTo>
                  <a:pt x="20025" y="25487"/>
                </a:lnTo>
                <a:cubicBezTo>
                  <a:pt x="16999" y="25487"/>
                  <a:pt x="14564" y="23052"/>
                  <a:pt x="14564" y="20025"/>
                </a:cubicBezTo>
                <a:cubicBezTo>
                  <a:pt x="14564" y="16999"/>
                  <a:pt x="16999" y="14564"/>
                  <a:pt x="20025" y="14564"/>
                </a:cubicBezTo>
                <a:close/>
                <a:moveTo>
                  <a:pt x="20025" y="36410"/>
                </a:moveTo>
                <a:lnTo>
                  <a:pt x="30948" y="36410"/>
                </a:lnTo>
                <a:cubicBezTo>
                  <a:pt x="33975" y="36410"/>
                  <a:pt x="36410" y="38844"/>
                  <a:pt x="36410" y="41871"/>
                </a:cubicBezTo>
                <a:cubicBezTo>
                  <a:pt x="36410" y="44898"/>
                  <a:pt x="33975" y="47332"/>
                  <a:pt x="30948" y="47332"/>
                </a:cubicBezTo>
                <a:lnTo>
                  <a:pt x="20025" y="47332"/>
                </a:lnTo>
                <a:cubicBezTo>
                  <a:pt x="16999" y="47332"/>
                  <a:pt x="14564" y="44898"/>
                  <a:pt x="14564" y="41871"/>
                </a:cubicBezTo>
                <a:cubicBezTo>
                  <a:pt x="14564" y="38844"/>
                  <a:pt x="16999" y="36410"/>
                  <a:pt x="20025" y="36410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1" name="Text 9"/>
          <p:cNvSpPr/>
          <p:nvPr/>
        </p:nvSpPr>
        <p:spPr>
          <a:xfrm>
            <a:off x="861346" y="2796254"/>
            <a:ext cx="4011293" cy="18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8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Reading:</a:t>
            </a:r>
            <a:pPr>
              <a:lnSpc>
                <a:spcPct val="110000"/>
              </a:lnSpc>
            </a:pPr>
            <a:r>
              <a:rPr lang="en-US" sz="104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reads invoices, contracts, financial statements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3057" y="3079208"/>
            <a:ext cx="101947" cy="116511"/>
          </a:xfrm>
          <a:custGeom>
            <a:avLst/>
            <a:gdLst/>
            <a:ahLst/>
            <a:cxnLst/>
            <a:rect l="l" t="t" r="r" b="b"/>
            <a:pathLst>
              <a:path w="101947" h="116511">
                <a:moveTo>
                  <a:pt x="101947" y="46832"/>
                </a:moveTo>
                <a:cubicBezTo>
                  <a:pt x="98579" y="49062"/>
                  <a:pt x="94710" y="50860"/>
                  <a:pt x="90683" y="52293"/>
                </a:cubicBezTo>
                <a:cubicBezTo>
                  <a:pt x="79987" y="56116"/>
                  <a:pt x="65947" y="58255"/>
                  <a:pt x="50973" y="58255"/>
                </a:cubicBezTo>
                <a:cubicBezTo>
                  <a:pt x="36000" y="58255"/>
                  <a:pt x="21937" y="56093"/>
                  <a:pt x="11264" y="52293"/>
                </a:cubicBezTo>
                <a:cubicBezTo>
                  <a:pt x="7259" y="50860"/>
                  <a:pt x="3368" y="49062"/>
                  <a:pt x="0" y="46832"/>
                </a:cubicBezTo>
                <a:lnTo>
                  <a:pt x="0" y="65537"/>
                </a:lnTo>
                <a:cubicBezTo>
                  <a:pt x="0" y="75595"/>
                  <a:pt x="22824" y="83742"/>
                  <a:pt x="50973" y="83742"/>
                </a:cubicBezTo>
                <a:cubicBezTo>
                  <a:pt x="79123" y="83742"/>
                  <a:pt x="101947" y="75595"/>
                  <a:pt x="101947" y="65537"/>
                </a:cubicBezTo>
                <a:lnTo>
                  <a:pt x="101947" y="46832"/>
                </a:lnTo>
                <a:close/>
                <a:moveTo>
                  <a:pt x="101947" y="29128"/>
                </a:moveTo>
                <a:lnTo>
                  <a:pt x="101947" y="18205"/>
                </a:lnTo>
                <a:cubicBezTo>
                  <a:pt x="101947" y="8147"/>
                  <a:pt x="79123" y="0"/>
                  <a:pt x="50973" y="0"/>
                </a:cubicBezTo>
                <a:cubicBezTo>
                  <a:pt x="22824" y="0"/>
                  <a:pt x="0" y="8147"/>
                  <a:pt x="0" y="18205"/>
                </a:cubicBezTo>
                <a:lnTo>
                  <a:pt x="0" y="29128"/>
                </a:lnTo>
                <a:cubicBezTo>
                  <a:pt x="0" y="39186"/>
                  <a:pt x="22824" y="47332"/>
                  <a:pt x="50973" y="47332"/>
                </a:cubicBezTo>
                <a:cubicBezTo>
                  <a:pt x="79123" y="47332"/>
                  <a:pt x="101947" y="39186"/>
                  <a:pt x="101947" y="29128"/>
                </a:cubicBezTo>
                <a:close/>
                <a:moveTo>
                  <a:pt x="90683" y="88703"/>
                </a:moveTo>
                <a:cubicBezTo>
                  <a:pt x="80010" y="92503"/>
                  <a:pt x="65970" y="94665"/>
                  <a:pt x="50973" y="94665"/>
                </a:cubicBezTo>
                <a:cubicBezTo>
                  <a:pt x="35977" y="94665"/>
                  <a:pt x="21937" y="92503"/>
                  <a:pt x="11264" y="88703"/>
                </a:cubicBezTo>
                <a:cubicBezTo>
                  <a:pt x="7259" y="87269"/>
                  <a:pt x="3368" y="85471"/>
                  <a:pt x="0" y="83241"/>
                </a:cubicBezTo>
                <a:lnTo>
                  <a:pt x="0" y="98306"/>
                </a:lnTo>
                <a:cubicBezTo>
                  <a:pt x="0" y="108364"/>
                  <a:pt x="22824" y="116511"/>
                  <a:pt x="50973" y="116511"/>
                </a:cubicBezTo>
                <a:cubicBezTo>
                  <a:pt x="79123" y="116511"/>
                  <a:pt x="101947" y="108364"/>
                  <a:pt x="101947" y="98306"/>
                </a:cubicBezTo>
                <a:lnTo>
                  <a:pt x="101947" y="83241"/>
                </a:lnTo>
                <a:cubicBezTo>
                  <a:pt x="98579" y="85471"/>
                  <a:pt x="94710" y="87269"/>
                  <a:pt x="90683" y="88703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861346" y="3045919"/>
            <a:ext cx="3728339" cy="18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8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Extraction:</a:t>
            </a:r>
            <a:pPr>
              <a:lnSpc>
                <a:spcPct val="110000"/>
              </a:lnSpc>
            </a:pPr>
            <a:r>
              <a:rPr lang="en-US" sz="104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Extracts structured payment data automatically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0339" y="3328874"/>
            <a:ext cx="87383" cy="116511"/>
          </a:xfrm>
          <a:custGeom>
            <a:avLst/>
            <a:gdLst/>
            <a:ahLst/>
            <a:cxnLst/>
            <a:rect l="l" t="t" r="r" b="b"/>
            <a:pathLst>
              <a:path w="87383" h="116511">
                <a:moveTo>
                  <a:pt x="56867" y="15201"/>
                </a:moveTo>
                <a:cubicBezTo>
                  <a:pt x="59234" y="11947"/>
                  <a:pt x="58506" y="7396"/>
                  <a:pt x="55252" y="5029"/>
                </a:cubicBezTo>
                <a:cubicBezTo>
                  <a:pt x="51997" y="2662"/>
                  <a:pt x="47446" y="3391"/>
                  <a:pt x="45080" y="6645"/>
                </a:cubicBezTo>
                <a:lnTo>
                  <a:pt x="20958" y="39800"/>
                </a:lnTo>
                <a:lnTo>
                  <a:pt x="12425" y="31267"/>
                </a:lnTo>
                <a:cubicBezTo>
                  <a:pt x="9580" y="28422"/>
                  <a:pt x="4961" y="28422"/>
                  <a:pt x="2116" y="31267"/>
                </a:cubicBezTo>
                <a:cubicBezTo>
                  <a:pt x="-728" y="34111"/>
                  <a:pt x="-728" y="38731"/>
                  <a:pt x="2116" y="41575"/>
                </a:cubicBezTo>
                <a:lnTo>
                  <a:pt x="16680" y="56139"/>
                </a:lnTo>
                <a:cubicBezTo>
                  <a:pt x="18182" y="57641"/>
                  <a:pt x="20276" y="58415"/>
                  <a:pt x="22392" y="58255"/>
                </a:cubicBezTo>
                <a:cubicBezTo>
                  <a:pt x="24508" y="58096"/>
                  <a:pt x="26465" y="57004"/>
                  <a:pt x="27717" y="55274"/>
                </a:cubicBezTo>
                <a:lnTo>
                  <a:pt x="56844" y="15224"/>
                </a:lnTo>
                <a:close/>
                <a:moveTo>
                  <a:pt x="85995" y="46149"/>
                </a:moveTo>
                <a:cubicBezTo>
                  <a:pt x="88361" y="42895"/>
                  <a:pt x="87633" y="38344"/>
                  <a:pt x="84379" y="35977"/>
                </a:cubicBezTo>
                <a:cubicBezTo>
                  <a:pt x="81125" y="33611"/>
                  <a:pt x="76574" y="34339"/>
                  <a:pt x="74207" y="37593"/>
                </a:cubicBezTo>
                <a:lnTo>
                  <a:pt x="35522" y="90774"/>
                </a:lnTo>
                <a:lnTo>
                  <a:pt x="19707" y="74958"/>
                </a:lnTo>
                <a:cubicBezTo>
                  <a:pt x="16862" y="72114"/>
                  <a:pt x="12243" y="72114"/>
                  <a:pt x="9398" y="74958"/>
                </a:cubicBezTo>
                <a:cubicBezTo>
                  <a:pt x="6554" y="77803"/>
                  <a:pt x="6554" y="82422"/>
                  <a:pt x="9398" y="85267"/>
                </a:cubicBezTo>
                <a:lnTo>
                  <a:pt x="31244" y="107112"/>
                </a:lnTo>
                <a:cubicBezTo>
                  <a:pt x="32746" y="108614"/>
                  <a:pt x="34839" y="109388"/>
                  <a:pt x="36956" y="109229"/>
                </a:cubicBezTo>
                <a:cubicBezTo>
                  <a:pt x="39072" y="109069"/>
                  <a:pt x="41029" y="107977"/>
                  <a:pt x="42281" y="106248"/>
                </a:cubicBezTo>
                <a:lnTo>
                  <a:pt x="85972" y="46172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5" name="Text 13"/>
          <p:cNvSpPr/>
          <p:nvPr/>
        </p:nvSpPr>
        <p:spPr>
          <a:xfrm>
            <a:off x="861346" y="3295585"/>
            <a:ext cx="3586861" cy="18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8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 Preparation:</a:t>
            </a:r>
            <a:pPr>
              <a:lnSpc>
                <a:spcPct val="110000"/>
              </a:lnSpc>
            </a:pPr>
            <a:r>
              <a:rPr lang="en-US" sz="104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legally valid transaction payload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7048" y="3932232"/>
            <a:ext cx="5176399" cy="2588199"/>
          </a:xfrm>
          <a:custGeom>
            <a:avLst/>
            <a:gdLst/>
            <a:ahLst/>
            <a:cxnLst/>
            <a:rect l="l" t="t" r="r" b="b"/>
            <a:pathLst>
              <a:path w="5176399" h="2588199">
                <a:moveTo>
                  <a:pt x="0" y="0"/>
                </a:moveTo>
                <a:lnTo>
                  <a:pt x="5176399" y="0"/>
                </a:lnTo>
                <a:lnTo>
                  <a:pt x="5176399" y="2588199"/>
                </a:lnTo>
                <a:lnTo>
                  <a:pt x="0" y="2588199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 w="1270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9331" y="4705155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99866" y="0"/>
                </a:moveTo>
                <a:cubicBezTo>
                  <a:pt x="105601" y="0"/>
                  <a:pt x="110867" y="3160"/>
                  <a:pt x="113598" y="8192"/>
                </a:cubicBezTo>
                <a:lnTo>
                  <a:pt x="197860" y="164233"/>
                </a:lnTo>
                <a:cubicBezTo>
                  <a:pt x="200474" y="169070"/>
                  <a:pt x="200357" y="174922"/>
                  <a:pt x="197548" y="179642"/>
                </a:cubicBezTo>
                <a:cubicBezTo>
                  <a:pt x="194739" y="184362"/>
                  <a:pt x="189629" y="187249"/>
                  <a:pt x="184128" y="187249"/>
                </a:cubicBezTo>
                <a:lnTo>
                  <a:pt x="15604" y="187249"/>
                </a:lnTo>
                <a:cubicBezTo>
                  <a:pt x="10104" y="187249"/>
                  <a:pt x="5032" y="184362"/>
                  <a:pt x="2185" y="179642"/>
                </a:cubicBezTo>
                <a:cubicBezTo>
                  <a:pt x="-663" y="174922"/>
                  <a:pt x="-741" y="169070"/>
                  <a:pt x="1872" y="164233"/>
                </a:cubicBezTo>
                <a:lnTo>
                  <a:pt x="86135" y="8192"/>
                </a:lnTo>
                <a:cubicBezTo>
                  <a:pt x="88865" y="3160"/>
                  <a:pt x="94132" y="0"/>
                  <a:pt x="99866" y="0"/>
                </a:cubicBezTo>
                <a:close/>
                <a:moveTo>
                  <a:pt x="99866" y="65537"/>
                </a:moveTo>
                <a:cubicBezTo>
                  <a:pt x="94678" y="65537"/>
                  <a:pt x="90504" y="69711"/>
                  <a:pt x="90504" y="74900"/>
                </a:cubicBezTo>
                <a:lnTo>
                  <a:pt x="90504" y="118591"/>
                </a:lnTo>
                <a:cubicBezTo>
                  <a:pt x="90504" y="123779"/>
                  <a:pt x="94678" y="127954"/>
                  <a:pt x="99866" y="127954"/>
                </a:cubicBezTo>
                <a:cubicBezTo>
                  <a:pt x="105055" y="127954"/>
                  <a:pt x="109229" y="123779"/>
                  <a:pt x="109229" y="118591"/>
                </a:cubicBezTo>
                <a:lnTo>
                  <a:pt x="109229" y="74900"/>
                </a:lnTo>
                <a:cubicBezTo>
                  <a:pt x="109229" y="69711"/>
                  <a:pt x="105055" y="65537"/>
                  <a:pt x="99866" y="65537"/>
                </a:cubicBezTo>
                <a:close/>
                <a:moveTo>
                  <a:pt x="110282" y="149799"/>
                </a:moveTo>
                <a:cubicBezTo>
                  <a:pt x="110519" y="145933"/>
                  <a:pt x="108591" y="142255"/>
                  <a:pt x="105277" y="140250"/>
                </a:cubicBezTo>
                <a:cubicBezTo>
                  <a:pt x="101962" y="138245"/>
                  <a:pt x="97809" y="138245"/>
                  <a:pt x="94495" y="140250"/>
                </a:cubicBezTo>
                <a:cubicBezTo>
                  <a:pt x="91181" y="142255"/>
                  <a:pt x="89253" y="145933"/>
                  <a:pt x="89489" y="149799"/>
                </a:cubicBezTo>
                <a:cubicBezTo>
                  <a:pt x="89253" y="153666"/>
                  <a:pt x="91181" y="157344"/>
                  <a:pt x="94495" y="159349"/>
                </a:cubicBezTo>
                <a:cubicBezTo>
                  <a:pt x="97809" y="161353"/>
                  <a:pt x="101962" y="161353"/>
                  <a:pt x="105277" y="159349"/>
                </a:cubicBezTo>
                <a:cubicBezTo>
                  <a:pt x="108591" y="157344"/>
                  <a:pt x="110519" y="153666"/>
                  <a:pt x="110282" y="14979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96" y="4688511"/>
            <a:ext cx="95705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4365" y="5021398"/>
            <a:ext cx="4976666" cy="24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never decides money. AI only prepares data.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4365" y="5331399"/>
            <a:ext cx="4968344" cy="43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financial decisions remain under human control and deterministic engine governance.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89773" y="1185911"/>
            <a:ext cx="6166739" cy="5334520"/>
          </a:xfrm>
          <a:custGeom>
            <a:avLst/>
            <a:gdLst/>
            <a:ahLst/>
            <a:cxnLst/>
            <a:rect l="l" t="t" r="r" b="b"/>
            <a:pathLst>
              <a:path w="6166739" h="5334520">
                <a:moveTo>
                  <a:pt x="0" y="0"/>
                </a:moveTo>
                <a:lnTo>
                  <a:pt x="6166739" y="0"/>
                </a:lnTo>
                <a:lnTo>
                  <a:pt x="6166739" y="5334520"/>
                </a:lnTo>
                <a:lnTo>
                  <a:pt x="0" y="53345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60378" y="1356516"/>
            <a:ext cx="5925395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Workflow: Document to Decision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60378" y="1772625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0" y="0"/>
                </a:moveTo>
                <a:lnTo>
                  <a:pt x="332887" y="0"/>
                </a:lnTo>
                <a:lnTo>
                  <a:pt x="332887" y="332887"/>
                </a:lnTo>
                <a:lnTo>
                  <a:pt x="0" y="33288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4" name="Text 22"/>
          <p:cNvSpPr/>
          <p:nvPr/>
        </p:nvSpPr>
        <p:spPr>
          <a:xfrm>
            <a:off x="6005626" y="1839203"/>
            <a:ext cx="10818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5615" y="1772625"/>
            <a:ext cx="5380292" cy="832218"/>
          </a:xfrm>
          <a:custGeom>
            <a:avLst/>
            <a:gdLst/>
            <a:ahLst/>
            <a:cxnLst/>
            <a:rect l="l" t="t" r="r" b="b"/>
            <a:pathLst>
              <a:path w="5380292" h="832218">
                <a:moveTo>
                  <a:pt x="0" y="0"/>
                </a:moveTo>
                <a:lnTo>
                  <a:pt x="5380292" y="0"/>
                </a:lnTo>
                <a:lnTo>
                  <a:pt x="5380292" y="832218"/>
                </a:lnTo>
                <a:lnTo>
                  <a:pt x="0" y="83221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05615" y="1772625"/>
            <a:ext cx="24967" cy="832218"/>
          </a:xfrm>
          <a:custGeom>
            <a:avLst/>
            <a:gdLst/>
            <a:ahLst/>
            <a:cxnLst/>
            <a:rect l="l" t="t" r="r" b="b"/>
            <a:pathLst>
              <a:path w="24967" h="832218">
                <a:moveTo>
                  <a:pt x="0" y="0"/>
                </a:moveTo>
                <a:lnTo>
                  <a:pt x="24967" y="0"/>
                </a:lnTo>
                <a:lnTo>
                  <a:pt x="24967" y="832218"/>
                </a:lnTo>
                <a:lnTo>
                  <a:pt x="0" y="832218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7" name="Text 25"/>
          <p:cNvSpPr/>
          <p:nvPr/>
        </p:nvSpPr>
        <p:spPr>
          <a:xfrm>
            <a:off x="6417965" y="1872491"/>
            <a:ext cx="524297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Parses Document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7965" y="2138801"/>
            <a:ext cx="5234654" cy="36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uploads invoice/contract. AI extracts: beneficiary, amount, purpose, due date, account details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17748" y="2671421"/>
            <a:ext cx="112349" cy="149799"/>
          </a:xfrm>
          <a:custGeom>
            <a:avLst/>
            <a:gdLst/>
            <a:ahLst/>
            <a:cxnLst/>
            <a:rect l="l" t="t" r="r" b="b"/>
            <a:pathLst>
              <a:path w="112349" h="149799">
                <a:moveTo>
                  <a:pt x="49563" y="147049"/>
                </a:moveTo>
                <a:cubicBezTo>
                  <a:pt x="53220" y="150706"/>
                  <a:pt x="59159" y="150706"/>
                  <a:pt x="62816" y="147049"/>
                </a:cubicBezTo>
                <a:lnTo>
                  <a:pt x="109629" y="100237"/>
                </a:lnTo>
                <a:cubicBezTo>
                  <a:pt x="113286" y="96580"/>
                  <a:pt x="113286" y="90640"/>
                  <a:pt x="109629" y="86983"/>
                </a:cubicBezTo>
                <a:cubicBezTo>
                  <a:pt x="105971" y="83326"/>
                  <a:pt x="100032" y="83326"/>
                  <a:pt x="96375" y="86983"/>
                </a:cubicBezTo>
                <a:lnTo>
                  <a:pt x="65537" y="117821"/>
                </a:lnTo>
                <a:lnTo>
                  <a:pt x="65537" y="9362"/>
                </a:lnTo>
                <a:cubicBezTo>
                  <a:pt x="65537" y="4184"/>
                  <a:pt x="61353" y="0"/>
                  <a:pt x="56175" y="0"/>
                </a:cubicBezTo>
                <a:cubicBezTo>
                  <a:pt x="50996" y="0"/>
                  <a:pt x="46812" y="4184"/>
                  <a:pt x="46812" y="9362"/>
                </a:cubicBezTo>
                <a:lnTo>
                  <a:pt x="46812" y="117821"/>
                </a:lnTo>
                <a:lnTo>
                  <a:pt x="15975" y="86983"/>
                </a:lnTo>
                <a:cubicBezTo>
                  <a:pt x="12317" y="83326"/>
                  <a:pt x="6378" y="83326"/>
                  <a:pt x="2721" y="86983"/>
                </a:cubicBezTo>
                <a:cubicBezTo>
                  <a:pt x="-936" y="90640"/>
                  <a:pt x="-936" y="96580"/>
                  <a:pt x="2721" y="100237"/>
                </a:cubicBezTo>
                <a:lnTo>
                  <a:pt x="49533" y="147049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0" name="Shape 28"/>
          <p:cNvSpPr/>
          <p:nvPr/>
        </p:nvSpPr>
        <p:spPr>
          <a:xfrm>
            <a:off x="5860378" y="2887798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0" y="0"/>
                </a:moveTo>
                <a:lnTo>
                  <a:pt x="332887" y="0"/>
                </a:lnTo>
                <a:lnTo>
                  <a:pt x="332887" y="332887"/>
                </a:lnTo>
                <a:lnTo>
                  <a:pt x="0" y="332887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Text 29"/>
          <p:cNvSpPr/>
          <p:nvPr/>
        </p:nvSpPr>
        <p:spPr>
          <a:xfrm>
            <a:off x="5992883" y="2954375"/>
            <a:ext cx="133155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05615" y="2887798"/>
            <a:ext cx="5380292" cy="832218"/>
          </a:xfrm>
          <a:custGeom>
            <a:avLst/>
            <a:gdLst/>
            <a:ahLst/>
            <a:cxnLst/>
            <a:rect l="l" t="t" r="r" b="b"/>
            <a:pathLst>
              <a:path w="5380292" h="832218">
                <a:moveTo>
                  <a:pt x="0" y="0"/>
                </a:moveTo>
                <a:lnTo>
                  <a:pt x="5380292" y="0"/>
                </a:lnTo>
                <a:lnTo>
                  <a:pt x="5380292" y="832218"/>
                </a:lnTo>
                <a:lnTo>
                  <a:pt x="0" y="83221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05615" y="2887798"/>
            <a:ext cx="24967" cy="832218"/>
          </a:xfrm>
          <a:custGeom>
            <a:avLst/>
            <a:gdLst/>
            <a:ahLst/>
            <a:cxnLst/>
            <a:rect l="l" t="t" r="r" b="b"/>
            <a:pathLst>
              <a:path w="24967" h="832218">
                <a:moveTo>
                  <a:pt x="0" y="0"/>
                </a:moveTo>
                <a:lnTo>
                  <a:pt x="24967" y="0"/>
                </a:lnTo>
                <a:lnTo>
                  <a:pt x="24967" y="832218"/>
                </a:lnTo>
                <a:lnTo>
                  <a:pt x="0" y="83221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4" name="Text 32"/>
          <p:cNvSpPr/>
          <p:nvPr/>
        </p:nvSpPr>
        <p:spPr>
          <a:xfrm>
            <a:off x="6417965" y="2987664"/>
            <a:ext cx="524297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Verifies Data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7965" y="3253974"/>
            <a:ext cx="5234654" cy="36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screen shows extracted data. User confirms or corrects. Full transparency, full control.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17748" y="3786594"/>
            <a:ext cx="112349" cy="149799"/>
          </a:xfrm>
          <a:custGeom>
            <a:avLst/>
            <a:gdLst/>
            <a:ahLst/>
            <a:cxnLst/>
            <a:rect l="l" t="t" r="r" b="b"/>
            <a:pathLst>
              <a:path w="112349" h="149799">
                <a:moveTo>
                  <a:pt x="49563" y="147049"/>
                </a:moveTo>
                <a:cubicBezTo>
                  <a:pt x="53220" y="150706"/>
                  <a:pt x="59159" y="150706"/>
                  <a:pt x="62816" y="147049"/>
                </a:cubicBezTo>
                <a:lnTo>
                  <a:pt x="109629" y="100237"/>
                </a:lnTo>
                <a:cubicBezTo>
                  <a:pt x="113286" y="96580"/>
                  <a:pt x="113286" y="90640"/>
                  <a:pt x="109629" y="86983"/>
                </a:cubicBezTo>
                <a:cubicBezTo>
                  <a:pt x="105971" y="83326"/>
                  <a:pt x="100032" y="83326"/>
                  <a:pt x="96375" y="86983"/>
                </a:cubicBezTo>
                <a:lnTo>
                  <a:pt x="65537" y="117821"/>
                </a:lnTo>
                <a:lnTo>
                  <a:pt x="65537" y="9362"/>
                </a:lnTo>
                <a:cubicBezTo>
                  <a:pt x="65537" y="4184"/>
                  <a:pt x="61353" y="0"/>
                  <a:pt x="56175" y="0"/>
                </a:cubicBezTo>
                <a:cubicBezTo>
                  <a:pt x="50996" y="0"/>
                  <a:pt x="46812" y="4184"/>
                  <a:pt x="46812" y="9362"/>
                </a:cubicBezTo>
                <a:lnTo>
                  <a:pt x="46812" y="117821"/>
                </a:lnTo>
                <a:lnTo>
                  <a:pt x="15975" y="86983"/>
                </a:lnTo>
                <a:cubicBezTo>
                  <a:pt x="12317" y="83326"/>
                  <a:pt x="6378" y="83326"/>
                  <a:pt x="2721" y="86983"/>
                </a:cubicBezTo>
                <a:cubicBezTo>
                  <a:pt x="-936" y="90640"/>
                  <a:pt x="-936" y="96580"/>
                  <a:pt x="2721" y="100237"/>
                </a:cubicBezTo>
                <a:lnTo>
                  <a:pt x="49533" y="147049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7" name="Shape 35"/>
          <p:cNvSpPr/>
          <p:nvPr/>
        </p:nvSpPr>
        <p:spPr>
          <a:xfrm>
            <a:off x="5860378" y="4002971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0" y="0"/>
                </a:moveTo>
                <a:lnTo>
                  <a:pt x="332887" y="0"/>
                </a:lnTo>
                <a:lnTo>
                  <a:pt x="332887" y="332887"/>
                </a:lnTo>
                <a:lnTo>
                  <a:pt x="0" y="33288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8" name="Text 36"/>
          <p:cNvSpPr/>
          <p:nvPr/>
        </p:nvSpPr>
        <p:spPr>
          <a:xfrm>
            <a:off x="5991192" y="4069548"/>
            <a:ext cx="14147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05615" y="4002971"/>
            <a:ext cx="5380292" cy="649130"/>
          </a:xfrm>
          <a:custGeom>
            <a:avLst/>
            <a:gdLst/>
            <a:ahLst/>
            <a:cxnLst/>
            <a:rect l="l" t="t" r="r" b="b"/>
            <a:pathLst>
              <a:path w="5380292" h="649130">
                <a:moveTo>
                  <a:pt x="0" y="0"/>
                </a:moveTo>
                <a:lnTo>
                  <a:pt x="5380292" y="0"/>
                </a:lnTo>
                <a:lnTo>
                  <a:pt x="5380292" y="649130"/>
                </a:lnTo>
                <a:lnTo>
                  <a:pt x="0" y="64913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05615" y="4002971"/>
            <a:ext cx="24967" cy="649130"/>
          </a:xfrm>
          <a:custGeom>
            <a:avLst/>
            <a:gdLst/>
            <a:ahLst/>
            <a:cxnLst/>
            <a:rect l="l" t="t" r="r" b="b"/>
            <a:pathLst>
              <a:path w="24967" h="649130">
                <a:moveTo>
                  <a:pt x="0" y="0"/>
                </a:moveTo>
                <a:lnTo>
                  <a:pt x="24967" y="0"/>
                </a:lnTo>
                <a:lnTo>
                  <a:pt x="24967" y="649130"/>
                </a:lnTo>
                <a:lnTo>
                  <a:pt x="0" y="64913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1" name="Text 39"/>
          <p:cNvSpPr/>
          <p:nvPr/>
        </p:nvSpPr>
        <p:spPr>
          <a:xfrm>
            <a:off x="6417965" y="4102837"/>
            <a:ext cx="524297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E-IMZO Digital Signature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7965" y="4369147"/>
            <a:ext cx="5234654" cy="18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signs with national E-IMZO certificate. Legally binding, regulator-approved.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717748" y="4718678"/>
            <a:ext cx="112349" cy="149799"/>
          </a:xfrm>
          <a:custGeom>
            <a:avLst/>
            <a:gdLst/>
            <a:ahLst/>
            <a:cxnLst/>
            <a:rect l="l" t="t" r="r" b="b"/>
            <a:pathLst>
              <a:path w="112349" h="149799">
                <a:moveTo>
                  <a:pt x="49563" y="147049"/>
                </a:moveTo>
                <a:cubicBezTo>
                  <a:pt x="53220" y="150706"/>
                  <a:pt x="59159" y="150706"/>
                  <a:pt x="62816" y="147049"/>
                </a:cubicBezTo>
                <a:lnTo>
                  <a:pt x="109629" y="100237"/>
                </a:lnTo>
                <a:cubicBezTo>
                  <a:pt x="113286" y="96580"/>
                  <a:pt x="113286" y="90640"/>
                  <a:pt x="109629" y="86983"/>
                </a:cubicBezTo>
                <a:cubicBezTo>
                  <a:pt x="105971" y="83326"/>
                  <a:pt x="100032" y="83326"/>
                  <a:pt x="96375" y="86983"/>
                </a:cubicBezTo>
                <a:lnTo>
                  <a:pt x="65537" y="117821"/>
                </a:lnTo>
                <a:lnTo>
                  <a:pt x="65537" y="9362"/>
                </a:lnTo>
                <a:cubicBezTo>
                  <a:pt x="65537" y="4184"/>
                  <a:pt x="61353" y="0"/>
                  <a:pt x="56175" y="0"/>
                </a:cubicBezTo>
                <a:cubicBezTo>
                  <a:pt x="50996" y="0"/>
                  <a:pt x="46812" y="4184"/>
                  <a:pt x="46812" y="9362"/>
                </a:cubicBezTo>
                <a:lnTo>
                  <a:pt x="46812" y="117821"/>
                </a:lnTo>
                <a:lnTo>
                  <a:pt x="15975" y="86983"/>
                </a:lnTo>
                <a:cubicBezTo>
                  <a:pt x="12317" y="83326"/>
                  <a:pt x="6378" y="83326"/>
                  <a:pt x="2721" y="86983"/>
                </a:cubicBezTo>
                <a:cubicBezTo>
                  <a:pt x="-936" y="90640"/>
                  <a:pt x="-936" y="96580"/>
                  <a:pt x="2721" y="100237"/>
                </a:cubicBezTo>
                <a:lnTo>
                  <a:pt x="49533" y="147049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4" name="Shape 42"/>
          <p:cNvSpPr/>
          <p:nvPr/>
        </p:nvSpPr>
        <p:spPr>
          <a:xfrm>
            <a:off x="5860378" y="4935055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0" y="0"/>
                </a:moveTo>
                <a:lnTo>
                  <a:pt x="332887" y="0"/>
                </a:lnTo>
                <a:lnTo>
                  <a:pt x="332887" y="332887"/>
                </a:lnTo>
                <a:lnTo>
                  <a:pt x="0" y="332887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45" name="Text 43"/>
          <p:cNvSpPr/>
          <p:nvPr/>
        </p:nvSpPr>
        <p:spPr>
          <a:xfrm>
            <a:off x="5992883" y="5001633"/>
            <a:ext cx="133155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05615" y="4935055"/>
            <a:ext cx="5380292" cy="649130"/>
          </a:xfrm>
          <a:custGeom>
            <a:avLst/>
            <a:gdLst/>
            <a:ahLst/>
            <a:cxnLst/>
            <a:rect l="l" t="t" r="r" b="b"/>
            <a:pathLst>
              <a:path w="5380292" h="649130">
                <a:moveTo>
                  <a:pt x="0" y="0"/>
                </a:moveTo>
                <a:lnTo>
                  <a:pt x="5380292" y="0"/>
                </a:lnTo>
                <a:lnTo>
                  <a:pt x="5380292" y="649130"/>
                </a:lnTo>
                <a:lnTo>
                  <a:pt x="0" y="64913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05615" y="4935055"/>
            <a:ext cx="24967" cy="649130"/>
          </a:xfrm>
          <a:custGeom>
            <a:avLst/>
            <a:gdLst/>
            <a:ahLst/>
            <a:cxnLst/>
            <a:rect l="l" t="t" r="r" b="b"/>
            <a:pathLst>
              <a:path w="24967" h="649130">
                <a:moveTo>
                  <a:pt x="0" y="0"/>
                </a:moveTo>
                <a:lnTo>
                  <a:pt x="24967" y="0"/>
                </a:lnTo>
                <a:lnTo>
                  <a:pt x="24967" y="649130"/>
                </a:lnTo>
                <a:lnTo>
                  <a:pt x="0" y="64913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48" name="Text 46"/>
          <p:cNvSpPr/>
          <p:nvPr/>
        </p:nvSpPr>
        <p:spPr>
          <a:xfrm>
            <a:off x="6417965" y="5034922"/>
            <a:ext cx="524297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 Authorization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17965" y="5301231"/>
            <a:ext cx="5234654" cy="18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48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enters REVENANT pipeline. Risk engines evaluate. Decision in &lt;200ms.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64539" y="5704857"/>
            <a:ext cx="5817207" cy="640808"/>
          </a:xfrm>
          <a:custGeom>
            <a:avLst/>
            <a:gdLst/>
            <a:ahLst/>
            <a:cxnLst/>
            <a:rect l="l" t="t" r="r" b="b"/>
            <a:pathLst>
              <a:path w="5817207" h="640808">
                <a:moveTo>
                  <a:pt x="0" y="0"/>
                </a:moveTo>
                <a:lnTo>
                  <a:pt x="5817207" y="0"/>
                </a:lnTo>
                <a:lnTo>
                  <a:pt x="5817207" y="640808"/>
                </a:lnTo>
                <a:lnTo>
                  <a:pt x="0" y="640808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5211" y="5850496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103637" y="3173"/>
                </a:moveTo>
                <a:lnTo>
                  <a:pt x="80699" y="26111"/>
                </a:lnTo>
                <a:lnTo>
                  <a:pt x="107044" y="52456"/>
                </a:lnTo>
                <a:lnTo>
                  <a:pt x="129982" y="29518"/>
                </a:lnTo>
                <a:cubicBezTo>
                  <a:pt x="132011" y="27463"/>
                  <a:pt x="133155" y="24706"/>
                  <a:pt x="133155" y="21846"/>
                </a:cubicBezTo>
                <a:cubicBezTo>
                  <a:pt x="133155" y="18985"/>
                  <a:pt x="132011" y="16228"/>
                  <a:pt x="129982" y="14174"/>
                </a:cubicBezTo>
                <a:lnTo>
                  <a:pt x="118981" y="3173"/>
                </a:lnTo>
                <a:cubicBezTo>
                  <a:pt x="116927" y="1144"/>
                  <a:pt x="114170" y="0"/>
                  <a:pt x="111309" y="0"/>
                </a:cubicBezTo>
                <a:cubicBezTo>
                  <a:pt x="108448" y="0"/>
                  <a:pt x="105692" y="1144"/>
                  <a:pt x="103637" y="3173"/>
                </a:cubicBezTo>
                <a:close/>
                <a:moveTo>
                  <a:pt x="71883" y="34927"/>
                </a:moveTo>
                <a:lnTo>
                  <a:pt x="3173" y="103637"/>
                </a:lnTo>
                <a:cubicBezTo>
                  <a:pt x="1144" y="105692"/>
                  <a:pt x="0" y="108448"/>
                  <a:pt x="0" y="111309"/>
                </a:cubicBezTo>
                <a:cubicBezTo>
                  <a:pt x="0" y="114170"/>
                  <a:pt x="1144" y="116927"/>
                  <a:pt x="3173" y="118981"/>
                </a:cubicBezTo>
                <a:lnTo>
                  <a:pt x="14174" y="129982"/>
                </a:lnTo>
                <a:cubicBezTo>
                  <a:pt x="16228" y="132011"/>
                  <a:pt x="18985" y="133155"/>
                  <a:pt x="21846" y="133155"/>
                </a:cubicBezTo>
                <a:cubicBezTo>
                  <a:pt x="24706" y="133155"/>
                  <a:pt x="27463" y="132011"/>
                  <a:pt x="29518" y="129982"/>
                </a:cubicBezTo>
                <a:lnTo>
                  <a:pt x="98228" y="61272"/>
                </a:lnTo>
                <a:lnTo>
                  <a:pt x="71883" y="34927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2" name="Text 50"/>
          <p:cNvSpPr/>
          <p:nvPr/>
        </p:nvSpPr>
        <p:spPr>
          <a:xfrm>
            <a:off x="6178638" y="5808885"/>
            <a:ext cx="5465658" cy="43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048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Complex compliance becomes </a:t>
            </a:r>
            <a:pPr>
              <a:lnSpc>
                <a:spcPct val="140000"/>
              </a:lnSpc>
            </a:pPr>
            <a:r>
              <a:rPr lang="en-US" sz="1048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user experience</a:t>
            </a:r>
            <a:pPr>
              <a:lnSpc>
                <a:spcPct val="140000"/>
              </a:lnSpc>
            </a:pPr>
            <a:r>
              <a:rPr lang="en-US" sz="1048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SME onboarding time reduced from days to minutes.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78" y="376878"/>
            <a:ext cx="1150419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spc="208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878" y="640692"/>
            <a:ext cx="11607839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Purple Override Governance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878" y="1130634"/>
            <a:ext cx="904507" cy="18844"/>
          </a:xfrm>
          <a:custGeom>
            <a:avLst/>
            <a:gdLst/>
            <a:ahLst/>
            <a:cxnLst/>
            <a:rect l="l" t="t" r="r" b="b"/>
            <a:pathLst>
              <a:path w="904507" h="18844">
                <a:moveTo>
                  <a:pt x="0" y="0"/>
                </a:moveTo>
                <a:lnTo>
                  <a:pt x="904507" y="0"/>
                </a:lnTo>
                <a:lnTo>
                  <a:pt x="904507" y="18844"/>
                </a:lnTo>
                <a:lnTo>
                  <a:pt x="0" y="1884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81589" y="1342628"/>
            <a:ext cx="5134961" cy="3005601"/>
          </a:xfrm>
          <a:custGeom>
            <a:avLst/>
            <a:gdLst/>
            <a:ahLst/>
            <a:cxnLst/>
            <a:rect l="l" t="t" r="r" b="b"/>
            <a:pathLst>
              <a:path w="5134961" h="3005601">
                <a:moveTo>
                  <a:pt x="0" y="0"/>
                </a:moveTo>
                <a:lnTo>
                  <a:pt x="5134961" y="0"/>
                </a:lnTo>
                <a:lnTo>
                  <a:pt x="5134961" y="3005601"/>
                </a:lnTo>
                <a:lnTo>
                  <a:pt x="0" y="3005601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4739" y="1535777"/>
            <a:ext cx="486172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Override Mechanism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4739" y="1988031"/>
            <a:ext cx="4824037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safety valve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exceptional circumstances when standard rules must be bypassed.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9450" y="2633434"/>
            <a:ext cx="4739240" cy="1516934"/>
          </a:xfrm>
          <a:custGeom>
            <a:avLst/>
            <a:gdLst/>
            <a:ahLst/>
            <a:cxnLst/>
            <a:rect l="l" t="t" r="r" b="b"/>
            <a:pathLst>
              <a:path w="4739240" h="1516934">
                <a:moveTo>
                  <a:pt x="0" y="0"/>
                </a:moveTo>
                <a:lnTo>
                  <a:pt x="4739240" y="0"/>
                </a:lnTo>
                <a:lnTo>
                  <a:pt x="4739240" y="1516934"/>
                </a:lnTo>
                <a:lnTo>
                  <a:pt x="0" y="151693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4912" y="2788896"/>
            <a:ext cx="451311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203462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2018" y="18060"/>
                </a:moveTo>
                <a:cubicBezTo>
                  <a:pt x="115702" y="20739"/>
                  <a:pt x="116527" y="25892"/>
                  <a:pt x="113847" y="29576"/>
                </a:cubicBezTo>
                <a:lnTo>
                  <a:pt x="47894" y="120262"/>
                </a:lnTo>
                <a:cubicBezTo>
                  <a:pt x="46477" y="122220"/>
                  <a:pt x="44287" y="123431"/>
                  <a:pt x="41865" y="123637"/>
                </a:cubicBezTo>
                <a:cubicBezTo>
                  <a:pt x="39443" y="123843"/>
                  <a:pt x="37099" y="122942"/>
                  <a:pt x="35399" y="121241"/>
                </a:cubicBezTo>
                <a:lnTo>
                  <a:pt x="2422" y="88265"/>
                </a:lnTo>
                <a:cubicBezTo>
                  <a:pt x="-799" y="85044"/>
                  <a:pt x="-799" y="79814"/>
                  <a:pt x="2422" y="76594"/>
                </a:cubicBezTo>
                <a:cubicBezTo>
                  <a:pt x="5642" y="73373"/>
                  <a:pt x="10872" y="73373"/>
                  <a:pt x="14092" y="76594"/>
                </a:cubicBezTo>
                <a:lnTo>
                  <a:pt x="40242" y="102743"/>
                </a:lnTo>
                <a:lnTo>
                  <a:pt x="100528" y="19863"/>
                </a:lnTo>
                <a:cubicBezTo>
                  <a:pt x="103207" y="16179"/>
                  <a:pt x="108360" y="15355"/>
                  <a:pt x="112044" y="18034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1" name="Text 9"/>
          <p:cNvSpPr/>
          <p:nvPr/>
        </p:nvSpPr>
        <p:spPr>
          <a:xfrm>
            <a:off x="975172" y="3165774"/>
            <a:ext cx="2836006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operational continuity during crises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504964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2018" y="18060"/>
                </a:moveTo>
                <a:cubicBezTo>
                  <a:pt x="115702" y="20739"/>
                  <a:pt x="116527" y="25892"/>
                  <a:pt x="113847" y="29576"/>
                </a:cubicBezTo>
                <a:lnTo>
                  <a:pt x="47894" y="120262"/>
                </a:lnTo>
                <a:cubicBezTo>
                  <a:pt x="46477" y="122220"/>
                  <a:pt x="44287" y="123431"/>
                  <a:pt x="41865" y="123637"/>
                </a:cubicBezTo>
                <a:cubicBezTo>
                  <a:pt x="39443" y="123843"/>
                  <a:pt x="37099" y="122942"/>
                  <a:pt x="35399" y="121241"/>
                </a:cubicBezTo>
                <a:lnTo>
                  <a:pt x="2422" y="88265"/>
                </a:lnTo>
                <a:cubicBezTo>
                  <a:pt x="-799" y="85044"/>
                  <a:pt x="-799" y="79814"/>
                  <a:pt x="2422" y="76594"/>
                </a:cubicBezTo>
                <a:cubicBezTo>
                  <a:pt x="5642" y="73373"/>
                  <a:pt x="10872" y="73373"/>
                  <a:pt x="14092" y="76594"/>
                </a:cubicBezTo>
                <a:lnTo>
                  <a:pt x="40242" y="102743"/>
                </a:lnTo>
                <a:lnTo>
                  <a:pt x="100528" y="19863"/>
                </a:lnTo>
                <a:cubicBezTo>
                  <a:pt x="103207" y="16179"/>
                  <a:pt x="108360" y="15355"/>
                  <a:pt x="112044" y="18034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975172" y="3467277"/>
            <a:ext cx="262872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accountability for all decisions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806467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2018" y="18060"/>
                </a:moveTo>
                <a:cubicBezTo>
                  <a:pt x="115702" y="20739"/>
                  <a:pt x="116527" y="25892"/>
                  <a:pt x="113847" y="29576"/>
                </a:cubicBezTo>
                <a:lnTo>
                  <a:pt x="47894" y="120262"/>
                </a:lnTo>
                <a:cubicBezTo>
                  <a:pt x="46477" y="122220"/>
                  <a:pt x="44287" y="123431"/>
                  <a:pt x="41865" y="123637"/>
                </a:cubicBezTo>
                <a:cubicBezTo>
                  <a:pt x="39443" y="123843"/>
                  <a:pt x="37099" y="122942"/>
                  <a:pt x="35399" y="121241"/>
                </a:cubicBezTo>
                <a:lnTo>
                  <a:pt x="2422" y="88265"/>
                </a:lnTo>
                <a:cubicBezTo>
                  <a:pt x="-799" y="85044"/>
                  <a:pt x="-799" y="79814"/>
                  <a:pt x="2422" y="76594"/>
                </a:cubicBezTo>
                <a:cubicBezTo>
                  <a:pt x="5642" y="73373"/>
                  <a:pt x="10872" y="73373"/>
                  <a:pt x="14092" y="76594"/>
                </a:cubicBezTo>
                <a:lnTo>
                  <a:pt x="40242" y="102743"/>
                </a:lnTo>
                <a:lnTo>
                  <a:pt x="100528" y="19863"/>
                </a:lnTo>
                <a:cubicBezTo>
                  <a:pt x="103207" y="16179"/>
                  <a:pt x="108360" y="15355"/>
                  <a:pt x="112044" y="18034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5" name="Text 13"/>
          <p:cNvSpPr/>
          <p:nvPr/>
        </p:nvSpPr>
        <p:spPr>
          <a:xfrm>
            <a:off x="975172" y="3768779"/>
            <a:ext cx="2741787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regulator visibility into exceptions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589" y="4508402"/>
            <a:ext cx="5134961" cy="2138782"/>
          </a:xfrm>
          <a:custGeom>
            <a:avLst/>
            <a:gdLst/>
            <a:ahLst/>
            <a:cxnLst/>
            <a:rect l="l" t="t" r="r" b="b"/>
            <a:pathLst>
              <a:path w="5134961" h="2138782">
                <a:moveTo>
                  <a:pt x="0" y="0"/>
                </a:moveTo>
                <a:lnTo>
                  <a:pt x="5134961" y="0"/>
                </a:lnTo>
                <a:lnTo>
                  <a:pt x="5134961" y="2138782"/>
                </a:lnTo>
                <a:lnTo>
                  <a:pt x="0" y="2138782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06" y="5191493"/>
            <a:ext cx="211994" cy="169595"/>
          </a:xfrm>
          <a:custGeom>
            <a:avLst/>
            <a:gdLst/>
            <a:ahLst/>
            <a:cxnLst/>
            <a:rect l="l" t="t" r="r" b="b"/>
            <a:pathLst>
              <a:path w="211994" h="169595">
                <a:moveTo>
                  <a:pt x="127196" y="10600"/>
                </a:moveTo>
                <a:lnTo>
                  <a:pt x="169595" y="10600"/>
                </a:lnTo>
                <a:cubicBezTo>
                  <a:pt x="175458" y="10600"/>
                  <a:pt x="180195" y="15336"/>
                  <a:pt x="180195" y="21199"/>
                </a:cubicBezTo>
                <a:cubicBezTo>
                  <a:pt x="180195" y="27062"/>
                  <a:pt x="175458" y="31799"/>
                  <a:pt x="169595" y="31799"/>
                </a:cubicBezTo>
                <a:lnTo>
                  <a:pt x="131966" y="31799"/>
                </a:lnTo>
                <a:cubicBezTo>
                  <a:pt x="130244" y="40345"/>
                  <a:pt x="124381" y="47400"/>
                  <a:pt x="116597" y="50779"/>
                </a:cubicBezTo>
                <a:lnTo>
                  <a:pt x="116597" y="148396"/>
                </a:lnTo>
                <a:lnTo>
                  <a:pt x="169595" y="148396"/>
                </a:lnTo>
                <a:cubicBezTo>
                  <a:pt x="175458" y="148396"/>
                  <a:pt x="180195" y="153132"/>
                  <a:pt x="180195" y="158995"/>
                </a:cubicBezTo>
                <a:cubicBezTo>
                  <a:pt x="180195" y="164858"/>
                  <a:pt x="175458" y="169595"/>
                  <a:pt x="169595" y="169595"/>
                </a:cubicBezTo>
                <a:lnTo>
                  <a:pt x="42399" y="169595"/>
                </a:lnTo>
                <a:cubicBezTo>
                  <a:pt x="36536" y="169595"/>
                  <a:pt x="31799" y="164858"/>
                  <a:pt x="31799" y="158995"/>
                </a:cubicBezTo>
                <a:cubicBezTo>
                  <a:pt x="31799" y="153132"/>
                  <a:pt x="36536" y="148396"/>
                  <a:pt x="42399" y="148396"/>
                </a:cubicBezTo>
                <a:lnTo>
                  <a:pt x="95397" y="148396"/>
                </a:lnTo>
                <a:lnTo>
                  <a:pt x="95397" y="50779"/>
                </a:lnTo>
                <a:cubicBezTo>
                  <a:pt x="87613" y="47367"/>
                  <a:pt x="81750" y="40312"/>
                  <a:pt x="80028" y="31799"/>
                </a:cubicBezTo>
                <a:lnTo>
                  <a:pt x="42399" y="31799"/>
                </a:lnTo>
                <a:cubicBezTo>
                  <a:pt x="36536" y="31799"/>
                  <a:pt x="31799" y="27062"/>
                  <a:pt x="31799" y="21199"/>
                </a:cubicBezTo>
                <a:cubicBezTo>
                  <a:pt x="31799" y="15336"/>
                  <a:pt x="36536" y="10600"/>
                  <a:pt x="42399" y="10600"/>
                </a:cubicBezTo>
                <a:lnTo>
                  <a:pt x="84798" y="10600"/>
                </a:lnTo>
                <a:cubicBezTo>
                  <a:pt x="89634" y="4174"/>
                  <a:pt x="97318" y="0"/>
                  <a:pt x="105997" y="0"/>
                </a:cubicBezTo>
                <a:cubicBezTo>
                  <a:pt x="114675" y="0"/>
                  <a:pt x="122360" y="4174"/>
                  <a:pt x="127196" y="10600"/>
                </a:cubicBezTo>
                <a:close/>
                <a:moveTo>
                  <a:pt x="145613" y="105997"/>
                </a:moveTo>
                <a:lnTo>
                  <a:pt x="193577" y="105997"/>
                </a:lnTo>
                <a:lnTo>
                  <a:pt x="169595" y="64857"/>
                </a:lnTo>
                <a:lnTo>
                  <a:pt x="145613" y="105997"/>
                </a:lnTo>
                <a:close/>
                <a:moveTo>
                  <a:pt x="169595" y="137796"/>
                </a:moveTo>
                <a:cubicBezTo>
                  <a:pt x="148760" y="137796"/>
                  <a:pt x="131436" y="126534"/>
                  <a:pt x="127859" y="111661"/>
                </a:cubicBezTo>
                <a:cubicBezTo>
                  <a:pt x="126998" y="108017"/>
                  <a:pt x="128190" y="104274"/>
                  <a:pt x="130078" y="101028"/>
                </a:cubicBezTo>
                <a:lnTo>
                  <a:pt x="161612" y="46970"/>
                </a:lnTo>
                <a:cubicBezTo>
                  <a:pt x="163268" y="44121"/>
                  <a:pt x="166316" y="42399"/>
                  <a:pt x="169595" y="42399"/>
                </a:cubicBezTo>
                <a:cubicBezTo>
                  <a:pt x="172874" y="42399"/>
                  <a:pt x="175922" y="44154"/>
                  <a:pt x="177578" y="46970"/>
                </a:cubicBezTo>
                <a:lnTo>
                  <a:pt x="209112" y="101028"/>
                </a:lnTo>
                <a:cubicBezTo>
                  <a:pt x="211000" y="104274"/>
                  <a:pt x="212193" y="108017"/>
                  <a:pt x="211331" y="111661"/>
                </a:cubicBezTo>
                <a:cubicBezTo>
                  <a:pt x="207754" y="126501"/>
                  <a:pt x="190430" y="137796"/>
                  <a:pt x="169595" y="137796"/>
                </a:cubicBezTo>
                <a:close/>
                <a:moveTo>
                  <a:pt x="42001" y="64857"/>
                </a:moveTo>
                <a:lnTo>
                  <a:pt x="18019" y="105997"/>
                </a:lnTo>
                <a:lnTo>
                  <a:pt x="66016" y="105997"/>
                </a:lnTo>
                <a:lnTo>
                  <a:pt x="42001" y="64857"/>
                </a:lnTo>
                <a:close/>
                <a:moveTo>
                  <a:pt x="298" y="111661"/>
                </a:moveTo>
                <a:cubicBezTo>
                  <a:pt x="-563" y="108017"/>
                  <a:pt x="629" y="104274"/>
                  <a:pt x="2517" y="101028"/>
                </a:cubicBezTo>
                <a:lnTo>
                  <a:pt x="34052" y="46970"/>
                </a:lnTo>
                <a:cubicBezTo>
                  <a:pt x="35708" y="44121"/>
                  <a:pt x="38755" y="42399"/>
                  <a:pt x="42034" y="42399"/>
                </a:cubicBezTo>
                <a:cubicBezTo>
                  <a:pt x="45314" y="42399"/>
                  <a:pt x="48361" y="44154"/>
                  <a:pt x="50017" y="46970"/>
                </a:cubicBezTo>
                <a:lnTo>
                  <a:pt x="81551" y="101028"/>
                </a:lnTo>
                <a:cubicBezTo>
                  <a:pt x="83439" y="104274"/>
                  <a:pt x="84632" y="108017"/>
                  <a:pt x="83771" y="111661"/>
                </a:cubicBezTo>
                <a:cubicBezTo>
                  <a:pt x="80193" y="126501"/>
                  <a:pt x="62869" y="137796"/>
                  <a:pt x="42034" y="137796"/>
                </a:cubicBezTo>
                <a:cubicBezTo>
                  <a:pt x="21199" y="137796"/>
                  <a:pt x="3876" y="126534"/>
                  <a:pt x="298" y="11166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76" y="5144383"/>
            <a:ext cx="4636210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Accountability Framework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7051" y="5521261"/>
            <a:ext cx="4899413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override creates an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audit trail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Regulators can review who authorized, why, and when. No decision happens in the dark.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8092" y="1342628"/>
            <a:ext cx="6096000" cy="5304556"/>
          </a:xfrm>
          <a:custGeom>
            <a:avLst/>
            <a:gdLst/>
            <a:ahLst/>
            <a:cxnLst/>
            <a:rect l="l" t="t" r="r" b="b"/>
            <a:pathLst>
              <a:path w="6096000" h="5304556">
                <a:moveTo>
                  <a:pt x="0" y="0"/>
                </a:moveTo>
                <a:lnTo>
                  <a:pt x="6096000" y="0"/>
                </a:lnTo>
                <a:lnTo>
                  <a:pt x="6096000" y="5304556"/>
                </a:lnTo>
                <a:lnTo>
                  <a:pt x="0" y="530455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1241" y="1535777"/>
            <a:ext cx="582276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 Conditions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30085" y="1988031"/>
            <a:ext cx="5690856" cy="1413292"/>
          </a:xfrm>
          <a:custGeom>
            <a:avLst/>
            <a:gdLst/>
            <a:ahLst/>
            <a:cxnLst/>
            <a:rect l="l" t="t" r="r" b="b"/>
            <a:pathLst>
              <a:path w="5690856" h="1413292">
                <a:moveTo>
                  <a:pt x="0" y="0"/>
                </a:moveTo>
                <a:lnTo>
                  <a:pt x="5690856" y="0"/>
                </a:lnTo>
                <a:lnTo>
                  <a:pt x="5690856" y="1413292"/>
                </a:lnTo>
                <a:lnTo>
                  <a:pt x="0" y="141329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30085" y="1988031"/>
            <a:ext cx="37688" cy="1413292"/>
          </a:xfrm>
          <a:custGeom>
            <a:avLst/>
            <a:gdLst/>
            <a:ahLst/>
            <a:cxnLst/>
            <a:rect l="l" t="t" r="r" b="b"/>
            <a:pathLst>
              <a:path w="37688" h="1413292">
                <a:moveTo>
                  <a:pt x="0" y="0"/>
                </a:moveTo>
                <a:lnTo>
                  <a:pt x="37688" y="0"/>
                </a:lnTo>
                <a:lnTo>
                  <a:pt x="37688" y="1413292"/>
                </a:lnTo>
                <a:lnTo>
                  <a:pt x="0" y="1413292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9680" y="2138782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0" y="0"/>
                </a:moveTo>
                <a:lnTo>
                  <a:pt x="452253" y="0"/>
                </a:lnTo>
                <a:lnTo>
                  <a:pt x="452253" y="452253"/>
                </a:lnTo>
                <a:lnTo>
                  <a:pt x="0" y="452253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08033" y="2270689"/>
            <a:ext cx="235549" cy="188439"/>
          </a:xfrm>
          <a:custGeom>
            <a:avLst/>
            <a:gdLst/>
            <a:ahLst/>
            <a:cxnLst/>
            <a:rect l="l" t="t" r="r" b="b"/>
            <a:pathLst>
              <a:path w="235549" h="188439">
                <a:moveTo>
                  <a:pt x="70665" y="47110"/>
                </a:moveTo>
                <a:cubicBezTo>
                  <a:pt x="70665" y="40595"/>
                  <a:pt x="75928" y="35332"/>
                  <a:pt x="82442" y="35332"/>
                </a:cubicBezTo>
                <a:cubicBezTo>
                  <a:pt x="88956" y="35332"/>
                  <a:pt x="94219" y="40595"/>
                  <a:pt x="94219" y="47110"/>
                </a:cubicBezTo>
                <a:lnTo>
                  <a:pt x="94219" y="49980"/>
                </a:lnTo>
                <a:cubicBezTo>
                  <a:pt x="94219" y="60175"/>
                  <a:pt x="93336" y="70333"/>
                  <a:pt x="91606" y="80344"/>
                </a:cubicBezTo>
                <a:lnTo>
                  <a:pt x="60543" y="89656"/>
                </a:lnTo>
                <a:cubicBezTo>
                  <a:pt x="45601" y="94146"/>
                  <a:pt x="35369" y="107911"/>
                  <a:pt x="35369" y="123516"/>
                </a:cubicBezTo>
                <a:lnTo>
                  <a:pt x="35369" y="135440"/>
                </a:lnTo>
                <a:lnTo>
                  <a:pt x="8870" y="135440"/>
                </a:lnTo>
                <a:cubicBezTo>
                  <a:pt x="3975" y="135440"/>
                  <a:pt x="37" y="139379"/>
                  <a:pt x="37" y="144274"/>
                </a:cubicBezTo>
                <a:cubicBezTo>
                  <a:pt x="37" y="149169"/>
                  <a:pt x="3975" y="153107"/>
                  <a:pt x="8870" y="153107"/>
                </a:cubicBezTo>
                <a:lnTo>
                  <a:pt x="35553" y="153107"/>
                </a:lnTo>
                <a:cubicBezTo>
                  <a:pt x="37099" y="166356"/>
                  <a:pt x="48361" y="176662"/>
                  <a:pt x="62052" y="176662"/>
                </a:cubicBezTo>
                <a:cubicBezTo>
                  <a:pt x="71622" y="176662"/>
                  <a:pt x="80455" y="171546"/>
                  <a:pt x="85202" y="163228"/>
                </a:cubicBezTo>
                <a:lnTo>
                  <a:pt x="90318" y="154284"/>
                </a:lnTo>
                <a:cubicBezTo>
                  <a:pt x="100182" y="136986"/>
                  <a:pt x="107432" y="118326"/>
                  <a:pt x="111812" y="98894"/>
                </a:cubicBezTo>
                <a:lnTo>
                  <a:pt x="146555" y="88478"/>
                </a:lnTo>
                <a:lnTo>
                  <a:pt x="141955" y="102280"/>
                </a:lnTo>
                <a:cubicBezTo>
                  <a:pt x="140740" y="105886"/>
                  <a:pt x="141366" y="109825"/>
                  <a:pt x="143574" y="112879"/>
                </a:cubicBezTo>
                <a:cubicBezTo>
                  <a:pt x="145783" y="115934"/>
                  <a:pt x="149316" y="117774"/>
                  <a:pt x="153107" y="117774"/>
                </a:cubicBezTo>
                <a:lnTo>
                  <a:pt x="200216" y="117774"/>
                </a:lnTo>
                <a:cubicBezTo>
                  <a:pt x="206731" y="117774"/>
                  <a:pt x="211994" y="112511"/>
                  <a:pt x="211994" y="105997"/>
                </a:cubicBezTo>
                <a:cubicBezTo>
                  <a:pt x="211994" y="99483"/>
                  <a:pt x="206731" y="94219"/>
                  <a:pt x="200216" y="94219"/>
                </a:cubicBezTo>
                <a:lnTo>
                  <a:pt x="169448" y="94219"/>
                </a:lnTo>
                <a:lnTo>
                  <a:pt x="176073" y="74382"/>
                </a:lnTo>
                <a:cubicBezTo>
                  <a:pt x="177471" y="70223"/>
                  <a:pt x="176404" y="65622"/>
                  <a:pt x="173349" y="62457"/>
                </a:cubicBezTo>
                <a:cubicBezTo>
                  <a:pt x="170294" y="59292"/>
                  <a:pt x="165731" y="58114"/>
                  <a:pt x="161498" y="59366"/>
                </a:cubicBezTo>
                <a:lnTo>
                  <a:pt x="116449" y="72910"/>
                </a:lnTo>
                <a:cubicBezTo>
                  <a:pt x="117333" y="65291"/>
                  <a:pt x="117774" y="57673"/>
                  <a:pt x="117774" y="49980"/>
                </a:cubicBezTo>
                <a:lnTo>
                  <a:pt x="117774" y="47110"/>
                </a:lnTo>
                <a:cubicBezTo>
                  <a:pt x="117774" y="27603"/>
                  <a:pt x="101948" y="11777"/>
                  <a:pt x="82442" y="11777"/>
                </a:cubicBezTo>
                <a:cubicBezTo>
                  <a:pt x="62936" y="11777"/>
                  <a:pt x="47110" y="27603"/>
                  <a:pt x="47110" y="47110"/>
                </a:cubicBezTo>
                <a:lnTo>
                  <a:pt x="47110" y="58887"/>
                </a:lnTo>
                <a:cubicBezTo>
                  <a:pt x="47110" y="65402"/>
                  <a:pt x="52373" y="70665"/>
                  <a:pt x="58887" y="70665"/>
                </a:cubicBezTo>
                <a:cubicBezTo>
                  <a:pt x="65402" y="70665"/>
                  <a:pt x="70665" y="65402"/>
                  <a:pt x="70665" y="58887"/>
                </a:cubicBezTo>
                <a:lnTo>
                  <a:pt x="70665" y="47110"/>
                </a:lnTo>
                <a:close/>
                <a:moveTo>
                  <a:pt x="67279" y="112254"/>
                </a:moveTo>
                <a:lnTo>
                  <a:pt x="85313" y="106843"/>
                </a:lnTo>
                <a:cubicBezTo>
                  <a:pt x="81485" y="119283"/>
                  <a:pt x="76296" y="131282"/>
                  <a:pt x="69818" y="142617"/>
                </a:cubicBezTo>
                <a:lnTo>
                  <a:pt x="64702" y="151561"/>
                </a:lnTo>
                <a:cubicBezTo>
                  <a:pt x="64150" y="152518"/>
                  <a:pt x="63120" y="153143"/>
                  <a:pt x="61979" y="153143"/>
                </a:cubicBezTo>
                <a:cubicBezTo>
                  <a:pt x="60249" y="153143"/>
                  <a:pt x="58850" y="151745"/>
                  <a:pt x="58850" y="150015"/>
                </a:cubicBezTo>
                <a:lnTo>
                  <a:pt x="58850" y="123553"/>
                </a:lnTo>
                <a:cubicBezTo>
                  <a:pt x="58850" y="118363"/>
                  <a:pt x="62273" y="113763"/>
                  <a:pt x="67242" y="112254"/>
                </a:cubicBezTo>
                <a:close/>
                <a:moveTo>
                  <a:pt x="226716" y="153107"/>
                </a:moveTo>
                <a:cubicBezTo>
                  <a:pt x="231611" y="153107"/>
                  <a:pt x="235549" y="149169"/>
                  <a:pt x="235549" y="144274"/>
                </a:cubicBezTo>
                <a:cubicBezTo>
                  <a:pt x="235549" y="139379"/>
                  <a:pt x="231611" y="135440"/>
                  <a:pt x="226716" y="135440"/>
                </a:cubicBezTo>
                <a:lnTo>
                  <a:pt x="118915" y="135440"/>
                </a:lnTo>
                <a:cubicBezTo>
                  <a:pt x="116523" y="141440"/>
                  <a:pt x="113873" y="147328"/>
                  <a:pt x="110966" y="153107"/>
                </a:cubicBezTo>
                <a:lnTo>
                  <a:pt x="226716" y="153107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6" name="Text 24"/>
          <p:cNvSpPr/>
          <p:nvPr/>
        </p:nvSpPr>
        <p:spPr>
          <a:xfrm>
            <a:off x="6664997" y="2138782"/>
            <a:ext cx="489941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Executive E-IMZO Signatures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64997" y="2477972"/>
            <a:ext cx="4880569" cy="41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dual authorization from C-level executives. Both must digitally sign using their E-IMZO certificates.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69708" y="2972624"/>
            <a:ext cx="2317799" cy="273236"/>
          </a:xfrm>
          <a:custGeom>
            <a:avLst/>
            <a:gdLst/>
            <a:ahLst/>
            <a:cxnLst/>
            <a:rect l="l" t="t" r="r" b="b"/>
            <a:pathLst>
              <a:path w="2317799" h="273236">
                <a:moveTo>
                  <a:pt x="0" y="0"/>
                </a:moveTo>
                <a:lnTo>
                  <a:pt x="2317799" y="0"/>
                </a:lnTo>
                <a:lnTo>
                  <a:pt x="2317799" y="273236"/>
                </a:lnTo>
                <a:lnTo>
                  <a:pt x="0" y="273236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0196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7483" y="3015023"/>
            <a:ext cx="214820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CFO + CRO, or CEO + COO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30085" y="3514386"/>
            <a:ext cx="5690856" cy="1413292"/>
          </a:xfrm>
          <a:custGeom>
            <a:avLst/>
            <a:gdLst/>
            <a:ahLst/>
            <a:cxnLst/>
            <a:rect l="l" t="t" r="r" b="b"/>
            <a:pathLst>
              <a:path w="5690856" h="1413292">
                <a:moveTo>
                  <a:pt x="0" y="0"/>
                </a:moveTo>
                <a:lnTo>
                  <a:pt x="5690856" y="0"/>
                </a:lnTo>
                <a:lnTo>
                  <a:pt x="5690856" y="1413292"/>
                </a:lnTo>
                <a:lnTo>
                  <a:pt x="0" y="141329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30085" y="3514386"/>
            <a:ext cx="37688" cy="1413292"/>
          </a:xfrm>
          <a:custGeom>
            <a:avLst/>
            <a:gdLst/>
            <a:ahLst/>
            <a:cxnLst/>
            <a:rect l="l" t="t" r="r" b="b"/>
            <a:pathLst>
              <a:path w="37688" h="1413292">
                <a:moveTo>
                  <a:pt x="0" y="0"/>
                </a:moveTo>
                <a:lnTo>
                  <a:pt x="37688" y="0"/>
                </a:lnTo>
                <a:lnTo>
                  <a:pt x="37688" y="1413292"/>
                </a:lnTo>
                <a:lnTo>
                  <a:pt x="0" y="1413292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9680" y="3665138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0" y="0"/>
                </a:moveTo>
                <a:lnTo>
                  <a:pt x="452253" y="0"/>
                </a:lnTo>
                <a:lnTo>
                  <a:pt x="452253" y="452253"/>
                </a:lnTo>
                <a:lnTo>
                  <a:pt x="0" y="452253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55143" y="3797045"/>
            <a:ext cx="141329" cy="188439"/>
          </a:xfrm>
          <a:custGeom>
            <a:avLst/>
            <a:gdLst/>
            <a:ahLst/>
            <a:cxnLst/>
            <a:rect l="l" t="t" r="r" b="b"/>
            <a:pathLst>
              <a:path w="141329" h="188439">
                <a:moveTo>
                  <a:pt x="0" y="23555"/>
                </a:moveTo>
                <a:cubicBezTo>
                  <a:pt x="0" y="10563"/>
                  <a:pt x="10563" y="0"/>
                  <a:pt x="23555" y="0"/>
                </a:cubicBezTo>
                <a:lnTo>
                  <a:pt x="78578" y="0"/>
                </a:lnTo>
                <a:cubicBezTo>
                  <a:pt x="84834" y="0"/>
                  <a:pt x="90833" y="2466"/>
                  <a:pt x="95250" y="6882"/>
                </a:cubicBezTo>
                <a:lnTo>
                  <a:pt x="134447" y="46116"/>
                </a:lnTo>
                <a:cubicBezTo>
                  <a:pt x="138863" y="50533"/>
                  <a:pt x="141329" y="56532"/>
                  <a:pt x="141329" y="62788"/>
                </a:cubicBezTo>
                <a:lnTo>
                  <a:pt x="141329" y="164884"/>
                </a:lnTo>
                <a:cubicBezTo>
                  <a:pt x="141329" y="177876"/>
                  <a:pt x="130766" y="188439"/>
                  <a:pt x="117774" y="188439"/>
                </a:cubicBezTo>
                <a:lnTo>
                  <a:pt x="23555" y="188439"/>
                </a:lnTo>
                <a:cubicBezTo>
                  <a:pt x="10563" y="188439"/>
                  <a:pt x="0" y="177876"/>
                  <a:pt x="0" y="164884"/>
                </a:cubicBezTo>
                <a:lnTo>
                  <a:pt x="0" y="23555"/>
                </a:lnTo>
                <a:close/>
                <a:moveTo>
                  <a:pt x="76553" y="21531"/>
                </a:moveTo>
                <a:lnTo>
                  <a:pt x="76553" y="55943"/>
                </a:lnTo>
                <a:cubicBezTo>
                  <a:pt x="76553" y="60838"/>
                  <a:pt x="80491" y="64776"/>
                  <a:pt x="85386" y="64776"/>
                </a:cubicBezTo>
                <a:lnTo>
                  <a:pt x="119799" y="64776"/>
                </a:lnTo>
                <a:lnTo>
                  <a:pt x="76553" y="21531"/>
                </a:lnTo>
                <a:close/>
                <a:moveTo>
                  <a:pt x="44165" y="94219"/>
                </a:moveTo>
                <a:cubicBezTo>
                  <a:pt x="39270" y="94219"/>
                  <a:pt x="35332" y="98158"/>
                  <a:pt x="35332" y="103053"/>
                </a:cubicBezTo>
                <a:cubicBezTo>
                  <a:pt x="35332" y="107948"/>
                  <a:pt x="39270" y="111886"/>
                  <a:pt x="44165" y="111886"/>
                </a:cubicBezTo>
                <a:lnTo>
                  <a:pt x="97164" y="111886"/>
                </a:lnTo>
                <a:cubicBezTo>
                  <a:pt x="102059" y="111886"/>
                  <a:pt x="105997" y="107948"/>
                  <a:pt x="105997" y="103053"/>
                </a:cubicBezTo>
                <a:cubicBezTo>
                  <a:pt x="105997" y="98158"/>
                  <a:pt x="102059" y="94219"/>
                  <a:pt x="97164" y="94219"/>
                </a:cubicBezTo>
                <a:lnTo>
                  <a:pt x="44165" y="94219"/>
                </a:lnTo>
                <a:close/>
                <a:moveTo>
                  <a:pt x="44165" y="129552"/>
                </a:moveTo>
                <a:cubicBezTo>
                  <a:pt x="39270" y="129552"/>
                  <a:pt x="35332" y="133490"/>
                  <a:pt x="35332" y="138385"/>
                </a:cubicBezTo>
                <a:cubicBezTo>
                  <a:pt x="35332" y="143280"/>
                  <a:pt x="39270" y="147218"/>
                  <a:pt x="44165" y="147218"/>
                </a:cubicBezTo>
                <a:lnTo>
                  <a:pt x="97164" y="147218"/>
                </a:lnTo>
                <a:cubicBezTo>
                  <a:pt x="102059" y="147218"/>
                  <a:pt x="105997" y="143280"/>
                  <a:pt x="105997" y="138385"/>
                </a:cubicBezTo>
                <a:cubicBezTo>
                  <a:pt x="105997" y="133490"/>
                  <a:pt x="102059" y="129552"/>
                  <a:pt x="97164" y="129552"/>
                </a:cubicBezTo>
                <a:lnTo>
                  <a:pt x="44165" y="129552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4" name="Text 32"/>
          <p:cNvSpPr/>
          <p:nvPr/>
        </p:nvSpPr>
        <p:spPr>
          <a:xfrm>
            <a:off x="6664997" y="3665138"/>
            <a:ext cx="489941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Justification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64997" y="4004328"/>
            <a:ext cx="4880569" cy="41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Mandatory free-text explanation for why standard rules were insufficient. Must reference specific business context or regulatory guidance.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69708" y="4498980"/>
            <a:ext cx="3731091" cy="273236"/>
          </a:xfrm>
          <a:custGeom>
            <a:avLst/>
            <a:gdLst/>
            <a:ahLst/>
            <a:cxnLst/>
            <a:rect l="l" t="t" r="r" b="b"/>
            <a:pathLst>
              <a:path w="3731091" h="273236">
                <a:moveTo>
                  <a:pt x="0" y="0"/>
                </a:moveTo>
                <a:lnTo>
                  <a:pt x="3731091" y="0"/>
                </a:lnTo>
                <a:lnTo>
                  <a:pt x="3731091" y="273236"/>
                </a:lnTo>
                <a:lnTo>
                  <a:pt x="0" y="273236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0196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7483" y="4541379"/>
            <a:ext cx="356149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Template: Situation → Risk Assessment → Override Rationale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30085" y="5040742"/>
            <a:ext cx="5690856" cy="1413292"/>
          </a:xfrm>
          <a:custGeom>
            <a:avLst/>
            <a:gdLst/>
            <a:ahLst/>
            <a:cxnLst/>
            <a:rect l="l" t="t" r="r" b="b"/>
            <a:pathLst>
              <a:path w="5690856" h="1413292">
                <a:moveTo>
                  <a:pt x="0" y="0"/>
                </a:moveTo>
                <a:lnTo>
                  <a:pt x="5690856" y="0"/>
                </a:lnTo>
                <a:lnTo>
                  <a:pt x="5690856" y="1413292"/>
                </a:lnTo>
                <a:lnTo>
                  <a:pt x="0" y="141329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30085" y="5040742"/>
            <a:ext cx="37688" cy="1413292"/>
          </a:xfrm>
          <a:custGeom>
            <a:avLst/>
            <a:gdLst/>
            <a:ahLst/>
            <a:cxnLst/>
            <a:rect l="l" t="t" r="r" b="b"/>
            <a:pathLst>
              <a:path w="37688" h="1413292">
                <a:moveTo>
                  <a:pt x="0" y="0"/>
                </a:moveTo>
                <a:lnTo>
                  <a:pt x="37688" y="0"/>
                </a:lnTo>
                <a:lnTo>
                  <a:pt x="37688" y="1413292"/>
                </a:lnTo>
                <a:lnTo>
                  <a:pt x="0" y="1413292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0" name="Shape 38"/>
          <p:cNvSpPr/>
          <p:nvPr/>
        </p:nvSpPr>
        <p:spPr>
          <a:xfrm>
            <a:off x="6099680" y="5191493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0" y="0"/>
                </a:moveTo>
                <a:lnTo>
                  <a:pt x="452253" y="0"/>
                </a:lnTo>
                <a:lnTo>
                  <a:pt x="452253" y="452253"/>
                </a:lnTo>
                <a:lnTo>
                  <a:pt x="0" y="452253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43365" y="5323400"/>
            <a:ext cx="164884" cy="188439"/>
          </a:xfrm>
          <a:custGeom>
            <a:avLst/>
            <a:gdLst/>
            <a:ahLst/>
            <a:cxnLst/>
            <a:rect l="l" t="t" r="r" b="b"/>
            <a:pathLst>
              <a:path w="164884" h="188439">
                <a:moveTo>
                  <a:pt x="141329" y="188439"/>
                </a:moveTo>
                <a:lnTo>
                  <a:pt x="35332" y="188439"/>
                </a:lnTo>
                <a:cubicBezTo>
                  <a:pt x="15826" y="188439"/>
                  <a:pt x="0" y="172613"/>
                  <a:pt x="0" y="153107"/>
                </a:cubicBezTo>
                <a:lnTo>
                  <a:pt x="0" y="35332"/>
                </a:lnTo>
                <a:cubicBezTo>
                  <a:pt x="0" y="15826"/>
                  <a:pt x="15826" y="0"/>
                  <a:pt x="35332" y="0"/>
                </a:cubicBezTo>
                <a:lnTo>
                  <a:pt x="147218" y="0"/>
                </a:lnTo>
                <a:cubicBezTo>
                  <a:pt x="156971" y="0"/>
                  <a:pt x="164884" y="7913"/>
                  <a:pt x="164884" y="17666"/>
                </a:cubicBezTo>
                <a:lnTo>
                  <a:pt x="164884" y="123663"/>
                </a:lnTo>
                <a:cubicBezTo>
                  <a:pt x="164884" y="131355"/>
                  <a:pt x="159952" y="137906"/>
                  <a:pt x="153107" y="140335"/>
                </a:cubicBezTo>
                <a:lnTo>
                  <a:pt x="153107" y="164884"/>
                </a:lnTo>
                <a:cubicBezTo>
                  <a:pt x="159621" y="164884"/>
                  <a:pt x="164884" y="170147"/>
                  <a:pt x="164884" y="176662"/>
                </a:cubicBezTo>
                <a:cubicBezTo>
                  <a:pt x="164884" y="183176"/>
                  <a:pt x="159621" y="188439"/>
                  <a:pt x="153107" y="188439"/>
                </a:cubicBezTo>
                <a:lnTo>
                  <a:pt x="141329" y="188439"/>
                </a:lnTo>
                <a:close/>
                <a:moveTo>
                  <a:pt x="35332" y="141329"/>
                </a:moveTo>
                <a:cubicBezTo>
                  <a:pt x="28818" y="141329"/>
                  <a:pt x="23555" y="146592"/>
                  <a:pt x="23555" y="153107"/>
                </a:cubicBezTo>
                <a:cubicBezTo>
                  <a:pt x="23555" y="159621"/>
                  <a:pt x="28818" y="164884"/>
                  <a:pt x="35332" y="164884"/>
                </a:cubicBezTo>
                <a:lnTo>
                  <a:pt x="129552" y="164884"/>
                </a:lnTo>
                <a:lnTo>
                  <a:pt x="129552" y="141329"/>
                </a:lnTo>
                <a:lnTo>
                  <a:pt x="35332" y="141329"/>
                </a:lnTo>
                <a:close/>
                <a:moveTo>
                  <a:pt x="47110" y="55943"/>
                </a:moveTo>
                <a:cubicBezTo>
                  <a:pt x="47110" y="60838"/>
                  <a:pt x="51048" y="64776"/>
                  <a:pt x="55943" y="64776"/>
                </a:cubicBezTo>
                <a:lnTo>
                  <a:pt x="120719" y="64776"/>
                </a:lnTo>
                <a:cubicBezTo>
                  <a:pt x="125614" y="64776"/>
                  <a:pt x="129552" y="60838"/>
                  <a:pt x="129552" y="55943"/>
                </a:cubicBezTo>
                <a:cubicBezTo>
                  <a:pt x="129552" y="51048"/>
                  <a:pt x="125614" y="47110"/>
                  <a:pt x="120719" y="47110"/>
                </a:cubicBezTo>
                <a:lnTo>
                  <a:pt x="55943" y="47110"/>
                </a:lnTo>
                <a:cubicBezTo>
                  <a:pt x="51048" y="47110"/>
                  <a:pt x="47110" y="51048"/>
                  <a:pt x="47110" y="55943"/>
                </a:cubicBezTo>
                <a:close/>
                <a:moveTo>
                  <a:pt x="55943" y="82442"/>
                </a:moveTo>
                <a:cubicBezTo>
                  <a:pt x="51048" y="82442"/>
                  <a:pt x="47110" y="86380"/>
                  <a:pt x="47110" y="91275"/>
                </a:cubicBezTo>
                <a:cubicBezTo>
                  <a:pt x="47110" y="96170"/>
                  <a:pt x="51048" y="100108"/>
                  <a:pt x="55943" y="100108"/>
                </a:cubicBezTo>
                <a:lnTo>
                  <a:pt x="120719" y="100108"/>
                </a:lnTo>
                <a:cubicBezTo>
                  <a:pt x="125614" y="100108"/>
                  <a:pt x="129552" y="96170"/>
                  <a:pt x="129552" y="91275"/>
                </a:cubicBezTo>
                <a:cubicBezTo>
                  <a:pt x="129552" y="86380"/>
                  <a:pt x="125614" y="82442"/>
                  <a:pt x="120719" y="82442"/>
                </a:cubicBezTo>
                <a:lnTo>
                  <a:pt x="55943" y="82442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2" name="Text 40"/>
          <p:cNvSpPr/>
          <p:nvPr/>
        </p:nvSpPr>
        <p:spPr>
          <a:xfrm>
            <a:off x="6664997" y="5191493"/>
            <a:ext cx="489941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Immutable Ledger Logging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64997" y="5530683"/>
            <a:ext cx="4880569" cy="414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7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override details logged to tamper-proof ledger: who, when, what transaction, what justification, what signatures.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69708" y="6025335"/>
            <a:ext cx="2440284" cy="273236"/>
          </a:xfrm>
          <a:custGeom>
            <a:avLst/>
            <a:gdLst/>
            <a:ahLst/>
            <a:cxnLst/>
            <a:rect l="l" t="t" r="r" b="b"/>
            <a:pathLst>
              <a:path w="2440284" h="273236">
                <a:moveTo>
                  <a:pt x="0" y="0"/>
                </a:moveTo>
                <a:lnTo>
                  <a:pt x="2440284" y="0"/>
                </a:lnTo>
                <a:lnTo>
                  <a:pt x="2440284" y="273236"/>
                </a:lnTo>
                <a:lnTo>
                  <a:pt x="0" y="27323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0196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7483" y="6067734"/>
            <a:ext cx="227068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Retained for regulatory audit (7+ years)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REALITY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Reality: CPU-First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57313"/>
            <a:ext cx="5133975" cy="3438525"/>
          </a:xfrm>
          <a:custGeom>
            <a:avLst/>
            <a:gdLst/>
            <a:ahLst/>
            <a:cxnLst/>
            <a:rect l="l" t="t" r="r" b="b"/>
            <a:pathLst>
              <a:path w="5133975" h="3438525">
                <a:moveTo>
                  <a:pt x="0" y="0"/>
                </a:moveTo>
                <a:lnTo>
                  <a:pt x="5133975" y="0"/>
                </a:lnTo>
                <a:lnTo>
                  <a:pt x="51339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552575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GPU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2009775"/>
            <a:ext cx="4819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banks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large GPU clusters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Procurement cycles for GPU infrastructure can take 6-12 months. REVENANT is designed for immediate deployment.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2909888"/>
            <a:ext cx="4733925" cy="1685925"/>
          </a:xfrm>
          <a:custGeom>
            <a:avLst/>
            <a:gdLst/>
            <a:ahLst/>
            <a:cxnLst/>
            <a:rect l="l" t="t" r="r" b="b"/>
            <a:pathLst>
              <a:path w="4733925" h="1685925">
                <a:moveTo>
                  <a:pt x="0" y="0"/>
                </a:moveTo>
                <a:lnTo>
                  <a:pt x="4733925" y="0"/>
                </a:lnTo>
                <a:lnTo>
                  <a:pt x="4733925" y="1685925"/>
                </a:lnTo>
                <a:lnTo>
                  <a:pt x="0" y="16859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3067050"/>
            <a:ext cx="450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 Reality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8188" y="3486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1" name="Text 9"/>
          <p:cNvSpPr/>
          <p:nvPr/>
        </p:nvSpPr>
        <p:spPr>
          <a:xfrm>
            <a:off x="946249" y="3448050"/>
            <a:ext cx="42957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Procurement: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GPU clusters require budget cycles, vendor selection, installation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003" y="3981450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35421" y="6251"/>
                </a:moveTo>
                <a:cubicBezTo>
                  <a:pt x="35421" y="2787"/>
                  <a:pt x="38208" y="0"/>
                  <a:pt x="41672" y="0"/>
                </a:cubicBezTo>
                <a:cubicBezTo>
                  <a:pt x="45136" y="0"/>
                  <a:pt x="47923" y="2787"/>
                  <a:pt x="47923" y="6251"/>
                </a:cubicBezTo>
                <a:lnTo>
                  <a:pt x="47923" y="16669"/>
                </a:lnTo>
                <a:lnTo>
                  <a:pt x="62508" y="16669"/>
                </a:lnTo>
                <a:cubicBezTo>
                  <a:pt x="67118" y="16669"/>
                  <a:pt x="70842" y="20393"/>
                  <a:pt x="70842" y="25003"/>
                </a:cubicBezTo>
                <a:cubicBezTo>
                  <a:pt x="70842" y="29613"/>
                  <a:pt x="67118" y="33337"/>
                  <a:pt x="62508" y="33337"/>
                </a:cubicBezTo>
                <a:lnTo>
                  <a:pt x="32582" y="33337"/>
                </a:lnTo>
                <a:cubicBezTo>
                  <a:pt x="26097" y="33337"/>
                  <a:pt x="20836" y="38599"/>
                  <a:pt x="20836" y="45084"/>
                </a:cubicBezTo>
                <a:cubicBezTo>
                  <a:pt x="20836" y="50944"/>
                  <a:pt x="25133" y="55892"/>
                  <a:pt x="30915" y="56726"/>
                </a:cubicBezTo>
                <a:lnTo>
                  <a:pt x="54772" y="60138"/>
                </a:lnTo>
                <a:cubicBezTo>
                  <a:pt x="68785" y="62143"/>
                  <a:pt x="79177" y="74124"/>
                  <a:pt x="79177" y="88266"/>
                </a:cubicBezTo>
                <a:cubicBezTo>
                  <a:pt x="79177" y="103971"/>
                  <a:pt x="66441" y="116681"/>
                  <a:pt x="50762" y="116681"/>
                </a:cubicBezTo>
                <a:lnTo>
                  <a:pt x="47923" y="116681"/>
                </a:lnTo>
                <a:lnTo>
                  <a:pt x="47923" y="127099"/>
                </a:lnTo>
                <a:cubicBezTo>
                  <a:pt x="47923" y="130563"/>
                  <a:pt x="45136" y="133350"/>
                  <a:pt x="41672" y="133350"/>
                </a:cubicBezTo>
                <a:cubicBezTo>
                  <a:pt x="38208" y="133350"/>
                  <a:pt x="35421" y="130563"/>
                  <a:pt x="35421" y="127099"/>
                </a:cubicBezTo>
                <a:lnTo>
                  <a:pt x="35421" y="116681"/>
                </a:lnTo>
                <a:lnTo>
                  <a:pt x="16669" y="116681"/>
                </a:lnTo>
                <a:cubicBezTo>
                  <a:pt x="12059" y="116681"/>
                  <a:pt x="8334" y="112957"/>
                  <a:pt x="8334" y="108347"/>
                </a:cubicBezTo>
                <a:cubicBezTo>
                  <a:pt x="8334" y="103737"/>
                  <a:pt x="12059" y="100013"/>
                  <a:pt x="16669" y="100013"/>
                </a:cubicBezTo>
                <a:lnTo>
                  <a:pt x="50762" y="100013"/>
                </a:lnTo>
                <a:cubicBezTo>
                  <a:pt x="57247" y="100013"/>
                  <a:pt x="62508" y="94751"/>
                  <a:pt x="62508" y="88266"/>
                </a:cubicBezTo>
                <a:cubicBezTo>
                  <a:pt x="62508" y="82406"/>
                  <a:pt x="58210" y="77458"/>
                  <a:pt x="52428" y="76624"/>
                </a:cubicBezTo>
                <a:lnTo>
                  <a:pt x="28571" y="73212"/>
                </a:lnTo>
                <a:cubicBezTo>
                  <a:pt x="14559" y="71233"/>
                  <a:pt x="4167" y="59226"/>
                  <a:pt x="4167" y="45084"/>
                </a:cubicBezTo>
                <a:cubicBezTo>
                  <a:pt x="4167" y="29405"/>
                  <a:pt x="16903" y="16669"/>
                  <a:pt x="32582" y="16669"/>
                </a:cubicBezTo>
                <a:lnTo>
                  <a:pt x="35421" y="16669"/>
                </a:lnTo>
                <a:lnTo>
                  <a:pt x="35421" y="6251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985838" y="3943350"/>
            <a:ext cx="3724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CapEx: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$500K-$2M for modest GPU infrastructure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267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5" name="Text 13"/>
          <p:cNvSpPr/>
          <p:nvPr/>
        </p:nvSpPr>
        <p:spPr>
          <a:xfrm>
            <a:off x="985838" y="4229100"/>
            <a:ext cx="4114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Skills Gap: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Limited AI/ML operations expertise in traditional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957763"/>
            <a:ext cx="5133975" cy="1514475"/>
          </a:xfrm>
          <a:custGeom>
            <a:avLst/>
            <a:gdLst/>
            <a:ahLst/>
            <a:cxnLst/>
            <a:rect l="l" t="t" r="r" b="b"/>
            <a:pathLst>
              <a:path w="5133975" h="1514475">
                <a:moveTo>
                  <a:pt x="0" y="0"/>
                </a:moveTo>
                <a:lnTo>
                  <a:pt x="5133975" y="0"/>
                </a:lnTo>
                <a:lnTo>
                  <a:pt x="5133975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738" y="532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50" y="527685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Deployment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5657850"/>
            <a:ext cx="4895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AI runs 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CPU infrastructure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Deploy in weeks, not months. No waiting for GPU procurement cycles.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9763" y="1357313"/>
            <a:ext cx="6086475" cy="5114925"/>
          </a:xfrm>
          <a:custGeom>
            <a:avLst/>
            <a:gdLst/>
            <a:ahLst/>
            <a:cxnLst/>
            <a:rect l="l" t="t" r="r" b="b"/>
            <a:pathLst>
              <a:path w="6086475" h="5114925">
                <a:moveTo>
                  <a:pt x="0" y="0"/>
                </a:moveTo>
                <a:lnTo>
                  <a:pt x="6086475" y="0"/>
                </a:lnTo>
                <a:lnTo>
                  <a:pt x="6086475" y="5114925"/>
                </a:lnTo>
                <a:lnTo>
                  <a:pt x="0" y="51149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5025" y="1552575"/>
            <a:ext cx="581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Tiers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34075" y="2114550"/>
            <a:ext cx="5676900" cy="2057400"/>
          </a:xfrm>
          <a:custGeom>
            <a:avLst/>
            <a:gdLst/>
            <a:ahLst/>
            <a:cxnLst/>
            <a:rect l="l" t="t" r="r" b="b"/>
            <a:pathLst>
              <a:path w="5676900" h="2057400">
                <a:moveTo>
                  <a:pt x="0" y="0"/>
                </a:moveTo>
                <a:lnTo>
                  <a:pt x="5676900" y="0"/>
                </a:lnTo>
                <a:lnTo>
                  <a:pt x="56769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34075" y="211455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5525" y="22669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257925" y="2419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6" name="Text 24"/>
          <p:cNvSpPr/>
          <p:nvPr/>
        </p:nvSpPr>
        <p:spPr>
          <a:xfrm>
            <a:off x="6791325" y="2266950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Mode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53105" y="2286000"/>
            <a:ext cx="904875" cy="266700"/>
          </a:xfrm>
          <a:custGeom>
            <a:avLst/>
            <a:gdLst/>
            <a:ahLst/>
            <a:cxnLst/>
            <a:rect l="l" t="t" r="r" b="b"/>
            <a:pathLst>
              <a:path w="904875" h="266700">
                <a:moveTo>
                  <a:pt x="0" y="0"/>
                </a:moveTo>
                <a:lnTo>
                  <a:pt x="904875" y="0"/>
                </a:lnTo>
                <a:lnTo>
                  <a:pt x="9048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8" name="Text 26"/>
          <p:cNvSpPr/>
          <p:nvPr/>
        </p:nvSpPr>
        <p:spPr>
          <a:xfrm>
            <a:off x="10553105" y="2286000"/>
            <a:ext cx="971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91325" y="2647950"/>
            <a:ext cx="47434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Quantized models optimized for CPU inference. 8-bit and 4-bit quantization reduces memory footprint and computational requirements.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96088" y="3395663"/>
            <a:ext cx="2286000" cy="619125"/>
          </a:xfrm>
          <a:custGeom>
            <a:avLst/>
            <a:gdLst/>
            <a:ahLst/>
            <a:cxnLst/>
            <a:rect l="l" t="t" r="r" b="b"/>
            <a:pathLst>
              <a:path w="2286000" h="619125">
                <a:moveTo>
                  <a:pt x="0" y="0"/>
                </a:moveTo>
                <a:lnTo>
                  <a:pt x="2286000" y="0"/>
                </a:lnTo>
                <a:lnTo>
                  <a:pt x="2286000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5150" y="3476625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Latency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15150" y="36671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67813" y="3395663"/>
            <a:ext cx="2286000" cy="619125"/>
          </a:xfrm>
          <a:custGeom>
            <a:avLst/>
            <a:gdLst/>
            <a:ahLst/>
            <a:cxnLst/>
            <a:rect l="l" t="t" r="r" b="b"/>
            <a:pathLst>
              <a:path w="2286000" h="619125">
                <a:moveTo>
                  <a:pt x="0" y="0"/>
                </a:moveTo>
                <a:lnTo>
                  <a:pt x="2286000" y="0"/>
                </a:lnTo>
                <a:lnTo>
                  <a:pt x="2286000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6875" y="3476625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Cores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86875" y="366712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8-16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34075" y="4324350"/>
            <a:ext cx="5676900" cy="1847850"/>
          </a:xfrm>
          <a:custGeom>
            <a:avLst/>
            <a:gdLst/>
            <a:ahLst/>
            <a:cxnLst/>
            <a:rect l="l" t="t" r="r" b="b"/>
            <a:pathLst>
              <a:path w="5676900" h="1847850">
                <a:moveTo>
                  <a:pt x="0" y="0"/>
                </a:moveTo>
                <a:lnTo>
                  <a:pt x="5676900" y="0"/>
                </a:lnTo>
                <a:lnTo>
                  <a:pt x="5676900" y="1847850"/>
                </a:lnTo>
                <a:lnTo>
                  <a:pt x="0" y="18478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934075" y="432435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0" y="18478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105525" y="44767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9" name="Shape 37"/>
          <p:cNvSpPr/>
          <p:nvPr/>
        </p:nvSpPr>
        <p:spPr>
          <a:xfrm>
            <a:off x="6257925" y="4629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6791325" y="4476750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Mode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605939" y="4495800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0" y="0"/>
                </a:moveTo>
                <a:lnTo>
                  <a:pt x="857250" y="0"/>
                </a:lnTo>
                <a:lnTo>
                  <a:pt x="8572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2" name="Text 40"/>
          <p:cNvSpPr/>
          <p:nvPr/>
        </p:nvSpPr>
        <p:spPr>
          <a:xfrm>
            <a:off x="10605939" y="4495800"/>
            <a:ext cx="923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91325" y="4857750"/>
            <a:ext cx="4743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Full-precision models on GPU for maximum accuracy. Optional upgrade path when GPU infrastructure becomes available.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96088" y="5395913"/>
            <a:ext cx="2286000" cy="619125"/>
          </a:xfrm>
          <a:custGeom>
            <a:avLst/>
            <a:gdLst/>
            <a:ahLst/>
            <a:cxnLst/>
            <a:rect l="l" t="t" r="r" b="b"/>
            <a:pathLst>
              <a:path w="2286000" h="619125">
                <a:moveTo>
                  <a:pt x="0" y="0"/>
                </a:moveTo>
                <a:lnTo>
                  <a:pt x="2286000" y="0"/>
                </a:lnTo>
                <a:lnTo>
                  <a:pt x="2286000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15150" y="5476875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Latency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15150" y="566737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&lt;20ms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67813" y="5395913"/>
            <a:ext cx="2286000" cy="619125"/>
          </a:xfrm>
          <a:custGeom>
            <a:avLst/>
            <a:gdLst/>
            <a:ahLst/>
            <a:cxnLst/>
            <a:rect l="l" t="t" r="r" b="b"/>
            <a:pathLst>
              <a:path w="2286000" h="619125">
                <a:moveTo>
                  <a:pt x="0" y="0"/>
                </a:moveTo>
                <a:lnTo>
                  <a:pt x="2286000" y="0"/>
                </a:lnTo>
                <a:lnTo>
                  <a:pt x="2286000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86875" y="5476875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Memory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86875" y="566737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8-16GB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855" y="330855"/>
            <a:ext cx="11588190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b="1" spc="182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855" y="562453"/>
            <a:ext cx="11679175" cy="330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Deployment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855" y="992564"/>
            <a:ext cx="794052" cy="16543"/>
          </a:xfrm>
          <a:custGeom>
            <a:avLst/>
            <a:gdLst/>
            <a:ahLst/>
            <a:cxnLst/>
            <a:rect l="l" t="t" r="r" b="b"/>
            <a:pathLst>
              <a:path w="794052" h="16543">
                <a:moveTo>
                  <a:pt x="0" y="0"/>
                </a:moveTo>
                <a:lnTo>
                  <a:pt x="794052" y="0"/>
                </a:lnTo>
                <a:lnTo>
                  <a:pt x="794052" y="16543"/>
                </a:lnTo>
                <a:lnTo>
                  <a:pt x="0" y="16543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34991" y="1178670"/>
            <a:ext cx="11522019" cy="703066"/>
          </a:xfrm>
          <a:custGeom>
            <a:avLst/>
            <a:gdLst/>
            <a:ahLst/>
            <a:cxnLst/>
            <a:rect l="l" t="t" r="r" b="b"/>
            <a:pathLst>
              <a:path w="11522019" h="703066">
                <a:moveTo>
                  <a:pt x="0" y="0"/>
                </a:moveTo>
                <a:lnTo>
                  <a:pt x="11522019" y="0"/>
                </a:lnTo>
                <a:lnTo>
                  <a:pt x="11522019" y="703066"/>
                </a:lnTo>
                <a:lnTo>
                  <a:pt x="0" y="703066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1468" y="1315148"/>
            <a:ext cx="11315235" cy="43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Flexibility:</a:t>
            </a:r>
            <a:pPr>
              <a:lnSpc>
                <a:spcPct val="140000"/>
              </a:lnSpc>
            </a:pPr>
            <a:r>
              <a:rPr lang="en-US" sz="1042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REVENANT supports </a:t>
            </a:r>
            <a:pPr>
              <a:lnSpc>
                <a:spcPct val="140000"/>
              </a:lnSpc>
            </a:pPr>
            <a:r>
              <a:rPr lang="en-US" sz="1042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deployment models</a:t>
            </a:r>
            <a:pPr>
              <a:lnSpc>
                <a:spcPct val="140000"/>
              </a:lnSpc>
            </a:pPr>
            <a:r>
              <a:rPr lang="en-US" sz="1042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accommodate banks at different stages of cloud maturity. From containerized Kubernetes to bare metal—choose what fits your infrastructure.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4991" y="2022350"/>
            <a:ext cx="5674160" cy="4069514"/>
          </a:xfrm>
          <a:custGeom>
            <a:avLst/>
            <a:gdLst/>
            <a:ahLst/>
            <a:cxnLst/>
            <a:rect l="l" t="t" r="r" b="b"/>
            <a:pathLst>
              <a:path w="5674160" h="4069514">
                <a:moveTo>
                  <a:pt x="0" y="0"/>
                </a:moveTo>
                <a:lnTo>
                  <a:pt x="5674160" y="0"/>
                </a:lnTo>
                <a:lnTo>
                  <a:pt x="5674160" y="4069514"/>
                </a:lnTo>
                <a:lnTo>
                  <a:pt x="0" y="4069514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4554" y="2191913"/>
            <a:ext cx="529368" cy="529368"/>
          </a:xfrm>
          <a:custGeom>
            <a:avLst/>
            <a:gdLst/>
            <a:ahLst/>
            <a:cxnLst/>
            <a:rect l="l" t="t" r="r" b="b"/>
            <a:pathLst>
              <a:path w="529368" h="529368">
                <a:moveTo>
                  <a:pt x="0" y="0"/>
                </a:moveTo>
                <a:lnTo>
                  <a:pt x="529368" y="0"/>
                </a:lnTo>
                <a:lnTo>
                  <a:pt x="529368" y="529368"/>
                </a:lnTo>
                <a:lnTo>
                  <a:pt x="0" y="529368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9" name="Shape 7"/>
          <p:cNvSpPr/>
          <p:nvPr/>
        </p:nvSpPr>
        <p:spPr>
          <a:xfrm>
            <a:off x="616217" y="2332526"/>
            <a:ext cx="310176" cy="248141"/>
          </a:xfrm>
          <a:custGeom>
            <a:avLst/>
            <a:gdLst/>
            <a:ahLst/>
            <a:cxnLst/>
            <a:rect l="l" t="t" r="r" b="b"/>
            <a:pathLst>
              <a:path w="310176" h="248141">
                <a:moveTo>
                  <a:pt x="169579" y="114523"/>
                </a:moveTo>
                <a:lnTo>
                  <a:pt x="137544" y="114523"/>
                </a:lnTo>
                <a:lnTo>
                  <a:pt x="137544" y="85735"/>
                </a:lnTo>
                <a:lnTo>
                  <a:pt x="169579" y="85735"/>
                </a:lnTo>
                <a:lnTo>
                  <a:pt x="169579" y="114523"/>
                </a:lnTo>
                <a:close/>
                <a:moveTo>
                  <a:pt x="169579" y="15509"/>
                </a:moveTo>
                <a:lnTo>
                  <a:pt x="137544" y="15509"/>
                </a:lnTo>
                <a:lnTo>
                  <a:pt x="137544" y="44927"/>
                </a:lnTo>
                <a:lnTo>
                  <a:pt x="169579" y="44927"/>
                </a:lnTo>
                <a:lnTo>
                  <a:pt x="169579" y="15509"/>
                </a:lnTo>
                <a:close/>
                <a:moveTo>
                  <a:pt x="207479" y="85686"/>
                </a:moveTo>
                <a:lnTo>
                  <a:pt x="175444" y="85686"/>
                </a:lnTo>
                <a:lnTo>
                  <a:pt x="175444" y="114474"/>
                </a:lnTo>
                <a:lnTo>
                  <a:pt x="207479" y="114474"/>
                </a:lnTo>
                <a:lnTo>
                  <a:pt x="207479" y="85686"/>
                </a:lnTo>
                <a:close/>
                <a:moveTo>
                  <a:pt x="131728" y="50743"/>
                </a:moveTo>
                <a:lnTo>
                  <a:pt x="99693" y="50743"/>
                </a:lnTo>
                <a:lnTo>
                  <a:pt x="99693" y="79870"/>
                </a:lnTo>
                <a:lnTo>
                  <a:pt x="131728" y="79870"/>
                </a:lnTo>
                <a:lnTo>
                  <a:pt x="131728" y="50743"/>
                </a:lnTo>
                <a:close/>
                <a:moveTo>
                  <a:pt x="169579" y="50743"/>
                </a:moveTo>
                <a:lnTo>
                  <a:pt x="137544" y="50743"/>
                </a:lnTo>
                <a:lnTo>
                  <a:pt x="137544" y="79870"/>
                </a:lnTo>
                <a:lnTo>
                  <a:pt x="169579" y="79870"/>
                </a:lnTo>
                <a:lnTo>
                  <a:pt x="169579" y="50743"/>
                </a:lnTo>
                <a:close/>
                <a:moveTo>
                  <a:pt x="303731" y="99208"/>
                </a:moveTo>
                <a:cubicBezTo>
                  <a:pt x="296752" y="94507"/>
                  <a:pt x="280661" y="92811"/>
                  <a:pt x="268303" y="95137"/>
                </a:cubicBezTo>
                <a:cubicBezTo>
                  <a:pt x="266703" y="83505"/>
                  <a:pt x="260209" y="73376"/>
                  <a:pt x="248383" y="64265"/>
                </a:cubicBezTo>
                <a:lnTo>
                  <a:pt x="241598" y="59757"/>
                </a:lnTo>
                <a:lnTo>
                  <a:pt x="237091" y="66543"/>
                </a:lnTo>
                <a:cubicBezTo>
                  <a:pt x="228174" y="80016"/>
                  <a:pt x="225750" y="102213"/>
                  <a:pt x="235298" y="116849"/>
                </a:cubicBezTo>
                <a:cubicBezTo>
                  <a:pt x="231081" y="119127"/>
                  <a:pt x="222794" y="122229"/>
                  <a:pt x="211841" y="122035"/>
                </a:cubicBezTo>
                <a:lnTo>
                  <a:pt x="1163" y="122035"/>
                </a:lnTo>
                <a:cubicBezTo>
                  <a:pt x="-3053" y="146655"/>
                  <a:pt x="3974" y="178642"/>
                  <a:pt x="22488" y="200597"/>
                </a:cubicBezTo>
                <a:cubicBezTo>
                  <a:pt x="40468" y="221873"/>
                  <a:pt x="67415" y="232681"/>
                  <a:pt x="102649" y="232681"/>
                </a:cubicBezTo>
                <a:cubicBezTo>
                  <a:pt x="178933" y="232681"/>
                  <a:pt x="235395" y="197544"/>
                  <a:pt x="261808" y="133715"/>
                </a:cubicBezTo>
                <a:cubicBezTo>
                  <a:pt x="272180" y="133909"/>
                  <a:pt x="294571" y="133764"/>
                  <a:pt x="306057" y="111809"/>
                </a:cubicBezTo>
                <a:cubicBezTo>
                  <a:pt x="306784" y="110597"/>
                  <a:pt x="309256" y="105412"/>
                  <a:pt x="310176" y="103521"/>
                </a:cubicBezTo>
                <a:lnTo>
                  <a:pt x="303731" y="99208"/>
                </a:lnTo>
                <a:close/>
                <a:moveTo>
                  <a:pt x="56026" y="85686"/>
                </a:moveTo>
                <a:lnTo>
                  <a:pt x="24039" y="85686"/>
                </a:lnTo>
                <a:lnTo>
                  <a:pt x="24039" y="114474"/>
                </a:lnTo>
                <a:lnTo>
                  <a:pt x="56074" y="114474"/>
                </a:lnTo>
                <a:lnTo>
                  <a:pt x="56074" y="85686"/>
                </a:lnTo>
                <a:lnTo>
                  <a:pt x="56026" y="85686"/>
                </a:lnTo>
                <a:close/>
                <a:moveTo>
                  <a:pt x="93877" y="85686"/>
                </a:moveTo>
                <a:lnTo>
                  <a:pt x="61841" y="85686"/>
                </a:lnTo>
                <a:lnTo>
                  <a:pt x="61841" y="114474"/>
                </a:lnTo>
                <a:lnTo>
                  <a:pt x="93877" y="114474"/>
                </a:lnTo>
                <a:lnTo>
                  <a:pt x="93877" y="85686"/>
                </a:lnTo>
                <a:close/>
                <a:moveTo>
                  <a:pt x="131728" y="85686"/>
                </a:moveTo>
                <a:lnTo>
                  <a:pt x="99693" y="85686"/>
                </a:lnTo>
                <a:lnTo>
                  <a:pt x="99693" y="114474"/>
                </a:lnTo>
                <a:lnTo>
                  <a:pt x="131728" y="114474"/>
                </a:lnTo>
                <a:lnTo>
                  <a:pt x="131728" y="85686"/>
                </a:lnTo>
                <a:close/>
                <a:moveTo>
                  <a:pt x="93877" y="50743"/>
                </a:moveTo>
                <a:lnTo>
                  <a:pt x="61841" y="50743"/>
                </a:lnTo>
                <a:lnTo>
                  <a:pt x="61841" y="79870"/>
                </a:lnTo>
                <a:lnTo>
                  <a:pt x="93877" y="79870"/>
                </a:lnTo>
                <a:lnTo>
                  <a:pt x="93877" y="50743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0" name="Text 8"/>
          <p:cNvSpPr/>
          <p:nvPr/>
        </p:nvSpPr>
        <p:spPr>
          <a:xfrm>
            <a:off x="1166263" y="2224999"/>
            <a:ext cx="1100092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6263" y="2489682"/>
            <a:ext cx="1067007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6961" y="2853623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6961" y="2853623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438" y="2985965"/>
            <a:ext cx="115799" cy="132342"/>
          </a:xfrm>
          <a:custGeom>
            <a:avLst/>
            <a:gdLst/>
            <a:ahLst/>
            <a:cxnLst/>
            <a:rect l="l" t="t" r="r" b="b"/>
            <a:pathLst>
              <a:path w="115799" h="132342">
                <a:moveTo>
                  <a:pt x="95483" y="33085"/>
                </a:moveTo>
                <a:lnTo>
                  <a:pt x="86617" y="20678"/>
                </a:lnTo>
                <a:lnTo>
                  <a:pt x="29208" y="20678"/>
                </a:lnTo>
                <a:lnTo>
                  <a:pt x="20342" y="33085"/>
                </a:lnTo>
                <a:lnTo>
                  <a:pt x="95483" y="33085"/>
                </a:lnTo>
                <a:close/>
                <a:moveTo>
                  <a:pt x="0" y="38384"/>
                </a:moveTo>
                <a:cubicBezTo>
                  <a:pt x="0" y="34947"/>
                  <a:pt x="1086" y="31586"/>
                  <a:pt x="3076" y="28769"/>
                </a:cubicBezTo>
                <a:lnTo>
                  <a:pt x="15741" y="11063"/>
                </a:lnTo>
                <a:cubicBezTo>
                  <a:pt x="18843" y="6720"/>
                  <a:pt x="23858" y="4136"/>
                  <a:pt x="29182" y="4136"/>
                </a:cubicBezTo>
                <a:lnTo>
                  <a:pt x="86591" y="4136"/>
                </a:lnTo>
                <a:cubicBezTo>
                  <a:pt x="91941" y="4136"/>
                  <a:pt x="96956" y="6720"/>
                  <a:pt x="100058" y="11063"/>
                </a:cubicBezTo>
                <a:lnTo>
                  <a:pt x="112697" y="28769"/>
                </a:lnTo>
                <a:cubicBezTo>
                  <a:pt x="114714" y="31586"/>
                  <a:pt x="115773" y="34947"/>
                  <a:pt x="115773" y="38384"/>
                </a:cubicBezTo>
                <a:lnTo>
                  <a:pt x="115799" y="107528"/>
                </a:lnTo>
                <a:cubicBezTo>
                  <a:pt x="115799" y="116652"/>
                  <a:pt x="108381" y="124071"/>
                  <a:pt x="99256" y="124071"/>
                </a:cubicBezTo>
                <a:lnTo>
                  <a:pt x="16543" y="124071"/>
                </a:lnTo>
                <a:cubicBezTo>
                  <a:pt x="7418" y="124071"/>
                  <a:pt x="0" y="116652"/>
                  <a:pt x="0" y="107528"/>
                </a:cubicBezTo>
                <a:lnTo>
                  <a:pt x="0" y="38384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5" name="Text 13"/>
          <p:cNvSpPr/>
          <p:nvPr/>
        </p:nvSpPr>
        <p:spPr>
          <a:xfrm>
            <a:off x="837148" y="2952879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Containerized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624" y="3184478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components packaged as Docker containers with defined resource limits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961" y="3542214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6961" y="3542214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438" y="3674556"/>
            <a:ext cx="115799" cy="132342"/>
          </a:xfrm>
          <a:custGeom>
            <a:avLst/>
            <a:gdLst/>
            <a:ahLst/>
            <a:cxnLst/>
            <a:rect l="l" t="t" r="r" b="b"/>
            <a:pathLst>
              <a:path w="115799" h="132342">
                <a:moveTo>
                  <a:pt x="43425" y="8271"/>
                </a:moveTo>
                <a:lnTo>
                  <a:pt x="6204" y="8271"/>
                </a:lnTo>
                <a:cubicBezTo>
                  <a:pt x="2766" y="8271"/>
                  <a:pt x="0" y="11037"/>
                  <a:pt x="0" y="14475"/>
                </a:cubicBezTo>
                <a:lnTo>
                  <a:pt x="0" y="51696"/>
                </a:lnTo>
                <a:cubicBezTo>
                  <a:pt x="0" y="54203"/>
                  <a:pt x="1499" y="56478"/>
                  <a:pt x="3826" y="57434"/>
                </a:cubicBezTo>
                <a:cubicBezTo>
                  <a:pt x="6152" y="58391"/>
                  <a:pt x="8814" y="57848"/>
                  <a:pt x="10598" y="56090"/>
                </a:cubicBezTo>
                <a:lnTo>
                  <a:pt x="20937" y="45751"/>
                </a:lnTo>
                <a:lnTo>
                  <a:pt x="41357" y="66171"/>
                </a:lnTo>
                <a:lnTo>
                  <a:pt x="20937" y="86591"/>
                </a:lnTo>
                <a:lnTo>
                  <a:pt x="10598" y="76252"/>
                </a:lnTo>
                <a:cubicBezTo>
                  <a:pt x="8814" y="74468"/>
                  <a:pt x="6152" y="73951"/>
                  <a:pt x="3826" y="74908"/>
                </a:cubicBezTo>
                <a:cubicBezTo>
                  <a:pt x="1499" y="75864"/>
                  <a:pt x="0" y="78139"/>
                  <a:pt x="0" y="80646"/>
                </a:cubicBezTo>
                <a:lnTo>
                  <a:pt x="0" y="117867"/>
                </a:lnTo>
                <a:cubicBezTo>
                  <a:pt x="0" y="121305"/>
                  <a:pt x="2766" y="124071"/>
                  <a:pt x="6204" y="124071"/>
                </a:cubicBezTo>
                <a:lnTo>
                  <a:pt x="43425" y="124071"/>
                </a:lnTo>
                <a:cubicBezTo>
                  <a:pt x="45932" y="124071"/>
                  <a:pt x="48207" y="122571"/>
                  <a:pt x="49163" y="120245"/>
                </a:cubicBezTo>
                <a:cubicBezTo>
                  <a:pt x="50119" y="117919"/>
                  <a:pt x="49602" y="115256"/>
                  <a:pt x="47819" y="113473"/>
                </a:cubicBezTo>
                <a:lnTo>
                  <a:pt x="37480" y="103134"/>
                </a:lnTo>
                <a:lnTo>
                  <a:pt x="57900" y="82714"/>
                </a:lnTo>
                <a:lnTo>
                  <a:pt x="78320" y="103134"/>
                </a:lnTo>
                <a:lnTo>
                  <a:pt x="67980" y="113473"/>
                </a:lnTo>
                <a:cubicBezTo>
                  <a:pt x="66197" y="115256"/>
                  <a:pt x="65680" y="117919"/>
                  <a:pt x="66636" y="120245"/>
                </a:cubicBezTo>
                <a:cubicBezTo>
                  <a:pt x="67593" y="122571"/>
                  <a:pt x="69867" y="124071"/>
                  <a:pt x="72374" y="124071"/>
                </a:cubicBezTo>
                <a:lnTo>
                  <a:pt x="109596" y="124071"/>
                </a:lnTo>
                <a:cubicBezTo>
                  <a:pt x="113033" y="124071"/>
                  <a:pt x="115799" y="121305"/>
                  <a:pt x="115799" y="117867"/>
                </a:cubicBezTo>
                <a:lnTo>
                  <a:pt x="115799" y="80646"/>
                </a:lnTo>
                <a:cubicBezTo>
                  <a:pt x="115799" y="78139"/>
                  <a:pt x="114300" y="75864"/>
                  <a:pt x="111974" y="74908"/>
                </a:cubicBezTo>
                <a:cubicBezTo>
                  <a:pt x="109647" y="73951"/>
                  <a:pt x="106985" y="74468"/>
                  <a:pt x="105201" y="76252"/>
                </a:cubicBezTo>
                <a:lnTo>
                  <a:pt x="94862" y="86591"/>
                </a:lnTo>
                <a:lnTo>
                  <a:pt x="74442" y="66171"/>
                </a:lnTo>
                <a:lnTo>
                  <a:pt x="94862" y="45751"/>
                </a:lnTo>
                <a:lnTo>
                  <a:pt x="105201" y="56090"/>
                </a:lnTo>
                <a:cubicBezTo>
                  <a:pt x="106985" y="57874"/>
                  <a:pt x="109647" y="58391"/>
                  <a:pt x="111974" y="57434"/>
                </a:cubicBezTo>
                <a:cubicBezTo>
                  <a:pt x="114300" y="56478"/>
                  <a:pt x="115799" y="54203"/>
                  <a:pt x="115799" y="51696"/>
                </a:cubicBezTo>
                <a:lnTo>
                  <a:pt x="115799" y="14475"/>
                </a:lnTo>
                <a:cubicBezTo>
                  <a:pt x="115799" y="11037"/>
                  <a:pt x="113033" y="8271"/>
                  <a:pt x="109596" y="8271"/>
                </a:cubicBezTo>
                <a:lnTo>
                  <a:pt x="72374" y="8271"/>
                </a:lnTo>
                <a:cubicBezTo>
                  <a:pt x="69867" y="8271"/>
                  <a:pt x="67593" y="9771"/>
                  <a:pt x="66636" y="12097"/>
                </a:cubicBezTo>
                <a:cubicBezTo>
                  <a:pt x="65680" y="14423"/>
                  <a:pt x="66223" y="17086"/>
                  <a:pt x="67980" y="18869"/>
                </a:cubicBezTo>
                <a:lnTo>
                  <a:pt x="78320" y="29208"/>
                </a:lnTo>
                <a:lnTo>
                  <a:pt x="57900" y="49628"/>
                </a:lnTo>
                <a:lnTo>
                  <a:pt x="37480" y="29208"/>
                </a:lnTo>
                <a:lnTo>
                  <a:pt x="47819" y="18869"/>
                </a:lnTo>
                <a:cubicBezTo>
                  <a:pt x="49602" y="17086"/>
                  <a:pt x="50119" y="14423"/>
                  <a:pt x="49163" y="12097"/>
                </a:cubicBezTo>
                <a:cubicBezTo>
                  <a:pt x="48207" y="9771"/>
                  <a:pt x="45932" y="8271"/>
                  <a:pt x="43425" y="827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0" name="Text 18"/>
          <p:cNvSpPr/>
          <p:nvPr/>
        </p:nvSpPr>
        <p:spPr>
          <a:xfrm>
            <a:off x="837148" y="3641471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Scaling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8624" y="3873069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pod autoscaling based on CPU/memory and custom metrics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961" y="4230806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16961" y="4230806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167" y="4363148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66171" y="27890"/>
                </a:moveTo>
                <a:lnTo>
                  <a:pt x="62294" y="22514"/>
                </a:lnTo>
                <a:cubicBezTo>
                  <a:pt x="55832" y="13570"/>
                  <a:pt x="45467" y="8271"/>
                  <a:pt x="34404" y="8271"/>
                </a:cubicBezTo>
                <a:cubicBezTo>
                  <a:pt x="15405" y="8271"/>
                  <a:pt x="0" y="23677"/>
                  <a:pt x="0" y="42675"/>
                </a:cubicBezTo>
                <a:lnTo>
                  <a:pt x="0" y="43347"/>
                </a:lnTo>
                <a:cubicBezTo>
                  <a:pt x="0" y="49447"/>
                  <a:pt x="1603" y="55754"/>
                  <a:pt x="4291" y="62035"/>
                </a:cubicBezTo>
                <a:lnTo>
                  <a:pt x="31690" y="62035"/>
                </a:lnTo>
                <a:cubicBezTo>
                  <a:pt x="32517" y="62035"/>
                  <a:pt x="33266" y="61544"/>
                  <a:pt x="33602" y="60769"/>
                </a:cubicBezTo>
                <a:lnTo>
                  <a:pt x="41822" y="41047"/>
                </a:lnTo>
                <a:cubicBezTo>
                  <a:pt x="42778" y="38772"/>
                  <a:pt x="45001" y="37273"/>
                  <a:pt x="47457" y="37221"/>
                </a:cubicBezTo>
                <a:cubicBezTo>
                  <a:pt x="49913" y="37169"/>
                  <a:pt x="52187" y="38617"/>
                  <a:pt x="53195" y="40866"/>
                </a:cubicBezTo>
                <a:lnTo>
                  <a:pt x="66455" y="70307"/>
                </a:lnTo>
                <a:lnTo>
                  <a:pt x="77156" y="48904"/>
                </a:lnTo>
                <a:cubicBezTo>
                  <a:pt x="78216" y="46811"/>
                  <a:pt x="80362" y="45467"/>
                  <a:pt x="82714" y="45467"/>
                </a:cubicBezTo>
                <a:cubicBezTo>
                  <a:pt x="85066" y="45467"/>
                  <a:pt x="87211" y="46785"/>
                  <a:pt x="88271" y="48904"/>
                </a:cubicBezTo>
                <a:lnTo>
                  <a:pt x="94268" y="60872"/>
                </a:lnTo>
                <a:cubicBezTo>
                  <a:pt x="94630" y="61570"/>
                  <a:pt x="95328" y="62009"/>
                  <a:pt x="96129" y="62009"/>
                </a:cubicBezTo>
                <a:lnTo>
                  <a:pt x="128077" y="62009"/>
                </a:lnTo>
                <a:cubicBezTo>
                  <a:pt x="130791" y="55728"/>
                  <a:pt x="132368" y="49421"/>
                  <a:pt x="132368" y="43321"/>
                </a:cubicBezTo>
                <a:lnTo>
                  <a:pt x="132368" y="42649"/>
                </a:lnTo>
                <a:cubicBezTo>
                  <a:pt x="132342" y="23677"/>
                  <a:pt x="116936" y="8271"/>
                  <a:pt x="97938" y="8271"/>
                </a:cubicBezTo>
                <a:cubicBezTo>
                  <a:pt x="86901" y="8271"/>
                  <a:pt x="76510" y="13570"/>
                  <a:pt x="70048" y="22514"/>
                </a:cubicBezTo>
                <a:lnTo>
                  <a:pt x="66171" y="27864"/>
                </a:lnTo>
                <a:close/>
                <a:moveTo>
                  <a:pt x="121382" y="74442"/>
                </a:moveTo>
                <a:lnTo>
                  <a:pt x="96103" y="74442"/>
                </a:lnTo>
                <a:cubicBezTo>
                  <a:pt x="90623" y="74442"/>
                  <a:pt x="85609" y="71341"/>
                  <a:pt x="83153" y="66429"/>
                </a:cubicBezTo>
                <a:lnTo>
                  <a:pt x="82714" y="65551"/>
                </a:lnTo>
                <a:lnTo>
                  <a:pt x="71728" y="87547"/>
                </a:lnTo>
                <a:cubicBezTo>
                  <a:pt x="70669" y="89693"/>
                  <a:pt x="68446" y="91037"/>
                  <a:pt x="66042" y="90985"/>
                </a:cubicBezTo>
                <a:cubicBezTo>
                  <a:pt x="63638" y="90933"/>
                  <a:pt x="61492" y="89512"/>
                  <a:pt x="60510" y="87341"/>
                </a:cubicBezTo>
                <a:lnTo>
                  <a:pt x="47767" y="59037"/>
                </a:lnTo>
                <a:lnTo>
                  <a:pt x="45053" y="65551"/>
                </a:lnTo>
                <a:cubicBezTo>
                  <a:pt x="42804" y="70953"/>
                  <a:pt x="37531" y="74468"/>
                  <a:pt x="31690" y="74468"/>
                </a:cubicBezTo>
                <a:lnTo>
                  <a:pt x="10960" y="74468"/>
                </a:lnTo>
                <a:cubicBezTo>
                  <a:pt x="23160" y="93544"/>
                  <a:pt x="42753" y="111095"/>
                  <a:pt x="55005" y="120452"/>
                </a:cubicBezTo>
                <a:cubicBezTo>
                  <a:pt x="58210" y="122882"/>
                  <a:pt x="62139" y="124096"/>
                  <a:pt x="66145" y="124096"/>
                </a:cubicBezTo>
                <a:cubicBezTo>
                  <a:pt x="70152" y="124096"/>
                  <a:pt x="74106" y="122907"/>
                  <a:pt x="77286" y="120452"/>
                </a:cubicBezTo>
                <a:cubicBezTo>
                  <a:pt x="89589" y="111069"/>
                  <a:pt x="109182" y="93518"/>
                  <a:pt x="121382" y="74442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5" name="Text 23"/>
          <p:cNvSpPr/>
          <p:nvPr/>
        </p:nvSpPr>
        <p:spPr>
          <a:xfrm>
            <a:off x="837148" y="4330062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Self-Healing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8624" y="4561661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restart, replication, and load balancing of failed pods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6961" y="4919398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6961" y="4919398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5167" y="5051739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33085" y="82714"/>
                </a:moveTo>
                <a:lnTo>
                  <a:pt x="6333" y="82714"/>
                </a:lnTo>
                <a:cubicBezTo>
                  <a:pt x="-103" y="82714"/>
                  <a:pt x="-4058" y="75709"/>
                  <a:pt x="-750" y="70177"/>
                </a:cubicBezTo>
                <a:lnTo>
                  <a:pt x="12924" y="47379"/>
                </a:lnTo>
                <a:cubicBezTo>
                  <a:pt x="15173" y="43631"/>
                  <a:pt x="19205" y="41357"/>
                  <a:pt x="23573" y="41357"/>
                </a:cubicBezTo>
                <a:lnTo>
                  <a:pt x="48129" y="41357"/>
                </a:lnTo>
                <a:cubicBezTo>
                  <a:pt x="67799" y="8039"/>
                  <a:pt x="97137" y="6359"/>
                  <a:pt x="116756" y="9228"/>
                </a:cubicBezTo>
                <a:cubicBezTo>
                  <a:pt x="120064" y="9719"/>
                  <a:pt x="122649" y="12304"/>
                  <a:pt x="123114" y="15586"/>
                </a:cubicBezTo>
                <a:cubicBezTo>
                  <a:pt x="125983" y="35205"/>
                  <a:pt x="124303" y="64543"/>
                  <a:pt x="90985" y="84213"/>
                </a:cubicBezTo>
                <a:lnTo>
                  <a:pt x="90985" y="108769"/>
                </a:lnTo>
                <a:cubicBezTo>
                  <a:pt x="90985" y="113137"/>
                  <a:pt x="88710" y="117169"/>
                  <a:pt x="84962" y="119418"/>
                </a:cubicBezTo>
                <a:lnTo>
                  <a:pt x="62165" y="133092"/>
                </a:lnTo>
                <a:cubicBezTo>
                  <a:pt x="56659" y="136400"/>
                  <a:pt x="49628" y="132419"/>
                  <a:pt x="49628" y="126009"/>
                </a:cubicBezTo>
                <a:lnTo>
                  <a:pt x="49628" y="99256"/>
                </a:lnTo>
                <a:cubicBezTo>
                  <a:pt x="49628" y="90132"/>
                  <a:pt x="42210" y="82714"/>
                  <a:pt x="33085" y="82714"/>
                </a:cubicBezTo>
                <a:lnTo>
                  <a:pt x="33060" y="82714"/>
                </a:lnTo>
                <a:close/>
                <a:moveTo>
                  <a:pt x="103392" y="41357"/>
                </a:moveTo>
                <a:cubicBezTo>
                  <a:pt x="103392" y="34509"/>
                  <a:pt x="97833" y="28950"/>
                  <a:pt x="90985" y="28950"/>
                </a:cubicBezTo>
                <a:cubicBezTo>
                  <a:pt x="84137" y="28950"/>
                  <a:pt x="78578" y="34509"/>
                  <a:pt x="78578" y="41357"/>
                </a:cubicBezTo>
                <a:cubicBezTo>
                  <a:pt x="78578" y="48204"/>
                  <a:pt x="84137" y="53764"/>
                  <a:pt x="90985" y="53764"/>
                </a:cubicBezTo>
                <a:cubicBezTo>
                  <a:pt x="97833" y="53764"/>
                  <a:pt x="103392" y="48204"/>
                  <a:pt x="103392" y="4135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0" name="Text 28"/>
          <p:cNvSpPr/>
          <p:nvPr/>
        </p:nvSpPr>
        <p:spPr>
          <a:xfrm>
            <a:off x="837148" y="5018654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Updates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8624" y="5250252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Zero-downtime deployments with canary and blue-green strategies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8689" y="5612125"/>
            <a:ext cx="5326763" cy="306041"/>
          </a:xfrm>
          <a:custGeom>
            <a:avLst/>
            <a:gdLst/>
            <a:ahLst/>
            <a:cxnLst/>
            <a:rect l="l" t="t" r="r" b="b"/>
            <a:pathLst>
              <a:path w="5326763" h="306041">
                <a:moveTo>
                  <a:pt x="0" y="0"/>
                </a:moveTo>
                <a:lnTo>
                  <a:pt x="5326763" y="0"/>
                </a:lnTo>
                <a:lnTo>
                  <a:pt x="5326763" y="306041"/>
                </a:lnTo>
                <a:lnTo>
                  <a:pt x="0" y="306041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387" y="5707246"/>
            <a:ext cx="130274" cy="115799"/>
          </a:xfrm>
          <a:custGeom>
            <a:avLst/>
            <a:gdLst/>
            <a:ahLst/>
            <a:cxnLst/>
            <a:rect l="l" t="t" r="r" b="b"/>
            <a:pathLst>
              <a:path w="130274" h="115799">
                <a:moveTo>
                  <a:pt x="70000" y="-4275"/>
                </a:moveTo>
                <a:cubicBezTo>
                  <a:pt x="69072" y="-6084"/>
                  <a:pt x="67195" y="-7237"/>
                  <a:pt x="65160" y="-7237"/>
                </a:cubicBezTo>
                <a:cubicBezTo>
                  <a:pt x="63124" y="-7237"/>
                  <a:pt x="61247" y="-6084"/>
                  <a:pt x="60320" y="-4275"/>
                </a:cubicBezTo>
                <a:lnTo>
                  <a:pt x="43673" y="28339"/>
                </a:lnTo>
                <a:lnTo>
                  <a:pt x="7509" y="34084"/>
                </a:lnTo>
                <a:cubicBezTo>
                  <a:pt x="5496" y="34401"/>
                  <a:pt x="3822" y="35825"/>
                  <a:pt x="3189" y="37770"/>
                </a:cubicBezTo>
                <a:cubicBezTo>
                  <a:pt x="2556" y="39716"/>
                  <a:pt x="3076" y="41842"/>
                  <a:pt x="4501" y="43289"/>
                </a:cubicBezTo>
                <a:lnTo>
                  <a:pt x="30375" y="69185"/>
                </a:lnTo>
                <a:lnTo>
                  <a:pt x="24675" y="105350"/>
                </a:lnTo>
                <a:cubicBezTo>
                  <a:pt x="24359" y="107363"/>
                  <a:pt x="25195" y="109399"/>
                  <a:pt x="26846" y="110597"/>
                </a:cubicBezTo>
                <a:cubicBezTo>
                  <a:pt x="28497" y="111796"/>
                  <a:pt x="30669" y="111977"/>
                  <a:pt x="32501" y="111050"/>
                </a:cubicBezTo>
                <a:lnTo>
                  <a:pt x="65160" y="94449"/>
                </a:lnTo>
                <a:lnTo>
                  <a:pt x="97796" y="111050"/>
                </a:lnTo>
                <a:cubicBezTo>
                  <a:pt x="99605" y="111977"/>
                  <a:pt x="101799" y="111796"/>
                  <a:pt x="103450" y="110597"/>
                </a:cubicBezTo>
                <a:cubicBezTo>
                  <a:pt x="105101" y="109399"/>
                  <a:pt x="105938" y="107386"/>
                  <a:pt x="105622" y="105350"/>
                </a:cubicBezTo>
                <a:lnTo>
                  <a:pt x="99899" y="69185"/>
                </a:lnTo>
                <a:lnTo>
                  <a:pt x="125773" y="43289"/>
                </a:lnTo>
                <a:cubicBezTo>
                  <a:pt x="127221" y="41842"/>
                  <a:pt x="127718" y="39716"/>
                  <a:pt x="127085" y="37770"/>
                </a:cubicBezTo>
                <a:cubicBezTo>
                  <a:pt x="126452" y="35825"/>
                  <a:pt x="124801" y="34401"/>
                  <a:pt x="122765" y="34084"/>
                </a:cubicBezTo>
                <a:lnTo>
                  <a:pt x="86623" y="28339"/>
                </a:lnTo>
                <a:lnTo>
                  <a:pt x="70000" y="-4275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4" name="Text 32"/>
          <p:cNvSpPr/>
          <p:nvPr/>
        </p:nvSpPr>
        <p:spPr>
          <a:xfrm>
            <a:off x="804062" y="5682431"/>
            <a:ext cx="4985897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cloud-mature banks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1815" y="2022350"/>
            <a:ext cx="5674160" cy="4069514"/>
          </a:xfrm>
          <a:custGeom>
            <a:avLst/>
            <a:gdLst/>
            <a:ahLst/>
            <a:cxnLst/>
            <a:rect l="l" t="t" r="r" b="b"/>
            <a:pathLst>
              <a:path w="5674160" h="4069514">
                <a:moveTo>
                  <a:pt x="0" y="0"/>
                </a:moveTo>
                <a:lnTo>
                  <a:pt x="5674160" y="0"/>
                </a:lnTo>
                <a:lnTo>
                  <a:pt x="5674160" y="4069514"/>
                </a:lnTo>
                <a:lnTo>
                  <a:pt x="0" y="4069514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1379" y="2191913"/>
            <a:ext cx="529368" cy="529368"/>
          </a:xfrm>
          <a:custGeom>
            <a:avLst/>
            <a:gdLst/>
            <a:ahLst/>
            <a:cxnLst/>
            <a:rect l="l" t="t" r="r" b="b"/>
            <a:pathLst>
              <a:path w="529368" h="529368">
                <a:moveTo>
                  <a:pt x="0" y="0"/>
                </a:moveTo>
                <a:lnTo>
                  <a:pt x="529368" y="0"/>
                </a:lnTo>
                <a:lnTo>
                  <a:pt x="529368" y="529368"/>
                </a:lnTo>
                <a:lnTo>
                  <a:pt x="0" y="529368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7" name="Shape 35"/>
          <p:cNvSpPr/>
          <p:nvPr/>
        </p:nvSpPr>
        <p:spPr>
          <a:xfrm>
            <a:off x="6509569" y="2332526"/>
            <a:ext cx="217123" cy="248141"/>
          </a:xfrm>
          <a:custGeom>
            <a:avLst/>
            <a:gdLst/>
            <a:ahLst/>
            <a:cxnLst/>
            <a:rect l="l" t="t" r="r" b="b"/>
            <a:pathLst>
              <a:path w="217123" h="248141">
                <a:moveTo>
                  <a:pt x="31018" y="15509"/>
                </a:moveTo>
                <a:cubicBezTo>
                  <a:pt x="13909" y="15509"/>
                  <a:pt x="0" y="29418"/>
                  <a:pt x="0" y="46526"/>
                </a:cubicBezTo>
                <a:lnTo>
                  <a:pt x="0" y="77544"/>
                </a:lnTo>
                <a:cubicBezTo>
                  <a:pt x="0" y="94652"/>
                  <a:pt x="13909" y="108562"/>
                  <a:pt x="31018" y="108562"/>
                </a:cubicBezTo>
                <a:lnTo>
                  <a:pt x="186106" y="108562"/>
                </a:lnTo>
                <a:cubicBezTo>
                  <a:pt x="203214" y="108562"/>
                  <a:pt x="217123" y="94652"/>
                  <a:pt x="217123" y="77544"/>
                </a:cubicBezTo>
                <a:lnTo>
                  <a:pt x="217123" y="46526"/>
                </a:lnTo>
                <a:cubicBezTo>
                  <a:pt x="217123" y="29418"/>
                  <a:pt x="203214" y="15509"/>
                  <a:pt x="186106" y="15509"/>
                </a:cubicBezTo>
                <a:lnTo>
                  <a:pt x="31018" y="15509"/>
                </a:lnTo>
                <a:close/>
                <a:moveTo>
                  <a:pt x="135702" y="50404"/>
                </a:moveTo>
                <a:cubicBezTo>
                  <a:pt x="142122" y="50404"/>
                  <a:pt x="147334" y="55616"/>
                  <a:pt x="147334" y="62035"/>
                </a:cubicBezTo>
                <a:cubicBezTo>
                  <a:pt x="147334" y="68455"/>
                  <a:pt x="142122" y="73667"/>
                  <a:pt x="135702" y="73667"/>
                </a:cubicBezTo>
                <a:cubicBezTo>
                  <a:pt x="129283" y="73667"/>
                  <a:pt x="124071" y="68455"/>
                  <a:pt x="124071" y="62035"/>
                </a:cubicBezTo>
                <a:cubicBezTo>
                  <a:pt x="124071" y="55616"/>
                  <a:pt x="129283" y="50404"/>
                  <a:pt x="135702" y="50404"/>
                </a:cubicBezTo>
                <a:close/>
                <a:moveTo>
                  <a:pt x="162843" y="62035"/>
                </a:moveTo>
                <a:cubicBezTo>
                  <a:pt x="162843" y="55616"/>
                  <a:pt x="168055" y="50404"/>
                  <a:pt x="174474" y="50404"/>
                </a:cubicBezTo>
                <a:cubicBezTo>
                  <a:pt x="180894" y="50404"/>
                  <a:pt x="186106" y="55616"/>
                  <a:pt x="186106" y="62035"/>
                </a:cubicBezTo>
                <a:cubicBezTo>
                  <a:pt x="186106" y="68455"/>
                  <a:pt x="180894" y="73667"/>
                  <a:pt x="174474" y="73667"/>
                </a:cubicBezTo>
                <a:cubicBezTo>
                  <a:pt x="168055" y="73667"/>
                  <a:pt x="162843" y="68455"/>
                  <a:pt x="162843" y="62035"/>
                </a:cubicBezTo>
                <a:close/>
                <a:moveTo>
                  <a:pt x="31018" y="139579"/>
                </a:moveTo>
                <a:cubicBezTo>
                  <a:pt x="13909" y="139579"/>
                  <a:pt x="0" y="153489"/>
                  <a:pt x="0" y="170597"/>
                </a:cubicBezTo>
                <a:lnTo>
                  <a:pt x="0" y="201615"/>
                </a:lnTo>
                <a:cubicBezTo>
                  <a:pt x="0" y="218723"/>
                  <a:pt x="13909" y="232632"/>
                  <a:pt x="31018" y="232632"/>
                </a:cubicBezTo>
                <a:lnTo>
                  <a:pt x="186106" y="232632"/>
                </a:lnTo>
                <a:cubicBezTo>
                  <a:pt x="203214" y="232632"/>
                  <a:pt x="217123" y="218723"/>
                  <a:pt x="217123" y="201615"/>
                </a:cubicBezTo>
                <a:lnTo>
                  <a:pt x="217123" y="170597"/>
                </a:lnTo>
                <a:cubicBezTo>
                  <a:pt x="217123" y="153489"/>
                  <a:pt x="203214" y="139579"/>
                  <a:pt x="186106" y="139579"/>
                </a:cubicBezTo>
                <a:lnTo>
                  <a:pt x="31018" y="139579"/>
                </a:lnTo>
                <a:close/>
                <a:moveTo>
                  <a:pt x="135702" y="174474"/>
                </a:moveTo>
                <a:cubicBezTo>
                  <a:pt x="142122" y="174474"/>
                  <a:pt x="147334" y="179686"/>
                  <a:pt x="147334" y="186106"/>
                </a:cubicBezTo>
                <a:cubicBezTo>
                  <a:pt x="147334" y="192525"/>
                  <a:pt x="142122" y="197737"/>
                  <a:pt x="135702" y="197737"/>
                </a:cubicBezTo>
                <a:cubicBezTo>
                  <a:pt x="129283" y="197737"/>
                  <a:pt x="124071" y="192525"/>
                  <a:pt x="124071" y="186106"/>
                </a:cubicBezTo>
                <a:cubicBezTo>
                  <a:pt x="124071" y="179686"/>
                  <a:pt x="129283" y="174474"/>
                  <a:pt x="135702" y="174474"/>
                </a:cubicBezTo>
                <a:close/>
                <a:moveTo>
                  <a:pt x="162843" y="186106"/>
                </a:moveTo>
                <a:cubicBezTo>
                  <a:pt x="162843" y="179686"/>
                  <a:pt x="168055" y="174474"/>
                  <a:pt x="174474" y="174474"/>
                </a:cubicBezTo>
                <a:cubicBezTo>
                  <a:pt x="180894" y="174474"/>
                  <a:pt x="186106" y="179686"/>
                  <a:pt x="186106" y="186106"/>
                </a:cubicBezTo>
                <a:cubicBezTo>
                  <a:pt x="186106" y="192525"/>
                  <a:pt x="180894" y="197737"/>
                  <a:pt x="174474" y="197737"/>
                </a:cubicBezTo>
                <a:cubicBezTo>
                  <a:pt x="168055" y="197737"/>
                  <a:pt x="162843" y="192525"/>
                  <a:pt x="162843" y="186106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8" name="Text 36"/>
          <p:cNvSpPr/>
          <p:nvPr/>
        </p:nvSpPr>
        <p:spPr>
          <a:xfrm>
            <a:off x="7013088" y="2224999"/>
            <a:ext cx="1033921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Bare Metal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13088" y="2489682"/>
            <a:ext cx="1000836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3786" y="2853623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363786" y="2853623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2" name="Shape 40"/>
          <p:cNvSpPr/>
          <p:nvPr/>
        </p:nvSpPr>
        <p:spPr>
          <a:xfrm>
            <a:off x="6483720" y="2985965"/>
            <a:ext cx="148885" cy="132342"/>
          </a:xfrm>
          <a:custGeom>
            <a:avLst/>
            <a:gdLst/>
            <a:ahLst/>
            <a:cxnLst/>
            <a:rect l="l" t="t" r="r" b="b"/>
            <a:pathLst>
              <a:path w="148885" h="132342">
                <a:moveTo>
                  <a:pt x="93260" y="310"/>
                </a:moveTo>
                <a:cubicBezTo>
                  <a:pt x="88866" y="-956"/>
                  <a:pt x="84290" y="1603"/>
                  <a:pt x="83024" y="5997"/>
                </a:cubicBezTo>
                <a:lnTo>
                  <a:pt x="49938" y="121796"/>
                </a:lnTo>
                <a:cubicBezTo>
                  <a:pt x="48672" y="126190"/>
                  <a:pt x="51231" y="130765"/>
                  <a:pt x="55625" y="132032"/>
                </a:cubicBezTo>
                <a:cubicBezTo>
                  <a:pt x="60019" y="133298"/>
                  <a:pt x="64594" y="130739"/>
                  <a:pt x="65861" y="126345"/>
                </a:cubicBezTo>
                <a:lnTo>
                  <a:pt x="98946" y="10546"/>
                </a:lnTo>
                <a:cubicBezTo>
                  <a:pt x="100213" y="6152"/>
                  <a:pt x="97654" y="1577"/>
                  <a:pt x="93260" y="310"/>
                </a:cubicBezTo>
                <a:close/>
                <a:moveTo>
                  <a:pt x="109958" y="35489"/>
                </a:moveTo>
                <a:cubicBezTo>
                  <a:pt x="106727" y="38720"/>
                  <a:pt x="106727" y="43968"/>
                  <a:pt x="109958" y="47199"/>
                </a:cubicBezTo>
                <a:lnTo>
                  <a:pt x="128930" y="66171"/>
                </a:lnTo>
                <a:lnTo>
                  <a:pt x="109958" y="85143"/>
                </a:lnTo>
                <a:cubicBezTo>
                  <a:pt x="106727" y="88374"/>
                  <a:pt x="106727" y="93622"/>
                  <a:pt x="109958" y="96853"/>
                </a:cubicBezTo>
                <a:cubicBezTo>
                  <a:pt x="113189" y="100084"/>
                  <a:pt x="118436" y="100084"/>
                  <a:pt x="121667" y="96853"/>
                </a:cubicBezTo>
                <a:lnTo>
                  <a:pt x="146481" y="72038"/>
                </a:lnTo>
                <a:cubicBezTo>
                  <a:pt x="149712" y="68807"/>
                  <a:pt x="149712" y="63560"/>
                  <a:pt x="146481" y="60329"/>
                </a:cubicBezTo>
                <a:lnTo>
                  <a:pt x="121667" y="35515"/>
                </a:lnTo>
                <a:cubicBezTo>
                  <a:pt x="118436" y="32284"/>
                  <a:pt x="113189" y="32284"/>
                  <a:pt x="109958" y="35515"/>
                </a:cubicBezTo>
                <a:close/>
                <a:moveTo>
                  <a:pt x="38953" y="35489"/>
                </a:moveTo>
                <a:cubicBezTo>
                  <a:pt x="35722" y="32258"/>
                  <a:pt x="30475" y="32258"/>
                  <a:pt x="27244" y="35489"/>
                </a:cubicBezTo>
                <a:lnTo>
                  <a:pt x="2430" y="60303"/>
                </a:lnTo>
                <a:cubicBezTo>
                  <a:pt x="-801" y="63534"/>
                  <a:pt x="-801" y="68782"/>
                  <a:pt x="2430" y="72013"/>
                </a:cubicBezTo>
                <a:lnTo>
                  <a:pt x="27244" y="96827"/>
                </a:lnTo>
                <a:cubicBezTo>
                  <a:pt x="30475" y="100058"/>
                  <a:pt x="35722" y="100058"/>
                  <a:pt x="38953" y="96827"/>
                </a:cubicBezTo>
                <a:cubicBezTo>
                  <a:pt x="42184" y="93596"/>
                  <a:pt x="42184" y="88349"/>
                  <a:pt x="38953" y="85118"/>
                </a:cubicBezTo>
                <a:lnTo>
                  <a:pt x="19981" y="66171"/>
                </a:lnTo>
                <a:lnTo>
                  <a:pt x="38927" y="47199"/>
                </a:lnTo>
                <a:cubicBezTo>
                  <a:pt x="42158" y="43968"/>
                  <a:pt x="42158" y="38720"/>
                  <a:pt x="38927" y="35489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3" name="Text 41"/>
          <p:cNvSpPr/>
          <p:nvPr/>
        </p:nvSpPr>
        <p:spPr>
          <a:xfrm>
            <a:off x="6683973" y="2952879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Compiled Binaries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75449" y="3184478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Statically compiled Go binaries with no runtime dependencies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3786" y="3542214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63786" y="3542214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7" name="Shape 45"/>
          <p:cNvSpPr/>
          <p:nvPr/>
        </p:nvSpPr>
        <p:spPr>
          <a:xfrm>
            <a:off x="6491992" y="3674556"/>
            <a:ext cx="132342" cy="132342"/>
          </a:xfrm>
          <a:custGeom>
            <a:avLst/>
            <a:gdLst/>
            <a:ahLst/>
            <a:cxnLst/>
            <a:rect l="l" t="t" r="r" b="b"/>
            <a:pathLst>
              <a:path w="132342" h="132342">
                <a:moveTo>
                  <a:pt x="50430" y="2456"/>
                </a:moveTo>
                <a:cubicBezTo>
                  <a:pt x="51205" y="-1370"/>
                  <a:pt x="54591" y="-4136"/>
                  <a:pt x="58520" y="-4136"/>
                </a:cubicBezTo>
                <a:lnTo>
                  <a:pt x="73977" y="-4136"/>
                </a:lnTo>
                <a:cubicBezTo>
                  <a:pt x="77906" y="-4136"/>
                  <a:pt x="81292" y="-1370"/>
                  <a:pt x="82068" y="2456"/>
                </a:cubicBezTo>
                <a:lnTo>
                  <a:pt x="85815" y="20549"/>
                </a:lnTo>
                <a:cubicBezTo>
                  <a:pt x="89460" y="22100"/>
                  <a:pt x="92872" y="24090"/>
                  <a:pt x="95974" y="26443"/>
                </a:cubicBezTo>
                <a:lnTo>
                  <a:pt x="113499" y="20627"/>
                </a:lnTo>
                <a:cubicBezTo>
                  <a:pt x="117221" y="19386"/>
                  <a:pt x="121305" y="20937"/>
                  <a:pt x="123269" y="24349"/>
                </a:cubicBezTo>
                <a:lnTo>
                  <a:pt x="130998" y="37738"/>
                </a:lnTo>
                <a:cubicBezTo>
                  <a:pt x="132962" y="41150"/>
                  <a:pt x="132264" y="45441"/>
                  <a:pt x="129318" y="48051"/>
                </a:cubicBezTo>
                <a:lnTo>
                  <a:pt x="115541" y="60303"/>
                </a:lnTo>
                <a:cubicBezTo>
                  <a:pt x="115773" y="62216"/>
                  <a:pt x="115877" y="64181"/>
                  <a:pt x="115877" y="66171"/>
                </a:cubicBezTo>
                <a:cubicBezTo>
                  <a:pt x="115877" y="68161"/>
                  <a:pt x="115747" y="70126"/>
                  <a:pt x="115541" y="72038"/>
                </a:cubicBezTo>
                <a:lnTo>
                  <a:pt x="129344" y="84316"/>
                </a:lnTo>
                <a:cubicBezTo>
                  <a:pt x="132290" y="86927"/>
                  <a:pt x="132962" y="91244"/>
                  <a:pt x="131024" y="94630"/>
                </a:cubicBezTo>
                <a:lnTo>
                  <a:pt x="123295" y="108019"/>
                </a:lnTo>
                <a:cubicBezTo>
                  <a:pt x="121331" y="111405"/>
                  <a:pt x="117247" y="112982"/>
                  <a:pt x="113525" y="111741"/>
                </a:cubicBezTo>
                <a:lnTo>
                  <a:pt x="96000" y="105925"/>
                </a:lnTo>
                <a:cubicBezTo>
                  <a:pt x="92872" y="108277"/>
                  <a:pt x="89460" y="110242"/>
                  <a:pt x="85841" y="111819"/>
                </a:cubicBezTo>
                <a:lnTo>
                  <a:pt x="82119" y="129886"/>
                </a:lnTo>
                <a:cubicBezTo>
                  <a:pt x="81318" y="133738"/>
                  <a:pt x="77932" y="136478"/>
                  <a:pt x="74029" y="136478"/>
                </a:cubicBezTo>
                <a:lnTo>
                  <a:pt x="58572" y="136478"/>
                </a:lnTo>
                <a:cubicBezTo>
                  <a:pt x="54643" y="136478"/>
                  <a:pt x="51257" y="133712"/>
                  <a:pt x="50481" y="129886"/>
                </a:cubicBezTo>
                <a:lnTo>
                  <a:pt x="46759" y="111819"/>
                </a:lnTo>
                <a:cubicBezTo>
                  <a:pt x="43115" y="110268"/>
                  <a:pt x="39728" y="108277"/>
                  <a:pt x="36601" y="105925"/>
                </a:cubicBezTo>
                <a:lnTo>
                  <a:pt x="18998" y="111741"/>
                </a:lnTo>
                <a:cubicBezTo>
                  <a:pt x="15276" y="112982"/>
                  <a:pt x="11192" y="111431"/>
                  <a:pt x="9228" y="108019"/>
                </a:cubicBezTo>
                <a:lnTo>
                  <a:pt x="1499" y="94630"/>
                </a:lnTo>
                <a:cubicBezTo>
                  <a:pt x="-465" y="91218"/>
                  <a:pt x="233" y="86927"/>
                  <a:pt x="3179" y="84316"/>
                </a:cubicBezTo>
                <a:lnTo>
                  <a:pt x="16982" y="72038"/>
                </a:lnTo>
                <a:cubicBezTo>
                  <a:pt x="16750" y="70126"/>
                  <a:pt x="16646" y="68161"/>
                  <a:pt x="16646" y="66171"/>
                </a:cubicBezTo>
                <a:cubicBezTo>
                  <a:pt x="16646" y="64181"/>
                  <a:pt x="16775" y="62216"/>
                  <a:pt x="16982" y="60303"/>
                </a:cubicBezTo>
                <a:lnTo>
                  <a:pt x="3179" y="48026"/>
                </a:lnTo>
                <a:cubicBezTo>
                  <a:pt x="233" y="45415"/>
                  <a:pt x="-439" y="41098"/>
                  <a:pt x="1499" y="37712"/>
                </a:cubicBezTo>
                <a:lnTo>
                  <a:pt x="9228" y="24323"/>
                </a:lnTo>
                <a:cubicBezTo>
                  <a:pt x="11192" y="20911"/>
                  <a:pt x="15276" y="19360"/>
                  <a:pt x="18998" y="20601"/>
                </a:cubicBezTo>
                <a:lnTo>
                  <a:pt x="36523" y="26417"/>
                </a:lnTo>
                <a:cubicBezTo>
                  <a:pt x="39651" y="24065"/>
                  <a:pt x="43063" y="22100"/>
                  <a:pt x="46682" y="20523"/>
                </a:cubicBezTo>
                <a:lnTo>
                  <a:pt x="50430" y="2456"/>
                </a:lnTo>
                <a:close/>
                <a:moveTo>
                  <a:pt x="66249" y="86849"/>
                </a:moveTo>
                <a:cubicBezTo>
                  <a:pt x="73636" y="86822"/>
                  <a:pt x="80448" y="82855"/>
                  <a:pt x="84118" y="76443"/>
                </a:cubicBezTo>
                <a:cubicBezTo>
                  <a:pt x="87788" y="70031"/>
                  <a:pt x="87758" y="62149"/>
                  <a:pt x="84040" y="55765"/>
                </a:cubicBezTo>
                <a:cubicBezTo>
                  <a:pt x="80322" y="49381"/>
                  <a:pt x="73481" y="45465"/>
                  <a:pt x="66093" y="45493"/>
                </a:cubicBezTo>
                <a:cubicBezTo>
                  <a:pt x="58706" y="45520"/>
                  <a:pt x="51894" y="49487"/>
                  <a:pt x="48224" y="55899"/>
                </a:cubicBezTo>
                <a:cubicBezTo>
                  <a:pt x="44554" y="62311"/>
                  <a:pt x="44584" y="70193"/>
                  <a:pt x="48302" y="76577"/>
                </a:cubicBezTo>
                <a:cubicBezTo>
                  <a:pt x="52020" y="82961"/>
                  <a:pt x="58861" y="86877"/>
                  <a:pt x="66249" y="86849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8" name="Text 46"/>
          <p:cNvSpPr/>
          <p:nvPr/>
        </p:nvSpPr>
        <p:spPr>
          <a:xfrm>
            <a:off x="6683973" y="3641471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 Services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75449" y="3873069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Linux service management with auto-start and monitoring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63786" y="4230806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363786" y="4230806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2" name="Shape 50"/>
          <p:cNvSpPr/>
          <p:nvPr/>
        </p:nvSpPr>
        <p:spPr>
          <a:xfrm>
            <a:off x="6483720" y="4363148"/>
            <a:ext cx="148885" cy="132342"/>
          </a:xfrm>
          <a:custGeom>
            <a:avLst/>
            <a:gdLst/>
            <a:ahLst/>
            <a:cxnLst/>
            <a:rect l="l" t="t" r="r" b="b"/>
            <a:pathLst>
              <a:path w="148885" h="132342">
                <a:moveTo>
                  <a:pt x="131670" y="25486"/>
                </a:moveTo>
                <a:cubicBezTo>
                  <a:pt x="133634" y="23522"/>
                  <a:pt x="136917" y="24013"/>
                  <a:pt x="137899" y="26598"/>
                </a:cubicBezTo>
                <a:cubicBezTo>
                  <a:pt x="139657" y="31173"/>
                  <a:pt x="140613" y="36161"/>
                  <a:pt x="140613" y="41357"/>
                </a:cubicBezTo>
                <a:cubicBezTo>
                  <a:pt x="140613" y="64207"/>
                  <a:pt x="122106" y="82714"/>
                  <a:pt x="99256" y="82714"/>
                </a:cubicBezTo>
                <a:cubicBezTo>
                  <a:pt x="94733" y="82714"/>
                  <a:pt x="90365" y="81990"/>
                  <a:pt x="86281" y="80646"/>
                </a:cubicBezTo>
                <a:lnTo>
                  <a:pt x="37971" y="128956"/>
                </a:lnTo>
                <a:cubicBezTo>
                  <a:pt x="30707" y="136219"/>
                  <a:pt x="18921" y="136219"/>
                  <a:pt x="11657" y="128956"/>
                </a:cubicBezTo>
                <a:cubicBezTo>
                  <a:pt x="4394" y="121693"/>
                  <a:pt x="4394" y="109906"/>
                  <a:pt x="11657" y="102643"/>
                </a:cubicBezTo>
                <a:lnTo>
                  <a:pt x="59967" y="54333"/>
                </a:lnTo>
                <a:cubicBezTo>
                  <a:pt x="58623" y="50249"/>
                  <a:pt x="57900" y="45906"/>
                  <a:pt x="57900" y="41357"/>
                </a:cubicBezTo>
                <a:cubicBezTo>
                  <a:pt x="57900" y="18507"/>
                  <a:pt x="76407" y="0"/>
                  <a:pt x="99256" y="0"/>
                </a:cubicBezTo>
                <a:cubicBezTo>
                  <a:pt x="104452" y="0"/>
                  <a:pt x="109441" y="956"/>
                  <a:pt x="114016" y="2714"/>
                </a:cubicBezTo>
                <a:cubicBezTo>
                  <a:pt x="116600" y="3696"/>
                  <a:pt x="117066" y="6979"/>
                  <a:pt x="115127" y="8943"/>
                </a:cubicBezTo>
                <a:lnTo>
                  <a:pt x="92200" y="31871"/>
                </a:lnTo>
                <a:cubicBezTo>
                  <a:pt x="91424" y="32646"/>
                  <a:pt x="90985" y="33706"/>
                  <a:pt x="90985" y="34791"/>
                </a:cubicBezTo>
                <a:lnTo>
                  <a:pt x="90985" y="45493"/>
                </a:lnTo>
                <a:cubicBezTo>
                  <a:pt x="90985" y="47767"/>
                  <a:pt x="92846" y="49628"/>
                  <a:pt x="95121" y="49628"/>
                </a:cubicBezTo>
                <a:lnTo>
                  <a:pt x="105822" y="49628"/>
                </a:lnTo>
                <a:cubicBezTo>
                  <a:pt x="106907" y="49628"/>
                  <a:pt x="107967" y="49189"/>
                  <a:pt x="108743" y="48413"/>
                </a:cubicBezTo>
                <a:lnTo>
                  <a:pt x="131670" y="25486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3" name="Text 51"/>
          <p:cNvSpPr/>
          <p:nvPr/>
        </p:nvSpPr>
        <p:spPr>
          <a:xfrm>
            <a:off x="6683973" y="4330062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Ansible Automation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75449" y="4561661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Infrastructure-as-code for consistent, repeatable deployments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3786" y="4919398"/>
            <a:ext cx="5322627" cy="587267"/>
          </a:xfrm>
          <a:custGeom>
            <a:avLst/>
            <a:gdLst/>
            <a:ahLst/>
            <a:cxnLst/>
            <a:rect l="l" t="t" r="r" b="b"/>
            <a:pathLst>
              <a:path w="5322627" h="587267">
                <a:moveTo>
                  <a:pt x="0" y="0"/>
                </a:moveTo>
                <a:lnTo>
                  <a:pt x="5322627" y="0"/>
                </a:lnTo>
                <a:lnTo>
                  <a:pt x="5322627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63786" y="4919398"/>
            <a:ext cx="24814" cy="587267"/>
          </a:xfrm>
          <a:custGeom>
            <a:avLst/>
            <a:gdLst/>
            <a:ahLst/>
            <a:cxnLst/>
            <a:rect l="l" t="t" r="r" b="b"/>
            <a:pathLst>
              <a:path w="24814" h="587267">
                <a:moveTo>
                  <a:pt x="0" y="0"/>
                </a:moveTo>
                <a:lnTo>
                  <a:pt x="24814" y="0"/>
                </a:lnTo>
                <a:lnTo>
                  <a:pt x="24814" y="587267"/>
                </a:lnTo>
                <a:lnTo>
                  <a:pt x="0" y="587267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7" name="Shape 55"/>
          <p:cNvSpPr/>
          <p:nvPr/>
        </p:nvSpPr>
        <p:spPr>
          <a:xfrm>
            <a:off x="6508535" y="5051739"/>
            <a:ext cx="99256" cy="132342"/>
          </a:xfrm>
          <a:custGeom>
            <a:avLst/>
            <a:gdLst/>
            <a:ahLst/>
            <a:cxnLst/>
            <a:rect l="l" t="t" r="r" b="b"/>
            <a:pathLst>
              <a:path w="99256" h="132342">
                <a:moveTo>
                  <a:pt x="33085" y="24814"/>
                </a:moveTo>
                <a:lnTo>
                  <a:pt x="33085" y="41357"/>
                </a:lnTo>
                <a:lnTo>
                  <a:pt x="66171" y="41357"/>
                </a:lnTo>
                <a:lnTo>
                  <a:pt x="66171" y="24814"/>
                </a:lnTo>
                <a:cubicBezTo>
                  <a:pt x="66171" y="15690"/>
                  <a:pt x="58753" y="8271"/>
                  <a:pt x="49628" y="8271"/>
                </a:cubicBezTo>
                <a:cubicBezTo>
                  <a:pt x="40504" y="8271"/>
                  <a:pt x="33085" y="15690"/>
                  <a:pt x="33085" y="24814"/>
                </a:cubicBezTo>
                <a:close/>
                <a:moveTo>
                  <a:pt x="16543" y="41357"/>
                </a:moveTo>
                <a:lnTo>
                  <a:pt x="16543" y="24814"/>
                </a:lnTo>
                <a:cubicBezTo>
                  <a:pt x="16543" y="6540"/>
                  <a:pt x="31354" y="-8271"/>
                  <a:pt x="49628" y="-8271"/>
                </a:cubicBezTo>
                <a:cubicBezTo>
                  <a:pt x="67903" y="-8271"/>
                  <a:pt x="82714" y="6540"/>
                  <a:pt x="82714" y="24814"/>
                </a:cubicBezTo>
                <a:lnTo>
                  <a:pt x="82714" y="41357"/>
                </a:lnTo>
                <a:cubicBezTo>
                  <a:pt x="91838" y="41357"/>
                  <a:pt x="99256" y="48775"/>
                  <a:pt x="99256" y="57900"/>
                </a:cubicBezTo>
                <a:lnTo>
                  <a:pt x="99256" y="115799"/>
                </a:lnTo>
                <a:cubicBezTo>
                  <a:pt x="99256" y="124924"/>
                  <a:pt x="91838" y="132342"/>
                  <a:pt x="82714" y="132342"/>
                </a:cubicBezTo>
                <a:lnTo>
                  <a:pt x="16543" y="132342"/>
                </a:lnTo>
                <a:cubicBezTo>
                  <a:pt x="7418" y="132342"/>
                  <a:pt x="0" y="124924"/>
                  <a:pt x="0" y="115799"/>
                </a:cubicBezTo>
                <a:lnTo>
                  <a:pt x="0" y="57900"/>
                </a:lnTo>
                <a:cubicBezTo>
                  <a:pt x="0" y="48775"/>
                  <a:pt x="7418" y="41357"/>
                  <a:pt x="16543" y="41357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8" name="Text 56"/>
          <p:cNvSpPr/>
          <p:nvPr/>
        </p:nvSpPr>
        <p:spPr>
          <a:xfrm>
            <a:off x="6683973" y="5018654"/>
            <a:ext cx="4969354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Air-Gap Ready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75449" y="5250252"/>
            <a:ext cx="5169607" cy="15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internet connectivity required. All dependencies bundled.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5514" y="5612125"/>
            <a:ext cx="5326763" cy="306041"/>
          </a:xfrm>
          <a:custGeom>
            <a:avLst/>
            <a:gdLst/>
            <a:ahLst/>
            <a:cxnLst/>
            <a:rect l="l" t="t" r="r" b="b"/>
            <a:pathLst>
              <a:path w="5326763" h="306041">
                <a:moveTo>
                  <a:pt x="0" y="0"/>
                </a:moveTo>
                <a:lnTo>
                  <a:pt x="5326763" y="0"/>
                </a:lnTo>
                <a:lnTo>
                  <a:pt x="5326763" y="306041"/>
                </a:lnTo>
                <a:lnTo>
                  <a:pt x="0" y="306041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75449" y="5707246"/>
            <a:ext cx="115799" cy="115799"/>
          </a:xfrm>
          <a:custGeom>
            <a:avLst/>
            <a:gdLst/>
            <a:ahLst/>
            <a:cxnLst/>
            <a:rect l="l" t="t" r="r" b="b"/>
            <a:pathLst>
              <a:path w="115799" h="115799">
                <a:moveTo>
                  <a:pt x="57900" y="0"/>
                </a:moveTo>
                <a:cubicBezTo>
                  <a:pt x="58940" y="0"/>
                  <a:pt x="59980" y="226"/>
                  <a:pt x="60930" y="656"/>
                </a:cubicBezTo>
                <a:lnTo>
                  <a:pt x="103541" y="18727"/>
                </a:lnTo>
                <a:cubicBezTo>
                  <a:pt x="108517" y="20830"/>
                  <a:pt x="112226" y="25738"/>
                  <a:pt x="112203" y="31664"/>
                </a:cubicBezTo>
                <a:cubicBezTo>
                  <a:pt x="112090" y="54100"/>
                  <a:pt x="102862" y="95150"/>
                  <a:pt x="63893" y="113809"/>
                </a:cubicBezTo>
                <a:cubicBezTo>
                  <a:pt x="60116" y="115618"/>
                  <a:pt x="55728" y="115618"/>
                  <a:pt x="51951" y="113809"/>
                </a:cubicBezTo>
                <a:cubicBezTo>
                  <a:pt x="12960" y="95150"/>
                  <a:pt x="3754" y="54100"/>
                  <a:pt x="3641" y="31664"/>
                </a:cubicBezTo>
                <a:cubicBezTo>
                  <a:pt x="3619" y="25738"/>
                  <a:pt x="7328" y="20830"/>
                  <a:pt x="12304" y="18727"/>
                </a:cubicBezTo>
                <a:lnTo>
                  <a:pt x="54892" y="656"/>
                </a:lnTo>
                <a:cubicBezTo>
                  <a:pt x="55841" y="226"/>
                  <a:pt x="56859" y="0"/>
                  <a:pt x="57900" y="0"/>
                </a:cubicBezTo>
                <a:close/>
                <a:moveTo>
                  <a:pt x="57900" y="15108"/>
                </a:moveTo>
                <a:lnTo>
                  <a:pt x="57900" y="100623"/>
                </a:lnTo>
                <a:cubicBezTo>
                  <a:pt x="89111" y="85515"/>
                  <a:pt x="97502" y="52042"/>
                  <a:pt x="97706" y="32003"/>
                </a:cubicBezTo>
                <a:lnTo>
                  <a:pt x="57900" y="15131"/>
                </a:lnTo>
                <a:lnTo>
                  <a:pt x="57900" y="15131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62" name="Text 60"/>
          <p:cNvSpPr/>
          <p:nvPr/>
        </p:nvSpPr>
        <p:spPr>
          <a:xfrm>
            <a:off x="6650887" y="5682431"/>
            <a:ext cx="4985897" cy="165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conservative environments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43262" y="6228342"/>
            <a:ext cx="11517883" cy="413569"/>
          </a:xfrm>
          <a:custGeom>
            <a:avLst/>
            <a:gdLst/>
            <a:ahLst/>
            <a:cxnLst/>
            <a:rect l="l" t="t" r="r" b="b"/>
            <a:pathLst>
              <a:path w="11517883" h="413569">
                <a:moveTo>
                  <a:pt x="0" y="0"/>
                </a:moveTo>
                <a:lnTo>
                  <a:pt x="11517883" y="0"/>
                </a:lnTo>
                <a:lnTo>
                  <a:pt x="11517883" y="413569"/>
                </a:lnTo>
                <a:lnTo>
                  <a:pt x="0" y="413569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43262" y="6228342"/>
            <a:ext cx="24814" cy="413569"/>
          </a:xfrm>
          <a:custGeom>
            <a:avLst/>
            <a:gdLst/>
            <a:ahLst/>
            <a:cxnLst/>
            <a:rect l="l" t="t" r="r" b="b"/>
            <a:pathLst>
              <a:path w="24814" h="413569">
                <a:moveTo>
                  <a:pt x="0" y="0"/>
                </a:moveTo>
                <a:lnTo>
                  <a:pt x="24814" y="0"/>
                </a:lnTo>
                <a:lnTo>
                  <a:pt x="24814" y="413569"/>
                </a:lnTo>
                <a:lnTo>
                  <a:pt x="0" y="41356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5" name="Shape 63"/>
          <p:cNvSpPr/>
          <p:nvPr/>
        </p:nvSpPr>
        <p:spPr>
          <a:xfrm>
            <a:off x="488011" y="6368955"/>
            <a:ext cx="99256" cy="132342"/>
          </a:xfrm>
          <a:custGeom>
            <a:avLst/>
            <a:gdLst/>
            <a:ahLst/>
            <a:cxnLst/>
            <a:rect l="l" t="t" r="r" b="b"/>
            <a:pathLst>
              <a:path w="99256" h="132342">
                <a:moveTo>
                  <a:pt x="64594" y="17266"/>
                </a:moveTo>
                <a:cubicBezTo>
                  <a:pt x="67282" y="13570"/>
                  <a:pt x="66455" y="8401"/>
                  <a:pt x="62759" y="5712"/>
                </a:cubicBezTo>
                <a:cubicBezTo>
                  <a:pt x="59063" y="3024"/>
                  <a:pt x="53893" y="3851"/>
                  <a:pt x="51205" y="7548"/>
                </a:cubicBezTo>
                <a:lnTo>
                  <a:pt x="23806" y="45208"/>
                </a:lnTo>
                <a:lnTo>
                  <a:pt x="14113" y="35515"/>
                </a:lnTo>
                <a:cubicBezTo>
                  <a:pt x="10882" y="32284"/>
                  <a:pt x="5635" y="32284"/>
                  <a:pt x="2404" y="35515"/>
                </a:cubicBezTo>
                <a:cubicBezTo>
                  <a:pt x="-827" y="38746"/>
                  <a:pt x="-827" y="43993"/>
                  <a:pt x="2404" y="47224"/>
                </a:cubicBezTo>
                <a:lnTo>
                  <a:pt x="18947" y="63767"/>
                </a:lnTo>
                <a:cubicBezTo>
                  <a:pt x="20653" y="65473"/>
                  <a:pt x="23031" y="66352"/>
                  <a:pt x="25434" y="66171"/>
                </a:cubicBezTo>
                <a:cubicBezTo>
                  <a:pt x="27838" y="65990"/>
                  <a:pt x="30061" y="64749"/>
                  <a:pt x="31483" y="62785"/>
                </a:cubicBezTo>
                <a:lnTo>
                  <a:pt x="64568" y="17292"/>
                </a:lnTo>
                <a:close/>
                <a:moveTo>
                  <a:pt x="97680" y="52420"/>
                </a:moveTo>
                <a:cubicBezTo>
                  <a:pt x="100368" y="48724"/>
                  <a:pt x="99541" y="43554"/>
                  <a:pt x="95845" y="40866"/>
                </a:cubicBezTo>
                <a:cubicBezTo>
                  <a:pt x="92148" y="38178"/>
                  <a:pt x="86979" y="39005"/>
                  <a:pt x="84290" y="42701"/>
                </a:cubicBezTo>
                <a:lnTo>
                  <a:pt x="40349" y="103108"/>
                </a:lnTo>
                <a:lnTo>
                  <a:pt x="22384" y="85143"/>
                </a:lnTo>
                <a:cubicBezTo>
                  <a:pt x="19153" y="81912"/>
                  <a:pt x="13906" y="81912"/>
                  <a:pt x="10675" y="85143"/>
                </a:cubicBezTo>
                <a:cubicBezTo>
                  <a:pt x="7444" y="88374"/>
                  <a:pt x="7444" y="93622"/>
                  <a:pt x="10675" y="96853"/>
                </a:cubicBezTo>
                <a:lnTo>
                  <a:pt x="35489" y="121667"/>
                </a:lnTo>
                <a:cubicBezTo>
                  <a:pt x="37195" y="123373"/>
                  <a:pt x="39573" y="124251"/>
                  <a:pt x="41977" y="124071"/>
                </a:cubicBezTo>
                <a:cubicBezTo>
                  <a:pt x="44381" y="123890"/>
                  <a:pt x="46604" y="122649"/>
                  <a:pt x="48026" y="120684"/>
                </a:cubicBezTo>
                <a:lnTo>
                  <a:pt x="97654" y="52446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66" name="Text 64"/>
          <p:cNvSpPr/>
          <p:nvPr/>
        </p:nvSpPr>
        <p:spPr>
          <a:xfrm>
            <a:off x="663449" y="6327598"/>
            <a:ext cx="11164610" cy="21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Code, Same Behavior:</a:t>
            </a:r>
            <a:pPr>
              <a:lnSpc>
                <a:spcPct val="140000"/>
              </a:lnSpc>
            </a:pPr>
            <a:r>
              <a:rPr lang="en-US" sz="1042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Whether containerized or bare metal, REVENANT delivers identical deterministic behavior. Choose your infrastructure, not your functionality.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COMMERCIAL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 &amp; Licensing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57313"/>
            <a:ext cx="5133975" cy="3228975"/>
          </a:xfrm>
          <a:custGeom>
            <a:avLst/>
            <a:gdLst/>
            <a:ahLst/>
            <a:cxnLst/>
            <a:rect l="l" t="t" r="r" b="b"/>
            <a:pathLst>
              <a:path w="5133975" h="3228975">
                <a:moveTo>
                  <a:pt x="0" y="0"/>
                </a:moveTo>
                <a:lnTo>
                  <a:pt x="5133975" y="0"/>
                </a:lnTo>
                <a:lnTo>
                  <a:pt x="5133975" y="3228975"/>
                </a:lnTo>
                <a:lnTo>
                  <a:pt x="0" y="322897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552575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Licensing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2009775"/>
            <a:ext cx="4819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 adopt REVENANT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Start with foundational modules, expand as needs evolve. No forced bundles, no unnecessary features.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2909888"/>
            <a:ext cx="4733925" cy="1476375"/>
          </a:xfrm>
          <a:custGeom>
            <a:avLst/>
            <a:gdLst/>
            <a:ahLst/>
            <a:cxnLst/>
            <a:rect l="l" t="t" r="r" b="b"/>
            <a:pathLst>
              <a:path w="4733925" h="1476375">
                <a:moveTo>
                  <a:pt x="0" y="0"/>
                </a:moveTo>
                <a:lnTo>
                  <a:pt x="4733925" y="0"/>
                </a:lnTo>
                <a:lnTo>
                  <a:pt x="4733925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3067050"/>
            <a:ext cx="450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Licensing Options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86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1" name="Text 9"/>
          <p:cNvSpPr/>
          <p:nvPr/>
        </p:nvSpPr>
        <p:spPr>
          <a:xfrm>
            <a:off x="985838" y="3448050"/>
            <a:ext cx="394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Perpetual License: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One-time purchase with annual support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771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985838" y="3733800"/>
            <a:ext cx="3248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Monthly/annual SaaS-style pricing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057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5" name="Text 13"/>
          <p:cNvSpPr/>
          <p:nvPr/>
        </p:nvSpPr>
        <p:spPr>
          <a:xfrm>
            <a:off x="985838" y="4019550"/>
            <a:ext cx="3381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Transaction-Based:</a:t>
            </a:r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 per authorized transaction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748213"/>
            <a:ext cx="5133975" cy="1990725"/>
          </a:xfrm>
          <a:custGeom>
            <a:avLst/>
            <a:gdLst/>
            <a:ahLst/>
            <a:cxnLst/>
            <a:rect l="l" t="t" r="r" b="b"/>
            <a:pathLst>
              <a:path w="5133975" h="1990725">
                <a:moveTo>
                  <a:pt x="0" y="0"/>
                </a:moveTo>
                <a:lnTo>
                  <a:pt x="5133975" y="0"/>
                </a:lnTo>
                <a:lnTo>
                  <a:pt x="5133975" y="1990725"/>
                </a:lnTo>
                <a:lnTo>
                  <a:pt x="0" y="199072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738" y="5229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50" y="51816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 and Expand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5562600"/>
            <a:ext cx="4895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 &amp; Integration Layer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—quick deployment, immediate ROI. Expand to Risk Engines, AI Assistant, and Contagion Platform as trust builds and needs grow.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9763" y="1357313"/>
            <a:ext cx="6086475" cy="5381625"/>
          </a:xfrm>
          <a:custGeom>
            <a:avLst/>
            <a:gdLst/>
            <a:ahLst/>
            <a:cxnLst/>
            <a:rect l="l" t="t" r="r" b="b"/>
            <a:pathLst>
              <a:path w="6086475" h="5381625">
                <a:moveTo>
                  <a:pt x="0" y="0"/>
                </a:moveTo>
                <a:lnTo>
                  <a:pt x="6086475" y="0"/>
                </a:lnTo>
                <a:lnTo>
                  <a:pt x="6086475" y="5381625"/>
                </a:lnTo>
                <a:lnTo>
                  <a:pt x="0" y="53816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5025" y="1552575"/>
            <a:ext cx="581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 Modules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34075" y="2009775"/>
            <a:ext cx="5676900" cy="1047750"/>
          </a:xfrm>
          <a:custGeom>
            <a:avLst/>
            <a:gdLst/>
            <a:ahLst/>
            <a:cxnLst/>
            <a:rect l="l" t="t" r="r" b="b"/>
            <a:pathLst>
              <a:path w="5676900" h="1047750">
                <a:moveTo>
                  <a:pt x="0" y="0"/>
                </a:moveTo>
                <a:lnTo>
                  <a:pt x="5676900" y="0"/>
                </a:lnTo>
                <a:lnTo>
                  <a:pt x="56769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34075" y="2009775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4" name="Shape 22"/>
          <p:cNvSpPr/>
          <p:nvPr/>
        </p:nvSpPr>
        <p:spPr>
          <a:xfrm>
            <a:off x="6067425" y="2124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2200" y="22383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6" name="Text 24"/>
          <p:cNvSpPr/>
          <p:nvPr/>
        </p:nvSpPr>
        <p:spPr>
          <a:xfrm>
            <a:off x="6562725" y="212407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Gateway &amp; Integration 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2725" y="2428875"/>
            <a:ext cx="501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ingress, authentication, routing, failover orchestration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62725" y="2714625"/>
            <a:ext cx="866775" cy="228600"/>
          </a:xfrm>
          <a:custGeom>
            <a:avLst/>
            <a:gdLst/>
            <a:ahLst/>
            <a:cxnLst/>
            <a:rect l="l" t="t" r="r" b="b"/>
            <a:pathLst>
              <a:path w="866775" h="228600">
                <a:moveTo>
                  <a:pt x="0" y="0"/>
                </a:moveTo>
                <a:lnTo>
                  <a:pt x="866775" y="0"/>
                </a:lnTo>
                <a:lnTo>
                  <a:pt x="86677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62725" y="2714625"/>
            <a:ext cx="9239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04658" y="2733675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 point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34075" y="3171825"/>
            <a:ext cx="5676900" cy="1047750"/>
          </a:xfrm>
          <a:custGeom>
            <a:avLst/>
            <a:gdLst/>
            <a:ahLst/>
            <a:cxnLst/>
            <a:rect l="l" t="t" r="r" b="b"/>
            <a:pathLst>
              <a:path w="5676900" h="1047750">
                <a:moveTo>
                  <a:pt x="0" y="0"/>
                </a:moveTo>
                <a:lnTo>
                  <a:pt x="5676900" y="0"/>
                </a:lnTo>
                <a:lnTo>
                  <a:pt x="56769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34075" y="3171825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3" name="Shape 31"/>
          <p:cNvSpPr/>
          <p:nvPr/>
        </p:nvSpPr>
        <p:spPr>
          <a:xfrm>
            <a:off x="6067425" y="3286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4" name="Shape 32"/>
          <p:cNvSpPr/>
          <p:nvPr/>
        </p:nvSpPr>
        <p:spPr>
          <a:xfrm>
            <a:off x="6181725" y="3400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5" name="Text 33"/>
          <p:cNvSpPr/>
          <p:nvPr/>
        </p:nvSpPr>
        <p:spPr>
          <a:xfrm>
            <a:off x="6562725" y="32861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&amp; Fraud Engines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62725" y="3590925"/>
            <a:ext cx="501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risk scoring, AML, sanctions, fraud detection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62725" y="3876675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0"/>
                </a:moveTo>
                <a:lnTo>
                  <a:pt x="762000" y="0"/>
                </a:lnTo>
                <a:lnTo>
                  <a:pt x="762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62725" y="3876675"/>
            <a:ext cx="819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00330" y="389572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value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34075" y="4333875"/>
            <a:ext cx="5676900" cy="1047750"/>
          </a:xfrm>
          <a:custGeom>
            <a:avLst/>
            <a:gdLst/>
            <a:ahLst/>
            <a:cxnLst/>
            <a:rect l="l" t="t" r="r" b="b"/>
            <a:pathLst>
              <a:path w="5676900" h="1047750">
                <a:moveTo>
                  <a:pt x="0" y="0"/>
                </a:moveTo>
                <a:lnTo>
                  <a:pt x="5676900" y="0"/>
                </a:lnTo>
                <a:lnTo>
                  <a:pt x="56769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34075" y="4333875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2" name="Shape 40"/>
          <p:cNvSpPr/>
          <p:nvPr/>
        </p:nvSpPr>
        <p:spPr>
          <a:xfrm>
            <a:off x="6067425" y="4448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3" name="Shape 41"/>
          <p:cNvSpPr/>
          <p:nvPr/>
        </p:nvSpPr>
        <p:spPr>
          <a:xfrm>
            <a:off x="6162675" y="45624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2"/>
          <p:cNvSpPr/>
          <p:nvPr/>
        </p:nvSpPr>
        <p:spPr>
          <a:xfrm>
            <a:off x="6562725" y="444817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AI Assistant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62725" y="4752975"/>
            <a:ext cx="501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parsing, auto-fill, E-IMZO orchestration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62725" y="5038725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0"/>
                </a:moveTo>
                <a:lnTo>
                  <a:pt x="762000" y="0"/>
                </a:lnTo>
                <a:lnTo>
                  <a:pt x="762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562725" y="5038725"/>
            <a:ext cx="819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00330" y="5057775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UX enhancement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934075" y="5495925"/>
            <a:ext cx="5676900" cy="1047750"/>
          </a:xfrm>
          <a:custGeom>
            <a:avLst/>
            <a:gdLst/>
            <a:ahLst/>
            <a:cxnLst/>
            <a:rect l="l" t="t" r="r" b="b"/>
            <a:pathLst>
              <a:path w="5676900" h="1047750">
                <a:moveTo>
                  <a:pt x="0" y="0"/>
                </a:moveTo>
                <a:lnTo>
                  <a:pt x="5676900" y="0"/>
                </a:lnTo>
                <a:lnTo>
                  <a:pt x="56769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34075" y="5495925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51" name="Shape 49"/>
          <p:cNvSpPr/>
          <p:nvPr/>
        </p:nvSpPr>
        <p:spPr>
          <a:xfrm>
            <a:off x="6067425" y="5610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52" name="Shape 50"/>
          <p:cNvSpPr/>
          <p:nvPr/>
        </p:nvSpPr>
        <p:spPr>
          <a:xfrm>
            <a:off x="6181725" y="5724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53" name="Text 51"/>
          <p:cNvSpPr/>
          <p:nvPr/>
        </p:nvSpPr>
        <p:spPr>
          <a:xfrm>
            <a:off x="6562725" y="56102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Contagion Intelligence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62725" y="5915025"/>
            <a:ext cx="501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exposure, systemic risk, cross-bank visibility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62725" y="6200775"/>
            <a:ext cx="742950" cy="228600"/>
          </a:xfrm>
          <a:custGeom>
            <a:avLst/>
            <a:gdLst/>
            <a:ahLst/>
            <a:cxnLst/>
            <a:rect l="l" t="t" r="r" b="b"/>
            <a:pathLst>
              <a:path w="742950" h="228600">
                <a:moveTo>
                  <a:pt x="0" y="0"/>
                </a:moveTo>
                <a:lnTo>
                  <a:pt x="742950" y="0"/>
                </a:lnTo>
                <a:lnTo>
                  <a:pt x="7429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562725" y="6200775"/>
            <a:ext cx="800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386191" y="62198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scale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255" y="324255"/>
            <a:ext cx="11600234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4" b="1" spc="179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4255" y="551234"/>
            <a:ext cx="11689404" cy="324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Opportunity: Uzbekistan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4255" y="972766"/>
            <a:ext cx="778213" cy="16213"/>
          </a:xfrm>
          <a:custGeom>
            <a:avLst/>
            <a:gdLst/>
            <a:ahLst/>
            <a:cxnLst/>
            <a:rect l="l" t="t" r="r" b="b"/>
            <a:pathLst>
              <a:path w="778213" h="16213">
                <a:moveTo>
                  <a:pt x="0" y="0"/>
                </a:moveTo>
                <a:lnTo>
                  <a:pt x="778213" y="0"/>
                </a:lnTo>
                <a:lnTo>
                  <a:pt x="778213" y="16213"/>
                </a:lnTo>
                <a:lnTo>
                  <a:pt x="0" y="16213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28309" y="1155160"/>
            <a:ext cx="2780489" cy="1726660"/>
          </a:xfrm>
          <a:custGeom>
            <a:avLst/>
            <a:gdLst/>
            <a:ahLst/>
            <a:cxnLst/>
            <a:rect l="l" t="t" r="r" b="b"/>
            <a:pathLst>
              <a:path w="2780489" h="1726660">
                <a:moveTo>
                  <a:pt x="0" y="0"/>
                </a:moveTo>
                <a:lnTo>
                  <a:pt x="2780489" y="0"/>
                </a:lnTo>
                <a:lnTo>
                  <a:pt x="2780489" y="1726660"/>
                </a:lnTo>
                <a:lnTo>
                  <a:pt x="0" y="172666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9149" y="1288915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0" y="0"/>
                </a:moveTo>
                <a:lnTo>
                  <a:pt x="518809" y="0"/>
                </a:lnTo>
                <a:lnTo>
                  <a:pt x="518809" y="518809"/>
                </a:lnTo>
                <a:lnTo>
                  <a:pt x="0" y="518809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7" name="Shape 5"/>
          <p:cNvSpPr/>
          <p:nvPr/>
        </p:nvSpPr>
        <p:spPr>
          <a:xfrm>
            <a:off x="1621277" y="1451043"/>
            <a:ext cx="194553" cy="194553"/>
          </a:xfrm>
          <a:custGeom>
            <a:avLst/>
            <a:gdLst/>
            <a:ahLst/>
            <a:cxnLst/>
            <a:rect l="l" t="t" r="r" b="b"/>
            <a:pathLst>
              <a:path w="194553" h="194553">
                <a:moveTo>
                  <a:pt x="103318" y="7676"/>
                </a:moveTo>
                <a:cubicBezTo>
                  <a:pt x="99595" y="5548"/>
                  <a:pt x="94997" y="5548"/>
                  <a:pt x="91235" y="7676"/>
                </a:cubicBezTo>
                <a:lnTo>
                  <a:pt x="6118" y="56314"/>
                </a:lnTo>
                <a:cubicBezTo>
                  <a:pt x="1330" y="59050"/>
                  <a:pt x="-1026" y="64674"/>
                  <a:pt x="380" y="69994"/>
                </a:cubicBezTo>
                <a:cubicBezTo>
                  <a:pt x="1786" y="75313"/>
                  <a:pt x="6650" y="79037"/>
                  <a:pt x="12160" y="79037"/>
                </a:cubicBezTo>
                <a:lnTo>
                  <a:pt x="24319" y="79037"/>
                </a:lnTo>
                <a:lnTo>
                  <a:pt x="24319" y="158074"/>
                </a:lnTo>
                <a:lnTo>
                  <a:pt x="24319" y="158074"/>
                </a:lnTo>
                <a:lnTo>
                  <a:pt x="4864" y="172666"/>
                </a:lnTo>
                <a:cubicBezTo>
                  <a:pt x="1786" y="174946"/>
                  <a:pt x="0" y="178556"/>
                  <a:pt x="0" y="182394"/>
                </a:cubicBezTo>
                <a:cubicBezTo>
                  <a:pt x="0" y="189119"/>
                  <a:pt x="5434" y="194553"/>
                  <a:pt x="12160" y="194553"/>
                </a:cubicBezTo>
                <a:lnTo>
                  <a:pt x="182394" y="194553"/>
                </a:lnTo>
                <a:cubicBezTo>
                  <a:pt x="189119" y="194553"/>
                  <a:pt x="194553" y="189119"/>
                  <a:pt x="194553" y="182394"/>
                </a:cubicBezTo>
                <a:cubicBezTo>
                  <a:pt x="194553" y="178556"/>
                  <a:pt x="192767" y="174946"/>
                  <a:pt x="189689" y="172666"/>
                </a:cubicBezTo>
                <a:lnTo>
                  <a:pt x="170234" y="158074"/>
                </a:lnTo>
                <a:lnTo>
                  <a:pt x="170234" y="79037"/>
                </a:lnTo>
                <a:lnTo>
                  <a:pt x="182394" y="79037"/>
                </a:lnTo>
                <a:cubicBezTo>
                  <a:pt x="187903" y="79037"/>
                  <a:pt x="192729" y="75313"/>
                  <a:pt x="194135" y="69994"/>
                </a:cubicBezTo>
                <a:cubicBezTo>
                  <a:pt x="195541" y="64674"/>
                  <a:pt x="193185" y="59050"/>
                  <a:pt x="188397" y="56314"/>
                </a:cubicBezTo>
                <a:lnTo>
                  <a:pt x="103280" y="7676"/>
                </a:lnTo>
                <a:close/>
                <a:moveTo>
                  <a:pt x="151995" y="79037"/>
                </a:moveTo>
                <a:lnTo>
                  <a:pt x="151995" y="158074"/>
                </a:lnTo>
                <a:lnTo>
                  <a:pt x="127676" y="158074"/>
                </a:lnTo>
                <a:lnTo>
                  <a:pt x="127676" y="79037"/>
                </a:lnTo>
                <a:lnTo>
                  <a:pt x="151995" y="79037"/>
                </a:lnTo>
                <a:close/>
                <a:moveTo>
                  <a:pt x="109436" y="79037"/>
                </a:moveTo>
                <a:lnTo>
                  <a:pt x="109436" y="158074"/>
                </a:lnTo>
                <a:lnTo>
                  <a:pt x="85117" y="158074"/>
                </a:lnTo>
                <a:lnTo>
                  <a:pt x="85117" y="79037"/>
                </a:lnTo>
                <a:lnTo>
                  <a:pt x="109436" y="79037"/>
                </a:lnTo>
                <a:close/>
                <a:moveTo>
                  <a:pt x="66878" y="79037"/>
                </a:moveTo>
                <a:lnTo>
                  <a:pt x="66878" y="158074"/>
                </a:lnTo>
                <a:lnTo>
                  <a:pt x="42559" y="158074"/>
                </a:lnTo>
                <a:lnTo>
                  <a:pt x="42559" y="79037"/>
                </a:lnTo>
                <a:lnTo>
                  <a:pt x="66878" y="79037"/>
                </a:lnTo>
                <a:close/>
                <a:moveTo>
                  <a:pt x="97277" y="36479"/>
                </a:moveTo>
                <a:cubicBezTo>
                  <a:pt x="103988" y="36479"/>
                  <a:pt x="109436" y="41927"/>
                  <a:pt x="109436" y="48638"/>
                </a:cubicBezTo>
                <a:cubicBezTo>
                  <a:pt x="109436" y="55349"/>
                  <a:pt x="103988" y="60798"/>
                  <a:pt x="97277" y="60798"/>
                </a:cubicBezTo>
                <a:cubicBezTo>
                  <a:pt x="90566" y="60798"/>
                  <a:pt x="85117" y="55349"/>
                  <a:pt x="85117" y="48638"/>
                </a:cubicBezTo>
                <a:cubicBezTo>
                  <a:pt x="85117" y="41927"/>
                  <a:pt x="90566" y="36479"/>
                  <a:pt x="97277" y="36479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8" name="Text 6"/>
          <p:cNvSpPr/>
          <p:nvPr/>
        </p:nvSpPr>
        <p:spPr>
          <a:xfrm>
            <a:off x="364787" y="1905000"/>
            <a:ext cx="2707532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64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638" y="2358957"/>
            <a:ext cx="257783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Commercial Banks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3691" y="2585936"/>
            <a:ext cx="2569723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potential customers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606" y="1155160"/>
            <a:ext cx="2780489" cy="1726660"/>
          </a:xfrm>
          <a:custGeom>
            <a:avLst/>
            <a:gdLst/>
            <a:ahLst/>
            <a:cxnLst/>
            <a:rect l="l" t="t" r="r" b="b"/>
            <a:pathLst>
              <a:path w="2780489" h="1726660">
                <a:moveTo>
                  <a:pt x="0" y="0"/>
                </a:moveTo>
                <a:lnTo>
                  <a:pt x="2780489" y="0"/>
                </a:lnTo>
                <a:lnTo>
                  <a:pt x="2780489" y="1726660"/>
                </a:lnTo>
                <a:lnTo>
                  <a:pt x="0" y="172666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7447" y="1288915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0" y="0"/>
                </a:moveTo>
                <a:lnTo>
                  <a:pt x="518809" y="0"/>
                </a:lnTo>
                <a:lnTo>
                  <a:pt x="518809" y="518809"/>
                </a:lnTo>
                <a:lnTo>
                  <a:pt x="0" y="518809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6053" y="1451043"/>
            <a:ext cx="121596" cy="194553"/>
          </a:xfrm>
          <a:custGeom>
            <a:avLst/>
            <a:gdLst/>
            <a:ahLst/>
            <a:cxnLst/>
            <a:rect l="l" t="t" r="r" b="b"/>
            <a:pathLst>
              <a:path w="121596" h="194553">
                <a:moveTo>
                  <a:pt x="51678" y="9120"/>
                </a:moveTo>
                <a:cubicBezTo>
                  <a:pt x="51678" y="4066"/>
                  <a:pt x="55744" y="0"/>
                  <a:pt x="60798" y="0"/>
                </a:cubicBezTo>
                <a:cubicBezTo>
                  <a:pt x="65852" y="0"/>
                  <a:pt x="69918" y="4066"/>
                  <a:pt x="69918" y="9120"/>
                </a:cubicBezTo>
                <a:lnTo>
                  <a:pt x="69918" y="24319"/>
                </a:lnTo>
                <a:lnTo>
                  <a:pt x="91197" y="24319"/>
                </a:lnTo>
                <a:cubicBezTo>
                  <a:pt x="97923" y="24319"/>
                  <a:pt x="103356" y="29753"/>
                  <a:pt x="103356" y="36479"/>
                </a:cubicBezTo>
                <a:cubicBezTo>
                  <a:pt x="103356" y="43204"/>
                  <a:pt x="97923" y="48638"/>
                  <a:pt x="91197" y="48638"/>
                </a:cubicBezTo>
                <a:lnTo>
                  <a:pt x="47536" y="48638"/>
                </a:lnTo>
                <a:cubicBezTo>
                  <a:pt x="38075" y="48638"/>
                  <a:pt x="30399" y="56314"/>
                  <a:pt x="30399" y="65776"/>
                </a:cubicBezTo>
                <a:cubicBezTo>
                  <a:pt x="30399" y="74325"/>
                  <a:pt x="36669" y="81545"/>
                  <a:pt x="45104" y="82761"/>
                </a:cubicBezTo>
                <a:lnTo>
                  <a:pt x="79911" y="87739"/>
                </a:lnTo>
                <a:cubicBezTo>
                  <a:pt x="100354" y="90665"/>
                  <a:pt x="115516" y="108144"/>
                  <a:pt x="115516" y="128777"/>
                </a:cubicBezTo>
                <a:cubicBezTo>
                  <a:pt x="115516" y="151691"/>
                  <a:pt x="96935" y="170234"/>
                  <a:pt x="74059" y="170234"/>
                </a:cubicBezTo>
                <a:lnTo>
                  <a:pt x="69918" y="170234"/>
                </a:lnTo>
                <a:lnTo>
                  <a:pt x="69918" y="185434"/>
                </a:lnTo>
                <a:cubicBezTo>
                  <a:pt x="69918" y="190487"/>
                  <a:pt x="65852" y="194553"/>
                  <a:pt x="60798" y="194553"/>
                </a:cubicBezTo>
                <a:cubicBezTo>
                  <a:pt x="55744" y="194553"/>
                  <a:pt x="51678" y="190487"/>
                  <a:pt x="51678" y="185434"/>
                </a:cubicBezTo>
                <a:lnTo>
                  <a:pt x="51678" y="170234"/>
                </a:lnTo>
                <a:lnTo>
                  <a:pt x="24319" y="170234"/>
                </a:lnTo>
                <a:cubicBezTo>
                  <a:pt x="17593" y="170234"/>
                  <a:pt x="12160" y="164800"/>
                  <a:pt x="12160" y="158074"/>
                </a:cubicBezTo>
                <a:cubicBezTo>
                  <a:pt x="12160" y="151349"/>
                  <a:pt x="17593" y="145915"/>
                  <a:pt x="24319" y="145915"/>
                </a:cubicBezTo>
                <a:lnTo>
                  <a:pt x="74059" y="145915"/>
                </a:lnTo>
                <a:cubicBezTo>
                  <a:pt x="83521" y="145915"/>
                  <a:pt x="91197" y="138239"/>
                  <a:pt x="91197" y="128777"/>
                </a:cubicBezTo>
                <a:cubicBezTo>
                  <a:pt x="91197" y="120228"/>
                  <a:pt x="84927" y="113008"/>
                  <a:pt x="76491" y="111792"/>
                </a:cubicBezTo>
                <a:lnTo>
                  <a:pt x="41685" y="106814"/>
                </a:lnTo>
                <a:cubicBezTo>
                  <a:pt x="21241" y="103926"/>
                  <a:pt x="6080" y="86409"/>
                  <a:pt x="6080" y="65776"/>
                </a:cubicBezTo>
                <a:cubicBezTo>
                  <a:pt x="6080" y="42900"/>
                  <a:pt x="24661" y="24319"/>
                  <a:pt x="47536" y="24319"/>
                </a:cubicBezTo>
                <a:lnTo>
                  <a:pt x="51678" y="24319"/>
                </a:lnTo>
                <a:lnTo>
                  <a:pt x="51678" y="9120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4" name="Text 12"/>
          <p:cNvSpPr/>
          <p:nvPr/>
        </p:nvSpPr>
        <p:spPr>
          <a:xfrm>
            <a:off x="3283085" y="1905000"/>
            <a:ext cx="2707532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64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$70B+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47936" y="2358957"/>
            <a:ext cx="257783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Banking Sector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51989" y="2585936"/>
            <a:ext cx="2569723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assets under management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4904" y="1155160"/>
            <a:ext cx="2780489" cy="1726660"/>
          </a:xfrm>
          <a:custGeom>
            <a:avLst/>
            <a:gdLst/>
            <a:ahLst/>
            <a:cxnLst/>
            <a:rect l="l" t="t" r="r" b="b"/>
            <a:pathLst>
              <a:path w="2780489" h="1726660">
                <a:moveTo>
                  <a:pt x="0" y="0"/>
                </a:moveTo>
                <a:lnTo>
                  <a:pt x="2780489" y="0"/>
                </a:lnTo>
                <a:lnTo>
                  <a:pt x="2780489" y="1726660"/>
                </a:lnTo>
                <a:lnTo>
                  <a:pt x="0" y="1726660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5745" y="1288915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0" y="0"/>
                </a:moveTo>
                <a:lnTo>
                  <a:pt x="518809" y="0"/>
                </a:lnTo>
                <a:lnTo>
                  <a:pt x="518809" y="518809"/>
                </a:lnTo>
                <a:lnTo>
                  <a:pt x="0" y="51880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2191" y="1451043"/>
            <a:ext cx="145915" cy="194553"/>
          </a:xfrm>
          <a:custGeom>
            <a:avLst/>
            <a:gdLst/>
            <a:ahLst/>
            <a:cxnLst/>
            <a:rect l="l" t="t" r="r" b="b"/>
            <a:pathLst>
              <a:path w="145915" h="194553">
                <a:moveTo>
                  <a:pt x="6080" y="24319"/>
                </a:moveTo>
                <a:cubicBezTo>
                  <a:pt x="6080" y="10906"/>
                  <a:pt x="16985" y="0"/>
                  <a:pt x="30399" y="0"/>
                </a:cubicBezTo>
                <a:lnTo>
                  <a:pt x="115516" y="0"/>
                </a:lnTo>
                <a:cubicBezTo>
                  <a:pt x="128929" y="0"/>
                  <a:pt x="139835" y="10906"/>
                  <a:pt x="139835" y="24319"/>
                </a:cubicBezTo>
                <a:lnTo>
                  <a:pt x="139835" y="170234"/>
                </a:lnTo>
                <a:cubicBezTo>
                  <a:pt x="139835" y="183648"/>
                  <a:pt x="128929" y="194553"/>
                  <a:pt x="115516" y="194553"/>
                </a:cubicBezTo>
                <a:lnTo>
                  <a:pt x="30399" y="194553"/>
                </a:lnTo>
                <a:cubicBezTo>
                  <a:pt x="16985" y="194553"/>
                  <a:pt x="6080" y="183648"/>
                  <a:pt x="6080" y="170234"/>
                </a:cubicBezTo>
                <a:lnTo>
                  <a:pt x="6080" y="24319"/>
                </a:lnTo>
                <a:close/>
                <a:moveTo>
                  <a:pt x="30399" y="24319"/>
                </a:moveTo>
                <a:lnTo>
                  <a:pt x="30399" y="139835"/>
                </a:lnTo>
                <a:lnTo>
                  <a:pt x="115516" y="139835"/>
                </a:lnTo>
                <a:lnTo>
                  <a:pt x="115516" y="24319"/>
                </a:lnTo>
                <a:lnTo>
                  <a:pt x="30399" y="24319"/>
                </a:lnTo>
                <a:close/>
                <a:moveTo>
                  <a:pt x="72957" y="179354"/>
                </a:moveTo>
                <a:cubicBezTo>
                  <a:pt x="79683" y="179354"/>
                  <a:pt x="85117" y="173920"/>
                  <a:pt x="85117" y="167194"/>
                </a:cubicBezTo>
                <a:cubicBezTo>
                  <a:pt x="85117" y="160468"/>
                  <a:pt x="79683" y="155035"/>
                  <a:pt x="72957" y="155035"/>
                </a:cubicBezTo>
                <a:cubicBezTo>
                  <a:pt x="66232" y="155035"/>
                  <a:pt x="60798" y="160468"/>
                  <a:pt x="60798" y="167194"/>
                </a:cubicBezTo>
                <a:cubicBezTo>
                  <a:pt x="60798" y="173920"/>
                  <a:pt x="66232" y="179354"/>
                  <a:pt x="72957" y="1793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6201383" y="1905000"/>
            <a:ext cx="2707532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64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6234" y="2358957"/>
            <a:ext cx="257783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Growth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70287" y="2585936"/>
            <a:ext cx="2569723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YoY increase in digital payments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83202" y="1155160"/>
            <a:ext cx="2780489" cy="1726660"/>
          </a:xfrm>
          <a:custGeom>
            <a:avLst/>
            <a:gdLst/>
            <a:ahLst/>
            <a:cxnLst/>
            <a:rect l="l" t="t" r="r" b="b"/>
            <a:pathLst>
              <a:path w="2780489" h="1726660">
                <a:moveTo>
                  <a:pt x="0" y="0"/>
                </a:moveTo>
                <a:lnTo>
                  <a:pt x="2780489" y="0"/>
                </a:lnTo>
                <a:lnTo>
                  <a:pt x="2780489" y="1726660"/>
                </a:lnTo>
                <a:lnTo>
                  <a:pt x="0" y="172666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14043" y="1288915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0" y="0"/>
                </a:moveTo>
                <a:lnTo>
                  <a:pt x="518809" y="0"/>
                </a:lnTo>
                <a:lnTo>
                  <a:pt x="518809" y="518809"/>
                </a:lnTo>
                <a:lnTo>
                  <a:pt x="0" y="518809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64011" y="1451043"/>
            <a:ext cx="218872" cy="194553"/>
          </a:xfrm>
          <a:custGeom>
            <a:avLst/>
            <a:gdLst/>
            <a:ahLst/>
            <a:cxnLst/>
            <a:rect l="l" t="t" r="r" b="b"/>
            <a:pathLst>
              <a:path w="218872" h="194553">
                <a:moveTo>
                  <a:pt x="64446" y="58290"/>
                </a:moveTo>
                <a:lnTo>
                  <a:pt x="57340" y="51184"/>
                </a:lnTo>
                <a:cubicBezTo>
                  <a:pt x="52590" y="46434"/>
                  <a:pt x="52590" y="38721"/>
                  <a:pt x="57340" y="33971"/>
                </a:cubicBezTo>
                <a:lnTo>
                  <a:pt x="100924" y="-9652"/>
                </a:lnTo>
                <a:cubicBezTo>
                  <a:pt x="105674" y="-14401"/>
                  <a:pt x="113388" y="-14401"/>
                  <a:pt x="118138" y="-9652"/>
                </a:cubicBezTo>
                <a:lnTo>
                  <a:pt x="125244" y="-2508"/>
                </a:lnTo>
                <a:cubicBezTo>
                  <a:pt x="129993" y="2242"/>
                  <a:pt x="129993" y="9956"/>
                  <a:pt x="125244" y="14705"/>
                </a:cubicBezTo>
                <a:lnTo>
                  <a:pt x="81659" y="58290"/>
                </a:lnTo>
                <a:cubicBezTo>
                  <a:pt x="76909" y="63040"/>
                  <a:pt x="69196" y="63040"/>
                  <a:pt x="64446" y="58290"/>
                </a:cubicBezTo>
                <a:close/>
                <a:moveTo>
                  <a:pt x="104876" y="80443"/>
                </a:moveTo>
                <a:lnTo>
                  <a:pt x="92945" y="68512"/>
                </a:lnTo>
                <a:lnTo>
                  <a:pt x="135503" y="25953"/>
                </a:lnTo>
                <a:lnTo>
                  <a:pt x="180874" y="71324"/>
                </a:lnTo>
                <a:lnTo>
                  <a:pt x="138315" y="113882"/>
                </a:lnTo>
                <a:lnTo>
                  <a:pt x="126384" y="101950"/>
                </a:lnTo>
                <a:lnTo>
                  <a:pt x="38227" y="190107"/>
                </a:lnTo>
                <a:cubicBezTo>
                  <a:pt x="32299" y="196035"/>
                  <a:pt x="22685" y="196035"/>
                  <a:pt x="16719" y="190107"/>
                </a:cubicBezTo>
                <a:cubicBezTo>
                  <a:pt x="10754" y="184180"/>
                  <a:pt x="10792" y="174566"/>
                  <a:pt x="16719" y="168600"/>
                </a:cubicBezTo>
                <a:lnTo>
                  <a:pt x="104876" y="80443"/>
                </a:lnTo>
                <a:close/>
                <a:moveTo>
                  <a:pt x="148537" y="142343"/>
                </a:moveTo>
                <a:cubicBezTo>
                  <a:pt x="143787" y="137593"/>
                  <a:pt x="143787" y="129879"/>
                  <a:pt x="148537" y="125130"/>
                </a:cubicBezTo>
                <a:lnTo>
                  <a:pt x="192121" y="81545"/>
                </a:lnTo>
                <a:cubicBezTo>
                  <a:pt x="196871" y="76795"/>
                  <a:pt x="204585" y="76795"/>
                  <a:pt x="209335" y="81545"/>
                </a:cubicBezTo>
                <a:lnTo>
                  <a:pt x="216440" y="88651"/>
                </a:lnTo>
                <a:cubicBezTo>
                  <a:pt x="221190" y="93401"/>
                  <a:pt x="221190" y="101114"/>
                  <a:pt x="216440" y="105864"/>
                </a:cubicBezTo>
                <a:lnTo>
                  <a:pt x="172856" y="149487"/>
                </a:lnTo>
                <a:cubicBezTo>
                  <a:pt x="168106" y="154237"/>
                  <a:pt x="160392" y="154237"/>
                  <a:pt x="155643" y="149487"/>
                </a:cubicBezTo>
                <a:lnTo>
                  <a:pt x="148537" y="142381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6" name="Text 24"/>
          <p:cNvSpPr/>
          <p:nvPr/>
        </p:nvSpPr>
        <p:spPr>
          <a:xfrm>
            <a:off x="9119681" y="1905000"/>
            <a:ext cx="2707532" cy="38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64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4532" y="2358957"/>
            <a:ext cx="2577830" cy="194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1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Regulatory Pressure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8585" y="2585936"/>
            <a:ext cx="2569723" cy="1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4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 oversight requirements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8309" y="3019628"/>
            <a:ext cx="5682574" cy="3023681"/>
          </a:xfrm>
          <a:custGeom>
            <a:avLst/>
            <a:gdLst/>
            <a:ahLst/>
            <a:cxnLst/>
            <a:rect l="l" t="t" r="r" b="b"/>
            <a:pathLst>
              <a:path w="5682574" h="3023681">
                <a:moveTo>
                  <a:pt x="0" y="0"/>
                </a:moveTo>
                <a:lnTo>
                  <a:pt x="5682574" y="0"/>
                </a:lnTo>
                <a:lnTo>
                  <a:pt x="5682574" y="3023681"/>
                </a:lnTo>
                <a:lnTo>
                  <a:pt x="0" y="3023681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489" y="3185809"/>
            <a:ext cx="544748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Gap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6649" y="3574915"/>
            <a:ext cx="5338053" cy="680936"/>
          </a:xfrm>
          <a:custGeom>
            <a:avLst/>
            <a:gdLst/>
            <a:ahLst/>
            <a:cxnLst/>
            <a:rect l="l" t="t" r="r" b="b"/>
            <a:pathLst>
              <a:path w="5338053" h="680936">
                <a:moveTo>
                  <a:pt x="0" y="0"/>
                </a:moveTo>
                <a:lnTo>
                  <a:pt x="5338053" y="0"/>
                </a:lnTo>
                <a:lnTo>
                  <a:pt x="5338053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6649" y="3574915"/>
            <a:ext cx="24319" cy="680936"/>
          </a:xfrm>
          <a:custGeom>
            <a:avLst/>
            <a:gdLst/>
            <a:ahLst/>
            <a:cxnLst/>
            <a:rect l="l" t="t" r="r" b="b"/>
            <a:pathLst>
              <a:path w="24319" h="680936">
                <a:moveTo>
                  <a:pt x="0" y="0"/>
                </a:moveTo>
                <a:lnTo>
                  <a:pt x="24319" y="0"/>
                </a:lnTo>
                <a:lnTo>
                  <a:pt x="24319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3" name="Text 31"/>
          <p:cNvSpPr/>
          <p:nvPr/>
        </p:nvSpPr>
        <p:spPr>
          <a:xfrm>
            <a:off x="648511" y="3704617"/>
            <a:ext cx="5131340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Unified Layer: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Uzbekistan's banking sector currently has </a:t>
            </a:r>
            <a:pPr>
              <a:lnSpc>
                <a:spcPct val="140000"/>
              </a:lnSpc>
            </a:pPr>
            <a:r>
              <a:rPr lang="en-US" sz="1021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unified pre-authorization infrastructure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Each bank builds or buys fragmented solutions.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6649" y="4385553"/>
            <a:ext cx="5338053" cy="680936"/>
          </a:xfrm>
          <a:custGeom>
            <a:avLst/>
            <a:gdLst/>
            <a:ahLst/>
            <a:cxnLst/>
            <a:rect l="l" t="t" r="r" b="b"/>
            <a:pathLst>
              <a:path w="5338053" h="680936">
                <a:moveTo>
                  <a:pt x="0" y="0"/>
                </a:moveTo>
                <a:lnTo>
                  <a:pt x="5338053" y="0"/>
                </a:lnTo>
                <a:lnTo>
                  <a:pt x="5338053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06649" y="4385553"/>
            <a:ext cx="24319" cy="680936"/>
          </a:xfrm>
          <a:custGeom>
            <a:avLst/>
            <a:gdLst/>
            <a:ahLst/>
            <a:cxnLst/>
            <a:rect l="l" t="t" r="r" b="b"/>
            <a:pathLst>
              <a:path w="24319" h="680936">
                <a:moveTo>
                  <a:pt x="0" y="0"/>
                </a:moveTo>
                <a:lnTo>
                  <a:pt x="24319" y="0"/>
                </a:lnTo>
                <a:lnTo>
                  <a:pt x="24319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6" name="Text 34"/>
          <p:cNvSpPr/>
          <p:nvPr/>
        </p:nvSpPr>
        <p:spPr>
          <a:xfrm>
            <a:off x="648511" y="4515255"/>
            <a:ext cx="5131340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Inconsistent Risk: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standardized risk engines, regulatory compliance varies across institutions, creating systemic blind spots.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6649" y="5196191"/>
            <a:ext cx="5338053" cy="680936"/>
          </a:xfrm>
          <a:custGeom>
            <a:avLst/>
            <a:gdLst/>
            <a:ahLst/>
            <a:cxnLst/>
            <a:rect l="l" t="t" r="r" b="b"/>
            <a:pathLst>
              <a:path w="5338053" h="680936">
                <a:moveTo>
                  <a:pt x="0" y="0"/>
                </a:moveTo>
                <a:lnTo>
                  <a:pt x="5338053" y="0"/>
                </a:lnTo>
                <a:lnTo>
                  <a:pt x="5338053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6649" y="5196191"/>
            <a:ext cx="24319" cy="680936"/>
          </a:xfrm>
          <a:custGeom>
            <a:avLst/>
            <a:gdLst/>
            <a:ahLst/>
            <a:cxnLst/>
            <a:rect l="l" t="t" r="r" b="b"/>
            <a:pathLst>
              <a:path w="24319" h="680936">
                <a:moveTo>
                  <a:pt x="0" y="0"/>
                </a:moveTo>
                <a:lnTo>
                  <a:pt x="24319" y="0"/>
                </a:lnTo>
                <a:lnTo>
                  <a:pt x="24319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9" name="Text 37"/>
          <p:cNvSpPr/>
          <p:nvPr/>
        </p:nvSpPr>
        <p:spPr>
          <a:xfrm>
            <a:off x="648511" y="5325894"/>
            <a:ext cx="5131340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3A5A7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Innovation: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Banks spend resources rebuilding similar infrastructure instead of competing on customer experience.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81117" y="3019628"/>
            <a:ext cx="5682574" cy="3023681"/>
          </a:xfrm>
          <a:custGeom>
            <a:avLst/>
            <a:gdLst/>
            <a:ahLst/>
            <a:cxnLst/>
            <a:rect l="l" t="t" r="r" b="b"/>
            <a:pathLst>
              <a:path w="5682574" h="3023681">
                <a:moveTo>
                  <a:pt x="0" y="0"/>
                </a:moveTo>
                <a:lnTo>
                  <a:pt x="5682574" y="0"/>
                </a:lnTo>
                <a:lnTo>
                  <a:pt x="5682574" y="3023681"/>
                </a:lnTo>
                <a:lnTo>
                  <a:pt x="0" y="3023681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7298" y="3185809"/>
            <a:ext cx="544748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 Fills the Gap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9457" y="3574915"/>
            <a:ext cx="5338053" cy="680936"/>
          </a:xfrm>
          <a:custGeom>
            <a:avLst/>
            <a:gdLst/>
            <a:ahLst/>
            <a:cxnLst/>
            <a:rect l="l" t="t" r="r" b="b"/>
            <a:pathLst>
              <a:path w="5338053" h="680936">
                <a:moveTo>
                  <a:pt x="0" y="0"/>
                </a:moveTo>
                <a:lnTo>
                  <a:pt x="5338053" y="0"/>
                </a:lnTo>
                <a:lnTo>
                  <a:pt x="5338053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59457" y="3574915"/>
            <a:ext cx="24319" cy="680936"/>
          </a:xfrm>
          <a:custGeom>
            <a:avLst/>
            <a:gdLst/>
            <a:ahLst/>
            <a:cxnLst/>
            <a:rect l="l" t="t" r="r" b="b"/>
            <a:pathLst>
              <a:path w="24319" h="680936">
                <a:moveTo>
                  <a:pt x="0" y="0"/>
                </a:moveTo>
                <a:lnTo>
                  <a:pt x="24319" y="0"/>
                </a:lnTo>
                <a:lnTo>
                  <a:pt x="24319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4" name="Text 42"/>
          <p:cNvSpPr/>
          <p:nvPr/>
        </p:nvSpPr>
        <p:spPr>
          <a:xfrm>
            <a:off x="6501319" y="3704617"/>
            <a:ext cx="5131340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Infrastructure: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platform, multiple banks. Shared development costs, consistent regulatory compliance.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9457" y="4385553"/>
            <a:ext cx="5338053" cy="680936"/>
          </a:xfrm>
          <a:custGeom>
            <a:avLst/>
            <a:gdLst/>
            <a:ahLst/>
            <a:cxnLst/>
            <a:rect l="l" t="t" r="r" b="b"/>
            <a:pathLst>
              <a:path w="5338053" h="680936">
                <a:moveTo>
                  <a:pt x="0" y="0"/>
                </a:moveTo>
                <a:lnTo>
                  <a:pt x="5338053" y="0"/>
                </a:lnTo>
                <a:lnTo>
                  <a:pt x="5338053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59457" y="4385553"/>
            <a:ext cx="24319" cy="680936"/>
          </a:xfrm>
          <a:custGeom>
            <a:avLst/>
            <a:gdLst/>
            <a:ahLst/>
            <a:cxnLst/>
            <a:rect l="l" t="t" r="r" b="b"/>
            <a:pathLst>
              <a:path w="24319" h="680936">
                <a:moveTo>
                  <a:pt x="0" y="0"/>
                </a:moveTo>
                <a:lnTo>
                  <a:pt x="24319" y="0"/>
                </a:lnTo>
                <a:lnTo>
                  <a:pt x="24319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7" name="Text 45"/>
          <p:cNvSpPr/>
          <p:nvPr/>
        </p:nvSpPr>
        <p:spPr>
          <a:xfrm>
            <a:off x="6501319" y="4515255"/>
            <a:ext cx="5131340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Systemic Visibility: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multiple banks deploy REVENANT, regulators gain unprecedented visibility into cross-bank exposures.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9457" y="5196191"/>
            <a:ext cx="5338053" cy="680936"/>
          </a:xfrm>
          <a:custGeom>
            <a:avLst/>
            <a:gdLst/>
            <a:ahLst/>
            <a:cxnLst/>
            <a:rect l="l" t="t" r="r" b="b"/>
            <a:pathLst>
              <a:path w="5338053" h="680936">
                <a:moveTo>
                  <a:pt x="0" y="0"/>
                </a:moveTo>
                <a:lnTo>
                  <a:pt x="5338053" y="0"/>
                </a:lnTo>
                <a:lnTo>
                  <a:pt x="5338053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359457" y="5196191"/>
            <a:ext cx="24319" cy="680936"/>
          </a:xfrm>
          <a:custGeom>
            <a:avLst/>
            <a:gdLst/>
            <a:ahLst/>
            <a:cxnLst/>
            <a:rect l="l" t="t" r="r" b="b"/>
            <a:pathLst>
              <a:path w="24319" h="680936">
                <a:moveTo>
                  <a:pt x="0" y="0"/>
                </a:moveTo>
                <a:lnTo>
                  <a:pt x="24319" y="0"/>
                </a:lnTo>
                <a:lnTo>
                  <a:pt x="24319" y="680936"/>
                </a:lnTo>
                <a:lnTo>
                  <a:pt x="0" y="68093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0" name="Text 48"/>
          <p:cNvSpPr/>
          <p:nvPr/>
        </p:nvSpPr>
        <p:spPr>
          <a:xfrm>
            <a:off x="6501319" y="5325894"/>
            <a:ext cx="5131340" cy="42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 Potential: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Proven in Uzbekistan, deployable across Central Asian markets with similar banking structures.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36415" y="6177064"/>
            <a:ext cx="11531330" cy="470170"/>
          </a:xfrm>
          <a:custGeom>
            <a:avLst/>
            <a:gdLst/>
            <a:ahLst/>
            <a:cxnLst/>
            <a:rect l="l" t="t" r="r" b="b"/>
            <a:pathLst>
              <a:path w="11531330" h="470170">
                <a:moveTo>
                  <a:pt x="0" y="0"/>
                </a:moveTo>
                <a:lnTo>
                  <a:pt x="11531330" y="0"/>
                </a:lnTo>
                <a:lnTo>
                  <a:pt x="11531330" y="470170"/>
                </a:lnTo>
                <a:lnTo>
                  <a:pt x="0" y="470170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36415" y="6177064"/>
            <a:ext cx="24319" cy="470170"/>
          </a:xfrm>
          <a:custGeom>
            <a:avLst/>
            <a:gdLst/>
            <a:ahLst/>
            <a:cxnLst/>
            <a:rect l="l" t="t" r="r" b="b"/>
            <a:pathLst>
              <a:path w="24319" h="470170">
                <a:moveTo>
                  <a:pt x="0" y="0"/>
                </a:moveTo>
                <a:lnTo>
                  <a:pt x="24319" y="0"/>
                </a:lnTo>
                <a:lnTo>
                  <a:pt x="24319" y="470170"/>
                </a:lnTo>
                <a:lnTo>
                  <a:pt x="0" y="47017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3" name="Shape 51"/>
          <p:cNvSpPr/>
          <p:nvPr/>
        </p:nvSpPr>
        <p:spPr>
          <a:xfrm>
            <a:off x="494489" y="6347298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113489" y="64851"/>
                </a:moveTo>
                <a:cubicBezTo>
                  <a:pt x="113489" y="38007"/>
                  <a:pt x="91695" y="16213"/>
                  <a:pt x="64851" y="16213"/>
                </a:cubicBezTo>
                <a:cubicBezTo>
                  <a:pt x="38007" y="16213"/>
                  <a:pt x="16213" y="38007"/>
                  <a:pt x="16213" y="64851"/>
                </a:cubicBezTo>
                <a:cubicBezTo>
                  <a:pt x="16213" y="91695"/>
                  <a:pt x="38007" y="113489"/>
                  <a:pt x="64851" y="113489"/>
                </a:cubicBezTo>
                <a:cubicBezTo>
                  <a:pt x="91695" y="113489"/>
                  <a:pt x="113489" y="91695"/>
                  <a:pt x="113489" y="64851"/>
                </a:cubicBezTo>
                <a:close/>
                <a:moveTo>
                  <a:pt x="0" y="64851"/>
                </a:moveTo>
                <a:cubicBezTo>
                  <a:pt x="0" y="29059"/>
                  <a:pt x="29059" y="0"/>
                  <a:pt x="64851" y="0"/>
                </a:cubicBezTo>
                <a:cubicBezTo>
                  <a:pt x="100643" y="0"/>
                  <a:pt x="129702" y="29059"/>
                  <a:pt x="129702" y="64851"/>
                </a:cubicBezTo>
                <a:cubicBezTo>
                  <a:pt x="129702" y="100643"/>
                  <a:pt x="100643" y="129702"/>
                  <a:pt x="64851" y="129702"/>
                </a:cubicBezTo>
                <a:cubicBezTo>
                  <a:pt x="29059" y="129702"/>
                  <a:pt x="0" y="100643"/>
                  <a:pt x="0" y="64851"/>
                </a:cubicBezTo>
                <a:close/>
                <a:moveTo>
                  <a:pt x="64851" y="85117"/>
                </a:moveTo>
                <a:cubicBezTo>
                  <a:pt x="76036" y="85117"/>
                  <a:pt x="85117" y="76036"/>
                  <a:pt x="85117" y="64851"/>
                </a:cubicBezTo>
                <a:cubicBezTo>
                  <a:pt x="85117" y="53666"/>
                  <a:pt x="76036" y="44585"/>
                  <a:pt x="64851" y="44585"/>
                </a:cubicBezTo>
                <a:cubicBezTo>
                  <a:pt x="53666" y="44585"/>
                  <a:pt x="44585" y="53666"/>
                  <a:pt x="44585" y="64851"/>
                </a:cubicBezTo>
                <a:cubicBezTo>
                  <a:pt x="44585" y="76036"/>
                  <a:pt x="53666" y="85117"/>
                  <a:pt x="64851" y="85117"/>
                </a:cubicBezTo>
                <a:close/>
                <a:moveTo>
                  <a:pt x="64851" y="28372"/>
                </a:moveTo>
                <a:cubicBezTo>
                  <a:pt x="84984" y="28372"/>
                  <a:pt x="101330" y="44718"/>
                  <a:pt x="101330" y="64851"/>
                </a:cubicBezTo>
                <a:cubicBezTo>
                  <a:pt x="101330" y="84984"/>
                  <a:pt x="84984" y="101330"/>
                  <a:pt x="64851" y="101330"/>
                </a:cubicBezTo>
                <a:cubicBezTo>
                  <a:pt x="44718" y="101330"/>
                  <a:pt x="28372" y="84984"/>
                  <a:pt x="28372" y="64851"/>
                </a:cubicBezTo>
                <a:cubicBezTo>
                  <a:pt x="28372" y="44718"/>
                  <a:pt x="44718" y="28372"/>
                  <a:pt x="64851" y="28372"/>
                </a:cubicBezTo>
                <a:close/>
                <a:moveTo>
                  <a:pt x="56745" y="64851"/>
                </a:moveTo>
                <a:cubicBezTo>
                  <a:pt x="56745" y="60377"/>
                  <a:pt x="60377" y="56745"/>
                  <a:pt x="64851" y="56745"/>
                </a:cubicBezTo>
                <a:cubicBezTo>
                  <a:pt x="69325" y="56745"/>
                  <a:pt x="72957" y="60377"/>
                  <a:pt x="72957" y="64851"/>
                </a:cubicBezTo>
                <a:cubicBezTo>
                  <a:pt x="72957" y="69325"/>
                  <a:pt x="69325" y="72957"/>
                  <a:pt x="64851" y="72957"/>
                </a:cubicBezTo>
                <a:cubicBezTo>
                  <a:pt x="60377" y="72957"/>
                  <a:pt x="56745" y="69325"/>
                  <a:pt x="56745" y="6485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4" name="Text 52"/>
          <p:cNvSpPr/>
          <p:nvPr/>
        </p:nvSpPr>
        <p:spPr>
          <a:xfrm>
            <a:off x="681799" y="6306766"/>
            <a:ext cx="11121095" cy="21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1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</a:t>
            </a:r>
            <a:pPr>
              <a:lnSpc>
                <a:spcPct val="140000"/>
              </a:lnSpc>
            </a:pPr>
            <a:r>
              <a:rPr lang="en-US" sz="102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 50%+ of Uzbekistan's commercial banks within 3 years. Expand to regional markets (Kazakhstan, Kyrgyzstan, Tajikistan) by Year 5.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59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spc="191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588818"/>
            <a:ext cx="11655136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Positioning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1039091"/>
            <a:ext cx="831273" cy="17318"/>
          </a:xfrm>
          <a:custGeom>
            <a:avLst/>
            <a:gdLst/>
            <a:ahLst/>
            <a:cxnLst/>
            <a:rect l="l" t="t" r="r" b="b"/>
            <a:pathLst>
              <a:path w="831273" h="17318">
                <a:moveTo>
                  <a:pt x="0" y="0"/>
                </a:moveTo>
                <a:lnTo>
                  <a:pt x="831273" y="0"/>
                </a:lnTo>
                <a:lnTo>
                  <a:pt x="831273" y="17318"/>
                </a:lnTo>
                <a:lnTo>
                  <a:pt x="0" y="17318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50693" y="1233920"/>
            <a:ext cx="11490614" cy="510886"/>
          </a:xfrm>
          <a:custGeom>
            <a:avLst/>
            <a:gdLst/>
            <a:ahLst/>
            <a:cxnLst/>
            <a:rect l="l" t="t" r="r" b="b"/>
            <a:pathLst>
              <a:path w="11490614" h="510886">
                <a:moveTo>
                  <a:pt x="0" y="0"/>
                </a:moveTo>
                <a:lnTo>
                  <a:pt x="11490614" y="0"/>
                </a:lnTo>
                <a:lnTo>
                  <a:pt x="11490614" y="510886"/>
                </a:lnTo>
                <a:lnTo>
                  <a:pt x="0" y="510886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14902"/>
            </a:srgbClr>
          </a:solidFill>
          <a:ln w="12700">
            <a:solidFill>
              <a:srgbClr val="3A5A78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568" y="1376795"/>
            <a:ext cx="11274136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Differentiation: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REVENANT occupies a unique position—</a:t>
            </a:r>
            <a:pPr>
              <a:lnSpc>
                <a:spcPct val="140000"/>
              </a:lnSpc>
            </a:pPr>
            <a:r>
              <a:rPr lang="en-US" sz="1091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purpose-built banking infrastructure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region, neither cloud-dependent nor legacy-bound.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0693" y="1892011"/>
            <a:ext cx="3732068" cy="3385705"/>
          </a:xfrm>
          <a:custGeom>
            <a:avLst/>
            <a:gdLst/>
            <a:ahLst/>
            <a:cxnLst/>
            <a:rect l="l" t="t" r="r" b="b"/>
            <a:pathLst>
              <a:path w="3732068" h="3385705">
                <a:moveTo>
                  <a:pt x="0" y="0"/>
                </a:moveTo>
                <a:lnTo>
                  <a:pt x="3732068" y="0"/>
                </a:lnTo>
                <a:lnTo>
                  <a:pt x="3732068" y="3385705"/>
                </a:lnTo>
                <a:lnTo>
                  <a:pt x="0" y="338570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568" y="2034886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0" y="0"/>
                </a:moveTo>
                <a:lnTo>
                  <a:pt x="415636" y="0"/>
                </a:lnTo>
                <a:lnTo>
                  <a:pt x="415636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9" name="Shape 7"/>
          <p:cNvSpPr/>
          <p:nvPr/>
        </p:nvSpPr>
        <p:spPr>
          <a:xfrm>
            <a:off x="603972" y="2156114"/>
            <a:ext cx="194830" cy="173182"/>
          </a:xfrm>
          <a:custGeom>
            <a:avLst/>
            <a:gdLst/>
            <a:ahLst/>
            <a:cxnLst/>
            <a:rect l="l" t="t" r="r" b="b"/>
            <a:pathLst>
              <a:path w="194830" h="173182">
                <a:moveTo>
                  <a:pt x="0" y="113651"/>
                </a:moveTo>
                <a:cubicBezTo>
                  <a:pt x="0" y="140541"/>
                  <a:pt x="21817" y="162358"/>
                  <a:pt x="48707" y="162358"/>
                </a:cubicBezTo>
                <a:lnTo>
                  <a:pt x="151534" y="162358"/>
                </a:lnTo>
                <a:cubicBezTo>
                  <a:pt x="175448" y="162358"/>
                  <a:pt x="194830" y="142976"/>
                  <a:pt x="194830" y="119063"/>
                </a:cubicBezTo>
                <a:cubicBezTo>
                  <a:pt x="194830" y="101609"/>
                  <a:pt x="184513" y="86557"/>
                  <a:pt x="169630" y="79725"/>
                </a:cubicBezTo>
                <a:cubicBezTo>
                  <a:pt x="171896" y="75294"/>
                  <a:pt x="173182" y="70254"/>
                  <a:pt x="173182" y="64943"/>
                </a:cubicBezTo>
                <a:cubicBezTo>
                  <a:pt x="173182" y="47016"/>
                  <a:pt x="158637" y="32472"/>
                  <a:pt x="140710" y="32472"/>
                </a:cubicBezTo>
                <a:cubicBezTo>
                  <a:pt x="134723" y="32472"/>
                  <a:pt x="129142" y="34095"/>
                  <a:pt x="124339" y="36903"/>
                </a:cubicBezTo>
                <a:cubicBezTo>
                  <a:pt x="116187" y="21411"/>
                  <a:pt x="99918" y="10824"/>
                  <a:pt x="81179" y="10824"/>
                </a:cubicBezTo>
                <a:cubicBezTo>
                  <a:pt x="54288" y="10824"/>
                  <a:pt x="32472" y="32641"/>
                  <a:pt x="32472" y="59531"/>
                </a:cubicBezTo>
                <a:cubicBezTo>
                  <a:pt x="32472" y="62237"/>
                  <a:pt x="32708" y="64909"/>
                  <a:pt x="33114" y="67480"/>
                </a:cubicBezTo>
                <a:cubicBezTo>
                  <a:pt x="13868" y="73974"/>
                  <a:pt x="0" y="92206"/>
                  <a:pt x="0" y="11365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0" name="Text 8"/>
          <p:cNvSpPr/>
          <p:nvPr/>
        </p:nvSpPr>
        <p:spPr>
          <a:xfrm>
            <a:off x="1013114" y="2121477"/>
            <a:ext cx="1740477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Cloud Vendors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557" y="2554432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6557" y="2554432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091" y="2692977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843868" y="2658341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Cloud-Dependent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3455" y="2900795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cloud connectivity, creating data residency concerns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557" y="3240665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06557" y="3240665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091" y="3379210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9" name="Text 17"/>
          <p:cNvSpPr/>
          <p:nvPr/>
        </p:nvSpPr>
        <p:spPr>
          <a:xfrm>
            <a:off x="843868" y="3344574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Residency Issues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3455" y="3587028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Cross-border data flows conflict with national regulations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6557" y="3926898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6557" y="3926898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091" y="4065443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4" name="Text 22"/>
          <p:cNvSpPr/>
          <p:nvPr/>
        </p:nvSpPr>
        <p:spPr>
          <a:xfrm>
            <a:off x="843868" y="4030807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 Solutions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3455" y="4273261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purpose-built for banking pre-authorization workflows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7898" y="4810125"/>
            <a:ext cx="3437659" cy="320386"/>
          </a:xfrm>
          <a:custGeom>
            <a:avLst/>
            <a:gdLst/>
            <a:ahLst/>
            <a:cxnLst/>
            <a:rect l="l" t="t" r="r" b="b"/>
            <a:pathLst>
              <a:path w="3437659" h="320386">
                <a:moveTo>
                  <a:pt x="0" y="0"/>
                </a:moveTo>
                <a:lnTo>
                  <a:pt x="3437659" y="0"/>
                </a:lnTo>
                <a:lnTo>
                  <a:pt x="3437659" y="320386"/>
                </a:lnTo>
                <a:lnTo>
                  <a:pt x="0" y="320386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136" y="4883727"/>
            <a:ext cx="328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Azure, GCP risk tools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29966" y="1892011"/>
            <a:ext cx="3732068" cy="3385705"/>
          </a:xfrm>
          <a:custGeom>
            <a:avLst/>
            <a:gdLst/>
            <a:ahLst/>
            <a:cxnLst/>
            <a:rect l="l" t="t" r="r" b="b"/>
            <a:pathLst>
              <a:path w="3732068" h="3385705">
                <a:moveTo>
                  <a:pt x="0" y="0"/>
                </a:moveTo>
                <a:lnTo>
                  <a:pt x="3732068" y="0"/>
                </a:lnTo>
                <a:lnTo>
                  <a:pt x="3732068" y="3385705"/>
                </a:lnTo>
                <a:lnTo>
                  <a:pt x="0" y="338570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72841" y="2034886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0" y="0"/>
                </a:moveTo>
                <a:lnTo>
                  <a:pt x="415636" y="0"/>
                </a:lnTo>
                <a:lnTo>
                  <a:pt x="415636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04892" y="2156114"/>
            <a:ext cx="151534" cy="173182"/>
          </a:xfrm>
          <a:custGeom>
            <a:avLst/>
            <a:gdLst/>
            <a:ahLst/>
            <a:cxnLst/>
            <a:rect l="l" t="t" r="r" b="b"/>
            <a:pathLst>
              <a:path w="151534" h="173182">
                <a:moveTo>
                  <a:pt x="21648" y="10824"/>
                </a:moveTo>
                <a:cubicBezTo>
                  <a:pt x="9708" y="10824"/>
                  <a:pt x="0" y="20532"/>
                  <a:pt x="0" y="32472"/>
                </a:cubicBezTo>
                <a:lnTo>
                  <a:pt x="0" y="54119"/>
                </a:lnTo>
                <a:cubicBezTo>
                  <a:pt x="0" y="66059"/>
                  <a:pt x="9708" y="75767"/>
                  <a:pt x="21648" y="75767"/>
                </a:cubicBezTo>
                <a:lnTo>
                  <a:pt x="129886" y="75767"/>
                </a:lnTo>
                <a:cubicBezTo>
                  <a:pt x="141826" y="75767"/>
                  <a:pt x="151534" y="66059"/>
                  <a:pt x="151534" y="54119"/>
                </a:cubicBezTo>
                <a:lnTo>
                  <a:pt x="151534" y="32472"/>
                </a:lnTo>
                <a:cubicBezTo>
                  <a:pt x="151534" y="20532"/>
                  <a:pt x="141826" y="10824"/>
                  <a:pt x="129886" y="10824"/>
                </a:cubicBezTo>
                <a:lnTo>
                  <a:pt x="21648" y="10824"/>
                </a:lnTo>
                <a:close/>
                <a:moveTo>
                  <a:pt x="94709" y="35178"/>
                </a:moveTo>
                <a:cubicBezTo>
                  <a:pt x="99189" y="35178"/>
                  <a:pt x="102827" y="38815"/>
                  <a:pt x="102827" y="43295"/>
                </a:cubicBezTo>
                <a:cubicBezTo>
                  <a:pt x="102827" y="47776"/>
                  <a:pt x="99189" y="51413"/>
                  <a:pt x="94709" y="51413"/>
                </a:cubicBezTo>
                <a:cubicBezTo>
                  <a:pt x="90228" y="51413"/>
                  <a:pt x="86591" y="47776"/>
                  <a:pt x="86591" y="43295"/>
                </a:cubicBezTo>
                <a:cubicBezTo>
                  <a:pt x="86591" y="38815"/>
                  <a:pt x="90228" y="35178"/>
                  <a:pt x="94709" y="35178"/>
                </a:cubicBezTo>
                <a:close/>
                <a:moveTo>
                  <a:pt x="113651" y="43295"/>
                </a:moveTo>
                <a:cubicBezTo>
                  <a:pt x="113651" y="38815"/>
                  <a:pt x="117288" y="35178"/>
                  <a:pt x="121768" y="35178"/>
                </a:cubicBezTo>
                <a:cubicBezTo>
                  <a:pt x="126249" y="35178"/>
                  <a:pt x="129886" y="38815"/>
                  <a:pt x="129886" y="43295"/>
                </a:cubicBezTo>
                <a:cubicBezTo>
                  <a:pt x="129886" y="47776"/>
                  <a:pt x="126249" y="51413"/>
                  <a:pt x="121768" y="51413"/>
                </a:cubicBezTo>
                <a:cubicBezTo>
                  <a:pt x="117288" y="51413"/>
                  <a:pt x="113651" y="47776"/>
                  <a:pt x="113651" y="43295"/>
                </a:cubicBezTo>
                <a:close/>
                <a:moveTo>
                  <a:pt x="21648" y="97415"/>
                </a:moveTo>
                <a:cubicBezTo>
                  <a:pt x="9708" y="97415"/>
                  <a:pt x="0" y="107122"/>
                  <a:pt x="0" y="119063"/>
                </a:cubicBezTo>
                <a:lnTo>
                  <a:pt x="0" y="140710"/>
                </a:lnTo>
                <a:cubicBezTo>
                  <a:pt x="0" y="152650"/>
                  <a:pt x="9708" y="162358"/>
                  <a:pt x="21648" y="162358"/>
                </a:cubicBezTo>
                <a:lnTo>
                  <a:pt x="129886" y="162358"/>
                </a:lnTo>
                <a:cubicBezTo>
                  <a:pt x="141826" y="162358"/>
                  <a:pt x="151534" y="152650"/>
                  <a:pt x="151534" y="140710"/>
                </a:cubicBezTo>
                <a:lnTo>
                  <a:pt x="151534" y="119063"/>
                </a:lnTo>
                <a:cubicBezTo>
                  <a:pt x="151534" y="107122"/>
                  <a:pt x="141826" y="97415"/>
                  <a:pt x="129886" y="97415"/>
                </a:cubicBezTo>
                <a:lnTo>
                  <a:pt x="21648" y="97415"/>
                </a:lnTo>
                <a:close/>
                <a:moveTo>
                  <a:pt x="94709" y="121768"/>
                </a:moveTo>
                <a:cubicBezTo>
                  <a:pt x="99189" y="121768"/>
                  <a:pt x="102827" y="125406"/>
                  <a:pt x="102827" y="129886"/>
                </a:cubicBezTo>
                <a:cubicBezTo>
                  <a:pt x="102827" y="134367"/>
                  <a:pt x="99189" y="138004"/>
                  <a:pt x="94709" y="138004"/>
                </a:cubicBezTo>
                <a:cubicBezTo>
                  <a:pt x="90228" y="138004"/>
                  <a:pt x="86591" y="134367"/>
                  <a:pt x="86591" y="129886"/>
                </a:cubicBezTo>
                <a:cubicBezTo>
                  <a:pt x="86591" y="125406"/>
                  <a:pt x="90228" y="121768"/>
                  <a:pt x="94709" y="121768"/>
                </a:cubicBezTo>
                <a:close/>
                <a:moveTo>
                  <a:pt x="113651" y="129886"/>
                </a:moveTo>
                <a:cubicBezTo>
                  <a:pt x="113651" y="125406"/>
                  <a:pt x="117288" y="121768"/>
                  <a:pt x="121768" y="121768"/>
                </a:cubicBezTo>
                <a:cubicBezTo>
                  <a:pt x="126249" y="121768"/>
                  <a:pt x="129886" y="125406"/>
                  <a:pt x="129886" y="129886"/>
                </a:cubicBezTo>
                <a:cubicBezTo>
                  <a:pt x="129886" y="134367"/>
                  <a:pt x="126249" y="138004"/>
                  <a:pt x="121768" y="138004"/>
                </a:cubicBezTo>
                <a:cubicBezTo>
                  <a:pt x="117288" y="138004"/>
                  <a:pt x="113651" y="134367"/>
                  <a:pt x="113651" y="129886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386" y="2121477"/>
            <a:ext cx="1783773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Banking Vendors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5830" y="2554432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85830" y="2554432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4" name="Shape 32"/>
          <p:cNvSpPr/>
          <p:nvPr/>
        </p:nvSpPr>
        <p:spPr>
          <a:xfrm>
            <a:off x="4537364" y="2692977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35" name="Text 33"/>
          <p:cNvSpPr/>
          <p:nvPr/>
        </p:nvSpPr>
        <p:spPr>
          <a:xfrm>
            <a:off x="4723140" y="2658341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Innovation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02727" y="2900795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Legacy vendors have 12-24 month release cycles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5830" y="3240665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85830" y="3240665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9" name="Shape 37"/>
          <p:cNvSpPr/>
          <p:nvPr/>
        </p:nvSpPr>
        <p:spPr>
          <a:xfrm>
            <a:off x="4537364" y="3379210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0" name="Text 38"/>
          <p:cNvSpPr/>
          <p:nvPr/>
        </p:nvSpPr>
        <p:spPr>
          <a:xfrm>
            <a:off x="4723140" y="3344574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Monolithic Architecture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02727" y="3587028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Can't decouple risk layer from core banking systems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85830" y="3926898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85830" y="3926898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4" name="Shape 42"/>
          <p:cNvSpPr/>
          <p:nvPr/>
        </p:nvSpPr>
        <p:spPr>
          <a:xfrm>
            <a:off x="4537364" y="4065443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45" name="Text 43"/>
          <p:cNvSpPr/>
          <p:nvPr/>
        </p:nvSpPr>
        <p:spPr>
          <a:xfrm>
            <a:off x="4723140" y="4030807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Cost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02727" y="4273261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Expensive upgrades, vendor lock-in, customization fees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77170" y="4810125"/>
            <a:ext cx="3437659" cy="320386"/>
          </a:xfrm>
          <a:custGeom>
            <a:avLst/>
            <a:gdLst/>
            <a:ahLst/>
            <a:cxnLst/>
            <a:rect l="l" t="t" r="r" b="b"/>
            <a:pathLst>
              <a:path w="3437659" h="320386">
                <a:moveTo>
                  <a:pt x="0" y="0"/>
                </a:moveTo>
                <a:lnTo>
                  <a:pt x="3437659" y="0"/>
                </a:lnTo>
                <a:lnTo>
                  <a:pt x="3437659" y="320386"/>
                </a:lnTo>
                <a:lnTo>
                  <a:pt x="0" y="320386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5409" y="4883727"/>
            <a:ext cx="328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Temenos, Finacle, Flexcube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9239" y="1892011"/>
            <a:ext cx="3732068" cy="3385705"/>
          </a:xfrm>
          <a:custGeom>
            <a:avLst/>
            <a:gdLst/>
            <a:ahLst/>
            <a:cxnLst/>
            <a:rect l="l" t="t" r="r" b="b"/>
            <a:pathLst>
              <a:path w="3732068" h="3385705">
                <a:moveTo>
                  <a:pt x="0" y="0"/>
                </a:moveTo>
                <a:lnTo>
                  <a:pt x="3732068" y="0"/>
                </a:lnTo>
                <a:lnTo>
                  <a:pt x="3732068" y="3385705"/>
                </a:lnTo>
                <a:lnTo>
                  <a:pt x="0" y="338570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52114" y="2034886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0" y="0"/>
                </a:moveTo>
                <a:lnTo>
                  <a:pt x="415636" y="0"/>
                </a:lnTo>
                <a:lnTo>
                  <a:pt x="415636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1" name="Shape 49"/>
          <p:cNvSpPr/>
          <p:nvPr/>
        </p:nvSpPr>
        <p:spPr>
          <a:xfrm>
            <a:off x="8362517" y="2156114"/>
            <a:ext cx="194830" cy="173182"/>
          </a:xfrm>
          <a:custGeom>
            <a:avLst/>
            <a:gdLst/>
            <a:ahLst/>
            <a:cxnLst/>
            <a:rect l="l" t="t" r="r" b="b"/>
            <a:pathLst>
              <a:path w="194830" h="173182">
                <a:moveTo>
                  <a:pt x="75801" y="32844"/>
                </a:moveTo>
                <a:lnTo>
                  <a:pt x="75801" y="49621"/>
                </a:lnTo>
                <a:lnTo>
                  <a:pt x="75970" y="49790"/>
                </a:lnTo>
                <a:cubicBezTo>
                  <a:pt x="78169" y="21918"/>
                  <a:pt x="101474" y="0"/>
                  <a:pt x="129920" y="0"/>
                </a:cubicBezTo>
                <a:cubicBezTo>
                  <a:pt x="136719" y="0"/>
                  <a:pt x="143247" y="1252"/>
                  <a:pt x="149234" y="3552"/>
                </a:cubicBezTo>
                <a:cubicBezTo>
                  <a:pt x="152616" y="4837"/>
                  <a:pt x="153225" y="9133"/>
                  <a:pt x="150688" y="11703"/>
                </a:cubicBezTo>
                <a:lnTo>
                  <a:pt x="120686" y="41706"/>
                </a:lnTo>
                <a:cubicBezTo>
                  <a:pt x="119671" y="42720"/>
                  <a:pt x="119096" y="44107"/>
                  <a:pt x="119096" y="45528"/>
                </a:cubicBezTo>
                <a:lnTo>
                  <a:pt x="119096" y="59531"/>
                </a:lnTo>
                <a:cubicBezTo>
                  <a:pt x="119096" y="62508"/>
                  <a:pt x="121532" y="64943"/>
                  <a:pt x="124508" y="64943"/>
                </a:cubicBezTo>
                <a:lnTo>
                  <a:pt x="138512" y="64943"/>
                </a:lnTo>
                <a:cubicBezTo>
                  <a:pt x="139932" y="64943"/>
                  <a:pt x="141319" y="64368"/>
                  <a:pt x="142334" y="63353"/>
                </a:cubicBezTo>
                <a:lnTo>
                  <a:pt x="172336" y="33351"/>
                </a:lnTo>
                <a:cubicBezTo>
                  <a:pt x="174907" y="30780"/>
                  <a:pt x="179203" y="31423"/>
                  <a:pt x="180488" y="34805"/>
                </a:cubicBezTo>
                <a:cubicBezTo>
                  <a:pt x="182788" y="40792"/>
                  <a:pt x="184040" y="47321"/>
                  <a:pt x="184040" y="54119"/>
                </a:cubicBezTo>
                <a:cubicBezTo>
                  <a:pt x="184040" y="74617"/>
                  <a:pt x="172641" y="92476"/>
                  <a:pt x="155796" y="101643"/>
                </a:cubicBezTo>
                <a:lnTo>
                  <a:pt x="183363" y="129210"/>
                </a:lnTo>
                <a:cubicBezTo>
                  <a:pt x="189688" y="135535"/>
                  <a:pt x="189688" y="145818"/>
                  <a:pt x="183363" y="152177"/>
                </a:cubicBezTo>
                <a:lnTo>
                  <a:pt x="163034" y="172505"/>
                </a:lnTo>
                <a:cubicBezTo>
                  <a:pt x="156709" y="178831"/>
                  <a:pt x="146427" y="178831"/>
                  <a:pt x="140068" y="172505"/>
                </a:cubicBezTo>
                <a:lnTo>
                  <a:pt x="97449" y="129886"/>
                </a:lnTo>
                <a:cubicBezTo>
                  <a:pt x="88181" y="120618"/>
                  <a:pt x="86084" y="106919"/>
                  <a:pt x="91191" y="95622"/>
                </a:cubicBezTo>
                <a:lnTo>
                  <a:pt x="60512" y="64943"/>
                </a:lnTo>
                <a:lnTo>
                  <a:pt x="43735" y="64943"/>
                </a:lnTo>
                <a:cubicBezTo>
                  <a:pt x="40116" y="64943"/>
                  <a:pt x="36733" y="63150"/>
                  <a:pt x="34738" y="60140"/>
                </a:cubicBezTo>
                <a:lnTo>
                  <a:pt x="7915" y="19923"/>
                </a:lnTo>
                <a:cubicBezTo>
                  <a:pt x="6494" y="17792"/>
                  <a:pt x="6765" y="14917"/>
                  <a:pt x="8591" y="13090"/>
                </a:cubicBezTo>
                <a:lnTo>
                  <a:pt x="23948" y="-2266"/>
                </a:lnTo>
                <a:cubicBezTo>
                  <a:pt x="25774" y="-4093"/>
                  <a:pt x="28616" y="-4363"/>
                  <a:pt x="30780" y="-2943"/>
                </a:cubicBezTo>
                <a:lnTo>
                  <a:pt x="70998" y="23846"/>
                </a:lnTo>
                <a:cubicBezTo>
                  <a:pt x="74008" y="25842"/>
                  <a:pt x="75801" y="29224"/>
                  <a:pt x="75801" y="32844"/>
                </a:cubicBezTo>
                <a:close/>
                <a:moveTo>
                  <a:pt x="72926" y="100324"/>
                </a:moveTo>
                <a:cubicBezTo>
                  <a:pt x="70795" y="112839"/>
                  <a:pt x="73738" y="126064"/>
                  <a:pt x="81855" y="136651"/>
                </a:cubicBezTo>
                <a:lnTo>
                  <a:pt x="49722" y="168751"/>
                </a:lnTo>
                <a:cubicBezTo>
                  <a:pt x="40217" y="178256"/>
                  <a:pt x="24793" y="178256"/>
                  <a:pt x="15289" y="168751"/>
                </a:cubicBezTo>
                <a:cubicBezTo>
                  <a:pt x="5784" y="159246"/>
                  <a:pt x="5784" y="143822"/>
                  <a:pt x="15289" y="134317"/>
                </a:cubicBezTo>
                <a:lnTo>
                  <a:pt x="61087" y="88519"/>
                </a:lnTo>
                <a:lnTo>
                  <a:pt x="72926" y="10035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8771659" y="2121477"/>
            <a:ext cx="1376795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Integrators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5102" y="2554432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5102" y="2554432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5" name="Shape 53"/>
          <p:cNvSpPr/>
          <p:nvPr/>
        </p:nvSpPr>
        <p:spPr>
          <a:xfrm>
            <a:off x="8416636" y="2692977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56" name="Text 54"/>
          <p:cNvSpPr/>
          <p:nvPr/>
        </p:nvSpPr>
        <p:spPr>
          <a:xfrm>
            <a:off x="8602413" y="2658341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Project-Based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82000" y="2900795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custom solutions per bank, no reusability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65102" y="3240665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5102" y="3240665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0" name="Shape 58"/>
          <p:cNvSpPr/>
          <p:nvPr/>
        </p:nvSpPr>
        <p:spPr>
          <a:xfrm>
            <a:off x="8416636" y="3379210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1" name="Text 59"/>
          <p:cNvSpPr/>
          <p:nvPr/>
        </p:nvSpPr>
        <p:spPr>
          <a:xfrm>
            <a:off x="8602413" y="3344574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Platform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82000" y="3587028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standardized product, each deployment from scratch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65102" y="3926898"/>
            <a:ext cx="3433330" cy="614795"/>
          </a:xfrm>
          <a:custGeom>
            <a:avLst/>
            <a:gdLst/>
            <a:ahLst/>
            <a:cxnLst/>
            <a:rect l="l" t="t" r="r" b="b"/>
            <a:pathLst>
              <a:path w="3433330" h="614795">
                <a:moveTo>
                  <a:pt x="0" y="0"/>
                </a:moveTo>
                <a:lnTo>
                  <a:pt x="3433330" y="0"/>
                </a:lnTo>
                <a:lnTo>
                  <a:pt x="3433330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2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5102" y="3926898"/>
            <a:ext cx="25977" cy="614795"/>
          </a:xfrm>
          <a:custGeom>
            <a:avLst/>
            <a:gdLst/>
            <a:ahLst/>
            <a:cxnLst/>
            <a:rect l="l" t="t" r="r" b="b"/>
            <a:pathLst>
              <a:path w="25977" h="614795">
                <a:moveTo>
                  <a:pt x="0" y="0"/>
                </a:moveTo>
                <a:lnTo>
                  <a:pt x="25977" y="0"/>
                </a:lnTo>
                <a:lnTo>
                  <a:pt x="25977" y="614795"/>
                </a:lnTo>
                <a:lnTo>
                  <a:pt x="0" y="614795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5" name="Shape 63"/>
          <p:cNvSpPr/>
          <p:nvPr/>
        </p:nvSpPr>
        <p:spPr>
          <a:xfrm>
            <a:off x="8416636" y="4065443"/>
            <a:ext cx="103909" cy="138545"/>
          </a:xfrm>
          <a:custGeom>
            <a:avLst/>
            <a:gdLst/>
            <a:ahLst/>
            <a:cxnLst/>
            <a:rect l="l" t="t" r="r" b="b"/>
            <a:pathLst>
              <a:path w="103909" h="138545">
                <a:moveTo>
                  <a:pt x="14910" y="19862"/>
                </a:moveTo>
                <a:cubicBezTo>
                  <a:pt x="11527" y="16479"/>
                  <a:pt x="6034" y="16479"/>
                  <a:pt x="2652" y="19862"/>
                </a:cubicBezTo>
                <a:cubicBezTo>
                  <a:pt x="-731" y="23244"/>
                  <a:pt x="-731" y="28737"/>
                  <a:pt x="2652" y="32120"/>
                </a:cubicBezTo>
                <a:lnTo>
                  <a:pt x="39832" y="69273"/>
                </a:lnTo>
                <a:lnTo>
                  <a:pt x="2679" y="106453"/>
                </a:lnTo>
                <a:cubicBezTo>
                  <a:pt x="-704" y="109835"/>
                  <a:pt x="-704" y="115328"/>
                  <a:pt x="2679" y="118711"/>
                </a:cubicBezTo>
                <a:cubicBezTo>
                  <a:pt x="6061" y="122093"/>
                  <a:pt x="11554" y="122093"/>
                  <a:pt x="14937" y="118711"/>
                </a:cubicBezTo>
                <a:lnTo>
                  <a:pt x="52090" y="81531"/>
                </a:lnTo>
                <a:lnTo>
                  <a:pt x="89270" y="118684"/>
                </a:lnTo>
                <a:cubicBezTo>
                  <a:pt x="92652" y="122066"/>
                  <a:pt x="98145" y="122066"/>
                  <a:pt x="101528" y="118684"/>
                </a:cubicBezTo>
                <a:cubicBezTo>
                  <a:pt x="104910" y="115301"/>
                  <a:pt x="104910" y="109808"/>
                  <a:pt x="101528" y="106426"/>
                </a:cubicBezTo>
                <a:lnTo>
                  <a:pt x="64348" y="69273"/>
                </a:lnTo>
                <a:lnTo>
                  <a:pt x="101501" y="32093"/>
                </a:lnTo>
                <a:cubicBezTo>
                  <a:pt x="104883" y="28710"/>
                  <a:pt x="104883" y="23217"/>
                  <a:pt x="101501" y="19835"/>
                </a:cubicBezTo>
                <a:cubicBezTo>
                  <a:pt x="98118" y="16452"/>
                  <a:pt x="92625" y="16452"/>
                  <a:pt x="89243" y="19835"/>
                </a:cubicBezTo>
                <a:lnTo>
                  <a:pt x="52090" y="57015"/>
                </a:lnTo>
                <a:lnTo>
                  <a:pt x="14910" y="19862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6" name="Text 64"/>
          <p:cNvSpPr/>
          <p:nvPr/>
        </p:nvSpPr>
        <p:spPr>
          <a:xfrm>
            <a:off x="8602413" y="4030807"/>
            <a:ext cx="306138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 Risk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82000" y="4273261"/>
            <a:ext cx="3273136" cy="1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 on individual developers, no long-term support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56443" y="4810125"/>
            <a:ext cx="3437659" cy="320386"/>
          </a:xfrm>
          <a:custGeom>
            <a:avLst/>
            <a:gdLst/>
            <a:ahLst/>
            <a:cxnLst/>
            <a:rect l="l" t="t" r="r" b="b"/>
            <a:pathLst>
              <a:path w="3437659" h="320386">
                <a:moveTo>
                  <a:pt x="0" y="0"/>
                </a:moveTo>
                <a:lnTo>
                  <a:pt x="3437659" y="0"/>
                </a:lnTo>
                <a:lnTo>
                  <a:pt x="3437659" y="320386"/>
                </a:lnTo>
                <a:lnTo>
                  <a:pt x="0" y="320386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64682" y="4883727"/>
            <a:ext cx="3281795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IT consultancies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50693" y="5424920"/>
            <a:ext cx="11490614" cy="1082386"/>
          </a:xfrm>
          <a:custGeom>
            <a:avLst/>
            <a:gdLst/>
            <a:ahLst/>
            <a:cxnLst/>
            <a:rect l="l" t="t" r="r" b="b"/>
            <a:pathLst>
              <a:path w="11490614" h="1082386">
                <a:moveTo>
                  <a:pt x="0" y="0"/>
                </a:moveTo>
                <a:lnTo>
                  <a:pt x="11490614" y="0"/>
                </a:lnTo>
                <a:lnTo>
                  <a:pt x="11490614" y="1082386"/>
                </a:lnTo>
                <a:lnTo>
                  <a:pt x="0" y="1082386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3568" y="5567795"/>
            <a:ext cx="484909" cy="484909"/>
          </a:xfrm>
          <a:custGeom>
            <a:avLst/>
            <a:gdLst/>
            <a:ahLst/>
            <a:cxnLst/>
            <a:rect l="l" t="t" r="r" b="b"/>
            <a:pathLst>
              <a:path w="484909" h="484909">
                <a:moveTo>
                  <a:pt x="0" y="0"/>
                </a:moveTo>
                <a:lnTo>
                  <a:pt x="484909" y="0"/>
                </a:lnTo>
                <a:lnTo>
                  <a:pt x="484909" y="484909"/>
                </a:lnTo>
                <a:lnTo>
                  <a:pt x="0" y="484909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72" name="Shape 70"/>
          <p:cNvSpPr/>
          <p:nvPr/>
        </p:nvSpPr>
        <p:spPr>
          <a:xfrm>
            <a:off x="619125" y="5706341"/>
            <a:ext cx="233795" cy="207818"/>
          </a:xfrm>
          <a:custGeom>
            <a:avLst/>
            <a:gdLst/>
            <a:ahLst/>
            <a:cxnLst/>
            <a:rect l="l" t="t" r="r" b="b"/>
            <a:pathLst>
              <a:path w="233795" h="207818">
                <a:moveTo>
                  <a:pt x="127045" y="35394"/>
                </a:moveTo>
                <a:cubicBezTo>
                  <a:pt x="130779" y="32431"/>
                  <a:pt x="133134" y="27844"/>
                  <a:pt x="133134" y="22730"/>
                </a:cubicBezTo>
                <a:cubicBezTo>
                  <a:pt x="133134" y="13760"/>
                  <a:pt x="125868" y="6494"/>
                  <a:pt x="116898" y="6494"/>
                </a:cubicBezTo>
                <a:cubicBezTo>
                  <a:pt x="107927" y="6494"/>
                  <a:pt x="100662" y="13760"/>
                  <a:pt x="100662" y="22730"/>
                </a:cubicBezTo>
                <a:cubicBezTo>
                  <a:pt x="100662" y="27844"/>
                  <a:pt x="103057" y="32431"/>
                  <a:pt x="106750" y="35394"/>
                </a:cubicBezTo>
                <a:lnTo>
                  <a:pt x="78987" y="79068"/>
                </a:lnTo>
                <a:cubicBezTo>
                  <a:pt x="74928" y="85441"/>
                  <a:pt x="66283" y="87024"/>
                  <a:pt x="60235" y="82478"/>
                </a:cubicBezTo>
                <a:lnTo>
                  <a:pt x="36084" y="64416"/>
                </a:lnTo>
                <a:cubicBezTo>
                  <a:pt x="37911" y="61818"/>
                  <a:pt x="38966" y="58611"/>
                  <a:pt x="38966" y="55202"/>
                </a:cubicBezTo>
                <a:cubicBezTo>
                  <a:pt x="38966" y="46231"/>
                  <a:pt x="31700" y="38966"/>
                  <a:pt x="22730" y="38966"/>
                </a:cubicBezTo>
                <a:cubicBezTo>
                  <a:pt x="13760" y="38966"/>
                  <a:pt x="6494" y="46231"/>
                  <a:pt x="6494" y="55202"/>
                </a:cubicBezTo>
                <a:cubicBezTo>
                  <a:pt x="6494" y="64050"/>
                  <a:pt x="13597" y="71275"/>
                  <a:pt x="22405" y="71438"/>
                </a:cubicBezTo>
                <a:lnTo>
                  <a:pt x="35638" y="159720"/>
                </a:lnTo>
                <a:cubicBezTo>
                  <a:pt x="37545" y="172424"/>
                  <a:pt x="48464" y="181841"/>
                  <a:pt x="61331" y="181841"/>
                </a:cubicBezTo>
                <a:lnTo>
                  <a:pt x="172465" y="181841"/>
                </a:lnTo>
                <a:cubicBezTo>
                  <a:pt x="185332" y="181841"/>
                  <a:pt x="196250" y="172424"/>
                  <a:pt x="198158" y="159720"/>
                </a:cubicBezTo>
                <a:lnTo>
                  <a:pt x="211390" y="71438"/>
                </a:lnTo>
                <a:cubicBezTo>
                  <a:pt x="220198" y="71275"/>
                  <a:pt x="227301" y="64050"/>
                  <a:pt x="227301" y="55202"/>
                </a:cubicBezTo>
                <a:cubicBezTo>
                  <a:pt x="227301" y="46231"/>
                  <a:pt x="220036" y="38966"/>
                  <a:pt x="211065" y="38966"/>
                </a:cubicBezTo>
                <a:cubicBezTo>
                  <a:pt x="202095" y="38966"/>
                  <a:pt x="194830" y="46231"/>
                  <a:pt x="194830" y="55202"/>
                </a:cubicBezTo>
                <a:cubicBezTo>
                  <a:pt x="194830" y="58611"/>
                  <a:pt x="195885" y="61818"/>
                  <a:pt x="197711" y="64416"/>
                </a:cubicBezTo>
                <a:lnTo>
                  <a:pt x="173601" y="82518"/>
                </a:lnTo>
                <a:cubicBezTo>
                  <a:pt x="167553" y="87064"/>
                  <a:pt x="158908" y="85481"/>
                  <a:pt x="154849" y="79109"/>
                </a:cubicBezTo>
                <a:lnTo>
                  <a:pt x="127045" y="3539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3" name="Text 71"/>
          <p:cNvSpPr/>
          <p:nvPr/>
        </p:nvSpPr>
        <p:spPr>
          <a:xfrm>
            <a:off x="1117023" y="5567795"/>
            <a:ext cx="106853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 Advantage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17023" y="5914159"/>
            <a:ext cx="10650682" cy="450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1" b="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banking infrastructure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purpose-built for the region. Sovereign deployment, deterministic logic, modular adoption, and continuous innovation. Not cloud-dependent, not legacy-bound, not project-based—a </a:t>
            </a:r>
            <a:pPr>
              <a:lnSpc>
                <a:spcPct val="140000"/>
              </a:lnSpc>
            </a:pPr>
            <a:r>
              <a:rPr lang="en-US" sz="1091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productized platform</a:t>
            </a:r>
            <a:pPr>
              <a:lnSpc>
                <a:spcPct val="140000"/>
              </a:lnSpc>
            </a:pPr>
            <a:r>
              <a:rPr lang="en-US" sz="1091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national-scale deployment.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National Infrastructure Vision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57313"/>
            <a:ext cx="5133975" cy="2981325"/>
          </a:xfrm>
          <a:custGeom>
            <a:avLst/>
            <a:gdLst/>
            <a:ahLst/>
            <a:cxnLst/>
            <a:rect l="l" t="t" r="r" b="b"/>
            <a:pathLst>
              <a:path w="5133975" h="2981325">
                <a:moveTo>
                  <a:pt x="0" y="0"/>
                </a:moveTo>
                <a:lnTo>
                  <a:pt x="5133975" y="0"/>
                </a:lnTo>
                <a:lnTo>
                  <a:pt x="5133975" y="2981325"/>
                </a:lnTo>
                <a:lnTo>
                  <a:pt x="0" y="298132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552575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Shared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2009775"/>
            <a:ext cx="4819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becomes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financial decision layer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deployed across multiple banks. Not just software—a national infrastructure asset.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2662238"/>
            <a:ext cx="4733925" cy="1476375"/>
          </a:xfrm>
          <a:custGeom>
            <a:avLst/>
            <a:gdLst/>
            <a:ahLst/>
            <a:cxnLst/>
            <a:rect l="l" t="t" r="r" b="b"/>
            <a:pathLst>
              <a:path w="4733925" h="1476375">
                <a:moveTo>
                  <a:pt x="0" y="0"/>
                </a:moveTo>
                <a:lnTo>
                  <a:pt x="4733925" y="0"/>
                </a:lnTo>
                <a:lnTo>
                  <a:pt x="4733925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B89A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819400"/>
            <a:ext cx="450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Multi-Bank Deployment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0334" y="3238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1" name="Text 9"/>
          <p:cNvSpPr/>
          <p:nvPr/>
        </p:nvSpPr>
        <p:spPr>
          <a:xfrm>
            <a:off x="985838" y="3200400"/>
            <a:ext cx="2952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bank runs its own REVENANT instance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0334" y="3524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1"/>
          <p:cNvSpPr/>
          <p:nvPr/>
        </p:nvSpPr>
        <p:spPr>
          <a:xfrm>
            <a:off x="985838" y="3486150"/>
            <a:ext cx="3486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Federated data sharing (opt-in, regulator-governed)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0334" y="3810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5" name="Text 13"/>
          <p:cNvSpPr/>
          <p:nvPr/>
        </p:nvSpPr>
        <p:spPr>
          <a:xfrm>
            <a:off x="985838" y="3771900"/>
            <a:ext cx="28860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risk models across the sector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500563"/>
            <a:ext cx="5133975" cy="2314575"/>
          </a:xfrm>
          <a:custGeom>
            <a:avLst/>
            <a:gdLst/>
            <a:ahLst/>
            <a:cxnLst/>
            <a:rect l="l" t="t" r="r" b="b"/>
            <a:pathLst>
              <a:path w="5133975" h="2314575">
                <a:moveTo>
                  <a:pt x="0" y="0"/>
                </a:moveTo>
                <a:lnTo>
                  <a:pt x="5133975" y="0"/>
                </a:lnTo>
                <a:lnTo>
                  <a:pt x="5133975" y="2314575"/>
                </a:lnTo>
                <a:lnTo>
                  <a:pt x="0" y="23145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453" y="52673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21431" y="4789"/>
                  <a:pt x="16643" y="0"/>
                  <a:pt x="10716" y="0"/>
                </a:cubicBezTo>
                <a:cubicBezTo>
                  <a:pt x="4789" y="0"/>
                  <a:pt x="0" y="4789"/>
                  <a:pt x="0" y="10716"/>
                </a:cubicBezTo>
                <a:lnTo>
                  <a:pt x="0" y="160734"/>
                </a:lnTo>
                <a:cubicBezTo>
                  <a:pt x="0" y="166661"/>
                  <a:pt x="4789" y="171450"/>
                  <a:pt x="10716" y="171450"/>
                </a:cubicBezTo>
                <a:cubicBezTo>
                  <a:pt x="16643" y="171450"/>
                  <a:pt x="21431" y="166661"/>
                  <a:pt x="21431" y="160734"/>
                </a:cubicBezTo>
                <a:lnTo>
                  <a:pt x="21431" y="120015"/>
                </a:lnTo>
                <a:lnTo>
                  <a:pt x="42427" y="113720"/>
                </a:lnTo>
                <a:cubicBezTo>
                  <a:pt x="56458" y="109500"/>
                  <a:pt x="71594" y="110806"/>
                  <a:pt x="84687" y="117370"/>
                </a:cubicBezTo>
                <a:cubicBezTo>
                  <a:pt x="98986" y="124536"/>
                  <a:pt x="115662" y="125406"/>
                  <a:pt x="130630" y="119781"/>
                </a:cubicBezTo>
                <a:lnTo>
                  <a:pt x="143054" y="115126"/>
                </a:lnTo>
                <a:cubicBezTo>
                  <a:pt x="147239" y="113552"/>
                  <a:pt x="150019" y="109567"/>
                  <a:pt x="150019" y="105080"/>
                </a:cubicBezTo>
                <a:lnTo>
                  <a:pt x="150019" y="22134"/>
                </a:lnTo>
                <a:cubicBezTo>
                  <a:pt x="150019" y="14433"/>
                  <a:pt x="141915" y="9410"/>
                  <a:pt x="135017" y="12859"/>
                </a:cubicBezTo>
                <a:lnTo>
                  <a:pt x="131065" y="14834"/>
                </a:lnTo>
                <a:cubicBezTo>
                  <a:pt x="116030" y="22369"/>
                  <a:pt x="98316" y="22369"/>
                  <a:pt x="83247" y="14834"/>
                </a:cubicBezTo>
                <a:cubicBezTo>
                  <a:pt x="71058" y="8740"/>
                  <a:pt x="57027" y="7534"/>
                  <a:pt x="44001" y="11452"/>
                </a:cubicBezTo>
                <a:lnTo>
                  <a:pt x="21431" y="18217"/>
                </a:lnTo>
                <a:lnTo>
                  <a:pt x="21431" y="10716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50" y="52197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Sovereign Technology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5600700"/>
            <a:ext cx="4895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Uzbekistan owns its financial infrastructure. No dependency on foreign vendors, no data sovereignty concerns, no geopolitical risk.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9763" y="1357313"/>
            <a:ext cx="6086475" cy="5457825"/>
          </a:xfrm>
          <a:custGeom>
            <a:avLst/>
            <a:gdLst/>
            <a:ahLst/>
            <a:cxnLst/>
            <a:rect l="l" t="t" r="r" b="b"/>
            <a:pathLst>
              <a:path w="6086475" h="5457825">
                <a:moveTo>
                  <a:pt x="0" y="0"/>
                </a:moveTo>
                <a:lnTo>
                  <a:pt x="6086475" y="0"/>
                </a:lnTo>
                <a:lnTo>
                  <a:pt x="6086475" y="5457825"/>
                </a:lnTo>
                <a:lnTo>
                  <a:pt x="0" y="54578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14902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5025" y="1552575"/>
            <a:ext cx="581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National Deployment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34075" y="2009775"/>
            <a:ext cx="5676900" cy="1066800"/>
          </a:xfrm>
          <a:custGeom>
            <a:avLst/>
            <a:gdLst/>
            <a:ahLst/>
            <a:cxnLst/>
            <a:rect l="l" t="t" r="r" b="b"/>
            <a:pathLst>
              <a:path w="5676900" h="1066800">
                <a:moveTo>
                  <a:pt x="0" y="0"/>
                </a:moveTo>
                <a:lnTo>
                  <a:pt x="5676900" y="0"/>
                </a:lnTo>
                <a:lnTo>
                  <a:pt x="56769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34075" y="20097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5525" y="2162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6969" y="22955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6" name="Text 24"/>
          <p:cNvSpPr/>
          <p:nvPr/>
        </p:nvSpPr>
        <p:spPr>
          <a:xfrm>
            <a:off x="6677025" y="216217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Systemic Risk Visibility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7025" y="25050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Regulators see cross-bank exposures in real time. Detect contagion risks before they cascade. Monitor sector-wide liquidity stress.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34075" y="3190875"/>
            <a:ext cx="5676900" cy="1066800"/>
          </a:xfrm>
          <a:custGeom>
            <a:avLst/>
            <a:gdLst/>
            <a:ahLst/>
            <a:cxnLst/>
            <a:rect l="l" t="t" r="r" b="b"/>
            <a:pathLst>
              <a:path w="5676900" h="1066800">
                <a:moveTo>
                  <a:pt x="0" y="0"/>
                </a:moveTo>
                <a:lnTo>
                  <a:pt x="5676900" y="0"/>
                </a:lnTo>
                <a:lnTo>
                  <a:pt x="56769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34075" y="31908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0" name="Shape 28"/>
          <p:cNvSpPr/>
          <p:nvPr/>
        </p:nvSpPr>
        <p:spPr>
          <a:xfrm>
            <a:off x="6105525" y="3343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5063" y="3476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7025" y="334327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Compliance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7025" y="36861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banks use same risk models, same sanctions lists, same AML logic. Consistent regulatory interpretation across the sector.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34075" y="4371975"/>
            <a:ext cx="5676900" cy="1066800"/>
          </a:xfrm>
          <a:custGeom>
            <a:avLst/>
            <a:gdLst/>
            <a:ahLst/>
            <a:cxnLst/>
            <a:rect l="l" t="t" r="r" b="b"/>
            <a:pathLst>
              <a:path w="5676900" h="1066800">
                <a:moveTo>
                  <a:pt x="0" y="0"/>
                </a:moveTo>
                <a:lnTo>
                  <a:pt x="5676900" y="0"/>
                </a:lnTo>
                <a:lnTo>
                  <a:pt x="56769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34075" y="43719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6" name="Shape 34"/>
          <p:cNvSpPr/>
          <p:nvPr/>
        </p:nvSpPr>
        <p:spPr>
          <a:xfrm>
            <a:off x="6105525" y="4524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7" name="Shape 35"/>
          <p:cNvSpPr/>
          <p:nvPr/>
        </p:nvSpPr>
        <p:spPr>
          <a:xfrm>
            <a:off x="6250781" y="46577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Text 36"/>
          <p:cNvSpPr/>
          <p:nvPr/>
        </p:nvSpPr>
        <p:spPr>
          <a:xfrm>
            <a:off x="6677025" y="452437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Digital Services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77025" y="48672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Sub-200ms authorization enables real-time payments, instant SME onboarding, frictionless customer experience.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34075" y="5553075"/>
            <a:ext cx="5676900" cy="1066800"/>
          </a:xfrm>
          <a:custGeom>
            <a:avLst/>
            <a:gdLst/>
            <a:ahLst/>
            <a:cxnLst/>
            <a:rect l="l" t="t" r="r" b="b"/>
            <a:pathLst>
              <a:path w="5676900" h="1066800">
                <a:moveTo>
                  <a:pt x="0" y="0"/>
                </a:moveTo>
                <a:lnTo>
                  <a:pt x="5676900" y="0"/>
                </a:lnTo>
                <a:lnTo>
                  <a:pt x="56769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34075" y="5553075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42" name="Shape 40"/>
          <p:cNvSpPr/>
          <p:nvPr/>
        </p:nvSpPr>
        <p:spPr>
          <a:xfrm>
            <a:off x="6105525" y="5705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43" name="Shape 41"/>
          <p:cNvSpPr/>
          <p:nvPr/>
        </p:nvSpPr>
        <p:spPr>
          <a:xfrm>
            <a:off x="6238875" y="5838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4" name="Text 42"/>
          <p:cNvSpPr/>
          <p:nvPr/>
        </p:nvSpPr>
        <p:spPr>
          <a:xfrm>
            <a:off x="6677025" y="5705475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National Financial Stability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77025" y="6048375"/>
            <a:ext cx="4857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 systems for systemic stress. Coordinated response to financial shocks. Stronger resilience against external shocks.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Mission &amp; Vision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57313"/>
            <a:ext cx="5610225" cy="5248275"/>
          </a:xfrm>
          <a:custGeom>
            <a:avLst/>
            <a:gdLst/>
            <a:ahLst/>
            <a:cxnLst/>
            <a:rect l="l" t="t" r="r" b="b"/>
            <a:pathLst>
              <a:path w="5610225" h="5248275">
                <a:moveTo>
                  <a:pt x="0" y="0"/>
                </a:moveTo>
                <a:lnTo>
                  <a:pt x="5610225" y="0"/>
                </a:lnTo>
                <a:lnTo>
                  <a:pt x="5610225" y="5248275"/>
                </a:lnTo>
                <a:lnTo>
                  <a:pt x="0" y="5248275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590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7" name="Shape 5"/>
          <p:cNvSpPr/>
          <p:nvPr/>
        </p:nvSpPr>
        <p:spPr>
          <a:xfrm>
            <a:off x="783431" y="1752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724025"/>
            <a:ext cx="1133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8175" y="2514600"/>
            <a:ext cx="5124450" cy="1143000"/>
          </a:xfrm>
          <a:custGeom>
            <a:avLst/>
            <a:gdLst/>
            <a:ahLst/>
            <a:cxnLst/>
            <a:rect l="l" t="t" r="r" b="b"/>
            <a:pathLst>
              <a:path w="5124450" h="1143000">
                <a:moveTo>
                  <a:pt x="0" y="0"/>
                </a:moveTo>
                <a:lnTo>
                  <a:pt x="5124450" y="0"/>
                </a:lnTo>
                <a:lnTo>
                  <a:pt x="51244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8175" y="25146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1" name="Shape 9"/>
          <p:cNvSpPr/>
          <p:nvPr/>
        </p:nvSpPr>
        <p:spPr>
          <a:xfrm>
            <a:off x="809625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2" name="Shape 10"/>
          <p:cNvSpPr/>
          <p:nvPr/>
        </p:nvSpPr>
        <p:spPr>
          <a:xfrm>
            <a:off x="923925" y="278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1304925" y="2667000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 the Financial System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4925" y="3009900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deterministic, auditable infrastructure that prevents fraud, ensures compliance, and maintains systemic stability.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8175" y="3810000"/>
            <a:ext cx="5124450" cy="1143000"/>
          </a:xfrm>
          <a:custGeom>
            <a:avLst/>
            <a:gdLst/>
            <a:ahLst/>
            <a:cxnLst/>
            <a:rect l="l" t="t" r="r" b="b"/>
            <a:pathLst>
              <a:path w="5124450" h="1143000">
                <a:moveTo>
                  <a:pt x="0" y="0"/>
                </a:moveTo>
                <a:lnTo>
                  <a:pt x="5124450" y="0"/>
                </a:lnTo>
                <a:lnTo>
                  <a:pt x="51244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8175" y="3810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17" name="Shape 15"/>
          <p:cNvSpPr/>
          <p:nvPr/>
        </p:nvSpPr>
        <p:spPr>
          <a:xfrm>
            <a:off x="809625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18" name="Shape 16"/>
          <p:cNvSpPr/>
          <p:nvPr/>
        </p:nvSpPr>
        <p:spPr>
          <a:xfrm>
            <a:off x="923925" y="4076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9" name="Text 17"/>
          <p:cNvSpPr/>
          <p:nvPr/>
        </p:nvSpPr>
        <p:spPr>
          <a:xfrm>
            <a:off x="1304925" y="3962400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Faster Banking Services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04925" y="4305300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latency from financial decisions. Enable real-time payments, instant onboarding, seamless customer experiences.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175" y="5105400"/>
            <a:ext cx="5124450" cy="1143000"/>
          </a:xfrm>
          <a:custGeom>
            <a:avLst/>
            <a:gdLst/>
            <a:ahLst/>
            <a:cxnLst/>
            <a:rect l="l" t="t" r="r" b="b"/>
            <a:pathLst>
              <a:path w="5124450" h="1143000">
                <a:moveTo>
                  <a:pt x="0" y="0"/>
                </a:moveTo>
                <a:lnTo>
                  <a:pt x="5124450" y="0"/>
                </a:lnTo>
                <a:lnTo>
                  <a:pt x="51244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8175" y="51054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3" name="Shape 21"/>
          <p:cNvSpPr/>
          <p:nvPr/>
        </p:nvSpPr>
        <p:spPr>
          <a:xfrm>
            <a:off x="809625" y="525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372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0483" y="45660"/>
                </a:moveTo>
                <a:lnTo>
                  <a:pt x="44916" y="40094"/>
                </a:lnTo>
                <a:cubicBezTo>
                  <a:pt x="41196" y="36374"/>
                  <a:pt x="41196" y="30331"/>
                  <a:pt x="44916" y="26610"/>
                </a:cubicBezTo>
                <a:lnTo>
                  <a:pt x="79058" y="-7560"/>
                </a:lnTo>
                <a:cubicBezTo>
                  <a:pt x="82778" y="-11281"/>
                  <a:pt x="88821" y="-11281"/>
                  <a:pt x="92541" y="-7560"/>
                </a:cubicBezTo>
                <a:lnTo>
                  <a:pt x="98108" y="-1965"/>
                </a:lnTo>
                <a:cubicBezTo>
                  <a:pt x="101828" y="1756"/>
                  <a:pt x="101828" y="7799"/>
                  <a:pt x="98108" y="11519"/>
                </a:cubicBezTo>
                <a:lnTo>
                  <a:pt x="63966" y="45660"/>
                </a:lnTo>
                <a:cubicBezTo>
                  <a:pt x="60246" y="49381"/>
                  <a:pt x="54203" y="49381"/>
                  <a:pt x="50483" y="45660"/>
                </a:cubicBezTo>
                <a:close/>
                <a:moveTo>
                  <a:pt x="82153" y="63014"/>
                </a:moveTo>
                <a:lnTo>
                  <a:pt x="72807" y="53667"/>
                </a:lnTo>
                <a:lnTo>
                  <a:pt x="106144" y="20330"/>
                </a:lnTo>
                <a:lnTo>
                  <a:pt x="141684" y="55870"/>
                </a:lnTo>
                <a:lnTo>
                  <a:pt x="108347" y="89208"/>
                </a:lnTo>
                <a:lnTo>
                  <a:pt x="99000" y="79861"/>
                </a:lnTo>
                <a:lnTo>
                  <a:pt x="29944" y="148917"/>
                </a:lnTo>
                <a:cubicBezTo>
                  <a:pt x="25301" y="153561"/>
                  <a:pt x="17770" y="153561"/>
                  <a:pt x="13097" y="148917"/>
                </a:cubicBezTo>
                <a:cubicBezTo>
                  <a:pt x="8424" y="144274"/>
                  <a:pt x="8453" y="136743"/>
                  <a:pt x="13097" y="132070"/>
                </a:cubicBezTo>
                <a:lnTo>
                  <a:pt x="82153" y="63014"/>
                </a:lnTo>
                <a:close/>
                <a:moveTo>
                  <a:pt x="116354" y="111502"/>
                </a:moveTo>
                <a:cubicBezTo>
                  <a:pt x="112633" y="107781"/>
                  <a:pt x="112633" y="101739"/>
                  <a:pt x="116354" y="98018"/>
                </a:cubicBezTo>
                <a:lnTo>
                  <a:pt x="150495" y="63877"/>
                </a:lnTo>
                <a:cubicBezTo>
                  <a:pt x="154216" y="60156"/>
                  <a:pt x="160258" y="60156"/>
                  <a:pt x="163979" y="63877"/>
                </a:cubicBezTo>
                <a:lnTo>
                  <a:pt x="169545" y="69443"/>
                </a:lnTo>
                <a:cubicBezTo>
                  <a:pt x="173266" y="73164"/>
                  <a:pt x="173266" y="79206"/>
                  <a:pt x="169545" y="82927"/>
                </a:cubicBezTo>
                <a:lnTo>
                  <a:pt x="135404" y="117098"/>
                </a:lnTo>
                <a:cubicBezTo>
                  <a:pt x="131683" y="120819"/>
                  <a:pt x="125641" y="120819"/>
                  <a:pt x="121920" y="117098"/>
                </a:cubicBezTo>
                <a:lnTo>
                  <a:pt x="116354" y="111532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5" name="Text 23"/>
          <p:cNvSpPr/>
          <p:nvPr/>
        </p:nvSpPr>
        <p:spPr>
          <a:xfrm>
            <a:off x="1304925" y="5257800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Regulatory Compliance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04925" y="5600700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deterministic audit trails, immutable decision logs, and standardized risk models that satisfy regulators.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6013" y="1357313"/>
            <a:ext cx="5610225" cy="5248275"/>
          </a:xfrm>
          <a:custGeom>
            <a:avLst/>
            <a:gdLst/>
            <a:ahLst/>
            <a:cxnLst/>
            <a:rect l="l" t="t" r="r" b="b"/>
            <a:pathLst>
              <a:path w="5610225" h="5248275">
                <a:moveTo>
                  <a:pt x="0" y="0"/>
                </a:moveTo>
                <a:lnTo>
                  <a:pt x="5610225" y="0"/>
                </a:lnTo>
                <a:lnTo>
                  <a:pt x="5610225" y="5248275"/>
                </a:lnTo>
                <a:lnTo>
                  <a:pt x="0" y="5248275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9375" y="1590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75822" y="17526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17859"/>
                </a:moveTo>
                <a:cubicBezTo>
                  <a:pt x="115639" y="17859"/>
                  <a:pt x="79530" y="38398"/>
                  <a:pt x="53243" y="62843"/>
                </a:cubicBezTo>
                <a:cubicBezTo>
                  <a:pt x="27124" y="87120"/>
                  <a:pt x="9655" y="116086"/>
                  <a:pt x="1339" y="136010"/>
                </a:cubicBezTo>
                <a:cubicBezTo>
                  <a:pt x="-502" y="140419"/>
                  <a:pt x="-502" y="145331"/>
                  <a:pt x="1339" y="149740"/>
                </a:cubicBezTo>
                <a:cubicBezTo>
                  <a:pt x="9655" y="169664"/>
                  <a:pt x="27124" y="198686"/>
                  <a:pt x="53243" y="222907"/>
                </a:cubicBezTo>
                <a:cubicBezTo>
                  <a:pt x="79530" y="247297"/>
                  <a:pt x="115639" y="267891"/>
                  <a:pt x="160734" y="267891"/>
                </a:cubicBezTo>
                <a:cubicBezTo>
                  <a:pt x="205829" y="267891"/>
                  <a:pt x="241939" y="247352"/>
                  <a:pt x="268225" y="222907"/>
                </a:cubicBezTo>
                <a:cubicBezTo>
                  <a:pt x="294345" y="198630"/>
                  <a:pt x="311814" y="169664"/>
                  <a:pt x="320129" y="149740"/>
                </a:cubicBezTo>
                <a:cubicBezTo>
                  <a:pt x="321971" y="145331"/>
                  <a:pt x="321971" y="140419"/>
                  <a:pt x="320129" y="136010"/>
                </a:cubicBezTo>
                <a:cubicBezTo>
                  <a:pt x="311814" y="116086"/>
                  <a:pt x="294345" y="87064"/>
                  <a:pt x="268225" y="62843"/>
                </a:cubicBezTo>
                <a:cubicBezTo>
                  <a:pt x="241939" y="38453"/>
                  <a:pt x="205829" y="17859"/>
                  <a:pt x="160734" y="17859"/>
                </a:cubicBezTo>
                <a:close/>
                <a:moveTo>
                  <a:pt x="80367" y="142875"/>
                </a:moveTo>
                <a:cubicBezTo>
                  <a:pt x="80367" y="98519"/>
                  <a:pt x="116379" y="62508"/>
                  <a:pt x="160734" y="62508"/>
                </a:cubicBezTo>
                <a:cubicBezTo>
                  <a:pt x="205090" y="62508"/>
                  <a:pt x="241102" y="98519"/>
                  <a:pt x="241102" y="142875"/>
                </a:cubicBezTo>
                <a:cubicBezTo>
                  <a:pt x="241102" y="187231"/>
                  <a:pt x="205090" y="223242"/>
                  <a:pt x="160734" y="223242"/>
                </a:cubicBezTo>
                <a:cubicBezTo>
                  <a:pt x="116379" y="223242"/>
                  <a:pt x="80367" y="187231"/>
                  <a:pt x="80367" y="142875"/>
                </a:cubicBezTo>
                <a:close/>
                <a:moveTo>
                  <a:pt x="160734" y="107156"/>
                </a:moveTo>
                <a:cubicBezTo>
                  <a:pt x="160734" y="126857"/>
                  <a:pt x="144717" y="142875"/>
                  <a:pt x="125016" y="142875"/>
                </a:cubicBezTo>
                <a:cubicBezTo>
                  <a:pt x="118597" y="142875"/>
                  <a:pt x="112570" y="141201"/>
                  <a:pt x="107324" y="138187"/>
                </a:cubicBezTo>
                <a:cubicBezTo>
                  <a:pt x="106766" y="144270"/>
                  <a:pt x="107268" y="150521"/>
                  <a:pt x="108942" y="156716"/>
                </a:cubicBezTo>
                <a:cubicBezTo>
                  <a:pt x="116588" y="185291"/>
                  <a:pt x="146000" y="202257"/>
                  <a:pt x="174575" y="194611"/>
                </a:cubicBezTo>
                <a:cubicBezTo>
                  <a:pt x="203150" y="186965"/>
                  <a:pt x="220117" y="157553"/>
                  <a:pt x="212471" y="128978"/>
                </a:cubicBezTo>
                <a:cubicBezTo>
                  <a:pt x="205662" y="103473"/>
                  <a:pt x="181496" y="87232"/>
                  <a:pt x="156046" y="89464"/>
                </a:cubicBezTo>
                <a:cubicBezTo>
                  <a:pt x="159004" y="94655"/>
                  <a:pt x="160734" y="100682"/>
                  <a:pt x="160734" y="10715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7191375" y="1724025"/>
            <a:ext cx="923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48425" y="2390775"/>
            <a:ext cx="5124450" cy="1143000"/>
          </a:xfrm>
          <a:custGeom>
            <a:avLst/>
            <a:gdLst/>
            <a:ahLst/>
            <a:cxnLst/>
            <a:rect l="l" t="t" r="r" b="b"/>
            <a:pathLst>
              <a:path w="5124450" h="1143000">
                <a:moveTo>
                  <a:pt x="0" y="0"/>
                </a:moveTo>
                <a:lnTo>
                  <a:pt x="5124450" y="0"/>
                </a:lnTo>
                <a:lnTo>
                  <a:pt x="51244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48425" y="2390775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3" name="Shape 31"/>
          <p:cNvSpPr/>
          <p:nvPr/>
        </p:nvSpPr>
        <p:spPr>
          <a:xfrm>
            <a:off x="6619875" y="2543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4" name="Shape 32"/>
          <p:cNvSpPr/>
          <p:nvPr/>
        </p:nvSpPr>
        <p:spPr>
          <a:xfrm>
            <a:off x="6743700" y="2657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7115175" y="2543175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Sovereign Financial Infrastructure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15175" y="2886075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technology that Uzbekistan owns, controls, and evolves. No foreign dependencies, no data sovereignty risks.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8425" y="3686175"/>
            <a:ext cx="5124450" cy="1390650"/>
          </a:xfrm>
          <a:custGeom>
            <a:avLst/>
            <a:gdLst/>
            <a:ahLst/>
            <a:cxnLst/>
            <a:rect l="l" t="t" r="r" b="b"/>
            <a:pathLst>
              <a:path w="5124450" h="1390650">
                <a:moveTo>
                  <a:pt x="0" y="0"/>
                </a:moveTo>
                <a:lnTo>
                  <a:pt x="5124450" y="0"/>
                </a:lnTo>
                <a:lnTo>
                  <a:pt x="512445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48425" y="3686175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9" name="Shape 37"/>
          <p:cNvSpPr/>
          <p:nvPr/>
        </p:nvSpPr>
        <p:spPr>
          <a:xfrm>
            <a:off x="6619875" y="38385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0" name="Shape 38"/>
          <p:cNvSpPr/>
          <p:nvPr/>
        </p:nvSpPr>
        <p:spPr>
          <a:xfrm>
            <a:off x="6734175" y="3952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7115175" y="3838575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Exportable Platforms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15175" y="4181475"/>
            <a:ext cx="4381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banking infrastructure that can be deployed across Central Asia and beyond. Turn local innovation into regional leadership.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8425" y="5229225"/>
            <a:ext cx="5124450" cy="1143000"/>
          </a:xfrm>
          <a:custGeom>
            <a:avLst/>
            <a:gdLst/>
            <a:ahLst/>
            <a:cxnLst/>
            <a:rect l="l" t="t" r="r" b="b"/>
            <a:pathLst>
              <a:path w="5124450" h="1143000">
                <a:moveTo>
                  <a:pt x="0" y="0"/>
                </a:moveTo>
                <a:lnTo>
                  <a:pt x="5124450" y="0"/>
                </a:lnTo>
                <a:lnTo>
                  <a:pt x="51244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48425" y="5229225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5" name="Shape 43"/>
          <p:cNvSpPr/>
          <p:nvPr/>
        </p:nvSpPr>
        <p:spPr>
          <a:xfrm>
            <a:off x="6619875" y="5381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46" name="Shape 44"/>
          <p:cNvSpPr/>
          <p:nvPr/>
        </p:nvSpPr>
        <p:spPr>
          <a:xfrm>
            <a:off x="6734175" y="5495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Text 45"/>
          <p:cNvSpPr/>
          <p:nvPr/>
        </p:nvSpPr>
        <p:spPr>
          <a:xfrm>
            <a:off x="7115175" y="5381625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Technology Leader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15175" y="5724525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Uzbekistan as the source of world-class financial infrastructure technology. From importer to exporter.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3a110e7a7127f42edc2c8395b5ea584cc85f33f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4156" b="341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A5A78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42472" y="342472"/>
            <a:ext cx="1156698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spc="189" kern="0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2472" y="582202"/>
            <a:ext cx="11712539" cy="41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472" y="1130157"/>
            <a:ext cx="821933" cy="17124"/>
          </a:xfrm>
          <a:custGeom>
            <a:avLst/>
            <a:gdLst/>
            <a:ahLst/>
            <a:cxnLst/>
            <a:rect l="l" t="t" r="r" b="b"/>
            <a:pathLst>
              <a:path w="821933" h="17124">
                <a:moveTo>
                  <a:pt x="0" y="0"/>
                </a:moveTo>
                <a:lnTo>
                  <a:pt x="821933" y="0"/>
                </a:lnTo>
                <a:lnTo>
                  <a:pt x="821933" y="17124"/>
                </a:lnTo>
                <a:lnTo>
                  <a:pt x="0" y="17124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7" name="Shape 4"/>
          <p:cNvSpPr/>
          <p:nvPr/>
        </p:nvSpPr>
        <p:spPr>
          <a:xfrm>
            <a:off x="346753" y="1357045"/>
            <a:ext cx="5659348" cy="1686674"/>
          </a:xfrm>
          <a:custGeom>
            <a:avLst/>
            <a:gdLst/>
            <a:ahLst/>
            <a:cxnLst/>
            <a:rect l="l" t="t" r="r" b="b"/>
            <a:pathLst>
              <a:path w="5659348" h="1686674">
                <a:moveTo>
                  <a:pt x="0" y="0"/>
                </a:moveTo>
                <a:lnTo>
                  <a:pt x="5659348" y="0"/>
                </a:lnTo>
                <a:lnTo>
                  <a:pt x="5659348" y="1686674"/>
                </a:lnTo>
                <a:lnTo>
                  <a:pt x="0" y="1686674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2270" y="1532562"/>
            <a:ext cx="479461" cy="479461"/>
          </a:xfrm>
          <a:custGeom>
            <a:avLst/>
            <a:gdLst/>
            <a:ahLst/>
            <a:cxnLst/>
            <a:rect l="l" t="t" r="r" b="b"/>
            <a:pathLst>
              <a:path w="479461" h="479461">
                <a:moveTo>
                  <a:pt x="0" y="0"/>
                </a:moveTo>
                <a:lnTo>
                  <a:pt x="479461" y="0"/>
                </a:lnTo>
                <a:lnTo>
                  <a:pt x="479461" y="479461"/>
                </a:lnTo>
                <a:lnTo>
                  <a:pt x="0" y="479461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9" name="Text 6"/>
          <p:cNvSpPr/>
          <p:nvPr/>
        </p:nvSpPr>
        <p:spPr>
          <a:xfrm>
            <a:off x="655245" y="1635303"/>
            <a:ext cx="316787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38719" y="1635303"/>
            <a:ext cx="2149011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 Bank Deployment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2270" y="2149011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REVENANT with a forward-thinking commercial bank. Prove value in production, establish reference customer, iterate based on real-world feedback.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9393" y="2714090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68494" y="0"/>
                </a:moveTo>
                <a:cubicBezTo>
                  <a:pt x="106297" y="0"/>
                  <a:pt x="136989" y="30691"/>
                  <a:pt x="136989" y="68494"/>
                </a:cubicBezTo>
                <a:cubicBezTo>
                  <a:pt x="136989" y="106297"/>
                  <a:pt x="106297" y="136989"/>
                  <a:pt x="68494" y="136989"/>
                </a:cubicBezTo>
                <a:cubicBezTo>
                  <a:pt x="30691" y="136989"/>
                  <a:pt x="0" y="106297"/>
                  <a:pt x="0" y="68494"/>
                </a:cubicBezTo>
                <a:cubicBezTo>
                  <a:pt x="0" y="30691"/>
                  <a:pt x="30691" y="0"/>
                  <a:pt x="68494" y="0"/>
                </a:cubicBezTo>
                <a:close/>
                <a:moveTo>
                  <a:pt x="62073" y="32107"/>
                </a:moveTo>
                <a:lnTo>
                  <a:pt x="62073" y="68494"/>
                </a:lnTo>
                <a:cubicBezTo>
                  <a:pt x="62073" y="70635"/>
                  <a:pt x="63143" y="72642"/>
                  <a:pt x="64936" y="73846"/>
                </a:cubicBezTo>
                <a:lnTo>
                  <a:pt x="90621" y="90969"/>
                </a:lnTo>
                <a:cubicBezTo>
                  <a:pt x="93564" y="92949"/>
                  <a:pt x="97551" y="92146"/>
                  <a:pt x="99531" y="89176"/>
                </a:cubicBezTo>
                <a:cubicBezTo>
                  <a:pt x="101511" y="86207"/>
                  <a:pt x="100708" y="82247"/>
                  <a:pt x="97738" y="80267"/>
                </a:cubicBezTo>
                <a:lnTo>
                  <a:pt x="74916" y="65070"/>
                </a:lnTo>
                <a:lnTo>
                  <a:pt x="74916" y="32107"/>
                </a:lnTo>
                <a:cubicBezTo>
                  <a:pt x="74916" y="28548"/>
                  <a:pt x="72053" y="25685"/>
                  <a:pt x="68494" y="25685"/>
                </a:cubicBezTo>
                <a:cubicBezTo>
                  <a:pt x="64936" y="25685"/>
                  <a:pt x="62073" y="28548"/>
                  <a:pt x="62073" y="3210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2696966"/>
            <a:ext cx="89042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Q2 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85899" y="1357045"/>
            <a:ext cx="5659348" cy="1686674"/>
          </a:xfrm>
          <a:custGeom>
            <a:avLst/>
            <a:gdLst/>
            <a:ahLst/>
            <a:cxnLst/>
            <a:rect l="l" t="t" r="r" b="b"/>
            <a:pathLst>
              <a:path w="5659348" h="1686674">
                <a:moveTo>
                  <a:pt x="0" y="0"/>
                </a:moveTo>
                <a:lnTo>
                  <a:pt x="5659348" y="0"/>
                </a:lnTo>
                <a:lnTo>
                  <a:pt x="5659348" y="1686674"/>
                </a:lnTo>
                <a:lnTo>
                  <a:pt x="0" y="1686674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1416" y="1532562"/>
            <a:ext cx="479461" cy="479461"/>
          </a:xfrm>
          <a:custGeom>
            <a:avLst/>
            <a:gdLst/>
            <a:ahLst/>
            <a:cxnLst/>
            <a:rect l="l" t="t" r="r" b="b"/>
            <a:pathLst>
              <a:path w="479461" h="479461">
                <a:moveTo>
                  <a:pt x="0" y="0"/>
                </a:moveTo>
                <a:lnTo>
                  <a:pt x="479461" y="0"/>
                </a:lnTo>
                <a:lnTo>
                  <a:pt x="479461" y="479461"/>
                </a:lnTo>
                <a:lnTo>
                  <a:pt x="0" y="479461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Text 13"/>
          <p:cNvSpPr/>
          <p:nvPr/>
        </p:nvSpPr>
        <p:spPr>
          <a:xfrm>
            <a:off x="6475796" y="1635303"/>
            <a:ext cx="351034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77865" y="1635303"/>
            <a:ext cx="1806539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Investors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61416" y="2149011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 investors who understand financial infrastructure. Seek partners with banking networks, regulatory relationships, and regional expertise.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78539" y="2714090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68494" y="0"/>
                </a:moveTo>
                <a:cubicBezTo>
                  <a:pt x="106297" y="0"/>
                  <a:pt x="136989" y="30691"/>
                  <a:pt x="136989" y="68494"/>
                </a:cubicBezTo>
                <a:cubicBezTo>
                  <a:pt x="136989" y="106297"/>
                  <a:pt x="106297" y="136989"/>
                  <a:pt x="68494" y="136989"/>
                </a:cubicBezTo>
                <a:cubicBezTo>
                  <a:pt x="30691" y="136989"/>
                  <a:pt x="0" y="106297"/>
                  <a:pt x="0" y="68494"/>
                </a:cubicBezTo>
                <a:cubicBezTo>
                  <a:pt x="0" y="30691"/>
                  <a:pt x="30691" y="0"/>
                  <a:pt x="68494" y="0"/>
                </a:cubicBezTo>
                <a:close/>
                <a:moveTo>
                  <a:pt x="62073" y="32107"/>
                </a:moveTo>
                <a:lnTo>
                  <a:pt x="62073" y="68494"/>
                </a:lnTo>
                <a:cubicBezTo>
                  <a:pt x="62073" y="70635"/>
                  <a:pt x="63143" y="72642"/>
                  <a:pt x="64936" y="73846"/>
                </a:cubicBezTo>
                <a:lnTo>
                  <a:pt x="90621" y="90969"/>
                </a:lnTo>
                <a:cubicBezTo>
                  <a:pt x="93564" y="92949"/>
                  <a:pt x="97551" y="92146"/>
                  <a:pt x="99531" y="89176"/>
                </a:cubicBezTo>
                <a:cubicBezTo>
                  <a:pt x="101511" y="86207"/>
                  <a:pt x="100708" y="82247"/>
                  <a:pt x="97738" y="80267"/>
                </a:cubicBezTo>
                <a:lnTo>
                  <a:pt x="74916" y="65070"/>
                </a:lnTo>
                <a:lnTo>
                  <a:pt x="74916" y="32107"/>
                </a:lnTo>
                <a:cubicBezTo>
                  <a:pt x="74916" y="28548"/>
                  <a:pt x="72053" y="25685"/>
                  <a:pt x="68494" y="25685"/>
                </a:cubicBezTo>
                <a:cubicBezTo>
                  <a:pt x="64936" y="25685"/>
                  <a:pt x="62073" y="28548"/>
                  <a:pt x="62073" y="3210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0" name="Text 17"/>
          <p:cNvSpPr/>
          <p:nvPr/>
        </p:nvSpPr>
        <p:spPr>
          <a:xfrm>
            <a:off x="6601146" y="2696966"/>
            <a:ext cx="107878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Q1-Q2 2026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46753" y="3223517"/>
            <a:ext cx="5659348" cy="1686674"/>
          </a:xfrm>
          <a:custGeom>
            <a:avLst/>
            <a:gdLst/>
            <a:ahLst/>
            <a:cxnLst/>
            <a:rect l="l" t="t" r="r" b="b"/>
            <a:pathLst>
              <a:path w="5659348" h="1686674">
                <a:moveTo>
                  <a:pt x="0" y="0"/>
                </a:moveTo>
                <a:lnTo>
                  <a:pt x="5659348" y="0"/>
                </a:lnTo>
                <a:lnTo>
                  <a:pt x="5659348" y="1686674"/>
                </a:lnTo>
                <a:lnTo>
                  <a:pt x="0" y="1686674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14902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2270" y="3399034"/>
            <a:ext cx="479461" cy="479461"/>
          </a:xfrm>
          <a:custGeom>
            <a:avLst/>
            <a:gdLst/>
            <a:ahLst/>
            <a:cxnLst/>
            <a:rect l="l" t="t" r="r" b="b"/>
            <a:pathLst>
              <a:path w="479461" h="479461">
                <a:moveTo>
                  <a:pt x="0" y="0"/>
                </a:moveTo>
                <a:lnTo>
                  <a:pt x="479461" y="0"/>
                </a:lnTo>
                <a:lnTo>
                  <a:pt x="479461" y="479461"/>
                </a:lnTo>
                <a:lnTo>
                  <a:pt x="0" y="479461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3" name="Text 20"/>
          <p:cNvSpPr/>
          <p:nvPr/>
        </p:nvSpPr>
        <p:spPr>
          <a:xfrm>
            <a:off x="635713" y="3501775"/>
            <a:ext cx="351034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38719" y="3501775"/>
            <a:ext cx="2337371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Collaboration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22270" y="4015483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with Central Bank of Uzbekistan to establish REVENANT as recognized infrastructure. Align with national financial stability objectives.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39393" y="4580562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68494" y="0"/>
                </a:moveTo>
                <a:cubicBezTo>
                  <a:pt x="106297" y="0"/>
                  <a:pt x="136989" y="30691"/>
                  <a:pt x="136989" y="68494"/>
                </a:cubicBezTo>
                <a:cubicBezTo>
                  <a:pt x="136989" y="106297"/>
                  <a:pt x="106297" y="136989"/>
                  <a:pt x="68494" y="136989"/>
                </a:cubicBezTo>
                <a:cubicBezTo>
                  <a:pt x="30691" y="136989"/>
                  <a:pt x="0" y="106297"/>
                  <a:pt x="0" y="68494"/>
                </a:cubicBezTo>
                <a:cubicBezTo>
                  <a:pt x="0" y="30691"/>
                  <a:pt x="30691" y="0"/>
                  <a:pt x="68494" y="0"/>
                </a:cubicBezTo>
                <a:close/>
                <a:moveTo>
                  <a:pt x="62073" y="32107"/>
                </a:moveTo>
                <a:lnTo>
                  <a:pt x="62073" y="68494"/>
                </a:lnTo>
                <a:cubicBezTo>
                  <a:pt x="62073" y="70635"/>
                  <a:pt x="63143" y="72642"/>
                  <a:pt x="64936" y="73846"/>
                </a:cubicBezTo>
                <a:lnTo>
                  <a:pt x="90621" y="90969"/>
                </a:lnTo>
                <a:cubicBezTo>
                  <a:pt x="93564" y="92949"/>
                  <a:pt x="97551" y="92146"/>
                  <a:pt x="99531" y="89176"/>
                </a:cubicBezTo>
                <a:cubicBezTo>
                  <a:pt x="101511" y="86207"/>
                  <a:pt x="100708" y="82247"/>
                  <a:pt x="97738" y="80267"/>
                </a:cubicBezTo>
                <a:lnTo>
                  <a:pt x="74916" y="65070"/>
                </a:lnTo>
                <a:lnTo>
                  <a:pt x="74916" y="32107"/>
                </a:lnTo>
                <a:cubicBezTo>
                  <a:pt x="74916" y="28548"/>
                  <a:pt x="72053" y="25685"/>
                  <a:pt x="68494" y="25685"/>
                </a:cubicBezTo>
                <a:cubicBezTo>
                  <a:pt x="64936" y="25685"/>
                  <a:pt x="62073" y="28548"/>
                  <a:pt x="62073" y="3210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27" name="Text 24"/>
          <p:cNvSpPr/>
          <p:nvPr/>
        </p:nvSpPr>
        <p:spPr>
          <a:xfrm>
            <a:off x="762000" y="4563438"/>
            <a:ext cx="496584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85899" y="3223517"/>
            <a:ext cx="5659348" cy="1686674"/>
          </a:xfrm>
          <a:custGeom>
            <a:avLst/>
            <a:gdLst/>
            <a:ahLst/>
            <a:cxnLst/>
            <a:rect l="l" t="t" r="r" b="b"/>
            <a:pathLst>
              <a:path w="5659348" h="1686674">
                <a:moveTo>
                  <a:pt x="0" y="0"/>
                </a:moveTo>
                <a:lnTo>
                  <a:pt x="5659348" y="0"/>
                </a:lnTo>
                <a:lnTo>
                  <a:pt x="5659348" y="1686674"/>
                </a:lnTo>
                <a:lnTo>
                  <a:pt x="0" y="1686674"/>
                </a:lnTo>
                <a:lnTo>
                  <a:pt x="0" y="0"/>
                </a:lnTo>
                <a:close/>
              </a:path>
            </a:pathLst>
          </a:custGeom>
          <a:solidFill>
            <a:srgbClr val="3A5A78">
              <a:alpha val="20000"/>
            </a:srgbClr>
          </a:solidFill>
          <a:ln w="12700">
            <a:solidFill>
              <a:srgbClr val="3A5A78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61416" y="3399034"/>
            <a:ext cx="479461" cy="479461"/>
          </a:xfrm>
          <a:custGeom>
            <a:avLst/>
            <a:gdLst/>
            <a:ahLst/>
            <a:cxnLst/>
            <a:rect l="l" t="t" r="r" b="b"/>
            <a:pathLst>
              <a:path w="479461" h="479461">
                <a:moveTo>
                  <a:pt x="0" y="0"/>
                </a:moveTo>
                <a:lnTo>
                  <a:pt x="479461" y="0"/>
                </a:lnTo>
                <a:lnTo>
                  <a:pt x="479461" y="479461"/>
                </a:lnTo>
                <a:lnTo>
                  <a:pt x="0" y="479461"/>
                </a:lnTo>
                <a:lnTo>
                  <a:pt x="0" y="0"/>
                </a:lnTo>
                <a:close/>
              </a:path>
            </a:pathLst>
          </a:custGeom>
          <a:solidFill>
            <a:srgbClr val="3A5A78"/>
          </a:solidFill>
          <a:ln/>
        </p:spPr>
      </p:sp>
      <p:sp>
        <p:nvSpPr>
          <p:cNvPr id="30" name="Text 27"/>
          <p:cNvSpPr/>
          <p:nvPr/>
        </p:nvSpPr>
        <p:spPr>
          <a:xfrm>
            <a:off x="6474993" y="3501775"/>
            <a:ext cx="351034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977865" y="3501775"/>
            <a:ext cx="2071955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Readiness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61416" y="4015483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E0E2E5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security audits, stress testing, disaster recovery validation. Achieve SOC 2, ISO 27001 certifications. Build 24/7 support infrastructure.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78539" y="4580562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68494" y="0"/>
                </a:moveTo>
                <a:cubicBezTo>
                  <a:pt x="106297" y="0"/>
                  <a:pt x="136989" y="30691"/>
                  <a:pt x="136989" y="68494"/>
                </a:cubicBezTo>
                <a:cubicBezTo>
                  <a:pt x="136989" y="106297"/>
                  <a:pt x="106297" y="136989"/>
                  <a:pt x="68494" y="136989"/>
                </a:cubicBezTo>
                <a:cubicBezTo>
                  <a:pt x="30691" y="136989"/>
                  <a:pt x="0" y="106297"/>
                  <a:pt x="0" y="68494"/>
                </a:cubicBezTo>
                <a:cubicBezTo>
                  <a:pt x="0" y="30691"/>
                  <a:pt x="30691" y="0"/>
                  <a:pt x="68494" y="0"/>
                </a:cubicBezTo>
                <a:close/>
                <a:moveTo>
                  <a:pt x="62073" y="32107"/>
                </a:moveTo>
                <a:lnTo>
                  <a:pt x="62073" y="68494"/>
                </a:lnTo>
                <a:cubicBezTo>
                  <a:pt x="62073" y="70635"/>
                  <a:pt x="63143" y="72642"/>
                  <a:pt x="64936" y="73846"/>
                </a:cubicBezTo>
                <a:lnTo>
                  <a:pt x="90621" y="90969"/>
                </a:lnTo>
                <a:cubicBezTo>
                  <a:pt x="93564" y="92949"/>
                  <a:pt x="97551" y="92146"/>
                  <a:pt x="99531" y="89176"/>
                </a:cubicBezTo>
                <a:cubicBezTo>
                  <a:pt x="101511" y="86207"/>
                  <a:pt x="100708" y="82247"/>
                  <a:pt x="97738" y="80267"/>
                </a:cubicBezTo>
                <a:lnTo>
                  <a:pt x="74916" y="65070"/>
                </a:lnTo>
                <a:lnTo>
                  <a:pt x="74916" y="32107"/>
                </a:lnTo>
                <a:cubicBezTo>
                  <a:pt x="74916" y="28548"/>
                  <a:pt x="72053" y="25685"/>
                  <a:pt x="68494" y="25685"/>
                </a:cubicBezTo>
                <a:cubicBezTo>
                  <a:pt x="64936" y="25685"/>
                  <a:pt x="62073" y="28548"/>
                  <a:pt x="62073" y="32107"/>
                </a:cubicBez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4" name="Text 31"/>
          <p:cNvSpPr/>
          <p:nvPr/>
        </p:nvSpPr>
        <p:spPr>
          <a:xfrm>
            <a:off x="6601146" y="4563438"/>
            <a:ext cx="898989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Q3 2026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46753" y="5089989"/>
            <a:ext cx="11498494" cy="1198652"/>
          </a:xfrm>
          <a:custGeom>
            <a:avLst/>
            <a:gdLst/>
            <a:ahLst/>
            <a:cxnLst/>
            <a:rect l="l" t="t" r="r" b="b"/>
            <a:pathLst>
              <a:path w="11498494" h="1198652">
                <a:moveTo>
                  <a:pt x="0" y="0"/>
                </a:moveTo>
                <a:lnTo>
                  <a:pt x="11498494" y="0"/>
                </a:lnTo>
                <a:lnTo>
                  <a:pt x="11498494" y="1198652"/>
                </a:lnTo>
                <a:lnTo>
                  <a:pt x="0" y="1198652"/>
                </a:lnTo>
                <a:lnTo>
                  <a:pt x="0" y="0"/>
                </a:lnTo>
                <a:close/>
              </a:path>
            </a:pathLst>
          </a:custGeom>
          <a:solidFill>
            <a:srgbClr val="B89A6A">
              <a:alpha val="20000"/>
            </a:srgbClr>
          </a:solidFill>
          <a:ln w="12700">
            <a:solidFill>
              <a:srgbClr val="B89A6A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22270" y="5413197"/>
            <a:ext cx="547955" cy="547955"/>
          </a:xfrm>
          <a:custGeom>
            <a:avLst/>
            <a:gdLst/>
            <a:ahLst/>
            <a:cxnLst/>
            <a:rect l="l" t="t" r="r" b="b"/>
            <a:pathLst>
              <a:path w="547955" h="547955">
                <a:moveTo>
                  <a:pt x="0" y="0"/>
                </a:moveTo>
                <a:lnTo>
                  <a:pt x="547955" y="0"/>
                </a:lnTo>
                <a:lnTo>
                  <a:pt x="547955" y="547955"/>
                </a:lnTo>
                <a:lnTo>
                  <a:pt x="0" y="547955"/>
                </a:lnTo>
                <a:lnTo>
                  <a:pt x="0" y="0"/>
                </a:lnTo>
                <a:close/>
              </a:path>
            </a:pathLst>
          </a:custGeom>
          <a:solidFill>
            <a:srgbClr val="B89A6A"/>
          </a:solidFill>
          <a:ln/>
        </p:spPr>
      </p:sp>
      <p:sp>
        <p:nvSpPr>
          <p:cNvPr id="37" name="Shape 34"/>
          <p:cNvSpPr/>
          <p:nvPr/>
        </p:nvSpPr>
        <p:spPr>
          <a:xfrm>
            <a:off x="669961" y="5558747"/>
            <a:ext cx="256854" cy="256854"/>
          </a:xfrm>
          <a:custGeom>
            <a:avLst/>
            <a:gdLst/>
            <a:ahLst/>
            <a:cxnLst/>
            <a:rect l="l" t="t" r="r" b="b"/>
            <a:pathLst>
              <a:path w="256854" h="256854">
                <a:moveTo>
                  <a:pt x="64213" y="160534"/>
                </a:moveTo>
                <a:lnTo>
                  <a:pt x="12291" y="160534"/>
                </a:lnTo>
                <a:cubicBezTo>
                  <a:pt x="-201" y="160534"/>
                  <a:pt x="-7876" y="146939"/>
                  <a:pt x="-1455" y="136203"/>
                </a:cubicBezTo>
                <a:lnTo>
                  <a:pt x="25083" y="91956"/>
                </a:lnTo>
                <a:cubicBezTo>
                  <a:pt x="29448" y="84682"/>
                  <a:pt x="37274" y="80267"/>
                  <a:pt x="45752" y="80267"/>
                </a:cubicBezTo>
                <a:lnTo>
                  <a:pt x="93411" y="80267"/>
                </a:lnTo>
                <a:cubicBezTo>
                  <a:pt x="131587" y="15602"/>
                  <a:pt x="188527" y="12341"/>
                  <a:pt x="226603" y="17910"/>
                </a:cubicBezTo>
                <a:cubicBezTo>
                  <a:pt x="233025" y="18863"/>
                  <a:pt x="238041" y="23879"/>
                  <a:pt x="238944" y="30251"/>
                </a:cubicBezTo>
                <a:cubicBezTo>
                  <a:pt x="244513" y="68327"/>
                  <a:pt x="241252" y="125266"/>
                  <a:pt x="176587" y="163443"/>
                </a:cubicBezTo>
                <a:lnTo>
                  <a:pt x="176587" y="211102"/>
                </a:lnTo>
                <a:cubicBezTo>
                  <a:pt x="176587" y="219580"/>
                  <a:pt x="172172" y="227406"/>
                  <a:pt x="164898" y="231771"/>
                </a:cubicBezTo>
                <a:lnTo>
                  <a:pt x="120651" y="258309"/>
                </a:lnTo>
                <a:cubicBezTo>
                  <a:pt x="109966" y="264730"/>
                  <a:pt x="96320" y="257004"/>
                  <a:pt x="96320" y="244563"/>
                </a:cubicBezTo>
                <a:lnTo>
                  <a:pt x="96320" y="192640"/>
                </a:lnTo>
                <a:cubicBezTo>
                  <a:pt x="96320" y="174932"/>
                  <a:pt x="81922" y="160534"/>
                  <a:pt x="64213" y="160534"/>
                </a:cubicBezTo>
                <a:lnTo>
                  <a:pt x="64163" y="160534"/>
                </a:lnTo>
                <a:close/>
                <a:moveTo>
                  <a:pt x="200667" y="80267"/>
                </a:moveTo>
                <a:cubicBezTo>
                  <a:pt x="200667" y="66977"/>
                  <a:pt x="189877" y="56187"/>
                  <a:pt x="176587" y="56187"/>
                </a:cubicBezTo>
                <a:cubicBezTo>
                  <a:pt x="163297" y="56187"/>
                  <a:pt x="152507" y="66977"/>
                  <a:pt x="152507" y="80267"/>
                </a:cubicBezTo>
                <a:cubicBezTo>
                  <a:pt x="152507" y="93557"/>
                  <a:pt x="163297" y="104347"/>
                  <a:pt x="176587" y="104347"/>
                </a:cubicBezTo>
                <a:cubicBezTo>
                  <a:pt x="189877" y="104347"/>
                  <a:pt x="200667" y="93557"/>
                  <a:pt x="200667" y="8026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Text 35"/>
          <p:cNvSpPr/>
          <p:nvPr/>
        </p:nvSpPr>
        <p:spPr>
          <a:xfrm>
            <a:off x="1207213" y="5265506"/>
            <a:ext cx="10565258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Build National Infrastructure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207213" y="5607978"/>
            <a:ext cx="10539573" cy="505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3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v3.1.2 is production-ready. The team is assembled. The technology is validated. </a:t>
            </a:r>
            <a:pPr>
              <a:lnSpc>
                <a:spcPct val="140000"/>
              </a:lnSpc>
            </a:pPr>
            <a:r>
              <a:rPr lang="en-US" sz="1213" b="1" dirty="0">
                <a:solidFill>
                  <a:srgbClr val="B89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ready to establish the foundation of Uzbekistan's financial future.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42472" y="6425629"/>
            <a:ext cx="1087348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v3.1.2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0256097" y="6425629"/>
            <a:ext cx="166098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B89A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contact@revenant.finance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REVENANT — Pre-Authorization Deterministic Risk &amp; Security Infrastructure</dc:title>
  <dc:subject>REVENANT — Pre-Authorization Deterministic Risk &amp; Security Infrastructure</dc:subject>
  <dc:creator>Kimi</dc:creator>
  <cp:lastModifiedBy>Kimi</cp:lastModifiedBy>
  <cp:revision>1</cp:revision>
  <dcterms:created xsi:type="dcterms:W3CDTF">2026-03-05T03:50:26Z</dcterms:created>
  <dcterms:modified xsi:type="dcterms:W3CDTF">2026-03-05T03:50:26Z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{"Label":"REVENANT — Pre-Authorization Deterministic Risk &amp; Security Infrastructure","ContentProducer":"001191110108MACG2KBH8F10000","ProduceID":"19cbc19d-d692-8eaa-8000-0000e25483e5","ReservedCode1":"","ContentPropagator":"001191110108MACG2KBH8F20000","PropagateID":"19cbc19d-d692-8eaa-8000-0000e25483e5","ReservedCode2":""}</vt:lpwstr>
  </property>
</Properties>
</file>