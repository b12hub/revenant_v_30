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147072" cy="5143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139928" y="0"/>
            <a:ext cx="7144" cy="51435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900894"/>
            <a:ext cx="4000500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spc="2" kern="0" dirty="0">
                <a:solidFill>
                  <a:srgbClr val="D4AF37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STRATEGIK TAQDIMOT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571500" y="1109849"/>
            <a:ext cx="4000500" cy="13201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850" b="1" spc="-1" kern="0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REVENANT: </a:t>
            </a:r>
            <a:r>
              <a:rPr lang="en-US" sz="2850" b="1" spc="-1" kern="0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
</a:t>
            </a:r>
            <a:r>
              <a:rPr lang="en-US" sz="2850" b="1" spc="-1" kern="0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SUVEREN IJRO </a:t>
            </a:r>
            <a:r>
              <a:rPr lang="en-US" sz="2850" b="1" spc="-1" kern="0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
</a:t>
            </a:r>
            <a:r>
              <a:rPr lang="en-US" sz="2850" b="1" spc="-1" kern="0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QATLAMI</a:t>
            </a:r>
            <a:endParaRPr lang="en-US" sz="2850" dirty="0"/>
          </a:p>
        </p:txBody>
      </p:sp>
      <p:sp>
        <p:nvSpPr>
          <p:cNvPr id="7" name="Text 4"/>
          <p:cNvSpPr/>
          <p:nvPr/>
        </p:nvSpPr>
        <p:spPr>
          <a:xfrm>
            <a:off x="571500" y="2572838"/>
            <a:ext cx="3571875" cy="660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Raqamli Transformatsiya Yetakchiligidan Foydalanish va Bank Aktivlari Asosini Himoya Qilish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71500" y="3518604"/>
            <a:ext cx="1914525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D4AF37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$300,000,000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71500" y="3852574"/>
            <a:ext cx="1914525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spc="1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YEVROBOND CHIQARILISHI (LSE)</a:t>
            </a:r>
            <a:r>
              <a:rPr lang="en-US" sz="750" spc="1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750" spc="1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4X ORTIQCHA OBUNA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2657475" y="3518604"/>
            <a:ext cx="1914525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D4AF37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Mukofot 2025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2657475" y="3852574"/>
            <a:ext cx="1914525" cy="390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spc="1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 YAXSHI RAQAMLI </a:t>
            </a:r>
            <a:r>
              <a:rPr lang="en-US" sz="750" spc="1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TRANSFORMATSIYA</a:t>
            </a:r>
            <a:r>
              <a:rPr lang="en-US" sz="750" spc="1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750" spc="1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BANKI (XALQARO MOLIYA)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6679406" y="2107406"/>
            <a:ext cx="928688" cy="928688"/>
          </a:xfrm>
          <a:prstGeom prst="rect">
            <a:avLst/>
          </a:prstGeom>
          <a:solidFill>
            <a:srgbClr val="1E293B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8751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spc="-1" kern="0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REGULYATIV TO'SIQ VA </a:t>
            </a:r>
            <a:r>
              <a:rPr lang="en-US" sz="2450" b="1" spc="-1" kern="0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
</a:t>
            </a:r>
            <a:r>
              <a:rPr lang="en-US" sz="2450" b="1" spc="-1" kern="0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ZAIFLIKLAR MATRITSASI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571500" y="1725216"/>
            <a:ext cx="3786188" cy="3214688"/>
          </a:xfrm>
          <a:prstGeom prst="rect">
            <a:avLst/>
          </a:prstGeom>
          <a:solidFill>
            <a:srgbClr val="1E293B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" y="2034183"/>
            <a:ext cx="171450" cy="1714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35856" y="2010966"/>
            <a:ext cx="1173361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D4AF37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MB TALABLARI</a:t>
            </a:r>
            <a:endParaRPr lang="en-US" sz="1250" dirty="0"/>
          </a:p>
        </p:txBody>
      </p:sp>
      <p:sp>
        <p:nvSpPr>
          <p:cNvPr id="7" name="Text 3"/>
          <p:cNvSpPr/>
          <p:nvPr/>
        </p:nvSpPr>
        <p:spPr>
          <a:xfrm>
            <a:off x="857250" y="2443163"/>
            <a:ext cx="3214688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Markaziy bankning (MB) 2026-yilga mo'ljallangan AML/CFT doiralari identifikatsiya chegarasini tushirdi. Muvofiqlik endi ixtiyoriy emas; bu yuqori tezlikdagi talabdir.</a:t>
            </a:r>
            <a:endParaRPr lang="en-US" sz="950" dirty="0"/>
          </a:p>
        </p:txBody>
      </p:sp>
      <p:sp>
        <p:nvSpPr>
          <p:cNvPr id="8" name="Text 4"/>
          <p:cNvSpPr/>
          <p:nvPr/>
        </p:nvSpPr>
        <p:spPr>
          <a:xfrm>
            <a:off x="857250" y="3630364"/>
            <a:ext cx="3214688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25 BRV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857250" y="3994696"/>
            <a:ext cx="3214688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1" kern="0" dirty="0">
                <a:solidFill>
                  <a:srgbClr val="D4AF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IDENTIFIKATSIYA CHEGARASI (10.3M UZS)</a:t>
            </a:r>
            <a:endParaRPr lang="en-US" sz="750" dirty="0"/>
          </a:p>
        </p:txBody>
      </p:sp>
      <p:sp>
        <p:nvSpPr>
          <p:cNvPr id="10" name="Text 6"/>
          <p:cNvSpPr/>
          <p:nvPr/>
        </p:nvSpPr>
        <p:spPr>
          <a:xfrm>
            <a:off x="857250" y="4409033"/>
            <a:ext cx="3214688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24 Soat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857250" y="4773364"/>
            <a:ext cx="3214688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1" kern="0" dirty="0">
                <a:solidFill>
                  <a:srgbClr val="D4AF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MAJBURIY SAR HISOBOTI OYNASI</a:t>
            </a:r>
            <a:endParaRPr lang="en-US" sz="750" dirty="0"/>
          </a:p>
        </p:txBody>
      </p:sp>
      <p:sp>
        <p:nvSpPr>
          <p:cNvPr id="12" name="Shape 8"/>
          <p:cNvSpPr/>
          <p:nvPr/>
        </p:nvSpPr>
        <p:spPr>
          <a:xfrm>
            <a:off x="4786313" y="1725216"/>
            <a:ext cx="3786188" cy="3214688"/>
          </a:xfrm>
          <a:prstGeom prst="rect">
            <a:avLst/>
          </a:prstGeom>
          <a:solidFill>
            <a:srgbClr val="1E293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2063" y="2034183"/>
            <a:ext cx="171450" cy="17145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350669" y="2010966"/>
            <a:ext cx="1319808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D4AF37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TIZIM ZO'RIQISHI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5072063" y="2443163"/>
            <a:ext cx="3214688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Aloqa Business 2.0 ilovasi jiddiy muammolarga duch kelmoqda. Sessiya vaqtining tugashi va AI kodini qayta ishlashdagi beqarorlik katta operatsion xarajatlarni keltirib chiqarmoqda.</a:t>
            </a:r>
            <a:endParaRPr lang="en-US" sz="950" dirty="0"/>
          </a:p>
        </p:txBody>
      </p:sp>
      <p:sp>
        <p:nvSpPr>
          <p:cNvPr id="16" name="Text 11"/>
          <p:cNvSpPr/>
          <p:nvPr/>
        </p:nvSpPr>
        <p:spPr>
          <a:xfrm>
            <a:off x="5072063" y="3630364"/>
            <a:ext cx="3214688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1,800+</a:t>
            </a:r>
            <a:endParaRPr lang="en-US" sz="1900" dirty="0"/>
          </a:p>
        </p:txBody>
      </p:sp>
      <p:sp>
        <p:nvSpPr>
          <p:cNvPr id="17" name="Text 12"/>
          <p:cNvSpPr/>
          <p:nvPr/>
        </p:nvSpPr>
        <p:spPr>
          <a:xfrm>
            <a:off x="5072063" y="3994696"/>
            <a:ext cx="3214688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1" kern="0" dirty="0">
                <a:solidFill>
                  <a:srgbClr val="D4AF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KUNLIK QO'LLAB-QUVVATLASH CHIPTALARI</a:t>
            </a:r>
            <a:endParaRPr lang="en-US" sz="750" dirty="0"/>
          </a:p>
        </p:txBody>
      </p:sp>
      <p:sp>
        <p:nvSpPr>
          <p:cNvPr id="18" name="Text 13"/>
          <p:cNvSpPr/>
          <p:nvPr/>
        </p:nvSpPr>
        <p:spPr>
          <a:xfrm>
            <a:off x="5072063" y="4409033"/>
            <a:ext cx="3214688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45%</a:t>
            </a:r>
            <a:endParaRPr lang="en-US" sz="1900" dirty="0"/>
          </a:p>
        </p:txBody>
      </p:sp>
      <p:sp>
        <p:nvSpPr>
          <p:cNvPr id="19" name="Text 14"/>
          <p:cNvSpPr/>
          <p:nvPr/>
        </p:nvSpPr>
        <p:spPr>
          <a:xfrm>
            <a:off x="5072063" y="4773364"/>
            <a:ext cx="3214688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1" kern="0" dirty="0">
                <a:solidFill>
                  <a:srgbClr val="D4AF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KIRITISH XATOLARI TUFAYLI YUZAGA KELGAN HAJM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8751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spc="-1" kern="0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REVENANT: CHATBOT EMAS, </a:t>
            </a:r>
            <a:r>
              <a:rPr lang="en-US" sz="2450" b="1" spc="-1" kern="0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
</a:t>
            </a:r>
            <a:r>
              <a:rPr lang="en-US" sz="2450" b="1" spc="-1" kern="0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ARXITEKTURA TEMIR QO'LI</a:t>
            </a:r>
            <a:endParaRPr lang="en-US" sz="2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9904" y="2437805"/>
            <a:ext cx="1125141" cy="1285875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1074465" y="3866555"/>
            <a:ext cx="2436019" cy="27860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6" name="Text 2"/>
          <p:cNvSpPr/>
          <p:nvPr/>
        </p:nvSpPr>
        <p:spPr>
          <a:xfrm>
            <a:off x="1074465" y="3866555"/>
            <a:ext cx="2436019" cy="278606"/>
          </a:xfrm>
          <a:prstGeom prst="rect">
            <a:avLst/>
          </a:prstGeom>
          <a:noFill/>
          <a:ln/>
        </p:spPr>
        <p:txBody>
          <a:bodyPr wrap="square" lIns="170053" tIns="68072" rIns="170053" bIns="68072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A192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XATOLIKDA YOPILGAN NOL-ISHONCH</a:t>
            </a:r>
            <a:endParaRPr lang="en-US" sz="900" dirty="0"/>
          </a:p>
        </p:txBody>
      </p:sp>
      <p:sp>
        <p:nvSpPr>
          <p:cNvPr id="7" name="Shape 3"/>
          <p:cNvSpPr/>
          <p:nvPr/>
        </p:nvSpPr>
        <p:spPr>
          <a:xfrm>
            <a:off x="4442101" y="2064544"/>
            <a:ext cx="357188" cy="357188"/>
          </a:xfrm>
          <a:prstGeom prst="rect">
            <a:avLst/>
          </a:prstGeom>
          <a:solidFill>
            <a:srgbClr val="1E293B"/>
          </a:solidFill>
          <a:ln/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9257" y="2171700"/>
            <a:ext cx="142875" cy="14287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942163" y="2064544"/>
            <a:ext cx="3630337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Avtonom Orkestratsiya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4942163" y="2339578"/>
            <a:ext cx="363033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Aloqa nuqtalari va ichki ma'lumotlar bazalari ortida bevosita ishlaydigan xavfsiz mexanizm.</a:t>
            </a:r>
            <a:endParaRPr lang="en-US" sz="850" dirty="0"/>
          </a:p>
        </p:txBody>
      </p:sp>
      <p:sp>
        <p:nvSpPr>
          <p:cNvPr id="11" name="Shape 6"/>
          <p:cNvSpPr/>
          <p:nvPr/>
        </p:nvSpPr>
        <p:spPr>
          <a:xfrm>
            <a:off x="4442101" y="2896791"/>
            <a:ext cx="357188" cy="357188"/>
          </a:xfrm>
          <a:prstGeom prst="rect">
            <a:avLst/>
          </a:prstGeom>
          <a:solidFill>
            <a:srgbClr val="1E293B"/>
          </a:solidFill>
          <a:ln/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9257" y="3003947"/>
            <a:ext cx="142875" cy="14287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942163" y="2896791"/>
            <a:ext cx="3630337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Strukturaviy Sanitariya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4942163" y="3171825"/>
            <a:ext cx="3630337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Tranzaksiyalarni asosiy bank liniyalariga yetib borguncha tekshiradi, tarjima qiladi va tasdiqlaydi. Noto'g'ri ma'lumotlar rad etiladi.</a:t>
            </a:r>
            <a:endParaRPr lang="en-US" sz="850" dirty="0"/>
          </a:p>
        </p:txBody>
      </p:sp>
      <p:sp>
        <p:nvSpPr>
          <p:cNvPr id="15" name="Shape 9"/>
          <p:cNvSpPr/>
          <p:nvPr/>
        </p:nvSpPr>
        <p:spPr>
          <a:xfrm>
            <a:off x="4442101" y="3900488"/>
            <a:ext cx="357188" cy="357188"/>
          </a:xfrm>
          <a:prstGeom prst="rect">
            <a:avLst/>
          </a:prstGeom>
          <a:solidFill>
            <a:srgbClr val="1E293B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1398" y="4007644"/>
            <a:ext cx="178594" cy="142875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942163" y="3900488"/>
            <a:ext cx="3630337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Ko'p Qatlamli Quvur Liniyasi</a:t>
            </a:r>
            <a:endParaRPr lang="en-US" sz="1200" dirty="0"/>
          </a:p>
        </p:txBody>
      </p:sp>
      <p:sp>
        <p:nvSpPr>
          <p:cNvPr id="18" name="Text 11"/>
          <p:cNvSpPr/>
          <p:nvPr/>
        </p:nvSpPr>
        <p:spPr>
          <a:xfrm>
            <a:off x="4942163" y="4175522"/>
            <a:ext cx="363033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Korxona bo'ylab xavfsizlik, shaxsni tasdiqlash va operatsion hisobni qamrab oluvchi ko'p bosqichli imkoniyatlar profili.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8572500" cy="382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spc="-1" kern="0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QUVUR LINIYASI XUSUSIYATLARI MATRITSASI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571500" y="1125141"/>
            <a:ext cx="678656" cy="18395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1125141"/>
            <a:ext cx="678656" cy="183952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A192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1-BOSQICH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571500" y="1380530"/>
            <a:ext cx="1285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Asosiy Xavfsizlik va Kirish Himoyasi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2071688" y="1053703"/>
            <a:ext cx="2071688" cy="142875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Shape 5"/>
          <p:cNvSpPr/>
          <p:nvPr/>
        </p:nvSpPr>
        <p:spPr>
          <a:xfrm>
            <a:off x="2071688" y="1053703"/>
            <a:ext cx="2071688" cy="14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9" name="Text 6"/>
          <p:cNvSpPr/>
          <p:nvPr/>
        </p:nvSpPr>
        <p:spPr>
          <a:xfrm>
            <a:off x="2250281" y="1369814"/>
            <a:ext cx="1714500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Titan Sanitariyasi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2250281" y="1605558"/>
            <a:ext cx="1714500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XSS/SQLi ni tozalaydi va daqiqasiga </a:t>
            </a:r>
            <a:r>
              <a:rPr lang="en-US" sz="700" dirty="0">
                <a:solidFill>
                  <a:srgbClr val="D4AF37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10 ta so'rov</a:t>
            </a: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bilan cheklangan qattiq </a:t>
            </a: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aylanma trafik shlyuzini joriy qiladi.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286250" y="1053703"/>
            <a:ext cx="2071688" cy="142875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Shape 9"/>
          <p:cNvSpPr/>
          <p:nvPr/>
        </p:nvSpPr>
        <p:spPr>
          <a:xfrm>
            <a:off x="4286250" y="1053703"/>
            <a:ext cx="2071688" cy="14288"/>
          </a:xfrm>
          <a:prstGeom prst="rect">
            <a:avLst/>
          </a:prstGeom>
          <a:solidFill>
            <a:srgbClr val="334155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4844" y="1232297"/>
            <a:ext cx="150019" cy="17145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464844" y="1510903"/>
            <a:ext cx="1714500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Zaharlanishdan Himoya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4464844" y="1746647"/>
            <a:ext cx="1714500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D4AF37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Nol-Ishonchli</a:t>
            </a: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rad etishlar orqali </a:t>
            </a: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anti-CEO firibgarligi va tizim </a:t>
            </a: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soxtalashtirishlarini baholaydi.</a:t>
            </a:r>
            <a:endParaRPr lang="en-US" sz="700" dirty="0"/>
          </a:p>
        </p:txBody>
      </p:sp>
      <p:sp>
        <p:nvSpPr>
          <p:cNvPr id="16" name="Shape 12"/>
          <p:cNvSpPr/>
          <p:nvPr/>
        </p:nvSpPr>
        <p:spPr>
          <a:xfrm>
            <a:off x="6500813" y="1053703"/>
            <a:ext cx="2071688" cy="142875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Shape 13"/>
          <p:cNvSpPr/>
          <p:nvPr/>
        </p:nvSpPr>
        <p:spPr>
          <a:xfrm>
            <a:off x="6500813" y="1053703"/>
            <a:ext cx="2071688" cy="14288"/>
          </a:xfrm>
          <a:prstGeom prst="rect">
            <a:avLst/>
          </a:prstGeom>
          <a:solidFill>
            <a:srgbClr val="334155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9406" y="1232297"/>
            <a:ext cx="128588" cy="17145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679406" y="1510903"/>
            <a:ext cx="1714500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MB Muvofiqligi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6679406" y="1746647"/>
            <a:ext cx="1714500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Telemetriyani 25 BRV talabiga mos </a:t>
            </a: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keladigan </a:t>
            </a:r>
            <a:r>
              <a:rPr lang="en-US" sz="700" dirty="0">
                <a:solidFill>
                  <a:srgbClr val="D4AF37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XML sxemalariga</a:t>
            </a: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bir </a:t>
            </a: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zumda tarjima qilish.</a:t>
            </a:r>
            <a:endParaRPr lang="en-US" sz="750" dirty="0"/>
          </a:p>
        </p:txBody>
      </p:sp>
      <p:sp>
        <p:nvSpPr>
          <p:cNvPr id="21" name="Shape 16"/>
          <p:cNvSpPr/>
          <p:nvPr/>
        </p:nvSpPr>
        <p:spPr>
          <a:xfrm>
            <a:off x="571500" y="2839641"/>
            <a:ext cx="692944" cy="18395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2" name="Text 17"/>
          <p:cNvSpPr/>
          <p:nvPr/>
        </p:nvSpPr>
        <p:spPr>
          <a:xfrm>
            <a:off x="571500" y="2839641"/>
            <a:ext cx="692944" cy="183952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A192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2-BOSQICH</a:t>
            </a:r>
            <a:endParaRPr lang="en-US" sz="700" dirty="0"/>
          </a:p>
        </p:txBody>
      </p:sp>
      <p:sp>
        <p:nvSpPr>
          <p:cNvPr id="23" name="Text 18"/>
          <p:cNvSpPr/>
          <p:nvPr/>
        </p:nvSpPr>
        <p:spPr>
          <a:xfrm>
            <a:off x="571500" y="3095030"/>
            <a:ext cx="128587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Intellektual Triage va Shaxsni Tasdiqlash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2071688" y="2768203"/>
            <a:ext cx="2071688" cy="142875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5" name="Shape 20"/>
          <p:cNvSpPr/>
          <p:nvPr/>
        </p:nvSpPr>
        <p:spPr>
          <a:xfrm>
            <a:off x="2071688" y="2768203"/>
            <a:ext cx="2071688" cy="14288"/>
          </a:xfrm>
          <a:prstGeom prst="rect">
            <a:avLst/>
          </a:prstGeom>
          <a:solidFill>
            <a:srgbClr val="334155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0281" y="2946797"/>
            <a:ext cx="128588" cy="17145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2250281" y="3225403"/>
            <a:ext cx="1714500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Spektral Biometrika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2250281" y="3461147"/>
            <a:ext cx="1714500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Chuqur soxtalashtirishni blokirovka </a:t>
            </a: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qilish uchun </a:t>
            </a:r>
            <a:r>
              <a:rPr lang="en-US" sz="700" dirty="0">
                <a:solidFill>
                  <a:srgbClr val="D4AF37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doimiy vaqtli bufer </a:t>
            </a:r>
            <a:r>
              <a:rPr lang="en-US" sz="700" dirty="0">
                <a:solidFill>
                  <a:srgbClr val="D4AF37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tekshiruviga</a:t>
            </a: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ega ovozli biometrika.</a:t>
            </a:r>
            <a:endParaRPr lang="en-US" sz="750" dirty="0"/>
          </a:p>
        </p:txBody>
      </p:sp>
      <p:sp>
        <p:nvSpPr>
          <p:cNvPr id="29" name="Shape 23"/>
          <p:cNvSpPr/>
          <p:nvPr/>
        </p:nvSpPr>
        <p:spPr>
          <a:xfrm>
            <a:off x="4286250" y="2768203"/>
            <a:ext cx="2071688" cy="142875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0" name="Shape 24"/>
          <p:cNvSpPr/>
          <p:nvPr/>
        </p:nvSpPr>
        <p:spPr>
          <a:xfrm>
            <a:off x="4286250" y="2768203"/>
            <a:ext cx="2071688" cy="14288"/>
          </a:xfrm>
          <a:prstGeom prst="rect">
            <a:avLst/>
          </a:prstGeom>
          <a:solidFill>
            <a:srgbClr val="334155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4844" y="2946797"/>
            <a:ext cx="171450" cy="17145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4464844" y="3225403"/>
            <a:ext cx="1714500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Konsensus Mexanizmi</a:t>
            </a:r>
            <a:endParaRPr lang="en-US" sz="900" dirty="0"/>
          </a:p>
        </p:txBody>
      </p:sp>
      <p:sp>
        <p:nvSpPr>
          <p:cNvPr id="33" name="Text 26"/>
          <p:cNvSpPr/>
          <p:nvPr/>
        </p:nvSpPr>
        <p:spPr>
          <a:xfrm>
            <a:off x="4464844" y="3461147"/>
            <a:ext cx="1714500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Qat'iy </a:t>
            </a:r>
            <a:r>
              <a:rPr lang="en-US" sz="700" dirty="0">
                <a:solidFill>
                  <a:srgbClr val="D4AF37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konsensus talablari</a:t>
            </a: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bilan ikki </a:t>
            </a: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mustaqil ishlov berish </a:t>
            </a: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(OpenAI/Anthropic).</a:t>
            </a:r>
            <a:endParaRPr lang="en-US" sz="750" dirty="0"/>
          </a:p>
        </p:txBody>
      </p:sp>
      <p:sp>
        <p:nvSpPr>
          <p:cNvPr id="34" name="Shape 27"/>
          <p:cNvSpPr/>
          <p:nvPr/>
        </p:nvSpPr>
        <p:spPr>
          <a:xfrm>
            <a:off x="6500813" y="2768203"/>
            <a:ext cx="2071688" cy="142875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5" name="Shape 28"/>
          <p:cNvSpPr/>
          <p:nvPr/>
        </p:nvSpPr>
        <p:spPr>
          <a:xfrm>
            <a:off x="6500813" y="2768203"/>
            <a:ext cx="2071688" cy="14288"/>
          </a:xfrm>
          <a:prstGeom prst="rect">
            <a:avLst/>
          </a:prstGeom>
          <a:solidFill>
            <a:srgbClr val="334155"/>
          </a:solidFill>
          <a:ln/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9406" y="2946797"/>
            <a:ext cx="214313" cy="17145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6679406" y="3225403"/>
            <a:ext cx="1714500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Uch Tilli Tahlilchi</a:t>
            </a:r>
            <a:endParaRPr lang="en-US" sz="900" dirty="0"/>
          </a:p>
        </p:txBody>
      </p:sp>
      <p:sp>
        <p:nvSpPr>
          <p:cNvPr id="38" name="Text 30"/>
          <p:cNvSpPr/>
          <p:nvPr/>
        </p:nvSpPr>
        <p:spPr>
          <a:xfrm>
            <a:off x="6679406" y="3461147"/>
            <a:ext cx="1714500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Toza texnik tilshunoslik uchun </a:t>
            </a: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ixtisoslashgan </a:t>
            </a:r>
            <a:r>
              <a:rPr lang="en-US" sz="700" dirty="0">
                <a:solidFill>
                  <a:srgbClr val="D4AF37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UZ-Latin, RU va EN</a:t>
            </a: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to'xtash so'zlari og'irligi.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spc="2" kern="0" dirty="0">
                <a:solidFill>
                  <a:srgbClr val="D4AF37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3-BOSQICH: OPERATSION HISOB VA XOTIRA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571500" y="664369"/>
            <a:ext cx="8572500" cy="8751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spc="-1" kern="0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QUVUR LINIYASI XUSUSIYATLARI MATRITSASI: </a:t>
            </a:r>
            <a:r>
              <a:rPr lang="en-US" sz="2450" b="1" spc="-1" kern="0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
</a:t>
            </a:r>
            <a:r>
              <a:rPr lang="en-US" sz="2450" b="1" spc="-1" kern="0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OPERATSION XOTIRA</a:t>
            </a:r>
            <a:endParaRPr lang="en-US" sz="2450" dirty="0"/>
          </a:p>
        </p:txBody>
      </p:sp>
      <p:sp>
        <p:nvSpPr>
          <p:cNvPr id="5" name="Shape 2"/>
          <p:cNvSpPr/>
          <p:nvPr/>
        </p:nvSpPr>
        <p:spPr>
          <a:xfrm>
            <a:off x="571500" y="1818084"/>
            <a:ext cx="2571750" cy="185737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Shape 3"/>
          <p:cNvSpPr/>
          <p:nvPr/>
        </p:nvSpPr>
        <p:spPr>
          <a:xfrm>
            <a:off x="571500" y="1818084"/>
            <a:ext cx="2571750" cy="14288"/>
          </a:xfrm>
          <a:prstGeom prst="rect">
            <a:avLst/>
          </a:prstGeom>
          <a:solidFill>
            <a:srgbClr val="D4AF37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813" y="1960959"/>
            <a:ext cx="200025" cy="228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85813" y="2275284"/>
            <a:ext cx="2143125" cy="377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b="1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Vektor Xotira Ombori va DNK Profilini Aniqlash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785813" y="2738177"/>
            <a:ext cx="2143125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Ijro etilishidan oldin tarixiy tranzaksiya tendentsiyalarini o'zaro taqqoslash va anomallarni aniqlash uchun Supabase RPC qidiruvlari bilan integratsiyalashgan.</a:t>
            </a:r>
            <a:endParaRPr lang="en-US" sz="800" dirty="0"/>
          </a:p>
        </p:txBody>
      </p:sp>
      <p:sp>
        <p:nvSpPr>
          <p:cNvPr id="10" name="Shape 6"/>
          <p:cNvSpPr/>
          <p:nvPr/>
        </p:nvSpPr>
        <p:spPr>
          <a:xfrm>
            <a:off x="3286125" y="1818084"/>
            <a:ext cx="2571750" cy="185737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Shape 7"/>
          <p:cNvSpPr/>
          <p:nvPr/>
        </p:nvSpPr>
        <p:spPr>
          <a:xfrm>
            <a:off x="3286125" y="1818084"/>
            <a:ext cx="2571750" cy="14288"/>
          </a:xfrm>
          <a:prstGeom prst="rect">
            <a:avLst/>
          </a:prstGeom>
          <a:solidFill>
            <a:srgbClr val="D4AF37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0438" y="1960959"/>
            <a:ext cx="228600" cy="2286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500438" y="2275284"/>
            <a:ext cx="2143125" cy="377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b="1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Dinamik Mahalliy Valyuta Iqtisodiyoti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3500438" y="2738177"/>
            <a:ext cx="2143125" cy="803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UZSda qayta ishlangan har bir tranzaksiya uchun aniq operatsion marjalar va hisoblash xarajatlarini hisoblab chiqadi, bu moliyaviy shaffoflikni ta'minlaydi.</a:t>
            </a:r>
            <a:endParaRPr lang="en-US" sz="800" dirty="0"/>
          </a:p>
        </p:txBody>
      </p:sp>
      <p:sp>
        <p:nvSpPr>
          <p:cNvPr id="15" name="Shape 10"/>
          <p:cNvSpPr/>
          <p:nvPr/>
        </p:nvSpPr>
        <p:spPr>
          <a:xfrm>
            <a:off x="6000750" y="1818084"/>
            <a:ext cx="2571750" cy="185737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Shape 11"/>
          <p:cNvSpPr/>
          <p:nvPr/>
        </p:nvSpPr>
        <p:spPr>
          <a:xfrm>
            <a:off x="6000750" y="1818084"/>
            <a:ext cx="2571750" cy="14288"/>
          </a:xfrm>
          <a:prstGeom prst="rect">
            <a:avLst/>
          </a:prstGeom>
          <a:solidFill>
            <a:srgbClr val="D4AF37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5063" y="1960959"/>
            <a:ext cx="285750" cy="2286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215063" y="2275284"/>
            <a:ext cx="2143125" cy="377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b="1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Vaqt bilan Cheklangan Inson Shlyuzi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6215063" y="2738177"/>
            <a:ext cx="2143125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Xavf ofitserlariga 15 daqiqalik qat'iy "Zombi-o'ldirish" avtomatik rad etish oynasi bilan darhol ogohlantirishlarni yo'naltiradi.</a:t>
            </a:r>
            <a:endParaRPr lang="en-US" sz="800" dirty="0"/>
          </a:p>
        </p:txBody>
      </p:sp>
      <p:sp>
        <p:nvSpPr>
          <p:cNvPr id="20" name="Shape 14"/>
          <p:cNvSpPr/>
          <p:nvPr/>
        </p:nvSpPr>
        <p:spPr>
          <a:xfrm>
            <a:off x="0" y="4286250"/>
            <a:ext cx="9144000" cy="85725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21" name="Text 15"/>
          <p:cNvSpPr/>
          <p:nvPr/>
        </p:nvSpPr>
        <p:spPr>
          <a:xfrm>
            <a:off x="571500" y="4429125"/>
            <a:ext cx="1153716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D4AF37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15 Daqiqa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571500" y="4720233"/>
            <a:ext cx="1153716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QAT'IY TUGASH OYNASI</a:t>
            </a:r>
            <a:endParaRPr lang="en-US" sz="600" dirty="0"/>
          </a:p>
        </p:txBody>
      </p:sp>
      <p:sp>
        <p:nvSpPr>
          <p:cNvPr id="23" name="Text 17"/>
          <p:cNvSpPr/>
          <p:nvPr/>
        </p:nvSpPr>
        <p:spPr>
          <a:xfrm>
            <a:off x="2010966" y="4429125"/>
            <a:ext cx="1435894" cy="255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D4AF37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Haversine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2010966" y="4720233"/>
            <a:ext cx="1435894" cy="105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GEOGRAFIK SILJISH MANTIG'I</a:t>
            </a:r>
            <a:endParaRPr lang="en-US" sz="600" dirty="0"/>
          </a:p>
        </p:txBody>
      </p:sp>
      <p:sp>
        <p:nvSpPr>
          <p:cNvPr id="25" name="Text 19"/>
          <p:cNvSpPr/>
          <p:nvPr/>
        </p:nvSpPr>
        <p:spPr>
          <a:xfrm>
            <a:off x="3732609" y="4429125"/>
            <a:ext cx="1341239" cy="255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D4AF37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Real Vaqtda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3732609" y="4720233"/>
            <a:ext cx="1341239" cy="105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UZS MARJASINI HISOBLASH</a:t>
            </a:r>
            <a:endParaRPr lang="en-US" sz="600" dirty="0"/>
          </a:p>
        </p:txBody>
      </p:sp>
      <p:sp>
        <p:nvSpPr>
          <p:cNvPr id="27" name="Text 21"/>
          <p:cNvSpPr/>
          <p:nvPr/>
        </p:nvSpPr>
        <p:spPr>
          <a:xfrm>
            <a:off x="5359598" y="4429125"/>
            <a:ext cx="1041202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D4AF37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Supabase</a:t>
            </a:r>
            <a:endParaRPr lang="en-US" sz="1500" dirty="0"/>
          </a:p>
        </p:txBody>
      </p:sp>
      <p:sp>
        <p:nvSpPr>
          <p:cNvPr id="28" name="Text 22"/>
          <p:cNvSpPr/>
          <p:nvPr/>
        </p:nvSpPr>
        <p:spPr>
          <a:xfrm>
            <a:off x="5359598" y="4720233"/>
            <a:ext cx="1041202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VEKTOR DNK OMBORI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8751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spc="-1" kern="0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KRIPTOGRAFIK KUZATUV VA </a:t>
            </a:r>
            <a:r>
              <a:rPr lang="en-US" sz="2450" b="1" spc="-1" kern="0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
</a:t>
            </a:r>
            <a:r>
              <a:rPr lang="en-US" sz="2450" b="1" spc="-1" kern="0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O'ZGARMAS HIMOYA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900113" y="1868091"/>
            <a:ext cx="714375" cy="714375"/>
          </a:xfrm>
          <a:prstGeom prst="rect">
            <a:avLst/>
          </a:prstGeom>
          <a:solidFill>
            <a:srgbClr val="1E293B"/>
          </a:solidFill>
          <a:ln w="18288">
            <a:solidFill>
              <a:srgbClr val="D4AF37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713" y="2096691"/>
            <a:ext cx="257175" cy="25717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00063" y="2761059"/>
            <a:ext cx="1514475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KIRISH NORMALIZATORI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500063" y="3232547"/>
            <a:ext cx="1514475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Kiruvchi yuklama maydonlarini ajratadi va standartlashtirilgan ichki sxemalarga tahlil qiladi.</a:t>
            </a:r>
            <a:endParaRPr lang="en-US" sz="750" dirty="0"/>
          </a:p>
        </p:txBody>
      </p:sp>
      <p:sp>
        <p:nvSpPr>
          <p:cNvPr id="8" name="Shape 4"/>
          <p:cNvSpPr/>
          <p:nvPr/>
        </p:nvSpPr>
        <p:spPr>
          <a:xfrm>
            <a:off x="2557463" y="1868091"/>
            <a:ext cx="714375" cy="714375"/>
          </a:xfrm>
          <a:prstGeom prst="rect">
            <a:avLst/>
          </a:prstGeom>
          <a:solidFill>
            <a:srgbClr val="1E293B"/>
          </a:solidFill>
          <a:ln w="18288">
            <a:solidFill>
              <a:srgbClr val="D4AF37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2253853" y="2761059"/>
            <a:ext cx="1321594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TITAN SANITIZATORI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2157413" y="3225403"/>
            <a:ext cx="1514475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 inyeksiyalari va zararli skriptlarni (XSS/SQLi) real vaqt rejimida faol ravishda ushlab turadi.</a:t>
            </a:r>
            <a:endParaRPr lang="en-US" sz="750" dirty="0"/>
          </a:p>
        </p:txBody>
      </p:sp>
      <p:sp>
        <p:nvSpPr>
          <p:cNvPr id="11" name="Shape 7"/>
          <p:cNvSpPr/>
          <p:nvPr/>
        </p:nvSpPr>
        <p:spPr>
          <a:xfrm>
            <a:off x="4214813" y="1868091"/>
            <a:ext cx="714375" cy="714375"/>
          </a:xfrm>
          <a:prstGeom prst="rect">
            <a:avLst/>
          </a:prstGeom>
          <a:solidFill>
            <a:srgbClr val="1E293B"/>
          </a:solidFill>
          <a:ln w="18288">
            <a:solidFill>
              <a:srgbClr val="D4AF37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3413" y="2096691"/>
            <a:ext cx="257175" cy="25717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814763" y="2761059"/>
            <a:ext cx="1514475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KONSENSUS MEXANIZMI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3814763" y="3232547"/>
            <a:ext cx="1514475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Maqsadni tasdiqlash va ijro mantig'ini o'zaro tekshirish uchun ko'p-LLM tahlili (OpenAI/Anthropic).</a:t>
            </a:r>
            <a:endParaRPr lang="en-US" sz="750" dirty="0"/>
          </a:p>
        </p:txBody>
      </p:sp>
      <p:sp>
        <p:nvSpPr>
          <p:cNvPr id="15" name="Shape 10"/>
          <p:cNvSpPr/>
          <p:nvPr/>
        </p:nvSpPr>
        <p:spPr>
          <a:xfrm>
            <a:off x="5872163" y="1868091"/>
            <a:ext cx="714375" cy="714375"/>
          </a:xfrm>
          <a:prstGeom prst="rect">
            <a:avLst/>
          </a:prstGeom>
          <a:solidFill>
            <a:srgbClr val="1E293B"/>
          </a:solidFill>
          <a:ln w="18288">
            <a:solidFill>
              <a:srgbClr val="D4AF37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0763" y="2096691"/>
            <a:ext cx="257175" cy="25717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472113" y="2761059"/>
            <a:ext cx="1514475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O'ZGARMAS VALIDATOR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72113" y="3232547"/>
            <a:ext cx="1514475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Yakuniy majburiyatdan oldin qat'iy tizim qoidalari va MB muvofiqligi mandatlarini ta'minlaydi.</a:t>
            </a:r>
            <a:endParaRPr lang="en-US" sz="750" dirty="0"/>
          </a:p>
        </p:txBody>
      </p:sp>
      <p:sp>
        <p:nvSpPr>
          <p:cNvPr id="19" name="Shape 13"/>
          <p:cNvSpPr/>
          <p:nvPr/>
        </p:nvSpPr>
        <p:spPr>
          <a:xfrm>
            <a:off x="7529513" y="1868091"/>
            <a:ext cx="714375" cy="714375"/>
          </a:xfrm>
          <a:prstGeom prst="rect">
            <a:avLst/>
          </a:prstGeom>
          <a:solidFill>
            <a:srgbClr val="1E293B"/>
          </a:solidFill>
          <a:ln w="18288">
            <a:solidFill>
              <a:srgbClr val="D4AF37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2039" y="2096691"/>
            <a:ext cx="289322" cy="257175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29463" y="2761059"/>
            <a:ext cx="1514475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SUD-TIBBIY IMZOLOVCHI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7129463" y="3232547"/>
            <a:ext cx="1514475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To'liq audit qilinishi uchun tranzaksiya blokini o'zgarmas SHA-256 imzolari bilan muhrlaydi.</a:t>
            </a:r>
            <a:endParaRPr lang="en-US" sz="750" dirty="0"/>
          </a:p>
        </p:txBody>
      </p:sp>
      <p:sp>
        <p:nvSpPr>
          <p:cNvPr id="23" name="Shape 16"/>
          <p:cNvSpPr/>
          <p:nvPr/>
        </p:nvSpPr>
        <p:spPr>
          <a:xfrm>
            <a:off x="0" y="4286250"/>
            <a:ext cx="9144000" cy="85725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Shape 17"/>
          <p:cNvSpPr/>
          <p:nvPr/>
        </p:nvSpPr>
        <p:spPr>
          <a:xfrm>
            <a:off x="0" y="4286250"/>
            <a:ext cx="9144000" cy="14288"/>
          </a:xfrm>
          <a:prstGeom prst="rect">
            <a:avLst/>
          </a:prstGeom>
          <a:solidFill>
            <a:srgbClr val="D4AF37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523780"/>
            <a:ext cx="228600" cy="2286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942975" y="4500563"/>
            <a:ext cx="7629525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4AF37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XAVFSIZ MEXANIZM:</a:t>
            </a:r>
            <a:r>
              <a:rPr lang="en-US" sz="8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Yaxlitlik yoki sxema tekshiruvida har qanday nosozlik bank kapitalini to'liq himoya qilish uchun tizimni darhol </a:t>
            </a:r>
            <a:r>
              <a:rPr lang="en-US" sz="800" b="1" dirty="0">
                <a:solidFill>
                  <a:srgbClr val="D4AF37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XAVFSIZ O'CHIRISH REJIMIGA</a:t>
            </a:r>
            <a:r>
              <a:rPr lang="en-US" sz="8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o'tkazadi.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8751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spc="-1" kern="0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QATTIQ MOLIYAVIY MATEMATIKA: </a:t>
            </a:r>
            <a:r>
              <a:rPr lang="en-US" sz="2450" b="1" spc="-1" kern="0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
</a:t>
            </a:r>
            <a:r>
              <a:rPr lang="en-US" sz="2450" b="1" spc="-1" kern="0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OPERATSION YO'QOTISHLARNI KAMAYTIRISH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571500" y="1725216"/>
            <a:ext cx="4822031" cy="157729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2"/>
          <p:cNvSpPr/>
          <p:nvPr/>
        </p:nvSpPr>
        <p:spPr>
          <a:xfrm>
            <a:off x="785813" y="1939528"/>
            <a:ext cx="4393406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spc="1" kern="0" dirty="0">
                <a:solidFill>
                  <a:srgbClr val="D4AF37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XATO TENGLAMASI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785813" y="2210991"/>
            <a:ext cx="4393406" cy="7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(1s Qo'llab-quvvatlash @ 35k) + (0.5s Muvofiqlik @ </a:t>
            </a:r>
            <a:r>
              <a:rPr lang="en-US" sz="1250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89k) </a:t>
            </a:r>
            <a:r>
              <a:rPr lang="en-US" sz="1250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
</a:t>
            </a:r>
            <a:r>
              <a:rPr lang="en-US" sz="1250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= </a:t>
            </a:r>
            <a:r>
              <a:rPr lang="en-US" sz="1250" dirty="0">
                <a:solidFill>
                  <a:srgbClr val="D4AF37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80,357 UZS</a:t>
            </a:r>
            <a:r>
              <a:rPr lang="en-US" sz="1250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 / Xato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785813" y="3002468"/>
            <a:ext cx="4393406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Qo'lda kiritish xatolari tufayli to'xtab qolgan har bir tranzaksiya uchun asosiy operatsion yo'qotish.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571500" y="3588255"/>
            <a:ext cx="1809992" cy="216098"/>
          </a:xfrm>
          <a:prstGeom prst="rect">
            <a:avLst/>
          </a:prstGeom>
          <a:noFill/>
          <a:ln/>
        </p:spPr>
        <p:txBody>
          <a:bodyPr wrap="square" lIns="127508" tIns="127508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94A3B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METRIKA (OYLIK)</a:t>
            </a:r>
            <a:endParaRPr lang="en-US" sz="600" dirty="0"/>
          </a:p>
        </p:txBody>
      </p:sp>
      <p:sp>
        <p:nvSpPr>
          <p:cNvPr id="9" name="Text 6"/>
          <p:cNvSpPr/>
          <p:nvPr/>
        </p:nvSpPr>
        <p:spPr>
          <a:xfrm>
            <a:off x="2381492" y="3588255"/>
            <a:ext cx="1544445" cy="216098"/>
          </a:xfrm>
          <a:prstGeom prst="rect">
            <a:avLst/>
          </a:prstGeom>
          <a:noFill/>
          <a:ln/>
        </p:spPr>
        <p:txBody>
          <a:bodyPr wrap="square" lIns="127508" tIns="127508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94A3B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JORIY HOLAT</a:t>
            </a:r>
            <a:endParaRPr lang="en-US" sz="600" dirty="0"/>
          </a:p>
        </p:txBody>
      </p:sp>
      <p:sp>
        <p:nvSpPr>
          <p:cNvPr id="10" name="Text 7"/>
          <p:cNvSpPr/>
          <p:nvPr/>
        </p:nvSpPr>
        <p:spPr>
          <a:xfrm>
            <a:off x="3925937" y="3588255"/>
            <a:ext cx="1467594" cy="216098"/>
          </a:xfrm>
          <a:prstGeom prst="rect">
            <a:avLst/>
          </a:prstGeom>
          <a:noFill/>
          <a:ln/>
        </p:spPr>
        <p:txBody>
          <a:bodyPr wrap="square" lIns="127508" tIns="127508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94A3B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REVENANT</a:t>
            </a:r>
            <a:endParaRPr lang="en-US" sz="600" dirty="0"/>
          </a:p>
        </p:txBody>
      </p:sp>
      <p:sp>
        <p:nvSpPr>
          <p:cNvPr id="11" name="Text 8"/>
          <p:cNvSpPr/>
          <p:nvPr/>
        </p:nvSpPr>
        <p:spPr>
          <a:xfrm>
            <a:off x="571500" y="3804354"/>
            <a:ext cx="1809992" cy="332184"/>
          </a:xfrm>
          <a:prstGeom prst="rect">
            <a:avLst/>
          </a:prstGeom>
          <a:noFill/>
          <a:ln/>
        </p:spPr>
        <p:txBody>
          <a:bodyPr wrap="square" lIns="127508" tIns="170053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Xato Darajasi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2381492" y="3804354"/>
            <a:ext cx="1544445" cy="332184"/>
          </a:xfrm>
          <a:prstGeom prst="rect">
            <a:avLst/>
          </a:prstGeom>
          <a:noFill/>
          <a:ln/>
        </p:spPr>
        <p:txBody>
          <a:bodyPr wrap="square" lIns="127508" tIns="170053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2.2%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3925937" y="3804354"/>
            <a:ext cx="1467594" cy="332184"/>
          </a:xfrm>
          <a:prstGeom prst="rect">
            <a:avLst/>
          </a:prstGeom>
          <a:noFill/>
          <a:ln/>
        </p:spPr>
        <p:txBody>
          <a:bodyPr wrap="square" lIns="127508" tIns="170053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D4AF37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&lt; 0.2%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71500" y="4136538"/>
            <a:ext cx="1809992" cy="332184"/>
          </a:xfrm>
          <a:prstGeom prst="rect">
            <a:avLst/>
          </a:prstGeom>
          <a:noFill/>
          <a:ln/>
        </p:spPr>
        <p:txBody>
          <a:bodyPr wrap="square" lIns="127508" tIns="170053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Buzilgan Yozuvlar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2381492" y="4136538"/>
            <a:ext cx="1544445" cy="332184"/>
          </a:xfrm>
          <a:prstGeom prst="rect">
            <a:avLst/>
          </a:prstGeom>
          <a:noFill/>
          <a:ln/>
        </p:spPr>
        <p:txBody>
          <a:bodyPr wrap="square" lIns="127508" tIns="170053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1,100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3925937" y="4136538"/>
            <a:ext cx="1467594" cy="332184"/>
          </a:xfrm>
          <a:prstGeom prst="rect">
            <a:avLst/>
          </a:prstGeom>
          <a:noFill/>
          <a:ln/>
        </p:spPr>
        <p:txBody>
          <a:bodyPr wrap="square" lIns="127508" tIns="170053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D4AF37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100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71500" y="4468723"/>
            <a:ext cx="1809992" cy="332184"/>
          </a:xfrm>
          <a:prstGeom prst="rect">
            <a:avLst/>
          </a:prstGeom>
          <a:noFill/>
          <a:ln/>
        </p:spPr>
        <p:txBody>
          <a:bodyPr wrap="square" lIns="127508" tIns="170053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Operatsion Xarajat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2381492" y="4468723"/>
            <a:ext cx="1544445" cy="332184"/>
          </a:xfrm>
          <a:prstGeom prst="rect">
            <a:avLst/>
          </a:prstGeom>
          <a:noFill/>
          <a:ln/>
        </p:spPr>
        <p:txBody>
          <a:bodyPr wrap="square" lIns="127508" tIns="170053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88,392,700 UZS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3925937" y="4468723"/>
            <a:ext cx="1467594" cy="332184"/>
          </a:xfrm>
          <a:prstGeom prst="rect">
            <a:avLst/>
          </a:prstGeom>
          <a:noFill/>
          <a:ln/>
        </p:spPr>
        <p:txBody>
          <a:bodyPr wrap="square" lIns="127508" tIns="170053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D4AF37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5,500,000 UZS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5679281" y="1725216"/>
            <a:ext cx="2893219" cy="3000375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1" name="Text 18"/>
          <p:cNvSpPr/>
          <p:nvPr/>
        </p:nvSpPr>
        <p:spPr>
          <a:xfrm>
            <a:off x="6446341" y="2468166"/>
            <a:ext cx="1359098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5300" dirty="0">
                <a:solidFill>
                  <a:srgbClr val="0A192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93%</a:t>
            </a:r>
            <a:endParaRPr lang="en-US" sz="5300" dirty="0"/>
          </a:p>
        </p:txBody>
      </p:sp>
      <p:sp>
        <p:nvSpPr>
          <p:cNvPr id="22" name="Text 19"/>
          <p:cNvSpPr/>
          <p:nvPr/>
        </p:nvSpPr>
        <p:spPr>
          <a:xfrm>
            <a:off x="6003429" y="3225403"/>
            <a:ext cx="2244923" cy="435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92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OPERATSION XARAJATLARNI </a:t>
            </a:r>
            <a:r>
              <a:rPr lang="en-US" sz="1200" b="1" dirty="0">
                <a:solidFill>
                  <a:srgbClr val="0A192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
</a:t>
            </a:r>
            <a:r>
              <a:rPr lang="en-US" sz="1200" b="1" dirty="0">
                <a:solidFill>
                  <a:srgbClr val="0A192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KAMAYTIRISH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202561" y="3875484"/>
            <a:ext cx="1846659" cy="392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A192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Rejalashtirilgan Yillik Tejamkorlik: </a:t>
            </a:r>
            <a:r>
              <a:rPr lang="en-US" sz="800" dirty="0">
                <a:solidFill>
                  <a:srgbClr val="0A192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
</a:t>
            </a:r>
            <a:r>
              <a:rPr lang="en-US" sz="1400" dirty="0">
                <a:solidFill>
                  <a:srgbClr val="0A192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~994,712,400 UZS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8751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spc="-1" kern="0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TRANZAKSIYA KECHIKISHINI KAMAYTIRISH: </a:t>
            </a:r>
            <a:r>
              <a:rPr lang="en-US" sz="2450" b="1" spc="-1" kern="0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
</a:t>
            </a:r>
            <a:r>
              <a:rPr lang="en-US" sz="2450" b="1" spc="-1" kern="0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KUNLARDAN SONIYALARGA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571500" y="1582341"/>
            <a:ext cx="3850481" cy="292179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2"/>
          <p:cNvSpPr/>
          <p:nvPr/>
        </p:nvSpPr>
        <p:spPr>
          <a:xfrm>
            <a:off x="857250" y="1796653"/>
            <a:ext cx="3278981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spc="2" kern="0" dirty="0">
                <a:solidFill>
                  <a:srgbClr val="94A3B8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JORIY ISHLOV BERISH HOLATI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857250" y="2103834"/>
            <a:ext cx="3278981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400" dirty="0">
                <a:solidFill>
                  <a:srgbClr val="94A3B8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24-48 SOAT</a:t>
            </a:r>
            <a:endParaRPr lang="en-US" sz="44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" y="2989659"/>
            <a:ext cx="128588" cy="33145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92994" y="2961084"/>
            <a:ext cx="3043238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Qo'lda muvofiqlik navbatlari va ajratilgan loglarni olish.</a:t>
            </a:r>
            <a:endParaRPr lang="en-US" sz="9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3421131"/>
            <a:ext cx="144661" cy="15144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09067" y="3392556"/>
            <a:ext cx="2711053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MB uchun hisobot tuzilmalarini qo'lda tuzish.</a:t>
            </a:r>
            <a:endParaRPr lang="en-US" sz="950" dirty="0"/>
          </a:p>
        </p:txBody>
      </p:sp>
      <p:sp>
        <p:nvSpPr>
          <p:cNvPr id="11" name="Shape 6"/>
          <p:cNvSpPr/>
          <p:nvPr/>
        </p:nvSpPr>
        <p:spPr>
          <a:xfrm>
            <a:off x="4707731" y="1582341"/>
            <a:ext cx="3864769" cy="2921794"/>
          </a:xfrm>
          <a:prstGeom prst="rect">
            <a:avLst/>
          </a:prstGeom>
          <a:solidFill>
            <a:srgbClr val="1E293B"/>
          </a:solidFill>
          <a:ln w="9144">
            <a:solidFill>
              <a:srgbClr val="D4AF37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5000625" y="1796653"/>
            <a:ext cx="3286125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spc="2" kern="0" dirty="0">
                <a:solidFill>
                  <a:srgbClr val="94A3B8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REVENANT KELAJAK HOLATI</a:t>
            </a:r>
            <a:endParaRPr lang="en-US" sz="950" dirty="0"/>
          </a:p>
        </p:txBody>
      </p:sp>
      <p:sp>
        <p:nvSpPr>
          <p:cNvPr id="13" name="Text 8"/>
          <p:cNvSpPr/>
          <p:nvPr/>
        </p:nvSpPr>
        <p:spPr>
          <a:xfrm>
            <a:off x="5000625" y="2103834"/>
            <a:ext cx="3286125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400" dirty="0">
                <a:solidFill>
                  <a:srgbClr val="D4AF37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&lt;5 SONIYA</a:t>
            </a:r>
            <a:endParaRPr lang="en-US" sz="44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0625" y="2989659"/>
            <a:ext cx="96441" cy="331459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204222" y="2961084"/>
            <a:ext cx="3082528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Zoomrad foydalanuvchilari uchun avtomatlashtirilgan tahlil va ichki baholash.</a:t>
            </a:r>
            <a:endParaRPr lang="en-US" sz="950" dirty="0"/>
          </a:p>
        </p:txBody>
      </p:sp>
      <p:sp>
        <p:nvSpPr>
          <p:cNvPr id="16" name="Text 10"/>
          <p:cNvSpPr/>
          <p:nvPr/>
        </p:nvSpPr>
        <p:spPr>
          <a:xfrm>
            <a:off x="5107781" y="3392556"/>
            <a:ext cx="3178969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Muvofiqlikka zid kelmasdan real vaqt rejimida tekshirish.</a:t>
            </a:r>
            <a:endParaRPr lang="en-US" sz="950" dirty="0"/>
          </a:p>
        </p:txBody>
      </p:sp>
      <p:sp>
        <p:nvSpPr>
          <p:cNvPr id="17" name="Text 11"/>
          <p:cNvSpPr/>
          <p:nvPr/>
        </p:nvSpPr>
        <p:spPr>
          <a:xfrm>
            <a:off x="571500" y="4725591"/>
            <a:ext cx="5715000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SLA Optimallashtirish:</a:t>
            </a:r>
            <a:r>
              <a:rPr lang="en-US" sz="8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Toshkent vaqt mintaqasini hisobga olgan holda dinamik ravishda ustuvorlik </a:t>
            </a:r>
            <a:r>
              <a:rPr lang="en-US" sz="8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muddatlarini qayta hisoblash, muhim elementlarni yetkazib berish tezligini oshirish.</a:t>
            </a:r>
            <a:endParaRPr lang="en-US" sz="850" dirty="0"/>
          </a:p>
        </p:txBody>
      </p:sp>
      <p:sp>
        <p:nvSpPr>
          <p:cNvPr id="18" name="Shape 12"/>
          <p:cNvSpPr/>
          <p:nvPr/>
        </p:nvSpPr>
        <p:spPr>
          <a:xfrm>
            <a:off x="7263408" y="4763988"/>
            <a:ext cx="1309092" cy="198239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9" name="Text 13"/>
          <p:cNvSpPr/>
          <p:nvPr/>
        </p:nvSpPr>
        <p:spPr>
          <a:xfrm>
            <a:off x="7263408" y="4763988"/>
            <a:ext cx="1309092" cy="198239"/>
          </a:xfrm>
          <a:prstGeom prst="rect">
            <a:avLst/>
          </a:prstGeom>
          <a:noFill/>
          <a:ln/>
        </p:spPr>
        <p:txBody>
          <a:bodyPr wrap="square" lIns="127508" tIns="42545" rIns="127508" bIns="42545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A192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99.9% MUVOFIQLIK SLA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8751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spc="-1" kern="0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"AI LIDERLARI 2026" </a:t>
            </a:r>
            <a:r>
              <a:rPr lang="en-US" sz="2450" b="1" spc="-1" kern="0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
</a:t>
            </a:r>
            <a:r>
              <a:rPr lang="en-US" sz="2450" b="1" spc="-1" kern="0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MANDATI BILAN MOSLASHISH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571500" y="1868091"/>
            <a:ext cx="8001000" cy="142875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868091"/>
            <a:ext cx="42863" cy="1428750"/>
          </a:xfrm>
          <a:prstGeom prst="rect">
            <a:avLst/>
          </a:prstGeom>
          <a:solidFill>
            <a:srgbClr val="D4AF37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2010966"/>
            <a:ext cx="250031" cy="2857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28688" y="2153841"/>
            <a:ext cx="7286625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"REVENANT yuqori darajadagi milliy siyosatni faol, xavfsiz va talablarga javob beradigan operatsion joylashtirishga aylantiradi."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928688" y="2853928"/>
            <a:ext cx="7286625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spc="2" kern="0" dirty="0">
                <a:solidFill>
                  <a:srgbClr val="D4AF37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MILLIY AI STRATEGIYASI BILAN MOSLASHUV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571500" y="3654028"/>
            <a:ext cx="3786188" cy="201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STRATEGIK EKOTIZIM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571500" y="3962995"/>
            <a:ext cx="3786188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2026-yil 5-mayda </a:t>
            </a:r>
            <a:r>
              <a:rPr lang="en-US" sz="900" b="1" dirty="0">
                <a:solidFill>
                  <a:srgbClr val="94A3B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Stanford HAI</a:t>
            </a: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900" b="1" dirty="0">
                <a:solidFill>
                  <a:srgbClr val="94A3B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IT Park</a:t>
            </a: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va </a:t>
            </a:r>
            <a:r>
              <a:rPr lang="en-US" sz="900" b="1" dirty="0">
                <a:solidFill>
                  <a:srgbClr val="94A3B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OpenAI Akademiyasi</a:t>
            </a: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bilan birgalikda boshlangan dasturni bevosita </a:t>
            </a: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qo'llab-quvvatlash.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4786313" y="3654028"/>
            <a:ext cx="3786188" cy="201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AKTIVLARNI HIMOYA QILISH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4786313" y="3962995"/>
            <a:ext cx="3786188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Bankning 2026-yilga mo'ljallangan tajovuzkor umumiy aktivlarni kengaytirish maqsadini himoya qilish: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4786313" y="4445868"/>
            <a:ext cx="3786188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36.4 Trillion UZS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8751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spc="-1" kern="0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60 KUNLIK PILOT DASTUR DOIRASI: </a:t>
            </a:r>
            <a:r>
              <a:rPr lang="en-US" sz="2450" b="1" spc="-1" kern="0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
</a:t>
            </a:r>
            <a:r>
              <a:rPr lang="en-US" sz="2450" b="1" spc="-1" kern="0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KAM XAVFLI, YUQORI IZOLYATSIYALI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571500" y="1725216"/>
            <a:ext cx="8001000" cy="5715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725216"/>
            <a:ext cx="28575" cy="571500"/>
          </a:xfrm>
          <a:prstGeom prst="rect">
            <a:avLst/>
          </a:prstGeom>
          <a:solidFill>
            <a:srgbClr val="D4AF37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813" y="2025253"/>
            <a:ext cx="128588" cy="1143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85838" y="2013645"/>
            <a:ext cx="1835944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Soyali Joylashtirish (Faqat O'qish)</a:t>
            </a:r>
            <a:endParaRPr lang="en-US" sz="8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7531" y="2025253"/>
            <a:ext cx="114300" cy="1143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293269" y="2013645"/>
            <a:ext cx="1846659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Muhim Bo'lmagan Chakana Modul</a:t>
            </a:r>
            <a:endParaRPr lang="en-US" sz="850" dirty="0"/>
          </a:p>
        </p:txBody>
      </p:sp>
      <p:sp>
        <p:nvSpPr>
          <p:cNvPr id="10" name="Text 5"/>
          <p:cNvSpPr/>
          <p:nvPr/>
        </p:nvSpPr>
        <p:spPr>
          <a:xfrm>
            <a:off x="5497116" y="2013645"/>
            <a:ext cx="989409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Nol Yozish Huquqi</a:t>
            </a:r>
            <a:endParaRPr lang="en-US" sz="850" dirty="0"/>
          </a:p>
        </p:txBody>
      </p:sp>
      <p:sp>
        <p:nvSpPr>
          <p:cNvPr id="11" name="Shape 6"/>
          <p:cNvSpPr/>
          <p:nvPr/>
        </p:nvSpPr>
        <p:spPr>
          <a:xfrm>
            <a:off x="571500" y="2725341"/>
            <a:ext cx="8001000" cy="2857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Text 7"/>
          <p:cNvSpPr/>
          <p:nvPr/>
        </p:nvSpPr>
        <p:spPr>
          <a:xfrm>
            <a:off x="571500" y="3039666"/>
            <a:ext cx="1893094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D4AF37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1-15 KUN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571500" y="3328988"/>
            <a:ext cx="1893094" cy="128587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Shape 9"/>
          <p:cNvSpPr/>
          <p:nvPr/>
        </p:nvSpPr>
        <p:spPr>
          <a:xfrm>
            <a:off x="571500" y="3328988"/>
            <a:ext cx="1893094" cy="7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5" name="Text 10"/>
          <p:cNvSpPr/>
          <p:nvPr/>
        </p:nvSpPr>
        <p:spPr>
          <a:xfrm>
            <a:off x="714375" y="3507581"/>
            <a:ext cx="1607344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KIRITISH VA TEKSHIRISH</a:t>
            </a:r>
            <a:endParaRPr lang="en-US" sz="800" dirty="0"/>
          </a:p>
        </p:txBody>
      </p:sp>
      <p:sp>
        <p:nvSpPr>
          <p:cNvPr id="16" name="Text 11"/>
          <p:cNvSpPr/>
          <p:nvPr/>
        </p:nvSpPr>
        <p:spPr>
          <a:xfrm>
            <a:off x="714375" y="3725466"/>
            <a:ext cx="1607344" cy="750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Xavfsiz faqat o'qish rejimida API qumloqqa kiritish. Asosiy tizimga aralashmasdan ishlab chiqarish loglariga qarshi tekshirish sinovlari.</a:t>
            </a:r>
            <a:endParaRPr lang="en-US" sz="750" dirty="0"/>
          </a:p>
        </p:txBody>
      </p:sp>
      <p:sp>
        <p:nvSpPr>
          <p:cNvPr id="17" name="Text 12"/>
          <p:cNvSpPr/>
          <p:nvPr/>
        </p:nvSpPr>
        <p:spPr>
          <a:xfrm>
            <a:off x="2607469" y="3039666"/>
            <a:ext cx="1893094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D4AF37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16-30 KUN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2607469" y="3328988"/>
            <a:ext cx="1893094" cy="128587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9" name="Shape 14"/>
          <p:cNvSpPr/>
          <p:nvPr/>
        </p:nvSpPr>
        <p:spPr>
          <a:xfrm>
            <a:off x="2607469" y="3328988"/>
            <a:ext cx="1893094" cy="7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0" name="Text 15"/>
          <p:cNvSpPr/>
          <p:nvPr/>
        </p:nvSpPr>
        <p:spPr>
          <a:xfrm>
            <a:off x="2750344" y="3507581"/>
            <a:ext cx="1607344" cy="2928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TILSHUNOSLIKNI FAOLLASHTIRISH</a:t>
            </a:r>
            <a:endParaRPr lang="en-US" sz="800" dirty="0"/>
          </a:p>
        </p:txBody>
      </p:sp>
      <p:sp>
        <p:nvSpPr>
          <p:cNvPr id="21" name="Text 16"/>
          <p:cNvSpPr/>
          <p:nvPr/>
        </p:nvSpPr>
        <p:spPr>
          <a:xfrm>
            <a:off x="2750344" y="3871913"/>
            <a:ext cx="1607344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Uch tilli tahlil (UZ/RU/EN) va tranzaksiya telemetriyasi uchun deterministik yo'naltirish qoidalarini faollashtirish.</a:t>
            </a:r>
            <a:endParaRPr lang="en-US" sz="750" dirty="0"/>
          </a:p>
        </p:txBody>
      </p:sp>
      <p:sp>
        <p:nvSpPr>
          <p:cNvPr id="22" name="Text 17"/>
          <p:cNvSpPr/>
          <p:nvPr/>
        </p:nvSpPr>
        <p:spPr>
          <a:xfrm>
            <a:off x="4643438" y="3039666"/>
            <a:ext cx="1893094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D4AF37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31-45 KUN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4643438" y="3328988"/>
            <a:ext cx="1893094" cy="128587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Shape 19"/>
          <p:cNvSpPr/>
          <p:nvPr/>
        </p:nvSpPr>
        <p:spPr>
          <a:xfrm>
            <a:off x="4643438" y="3328988"/>
            <a:ext cx="1893094" cy="7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5" name="Text 20"/>
          <p:cNvSpPr/>
          <p:nvPr/>
        </p:nvSpPr>
        <p:spPr>
          <a:xfrm>
            <a:off x="4786313" y="3507581"/>
            <a:ext cx="1607344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KONSENSUS BAHOLASH</a:t>
            </a:r>
            <a:endParaRPr lang="en-US" sz="800" dirty="0"/>
          </a:p>
        </p:txBody>
      </p:sp>
      <p:sp>
        <p:nvSpPr>
          <p:cNvPr id="26" name="Text 21"/>
          <p:cNvSpPr/>
          <p:nvPr/>
        </p:nvSpPr>
        <p:spPr>
          <a:xfrm>
            <a:off x="4786313" y="3725466"/>
            <a:ext cx="1607344" cy="750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Ko'p LLM konsensus tekshiruvlarini simulyatsiya qilingan chekka holat xavflari va shaxsni soxtalashtirishga qarshi baholash.</a:t>
            </a:r>
            <a:endParaRPr lang="en-US" sz="750" dirty="0"/>
          </a:p>
        </p:txBody>
      </p:sp>
      <p:sp>
        <p:nvSpPr>
          <p:cNvPr id="27" name="Text 22"/>
          <p:cNvSpPr/>
          <p:nvPr/>
        </p:nvSpPr>
        <p:spPr>
          <a:xfrm>
            <a:off x="6679406" y="3039666"/>
            <a:ext cx="1893094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D4AF37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46-60 KUN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6679406" y="3328988"/>
            <a:ext cx="1893094" cy="128587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Shape 24"/>
          <p:cNvSpPr/>
          <p:nvPr/>
        </p:nvSpPr>
        <p:spPr>
          <a:xfrm>
            <a:off x="6679406" y="3328988"/>
            <a:ext cx="1893094" cy="7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0" name="Text 25"/>
          <p:cNvSpPr/>
          <p:nvPr/>
        </p:nvSpPr>
        <p:spPr>
          <a:xfrm>
            <a:off x="6822281" y="3507581"/>
            <a:ext cx="1607344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2E8F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AUDIT VA HISOBOT</a:t>
            </a:r>
            <a:endParaRPr lang="en-US" sz="800" dirty="0"/>
          </a:p>
        </p:txBody>
      </p:sp>
      <p:sp>
        <p:nvSpPr>
          <p:cNvPr id="31" name="Text 26"/>
          <p:cNvSpPr/>
          <p:nvPr/>
        </p:nvSpPr>
        <p:spPr>
          <a:xfrm>
            <a:off x="6822281" y="3725466"/>
            <a:ext cx="1607344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To'liq muvofiqlik auditi baholash va ijrochi manfaatdor tomonlarga bevosita ROI hisobotini taqdim etish.</a:t>
            </a:r>
            <a:endParaRPr lang="en-US" sz="750" dirty="0"/>
          </a:p>
        </p:txBody>
      </p:sp>
      <p:sp>
        <p:nvSpPr>
          <p:cNvPr id="32" name="Text 27"/>
          <p:cNvSpPr/>
          <p:nvPr/>
        </p:nvSpPr>
        <p:spPr>
          <a:xfrm>
            <a:off x="0" y="4664869"/>
            <a:ext cx="9144000" cy="407194"/>
          </a:xfrm>
          <a:prstGeom prst="rect">
            <a:avLst/>
          </a:prstGeom>
          <a:noFill/>
          <a:ln/>
        </p:spPr>
        <p:txBody>
          <a:bodyPr wrap="square" lIns="680339" tIns="340233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1" kern="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MAXFIY VA SHAXSIY | REVENANT JOYLASHTIRISH YO'L XARITASI 2026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2026-05-31T04:35:00Z</dcterms:created>
  <dcterms:modified xsi:type="dcterms:W3CDTF">2026-05-31T04:35:00Z</dcterms:modified>
</cp:coreProperties>
</file>