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4707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139928" y="0"/>
            <a:ext cx="7144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841567"/>
            <a:ext cx="40005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STRATEGIC PITCH DECK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0" y="1050522"/>
            <a:ext cx="40005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REVENANT: </a:t>
            </a:r>
            <a:r>
              <a:rPr lang="en-US" sz="330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330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SOVEREIGN </a:t>
            </a:r>
            <a:r>
              <a:rPr lang="en-US" sz="330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330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EXECUTION LAYER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571500" y="2702123"/>
            <a:ext cx="357187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Capitalizing on Digital Transformation Leadership and Shielding the Bank's Asset Core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3707913"/>
            <a:ext cx="19145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$300,000,000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71500" y="4041884"/>
            <a:ext cx="191452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EUROBOND ISSUE (LSE)</a:t>
            </a: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4X OVERSUBSCRIPTION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657475" y="3707913"/>
            <a:ext cx="19145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Award 2025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657475" y="4041884"/>
            <a:ext cx="191452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DIGITAL TRANSFORMATION</a:t>
            </a: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(INTERNATIONAL FINANCE)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679406" y="2107406"/>
            <a:ext cx="928688" cy="928688"/>
          </a:xfrm>
          <a:prstGeom prst="rect">
            <a:avLst/>
          </a:prstGeom>
          <a:solidFill>
            <a:srgbClr val="1E293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COMPLIANCE CEILING &amp;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VULNERABILITY MATRIX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725216"/>
            <a:ext cx="3786188" cy="32146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034183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5856" y="2010966"/>
            <a:ext cx="188237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REGULATORY WALL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857250" y="2443163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Bank of Uzbekistan (CBU) has tightened AML/CFT frameworks for 2026. Compliance is no longer optional; it is a high-speed requirement.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857250" y="3424647"/>
            <a:ext cx="321468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25 BRV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57250" y="3788978"/>
            <a:ext cx="3214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 THRESHOLD (10.3M UZS)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857250" y="4203316"/>
            <a:ext cx="321468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 Hours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57250" y="4567647"/>
            <a:ext cx="3214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SAR REPORTING WINDOW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786313" y="1725216"/>
            <a:ext cx="3786188" cy="32146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3" y="2034183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50669" y="2010966"/>
            <a:ext cx="161984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SYSTEM STRAIN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072063" y="2443163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Aloqa Business 2.0 app friction is scaling. Session timeouts and poor AI code refactoring are creating massive operational overhead.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072063" y="3424647"/>
            <a:ext cx="321468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1,800+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5072063" y="3788978"/>
            <a:ext cx="3214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SUPPORT TICKETS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5072063" y="4203316"/>
            <a:ext cx="321468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45%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5072063" y="4567647"/>
            <a:ext cx="3214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CAUSED BY INPUT FAULTS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REVENANT: NOT A CHATBOT,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 ARCHITECTURAL IRON HAND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04" y="2437805"/>
            <a:ext cx="1125141" cy="128587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371823" y="3866555"/>
            <a:ext cx="1841302" cy="27860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1371823" y="3866555"/>
            <a:ext cx="1841302" cy="278606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FAIL-CLOSED ZERO-TRUST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442101" y="2150269"/>
            <a:ext cx="357188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257" y="2257425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42163" y="2150269"/>
            <a:ext cx="363033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Autonomous Orchestration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942163" y="2425303"/>
            <a:ext cx="36303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secure engine running directly behind communication endpoints and internal databases, independent of legacy failures.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4442101" y="2982516"/>
            <a:ext cx="357188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257" y="3089672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42163" y="2982516"/>
            <a:ext cx="363033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Structural Sanitization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42163" y="3257550"/>
            <a:ext cx="36303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Inspects, translates, and validates transactions before they hit core banking lines. Malformed data is rejected at the gate.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4442101" y="3814763"/>
            <a:ext cx="357188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398" y="3921919"/>
            <a:ext cx="178594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42163" y="3814763"/>
            <a:ext cx="363033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Multi-Layered Pipeline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942163" y="4089797"/>
            <a:ext cx="36303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multi-stage capability profile spanning security, identity, and operational accounting across the enterprise.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PIPELINE FEATURE MATRIX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25141"/>
            <a:ext cx="444698" cy="1839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125141"/>
            <a:ext cx="444698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TIER 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71500" y="1380530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Security &amp; Ingress Guardrails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071688" y="10537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5"/>
          <p:cNvSpPr/>
          <p:nvPr/>
        </p:nvSpPr>
        <p:spPr>
          <a:xfrm>
            <a:off x="2071688" y="10537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6"/>
          <p:cNvSpPr/>
          <p:nvPr/>
        </p:nvSpPr>
        <p:spPr>
          <a:xfrm>
            <a:off x="2250281" y="1369814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Titanium Sanitization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50281" y="1605558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Strips XSS/SQLi and enforces a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rolling traffic gate capped at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10 requests/min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286250" y="10537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0" y="10537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44" y="1232297"/>
            <a:ext cx="150019" cy="171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64844" y="1510903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Poisoning Defense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464844" y="1746647"/>
            <a:ext cx="17145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request patterns for anti-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fraud and system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impersonations via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Zero-Trust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rejections.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6500813" y="10537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3"/>
          <p:cNvSpPr/>
          <p:nvPr/>
        </p:nvSpPr>
        <p:spPr>
          <a:xfrm>
            <a:off x="6500813" y="10537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406" y="1232297"/>
            <a:ext cx="128588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9406" y="1510903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CBU Compliance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679406" y="1746647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translation of telemetry into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XML payload schemas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matching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25 BRV mandate.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571500" y="2839641"/>
            <a:ext cx="458986" cy="1839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17"/>
          <p:cNvSpPr/>
          <p:nvPr/>
        </p:nvSpPr>
        <p:spPr>
          <a:xfrm>
            <a:off x="571500" y="2839641"/>
            <a:ext cx="458986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TIER 2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571500" y="3095030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Intellectual Triage &amp; Identity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071688" y="27682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0"/>
          <p:cNvSpPr/>
          <p:nvPr/>
        </p:nvSpPr>
        <p:spPr>
          <a:xfrm>
            <a:off x="2071688" y="27682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281" y="2946797"/>
            <a:ext cx="128588" cy="1714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250281" y="3225403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Spectral Biometrics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2250281" y="3461147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Identity challenge-response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constant-time buffer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verification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block deepfakes.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4286250" y="27682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4"/>
          <p:cNvSpPr/>
          <p:nvPr/>
        </p:nvSpPr>
        <p:spPr>
          <a:xfrm>
            <a:off x="4286250" y="27682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44" y="2946797"/>
            <a:ext cx="171450" cy="1714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464844" y="3225403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Consensus Engine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464844" y="3461147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 independent processing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(OpenAI/Anthropic) with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strict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consensus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requirements.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6500813" y="27682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28"/>
          <p:cNvSpPr/>
          <p:nvPr/>
        </p:nvSpPr>
        <p:spPr>
          <a:xfrm>
            <a:off x="6500813" y="27682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406" y="2946797"/>
            <a:ext cx="214313" cy="17145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679406" y="3225403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Trilingual Parser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6679406" y="3461147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UZ-Latin, RU, and EN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stop-word weighting for clean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linguistics.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TIER 3: OPERATIONAL ACCOUNTING &amp; MEMORY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71500" y="664369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PIPELINE FEATURE MATRIX: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OPERATIONAL MEMORY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818084"/>
            <a:ext cx="2571750" cy="1857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818084"/>
            <a:ext cx="2571750" cy="142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960959"/>
            <a:ext cx="20002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813" y="2275284"/>
            <a:ext cx="214312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Vector Memory Vault &amp; DNA Profiling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5813" y="2738177"/>
            <a:ext cx="2143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with Supabase RPC searches to cross-reference historical transaction trends, identifying anomalous activity patterns before execution.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3286125" y="1818084"/>
            <a:ext cx="2571750" cy="1857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7"/>
          <p:cNvSpPr/>
          <p:nvPr/>
        </p:nvSpPr>
        <p:spPr>
          <a:xfrm>
            <a:off x="3286125" y="1818084"/>
            <a:ext cx="2571750" cy="142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38" y="1960959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00438" y="2275284"/>
            <a:ext cx="214312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Dynamic Local Currency Economics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500438" y="2738177"/>
            <a:ext cx="2143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Computes exact operational margins and computational cost breakdowns per transaction processed in UZS, ensuring fiscal transparency.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6000750" y="1818084"/>
            <a:ext cx="2571750" cy="1857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1"/>
          <p:cNvSpPr/>
          <p:nvPr/>
        </p:nvSpPr>
        <p:spPr>
          <a:xfrm>
            <a:off x="6000750" y="1818084"/>
            <a:ext cx="2571750" cy="142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3" y="1960959"/>
            <a:ext cx="28575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5063" y="2275284"/>
            <a:ext cx="214312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Time-Locked Human Gateway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215063" y="2738177"/>
            <a:ext cx="214312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immediate alert routing to risk officers with a hard 15-minute "Zombie-Killing" auto-rejection expiration window.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Text 15"/>
          <p:cNvSpPr/>
          <p:nvPr/>
        </p:nvSpPr>
        <p:spPr>
          <a:xfrm>
            <a:off x="571500" y="4429125"/>
            <a:ext cx="1337667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15 Minutes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71500" y="4720233"/>
            <a:ext cx="1337667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EXPIRATION WINDOW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2194917" y="4429125"/>
            <a:ext cx="137160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Haversine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2194917" y="4720233"/>
            <a:ext cx="13716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OFFSET LOGIC</a:t>
            </a:r>
            <a:endParaRPr lang="en-US" sz="600" dirty="0"/>
          </a:p>
        </p:txBody>
      </p:sp>
      <p:sp>
        <p:nvSpPr>
          <p:cNvPr id="25" name="Text 19"/>
          <p:cNvSpPr/>
          <p:nvPr/>
        </p:nvSpPr>
        <p:spPr>
          <a:xfrm>
            <a:off x="3852267" y="4429125"/>
            <a:ext cx="1357313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Real-Time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852267" y="4720233"/>
            <a:ext cx="135731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UZS MARGIN COMPUTATION</a:t>
            </a:r>
            <a:endParaRPr lang="en-US" sz="600" dirty="0"/>
          </a:p>
        </p:txBody>
      </p:sp>
      <p:sp>
        <p:nvSpPr>
          <p:cNvPr id="27" name="Text 21"/>
          <p:cNvSpPr/>
          <p:nvPr/>
        </p:nvSpPr>
        <p:spPr>
          <a:xfrm>
            <a:off x="5495330" y="4429125"/>
            <a:ext cx="11144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Supabase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495330" y="4720233"/>
            <a:ext cx="111442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DNA STORAGE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CRYPTOGRAPHIC TRACEABILITY &amp;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INVARIANT GUARDRAILS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900113" y="1868091"/>
            <a:ext cx="714375" cy="714375"/>
          </a:xfrm>
          <a:prstGeom prst="rect">
            <a:avLst/>
          </a:prstGeom>
          <a:solidFill>
            <a:srgbClr val="1E293B"/>
          </a:solidFill>
          <a:ln w="18288">
            <a:solidFill>
              <a:srgbClr val="D4AF3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3" y="2096691"/>
            <a:ext cx="257175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0601" y="2761059"/>
            <a:ext cx="147339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INGRESS NORMALIZER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0063" y="3225403"/>
            <a:ext cx="151447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Decouples and parses incoming payload fields into standardized internal schemas.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2557463" y="1868091"/>
            <a:ext cx="714375" cy="714375"/>
          </a:xfrm>
          <a:prstGeom prst="rect">
            <a:avLst/>
          </a:prstGeom>
          <a:solidFill>
            <a:srgbClr val="1E293B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32422" y="2761059"/>
            <a:ext cx="136445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TITANIUM SANITIZER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157413" y="3225403"/>
            <a:ext cx="151447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Actively intercepts prompt injections and malicious scripts (XSS/SQLi) in real-time.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214813" y="1868091"/>
            <a:ext cx="714375" cy="714375"/>
          </a:xfrm>
          <a:prstGeom prst="rect">
            <a:avLst/>
          </a:prstGeom>
          <a:solidFill>
            <a:srgbClr val="1E293B"/>
          </a:solidFill>
          <a:ln w="18288">
            <a:solidFill>
              <a:srgbClr val="D4AF3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3" y="2096691"/>
            <a:ext cx="257175" cy="2571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05845" y="2761059"/>
            <a:ext cx="133230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CONSENSUS ENGINE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814763" y="3225403"/>
            <a:ext cx="15144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Multi-LLM analysis (OpenAI/Anthropic) to verify intent and cross-check execution logic.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5872163" y="1868091"/>
            <a:ext cx="714375" cy="714375"/>
          </a:xfrm>
          <a:prstGeom prst="rect">
            <a:avLst/>
          </a:prstGeom>
          <a:solidFill>
            <a:srgbClr val="1E293B"/>
          </a:solidFill>
          <a:ln w="18288">
            <a:solidFill>
              <a:srgbClr val="D4AF3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763" y="2096691"/>
            <a:ext cx="257175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96223" y="2761059"/>
            <a:ext cx="146625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INVARIANT VALIDATOR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72113" y="3225403"/>
            <a:ext cx="151447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hard system rules and CBU compliance mandates before final commitment.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7529513" y="1868091"/>
            <a:ext cx="714375" cy="714375"/>
          </a:xfrm>
          <a:prstGeom prst="rect">
            <a:avLst/>
          </a:prstGeom>
          <a:solidFill>
            <a:srgbClr val="1E293B"/>
          </a:solidFill>
          <a:ln w="18288">
            <a:solidFill>
              <a:srgbClr val="D4AF37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039" y="2096691"/>
            <a:ext cx="289322" cy="2571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99127" y="2761059"/>
            <a:ext cx="1175147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FORENSIC SIGNER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7129463" y="3225403"/>
            <a:ext cx="151447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Seals the transaction block with immutable SHA-256 signatures for full auditability.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7"/>
          <p:cNvSpPr/>
          <p:nvPr/>
        </p:nvSpPr>
        <p:spPr>
          <a:xfrm>
            <a:off x="0" y="4286250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2378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42975" y="4500563"/>
            <a:ext cx="762952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FAIL-CLOSED MECHANISM: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any step fails data integrity or schema validation, the system drops the transfer into a </a:t>
            </a:r>
            <a:r>
              <a:rPr lang="en-US" sz="800" b="1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SECURE SHUTDOWN MODE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completely protect bank capital.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HARD FINANCIAL MATH: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SLASHING OPERATIONAL LEAKS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725216"/>
            <a:ext cx="4822031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939528"/>
            <a:ext cx="43934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ERROR EQUATION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85813" y="2210991"/>
            <a:ext cx="43934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(1h Support @ 35k) + (0.5h Compliance @ 89k) </a:t>
            </a:r>
            <a:r>
              <a:rPr lang="en-US" sz="12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12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= </a:t>
            </a:r>
            <a:r>
              <a:rPr lang="en-US" sz="12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80,357 UZS</a:t>
            </a:r>
            <a:r>
              <a:rPr lang="en-US" sz="12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/ Error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85813" y="2762455"/>
            <a:ext cx="43934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operational loss per individual stalled transaction due to manual input faults.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71500" y="3439716"/>
            <a:ext cx="1701440" cy="216098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METRIC (MONTHLY)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272940" y="3439716"/>
            <a:ext cx="1600088" cy="216098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CURRENT STATE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873029" y="3439716"/>
            <a:ext cx="1520503" cy="216098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REVENANT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71500" y="3655814"/>
            <a:ext cx="1701440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Error Rate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272940" y="3655814"/>
            <a:ext cx="1600088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2.2%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73029" y="3655814"/>
            <a:ext cx="1520503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&lt; 0.2%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3987998"/>
            <a:ext cx="1701440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Broken Entries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272940" y="3987998"/>
            <a:ext cx="1600088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1,100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73029" y="3987998"/>
            <a:ext cx="1520503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1500" y="4320183"/>
            <a:ext cx="1701440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Operational Cost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72940" y="4320183"/>
            <a:ext cx="1600088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88,392,700 UZS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73029" y="4320183"/>
            <a:ext cx="1520503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5,500,000 UZS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79281" y="1725216"/>
            <a:ext cx="2893219" cy="3000375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8"/>
          <p:cNvSpPr/>
          <p:nvPr/>
        </p:nvSpPr>
        <p:spPr>
          <a:xfrm>
            <a:off x="6446341" y="2468166"/>
            <a:ext cx="135909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300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93%</a:t>
            </a:r>
            <a:endParaRPr lang="en-US" sz="5300" dirty="0"/>
          </a:p>
        </p:txBody>
      </p:sp>
      <p:sp>
        <p:nvSpPr>
          <p:cNvPr id="22" name="Text 19"/>
          <p:cNvSpPr/>
          <p:nvPr/>
        </p:nvSpPr>
        <p:spPr>
          <a:xfrm>
            <a:off x="6131123" y="3225403"/>
            <a:ext cx="1989534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REDUCTION IN </a:t>
            </a: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OPERATIONAL OVERHEAD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57925" y="3875484"/>
            <a:ext cx="1735931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A192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Projected Annual Savings: </a:t>
            </a:r>
            <a:r>
              <a:rPr lang="en-US" sz="800" dirty="0">
                <a:solidFill>
                  <a:srgbClr val="0A192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1400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~994,712,400 UZS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REDUCING TRANSACTION LATENCY: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DAYS TO SECONDS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82341"/>
            <a:ext cx="3850481" cy="292179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796653"/>
            <a:ext cx="327898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94A3B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CURRENT PROCESSING STATE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57250" y="2103834"/>
            <a:ext cx="327898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94A3B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24-48 HRS</a:t>
            </a:r>
            <a:endParaRPr lang="en-US" sz="4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989659"/>
            <a:ext cx="128588" cy="3314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2994" y="2961084"/>
            <a:ext cx="30432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compliance queues and siloed log extraction.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421131"/>
            <a:ext cx="144661" cy="151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09067" y="3392556"/>
            <a:ext cx="294858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compilation of report structures for CBU.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4707731" y="1582341"/>
            <a:ext cx="3864769" cy="2921794"/>
          </a:xfrm>
          <a:prstGeom prst="rect">
            <a:avLst/>
          </a:prstGeom>
          <a:solidFill>
            <a:srgbClr val="1E293B"/>
          </a:solidFill>
          <a:ln w="9144">
            <a:solidFill>
              <a:srgbClr val="D4AF3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000625" y="1796653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94A3B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REVENANT FUTURE STATE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000625" y="2103834"/>
            <a:ext cx="328612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&lt;5 SEC</a:t>
            </a:r>
            <a:endParaRPr lang="en-US" sz="4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2989659"/>
            <a:ext cx="96441" cy="3314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04222" y="2961084"/>
            <a:ext cx="30825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parsing and inline scoring for Zoomrad users.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5107781" y="3392556"/>
            <a:ext cx="31789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validation without compromising compliance.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571500" y="4725591"/>
            <a:ext cx="57150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SLA Optimization: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Tashkent timezone-aware scheduling automatically recalculates response priority 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deadlines based on shift changes, scaling critical item delivery speeds.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7225903" y="4763988"/>
            <a:ext cx="1346597" cy="198239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3"/>
          <p:cNvSpPr/>
          <p:nvPr/>
        </p:nvSpPr>
        <p:spPr>
          <a:xfrm>
            <a:off x="7225903" y="4763988"/>
            <a:ext cx="1346597" cy="19823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99.9% COMPLIANCE SLA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ALIGNING WITH THE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"AI LEADERS 2026" MANDATE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868091"/>
            <a:ext cx="8001000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868091"/>
            <a:ext cx="42863" cy="142875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010966"/>
            <a:ext cx="250031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688" y="2153841"/>
            <a:ext cx="7286625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"REVENANT transforms high-level national policy into an active, secure, and compliant operational deployment."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28688" y="2891042"/>
            <a:ext cx="72866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NATIONAL AI STRATEGY ALIGNMENT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71500" y="3654028"/>
            <a:ext cx="3786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STRATEGIC ECOSYSTEM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71500" y="3962995"/>
            <a:ext cx="3786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 supporting the program launched on May 5, 2026, 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alongside </a:t>
            </a:r>
            <a:r>
              <a:rPr lang="en-US" sz="9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Stanford HAI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IT Park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9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OpenAI Academy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786313" y="3654028"/>
            <a:ext cx="3786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ASSET CORE PROTECTION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786313" y="3962995"/>
            <a:ext cx="3786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Shielding the bank's aggressive 2026 total asset expansion target: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86313" y="4445868"/>
            <a:ext cx="378618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36.4 Trillion UZS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60-DAY PILOT FRAMEWORK: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LOW RISK, HIGH ISOLATION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725216"/>
            <a:ext cx="8001000" cy="571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25216"/>
            <a:ext cx="28575" cy="571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025253"/>
            <a:ext cx="128588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5838" y="2013645"/>
            <a:ext cx="18216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Shadow-Deployment (Read-Only)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244" y="2025253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78981" y="2013645"/>
            <a:ext cx="142160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Non-Critical Retail Module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5057775" y="2013645"/>
            <a:ext cx="125372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Write Permissions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571500" y="2725341"/>
            <a:ext cx="8001000" cy="285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7"/>
          <p:cNvSpPr/>
          <p:nvPr/>
        </p:nvSpPr>
        <p:spPr>
          <a:xfrm>
            <a:off x="571500" y="3039666"/>
            <a:ext cx="18930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DAYS 1-15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71500" y="3328988"/>
            <a:ext cx="1893094" cy="12858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9"/>
          <p:cNvSpPr/>
          <p:nvPr/>
        </p:nvSpPr>
        <p:spPr>
          <a:xfrm>
            <a:off x="571500" y="3328988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0"/>
          <p:cNvSpPr/>
          <p:nvPr/>
        </p:nvSpPr>
        <p:spPr>
          <a:xfrm>
            <a:off x="714375" y="3507581"/>
            <a:ext cx="16073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INGESTION &amp; VALIDATION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714375" y="3725466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read-only API sandbox ingestion. Validation testing against production logs without core interference.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2607469" y="3039666"/>
            <a:ext cx="18930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DAYS 16-30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607469" y="3328988"/>
            <a:ext cx="1893094" cy="12858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4"/>
          <p:cNvSpPr/>
          <p:nvPr/>
        </p:nvSpPr>
        <p:spPr>
          <a:xfrm>
            <a:off x="2607469" y="3328988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5"/>
          <p:cNvSpPr/>
          <p:nvPr/>
        </p:nvSpPr>
        <p:spPr>
          <a:xfrm>
            <a:off x="2750344" y="3507581"/>
            <a:ext cx="16073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LINGUISTIC ACTIVATION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750344" y="3725466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Activation of trilingual parsing (UZ/RU/EN) and deterministic routing rules for transaction telemetry.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643438" y="3039666"/>
            <a:ext cx="18930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DAYS 31-45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43438" y="3328988"/>
            <a:ext cx="1893094" cy="12858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9"/>
          <p:cNvSpPr/>
          <p:nvPr/>
        </p:nvSpPr>
        <p:spPr>
          <a:xfrm>
            <a:off x="4643438" y="3328988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0"/>
          <p:cNvSpPr/>
          <p:nvPr/>
        </p:nvSpPr>
        <p:spPr>
          <a:xfrm>
            <a:off x="4786313" y="3507581"/>
            <a:ext cx="16073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CONSENSUS EVALUATION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786313" y="3725466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of Multi-LLM consensus checks against simulated edge-case risks and identity spoofing.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679406" y="3039666"/>
            <a:ext cx="18930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DAYS 46-60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679406" y="3328988"/>
            <a:ext cx="1893094" cy="12858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4"/>
          <p:cNvSpPr/>
          <p:nvPr/>
        </p:nvSpPr>
        <p:spPr>
          <a:xfrm>
            <a:off x="6679406" y="3328988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5"/>
          <p:cNvSpPr/>
          <p:nvPr/>
        </p:nvSpPr>
        <p:spPr>
          <a:xfrm>
            <a:off x="6822281" y="3507581"/>
            <a:ext cx="16073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AUDIT &amp; REPORTING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822281" y="3725466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compliance audit evaluation and direct ROI reporting to executive stakeholders.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0" y="4664869"/>
            <a:ext cx="9144000" cy="407194"/>
          </a:xfrm>
          <a:prstGeom prst="rect">
            <a:avLst/>
          </a:prstGeom>
          <a:noFill/>
          <a:ln/>
        </p:spPr>
        <p:txBody>
          <a:bodyPr wrap="square" lIns="680339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&amp; CONFIDENTIAL | REVENANT DEPLOYMENT ROADMAP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2026-05-31T04:35:36Z</dcterms:created>
  <dcterms:modified xsi:type="dcterms:W3CDTF">2026-05-31T04:35:36Z</dcterms:modified>
</cp:coreProperties>
</file>